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slide" Target="slides/slide35.xml"/><Relationship Id="rId44"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2026.0</c:v>
                </c:pt>
                <c:pt idx="1">
                  <c:v>2026.0833333333333</c:v>
                </c:pt>
                <c:pt idx="2">
                  <c:v>2026.1666666666667</c:v>
                </c:pt>
                <c:pt idx="3">
                  <c:v>2026.25</c:v>
                </c:pt>
                <c:pt idx="4">
                  <c:v>2026.3333333333333</c:v>
                </c:pt>
                <c:pt idx="5">
                  <c:v>2026.4166666666667</c:v>
                </c:pt>
                <c:pt idx="6">
                  <c:v>2026.5</c:v>
                </c:pt>
                <c:pt idx="7">
                  <c:v>2026.5833333333333</c:v>
                </c:pt>
                <c:pt idx="8">
                  <c:v>2026.6666666666667</c:v>
                </c:pt>
                <c:pt idx="9">
                  <c:v>2026.75</c:v>
                </c:pt>
                <c:pt idx="10">
                  <c:v>2026.8333333333333</c:v>
                </c:pt>
                <c:pt idx="11">
                  <c:v>2026.9166666666667</c:v>
                </c:pt>
                <c:pt idx="12">
                  <c:v>2027.0</c:v>
                </c:pt>
                <c:pt idx="13">
                  <c:v>2027.0833333333333</c:v>
                </c:pt>
                <c:pt idx="14">
                  <c:v>2027.1666666666667</c:v>
                </c:pt>
                <c:pt idx="15">
                  <c:v>2027.25</c:v>
                </c:pt>
                <c:pt idx="16">
                  <c:v>2027.3333333333333</c:v>
                </c:pt>
                <c:pt idx="17">
                  <c:v>2027.4166666666667</c:v>
                </c:pt>
                <c:pt idx="18">
                  <c:v>2027.5</c:v>
                </c:pt>
                <c:pt idx="19">
                  <c:v>2027.5833333333333</c:v>
                </c:pt>
                <c:pt idx="20">
                  <c:v>2027.6666666666667</c:v>
                </c:pt>
                <c:pt idx="21">
                  <c:v>2027.75</c:v>
                </c:pt>
                <c:pt idx="22">
                  <c:v>2027.8333333333333</c:v>
                </c:pt>
                <c:pt idx="23">
                  <c:v>2027.9166666666667</c:v>
                </c:pt>
                <c:pt idx="24">
                  <c:v>2028.0</c:v>
                </c:pt>
                <c:pt idx="25">
                  <c:v>2028.0833333333333</c:v>
                </c:pt>
                <c:pt idx="26">
                  <c:v>2028.1666666666667</c:v>
                </c:pt>
                <c:pt idx="27">
                  <c:v>2028.25</c:v>
                </c:pt>
                <c:pt idx="28">
                  <c:v>2028.3333333333333</c:v>
                </c:pt>
                <c:pt idx="29">
                  <c:v>2028.4166666666667</c:v>
                </c:pt>
                <c:pt idx="30">
                  <c:v>2028.5</c:v>
                </c:pt>
                <c:pt idx="31">
                  <c:v>2028.5833333333333</c:v>
                </c:pt>
                <c:pt idx="32">
                  <c:v>2028.6666666666667</c:v>
                </c:pt>
                <c:pt idx="33">
                  <c:v>2028.75</c:v>
                </c:pt>
                <c:pt idx="34">
                  <c:v>2028.8333333333333</c:v>
                </c:pt>
                <c:pt idx="35">
                  <c:v>2028.9166666666667</c:v>
                </c:pt>
                <c:pt idx="36">
                  <c:v>2029.0</c:v>
                </c:pt>
                <c:pt idx="37">
                  <c:v>2029.0833333333333</c:v>
                </c:pt>
                <c:pt idx="38">
                  <c:v>2029.1666666666667</c:v>
                </c:pt>
                <c:pt idx="39">
                  <c:v>2029.25</c:v>
                </c:pt>
                <c:pt idx="40">
                  <c:v>2029.3333333333333</c:v>
                </c:pt>
                <c:pt idx="41">
                  <c:v>2029.4166666666667</c:v>
                </c:pt>
                <c:pt idx="42">
                  <c:v>2029.5</c:v>
                </c:pt>
                <c:pt idx="43">
                  <c:v>2029.5833333333333</c:v>
                </c:pt>
                <c:pt idx="44">
                  <c:v>2029.6666666666667</c:v>
                </c:pt>
                <c:pt idx="45">
                  <c:v>2029.75</c:v>
                </c:pt>
                <c:pt idx="46">
                  <c:v>2029.8333333333333</c:v>
                </c:pt>
                <c:pt idx="47">
                  <c:v>2029.9166666666667</c:v>
                </c:pt>
                <c:pt idx="48">
                  <c:v>2030.0</c:v>
                </c:pt>
                <c:pt idx="49">
                  <c:v>2030.0833333333333</c:v>
                </c:pt>
                <c:pt idx="50">
                  <c:v>2030.1666666666667</c:v>
                </c:pt>
                <c:pt idx="51">
                  <c:v>2030.25</c:v>
                </c:pt>
                <c:pt idx="52">
                  <c:v>2030.3333333333333</c:v>
                </c:pt>
                <c:pt idx="53">
                  <c:v>2030.4166666666667</c:v>
                </c:pt>
                <c:pt idx="54">
                  <c:v>2030.5</c:v>
                </c:pt>
                <c:pt idx="55">
                  <c:v>2030.5833333333333</c:v>
                </c:pt>
                <c:pt idx="56">
                  <c:v>2030.6666666666667</c:v>
                </c:pt>
                <c:pt idx="57">
                  <c:v>2030.75</c:v>
                </c:pt>
                <c:pt idx="58">
                  <c:v>2030.8333333333333</c:v>
                </c:pt>
                <c:pt idx="59">
                  <c:v>2030.9166666666667</c:v>
                </c:pt>
                <c:pt idx="60">
                  <c:v>2031.0</c:v>
                </c:pt>
              </c:numCache>
            </c:numRef>
          </c:xVal>
          <c:yVal>
            <c:numRef>
              <c:f>Sheet1!$B$2:$B$62</c:f>
              <c:numCache>
                <c:formatCode>General</c:formatCode>
                <c:ptCount val="6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pt idx="31">
                  <c:v>21.467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2026.0</c:v>
                </c:pt>
                <c:pt idx="1">
                  <c:v>2031.0</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66,9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66.93</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24.0</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22.56</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22.56</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24.0</c:v>
                </c:pt>
                <c:pt idx="1">
                  <c:v>24.0</c:v>
                </c:pt>
              </c:numCache>
            </c:numRef>
          </c:xVal>
          <c:yVal>
            <c:numRef>
              <c:f>Sheet1!$B$45:$B$46</c:f>
              <c:numCache>
                <c:formatCode>General</c:formatCode>
                <c:ptCount val="2"/>
                <c:pt idx="0">
                  <c:v>0.0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22.56</c:v>
                </c:pt>
                <c:pt idx="1">
                  <c:v>22.56</c:v>
                </c:pt>
              </c:numCache>
            </c:numRef>
          </c:xVal>
          <c:yVal>
            <c:numRef>
              <c:f>Sheet1!$B$49:$B$50</c:f>
              <c:numCache>
                <c:formatCode>General</c:formatCode>
                <c:ptCount val="2"/>
                <c:pt idx="0">
                  <c:v>0.0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numCache>
            </c:numRef>
          </c:xVal>
          <c:yVal>
            <c:numRef>
              <c:f>Sheet1!$B$2:$B$26</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y unos pocos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que no necesita importes, y produce un libro Excel con el % planificado y el % ganado de cada elemento de la EDT. Con el BAC que se ingresa en el libro se obtienen el PV y el EV; con el AC del mes,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veamos cómo se reparte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el tiempo es justo, las diapositivas marcadas como opcionales en estas notas (Earned Schedule, Forma de la curva PV e Hitos ponderados) se pueden pasar en 15 segundos cada una.</a:t>
            </a:r>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se ingresa en el libro Excel.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 se guardan en el libro al generarlo, así que un cambio exige regenerar el libro con --migrar-desde.</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Con un CPI menor que 1,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66,9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el tiempo es justo: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22,56 (ES). Vamos 1,44 meses tarde: SV(t) = ES − AT = −1,44 meses, y SPI(t) = ES / AT = 0,94.</a:t>
            </a:r>
          </a:p>
          <a:p/>
          <a:p>
            <a:r>
              <a:rPr lang="es-ES"/>
              <a:t>Con una duración planificada de 58 meses, la duración estimada es 58 / 0,94 ≈ 62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las duraciones, los pesos de los hitos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validar revisa en la terminal el archivo de MS Project (códigos EDT, fechas y duraciones, pesos, métodos, avance a la fecha de estado y lógica del cronograma), y generar deja en la hoja Validación los avisos que afectan al libro, así que no hay que revisarlo todo a mano. Lo que ningún control puede juzgar es si las duraciones y los pesos son realistas: eso es tarea del equipo.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ingresan el BAC y el AC, y donde se calcula el EV.</a:t>
            </a:r>
          </a:p>
          <a:p>
            <a:r>
              <a:rPr lang="es-ES"/>
              <a:t>- Lo que está debajo (actividades, hitos) no necesita código: se suma en su paquete.</a:t>
            </a:r>
          </a:p>
          <a:p>
            <a:r>
              <a:rPr lang="es-ES"/>
              <a:t>validar y la hoja Validación comprueban que el código de cada tarea dependa del de su tarea superior: bajo 2.1.0 van 2.1.1, 2.1.2...; un 1.14.2 bajo 1.2.0 es un error.</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 del BAC del paquete que vale cada hito; se usa en el % planificado y en el método de hitos ponderados.</a:t>
            </a:r>
          </a:p>
          <a:p>
            <a:r>
              <a:rPr lang="es-ES"/>
              <a:t>(Opcionales: Empresa y % Reparto si el proyecto se ejecuta entre dos empresas, y Visible para mostrar más o menos detalle en cada rama.)</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cronograma de MS Project no lleva importes. El presupuesto se arma con tres piezas:</a:t>
            </a:r>
          </a:p>
          <a:p>
            <a:r>
              <a:rPr lang="es-ES"/>
              <a:t>A. Duración de las tareas: cada tarea de detalle pesa dentro de su paquete según su duración de la línea base, repartida entre los meses que abarcan sus fechas. Por eso la duración debe reflejar el trabajo: una tarea larga de poco valor pesa más que una corta de mucho valor.</a:t>
            </a:r>
          </a:p>
          <a:p>
            <a:r>
              <a:rPr lang="es-ES"/>
              <a:t>B. Peso de los hitos: el campo Peso hito es el % del BAC del paquete que se planifica en el mes del hito; el resto se reparte entre las tareas por duración. Con pesos que suman 100, el paquete solo tiene valor en sus hitos.</a:t>
            </a:r>
          </a:p>
          <a:p>
            <a:r>
              <a:rPr lang="es-ES"/>
              <a:t>C. BAC en el libro: el presupuesto de cada paquete se escribe en las celdas amarillas de la columna D de la hoja PV (con dos empresas, uno por empresa). El PV de cada mes es ese BAC × el % planificado.</a:t>
            </a:r>
          </a:p>
          <a:p>
            <a:r>
              <a:rPr lang="es-ES"/>
              <a:t>D. Cronograma sin importes: como el presupuesto está en el libro, el cronograma se puede compartir con el cliente o entre las empresas que ejecutan el proyecto sin mostrar importes. Si el proyecto tiene recursos o costos cargados en MS Project, el programa no los usa.</a:t>
            </a:r>
          </a:p>
          <a:p/>
          <a:p>
            <a:r>
              <a:rPr lang="es-ES"/>
              <a:t>Regla de oro: el cronograma no lleva importes, y la duración de cada tarea debe reflejar su trabajo.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el tiempo es justo.)</a:t>
            </a:r>
          </a:p>
          <a:p/>
          <a:p>
            <a:r>
              <a:rPr lang="es-ES"/>
              <a:t>El mismo importe puede dar curvas PV muy distintas. Ejemplo: un paquete de 300.000 € de tres meses.</a:t>
            </a:r>
          </a:p>
          <a:p>
            <a:r>
              <a:rPr lang="es-ES"/>
              <a:t>- Una tarea de tres meses: 100.000 € cada mes, porque su peso se reparte según su duración.</a:t>
            </a:r>
          </a:p>
          <a:p>
            <a:r>
              <a:rPr lang="es-ES"/>
              <a:t>- Un hito con Peso hito 100 en el primer mes (por ejemplo, un anticipo): los 300.000 € el primer mes.</a:t>
            </a:r>
          </a:p>
          <a:p>
            <a:r>
              <a:rPr lang="es-ES"/>
              <a:t>- Un hito con Peso hito 100 al final (una entrega): los 300.000 € el último mes.</a:t>
            </a:r>
          </a:p>
          <a:p/>
          <a:p>
            <a:r>
              <a:rPr lang="es-ES"/>
              <a:t>Para que el PV tenga la forma real se divide el paquete en tareas con sus fechas, o se combinan tareas e hitos: por ejemplo, hitos con pesos 10 y 20, y el 70 % restante repartido entre las tareas según su duración.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y sus fechas. MS Project la guarda en los campos "previstos": Comienzo previsto y Fin previsto.</a:t>
            </a:r>
          </a:p>
          <a:p/>
          <a:p>
            <a:r>
              <a:rPr lang="es-ES"/>
              <a:t>Relación con el EVM (franja inferior):</a:t>
            </a:r>
          </a:p>
          <a:p>
            <a:r>
              <a:rPr lang="es-ES"/>
              <a:t>- Las fechas previstas dicen cuándo debía hacerse cada tarea.</a:t>
            </a:r>
          </a:p>
          <a:p>
            <a:r>
              <a:rPr lang="es-ES"/>
              <a:t>- Con esas fechas y las duraciones, el programa calcula el % planificado de cada mes; multiplicado por el BAC del libro, es el PV: lo que se debía haber ejecutado cada mes.</a:t>
            </a:r>
          </a:p>
          <a:p>
            <a:r>
              <a:rPr lang="es-ES"/>
              <a:t>- El BAC es el presupuesto de cada paquete, que se ingresa en el libro.</a:t>
            </a:r>
          </a:p>
          <a:p>
            <a:r>
              <a:rPr lang="es-ES"/>
              <a:t>Sin línea base, el programa usa las fechas actuales y lo advierte: el PV se movería con cada reprogramación y la SV y el SPI perderían sentido.</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hitos con su Peso hito;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ejecutar validar y corregir en MS Project los errores (códigos EDT, fechas, pesos, métodos); después, ejecutar generar, ingresar el BAC de cada paquete en el libro y revisar la hoja Validación y la hoja % PV (cada paquete suma 100 %).</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pesos de hitos.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BAC ingresado y el historial de EV y AC, escribir el BAC nuevo de los paquetes afectados y registrar en el informe la fecha, el motivo y la variación del BAC. Si se entregaron fichas de tareas al cliente, se vuelven a crear con generar-fichas.</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1,9 millones por debajo del PV; SPI 0,84.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Casi todos se detectan con validar antes de generar, o en la hoja Validación y al actualizar, así que no hay que buscarlos a mano: basta con leer los avisos. Las tareas largas de poco valor no las detecta ningún control: se revisan al planificar.</a:t>
            </a:r>
          </a:p>
          <a:p/>
          <a:p>
            <a:r>
              <a:rPr lang="es-ES"/>
              <a:t>Recorrer las filas rápidamente. Insistir en dos:</a:t>
            </a:r>
          </a:p>
          <a:p>
            <a:r>
              <a:rPr lang="es-ES"/>
              <a:t>- La duración pesa: el PV de un paquete se reparte según la duración de sus tareas. Una tarea larga de poco valor (por ejemplo, una gestión de doce meses) se lleva gran parte del paquete: conviene separarla en su propio paquete o usar hitos con peso.</a:t>
            </a:r>
          </a:p>
          <a:p>
            <a:r>
              <a:rPr lang="es-ES"/>
              <a:t>- El BAC sin ingresar: después de generar hay que escribir el BAC de cada paquete; si falta, el PV y el EV quedan en 0 y actualizar lo avisa.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 días) terminada, los planos (40 días) a la mitad y las especificaciones (20 días)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si los hitos no tuvieran Peso hito, cada subtarea pesaría según su duración: (30 días al 100 % + 40 al 50 % + 20 al 0 %) / 90 días = 55,6 % del BAC = 500.000 €. Con los pesos de este paquete (30, 30 y 40, que suman 100) las tareas no pesan y el % Completado daría lo mismo que los hitos ponderados: 540.000 €.</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el tiempo es justo: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peso va en el campo Peso hito y es el % del BAC del paquete: en un paquete medido solo con hitos, los pesos suman 100 y su PV queda en los meses de los hitos.</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Fijar la fecha de estado en el último día del mes (Proyecto &gt; Fecha de estado).</a:t>
            </a:r>
          </a:p>
          <a:p>
            <a:r>
              <a:rPr lang="es-ES"/>
              <a:t>2. Registrar el avance a la fecha de estado (no a la fecha en que se actualiza): % completado o duración real, % físico completado, comienzo y fin reales, y los hitos cumplidos al 100 %.</a:t>
            </a:r>
          </a:p>
          <a:p>
            <a:r>
              <a:rPr lang="es-ES"/>
              <a:t>3. Reprogramar el trabajo pendiente para que empiece después de la fecha de estado (Proyecto &gt; Actualizar proyecto). Así las fechas futuras siguen siendo una previsión realista. No cambia la línea base ni el PV. Si se trabaja con XML, guardar el XML al terminar.</a:t>
            </a:r>
          </a:p>
          <a:p>
            <a:r>
              <a:rPr lang="es-ES"/>
              <a:t>4. Ejecutar validar: revisa en la terminal, sin crear archivos, los códigos EDT, las fechas, los pesos y los métodos, el avance a la fecha de estado (tareas sin actualizar, fechas reales incoherentes, índice BEI) y la lógica del cronograma. Se corrige en MS Project hasta que no queden errores ni trabajo pendiente antes de la fecha de estado.</a:t>
            </a:r>
          </a:p>
          <a:p>
            <a:r>
              <a:rPr lang="es-ES"/>
              <a:t>El costo real no se registra en MS Project: Finanzas lo entrega del ERP (devengado, con la misma fecha de corte y en la misma base que el BAC) y se carga en la hoja AC del libro, o en las de cada empresa, después de actualizar (bloque siguiente).</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pocos comandos que se copian y se ajustan: validar, generar y actualizar; analizar y generar-fichas son de apoyo.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 planificado de cada elemento de la EDT y mes (120 meses por defecto). Después se escribe el BAC de cada paquete en el libro: el PV es el BAC × el %.</a:t>
            </a:r>
          </a:p>
          <a:p>
            <a:r>
              <a:t>- actualizar: se ejecuta cada mes. Lee el avance a la fecha de estado, calcula el % ganado acumulado de cada paquete según su método y escribe el % del mes en el libro; el EV es el BAC × el %. El AC del mes se carga a mano. Indicadores y gráficos se recalculan solos.</a:t>
            </a:r>
          </a:p>
          <a:p>
            <a:r>
              <a:t>- validar: antes de generar y antes de cada actualizar. Revisa el archivo de MS Project sin crear archivos: códigos EDT, fechas y duraciones, pesos de los hitos, método frente a la duración del paquete, avance a la fecha de estado y lógica del cronograma (criterios DCMA). Termina con código 1 si hay errores.</a:t>
            </a:r>
          </a:p>
          <a:p>
            <a:r>
              <a:t>- generar-fichas (opcional): crea un documento Markdown con la ficha de cada elemento EDT del libro (fechas y duración de la línea base, predecesoras y sucesoras) para el cliente, sin importes.</a:t>
            </a:r>
          </a:p>
          <a:p/>
          <a:p>
            <a:r>
              <a:t>Requisitos: Windows. Lo más simple es el instalador de cada versión, en las publicaciones del repositorio en GitHub: no necesita Python ni permisos de administrador, y el comando pasa a ser evm_export. También se puede usar con Python 3.11 o posterior.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multi-empresa, con el BAC, el PV, el EV y el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y de revisar el archivo con validar. La salida en pantalla resume lo leído: planificación, filas de la EDT, horizonte de meses y el recordatorio de ingresar el BAC, más observaciones informativas y avisos, por ejemplo de paquetes demasiado largos para su método (0/100, 50/50...).</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pasos (derecha):</a:t>
            </a:r>
          </a:p>
          <a:p>
            <a:r>
              <a:rPr lang="es-ES"/>
              <a:t>1. Ingresar el BAC de cada paquete en las celdas amarillas de la columna D de la hoja PV (con dos empresas, en la hoja de cada una); la fila TOTAL debe coincidir con el presupuesto aprobado.</a:t>
            </a:r>
          </a:p>
          <a:p>
            <a:r>
              <a:rPr lang="es-ES"/>
              <a:t>2. Revisar la hoja % PV: cada paquete suma 100 %, repartido según la duración de sus tareas y el peso de sus hitos.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sin fila, filas con avance y sin BAC. Si algo no es razonable, se corrige en MS Project y se vuelve a simular.</a:t>
            </a:r>
          </a:p>
          <a:p>
            <a:r>
              <a:t>3. "actualizar" sin --simular: escribe el % ganado del mes en la hoja % EV (el EV es el BAC × ese %). El AC del mes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un extracto real del ejemplo a diciembre de 2027, con el AC del mes ya cargado: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En PV se ingresa el BAC de cada paquete (celdas amarillas); el PV y el EV de cada mes son el BAC × el % de las hojas % PV y % EV, que calculan generar y actualizar. En AC, las celdas amarillas contienen el costo real de cada mes (no el acumulado), que se carga a mano desde el ERP.</a:t>
            </a:r>
          </a:p>
          <a:p>
            <a:r>
              <a:t>- Gris: control (Validación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22:55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Curva S.</a:t>
            </a:r>
          </a:p>
          <a:p>
            <a:r>
              <a:t>7. Evolución de CPI y SPI sobre las zonas del semáforo (roja, amarilla, verde, amarilla y roja): mirar la tendencia más que el valor puntual. En los primeros meses los índices oscilan mucho porque los importes son pequeños.</a:t>
            </a:r>
          </a:p>
          <a:p>
            <a:r>
              <a:t>8 y 9.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23:35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0,85) es el que arrastra el costo del proyecto: hay que bajar a sus paquetes en la hoja Indicadores EDT. En plazo, el más alejado es 1.2.0 Gestión de contratos (SPI 0,51): las licitaciones no terminaron.</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no aparece en el gráfico: su suministro de equipos se mide con hitos ponderados (pesos que suman 100), su PV está en los meses de los hitos, en 2028, y todavía no cumplió ninguno: tiene costo real pero PV y EV cero. Es el comportamiento esperado del método, no un error. Los valores están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24:15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fija la fecha de estado, registra el avance en MS Project y ejecuta validar (sin errores ni trabajo pendiente antes de la fecha de estado).</a:t>
            </a:r>
          </a:p>
          <a:p>
            <a:r>
              <a:t>- D+4: actualizar --simular, revisión de observaciones, actualizar, carga del AC del ERP en el libro y analizar.</a:t>
            </a:r>
          </a:p>
          <a:p>
            <a:r>
              <a:t>- D+5 a D+6: el Jefe de Proyecto analiza las desviaciones fuera de umbral con los responsables, en la hoja Análisis de desviaciones (causa, impacto, acción con responsable y fecha) y revisa el EAC.</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El cronograma no lleva importes: las duraciones y los pesos de los hitos reparten el BAC, que se ingresa en el libro.</a:t>
            </a:r>
          </a:p>
          <a:p>
            <a:r>
              <a:t>3. Un método de medición objetivo por paquete, definido antes de empezar.</a:t>
            </a:r>
          </a:p>
          <a:p>
            <a:r>
              <a:t>4. Fecha de estado en el último día del mes y avance con evidencia.</a:t>
            </a:r>
          </a:p>
          <a:p>
            <a:r>
              <a:t>5. Validar, simular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(4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25:00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1,10 de la PMO, con puestos sin cubrir). Los valores son fórmulas sobre las hojas PV, EV y AC.</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validar y, después de generar, la hoja Validación no deben mostrar métodos por definir. validar también avisa si un 0/100 dura más de 1 mes o un 50/50, 25/75 o 20/80 más de 2 meses (umbrales de la sección [validacion]), si un paquete de hitos ponderados no tiene hitos o si un método no se reconoce.</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planificar y medir el avance,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2.2.0</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55"/>
                </a:lnTo>
                <a:lnTo>
                  <a:pt x="137160" y="3178817"/>
                </a:lnTo>
                <a:lnTo>
                  <a:pt x="205740" y="3165327"/>
                </a:lnTo>
                <a:lnTo>
                  <a:pt x="274320" y="3150684"/>
                </a:lnTo>
                <a:lnTo>
                  <a:pt x="342900" y="3125869"/>
                </a:lnTo>
                <a:lnTo>
                  <a:pt x="411480" y="3122406"/>
                </a:lnTo>
                <a:lnTo>
                  <a:pt x="480060" y="3088719"/>
                </a:lnTo>
                <a:lnTo>
                  <a:pt x="548640" y="3050198"/>
                </a:lnTo>
                <a:lnTo>
                  <a:pt x="617220" y="3025672"/>
                </a:lnTo>
                <a:lnTo>
                  <a:pt x="685800" y="3000641"/>
                </a:lnTo>
                <a:lnTo>
                  <a:pt x="754380" y="2976114"/>
                </a:lnTo>
                <a:lnTo>
                  <a:pt x="822960" y="2949208"/>
                </a:lnTo>
                <a:lnTo>
                  <a:pt x="891540" y="2923311"/>
                </a:lnTo>
                <a:lnTo>
                  <a:pt x="960120" y="2900949"/>
                </a:lnTo>
                <a:lnTo>
                  <a:pt x="1028700" y="2866540"/>
                </a:lnTo>
                <a:lnTo>
                  <a:pt x="1097280" y="2831770"/>
                </a:lnTo>
                <a:lnTo>
                  <a:pt x="1165860" y="2798588"/>
                </a:lnTo>
                <a:lnTo>
                  <a:pt x="1234440" y="2763818"/>
                </a:lnTo>
                <a:lnTo>
                  <a:pt x="1303020" y="2701637"/>
                </a:lnTo>
                <a:lnTo>
                  <a:pt x="1371600" y="2635128"/>
                </a:lnTo>
                <a:lnTo>
                  <a:pt x="1440180" y="2568618"/>
                </a:lnTo>
                <a:lnTo>
                  <a:pt x="1508760" y="2505139"/>
                </a:lnTo>
                <a:lnTo>
                  <a:pt x="1577340" y="2413887"/>
                </a:lnTo>
                <a:lnTo>
                  <a:pt x="1645920" y="2316864"/>
                </a:lnTo>
                <a:lnTo>
                  <a:pt x="1714500" y="2226838"/>
                </a:lnTo>
                <a:lnTo>
                  <a:pt x="1783080" y="2169634"/>
                </a:lnTo>
                <a:lnTo>
                  <a:pt x="1851660" y="2124549"/>
                </a:lnTo>
                <a:lnTo>
                  <a:pt x="1920240" y="2085379"/>
                </a:lnTo>
                <a:lnTo>
                  <a:pt x="1988820" y="2004659"/>
                </a:lnTo>
                <a:lnTo>
                  <a:pt x="2057400" y="1721165"/>
                </a:lnTo>
                <a:lnTo>
                  <a:pt x="2125980" y="1640589"/>
                </a:lnTo>
                <a:lnTo>
                  <a:pt x="2194560" y="1253723"/>
                </a:lnTo>
                <a:lnTo>
                  <a:pt x="2263140" y="1181083"/>
                </a:lnTo>
                <a:lnTo>
                  <a:pt x="2331720" y="1111327"/>
                </a:lnTo>
                <a:lnTo>
                  <a:pt x="2400300" y="1022744"/>
                </a:lnTo>
                <a:lnTo>
                  <a:pt x="2468880" y="936397"/>
                </a:lnTo>
                <a:lnTo>
                  <a:pt x="2537460" y="841899"/>
                </a:lnTo>
                <a:lnTo>
                  <a:pt x="2606040" y="759664"/>
                </a:lnTo>
                <a:lnTo>
                  <a:pt x="2674620" y="669206"/>
                </a:lnTo>
                <a:lnTo>
                  <a:pt x="2743200" y="582859"/>
                </a:lnTo>
                <a:lnTo>
                  <a:pt x="2811780" y="488361"/>
                </a:lnTo>
                <a:lnTo>
                  <a:pt x="2880360" y="403889"/>
                </a:lnTo>
                <a:lnTo>
                  <a:pt x="2948940" y="354693"/>
                </a:lnTo>
                <a:lnTo>
                  <a:pt x="3017520" y="303332"/>
                </a:lnTo>
                <a:lnTo>
                  <a:pt x="3086100" y="258608"/>
                </a:lnTo>
                <a:lnTo>
                  <a:pt x="3154680" y="217057"/>
                </a:lnTo>
                <a:lnTo>
                  <a:pt x="3223260" y="175002"/>
                </a:lnTo>
                <a:lnTo>
                  <a:pt x="3291840" y="139150"/>
                </a:lnTo>
                <a:lnTo>
                  <a:pt x="3360420" y="113326"/>
                </a:lnTo>
                <a:lnTo>
                  <a:pt x="3429000" y="89088"/>
                </a:lnTo>
                <a:lnTo>
                  <a:pt x="3497580" y="56555"/>
                </a:lnTo>
                <a:lnTo>
                  <a:pt x="3566160" y="41839"/>
                </a:lnTo>
                <a:lnTo>
                  <a:pt x="3634740" y="24743"/>
                </a:lnTo>
                <a:lnTo>
                  <a:pt x="3703320" y="17313"/>
                </a:lnTo>
                <a:lnTo>
                  <a:pt x="3771900" y="9306"/>
                </a:lnTo>
                <a:lnTo>
                  <a:pt x="3840480" y="5194"/>
                </a:lnTo>
                <a:lnTo>
                  <a:pt x="3909060" y="1948"/>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 planificado y ganado calculados con los datos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del cronograma y del libro</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presupuesto,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validar,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(se ingresa en el libro Excel)</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12,1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27 %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−1,90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0,84</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0,84 €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Con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22,56</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−1,44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0,94</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0,94 ≈ 62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Duraciones y pesos realistas</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La duración pesa; los hitos, con Peso hito</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validar revisa el archivo de MS Project antes de exportar y generar deja los avisos del libro en la hoja </a:t>
            </a:r>
            <a:r>
              <a:rPr sz="1500" b="1" i="0" lang="es-ES">
                <a:solidFill>
                  <a:srgbClr val="1B2B48"/>
                </a:solidFill>
                <a:latin typeface="Calibri"/>
              </a:rPr>
              <a:t>Validación</a:t>
            </a:r>
            <a:r>
              <a:rPr sz="1500" b="0" i="0" lang="es-ES">
                <a:solidFill>
                  <a:srgbClr val="1B2B48"/>
                </a:solidFill>
                <a:latin typeface="Calibri"/>
              </a:rPr>
              <a:t>, con la tarea afectada.</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 del BAC en el mes del hito</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 Visible (más o menos detalle por rama)</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presupuesto: BAC en el libro, % desde MS Project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Duración de las tareas</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Duración de la línea base</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las fechas de cada tarea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Todas las tareas de detalle</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Peso de los hitos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Peso hito = % del BAC</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Entero en el mes del hito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Entregas, pruebas, certificaciones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BAC en el libro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Presupuesto de cada paquete</a:t>
            </a:r>
            <a:endParaRPr lang="es-ES" sz="1400"/>
          </a:p>
          <a:p>
            <a:pPr algn="l">
              <a:spcAft>
                <a:spcPts val="300"/>
              </a:spcAft>
            </a:pPr>
            <a:r>
              <a:rPr sz="1400" b="1" i="0" lang="es-ES">
                <a:solidFill>
                  <a:srgbClr val="5A6577"/>
                </a:solidFill>
                <a:latin typeface="Calibri"/>
              </a:rPr>
              <a:t>Dónde: </a:t>
            </a:r>
            <a:r>
              <a:rPr sz="1400" b="0" i="0" lang="es-ES">
                <a:solidFill>
                  <a:srgbClr val="1B2B48"/>
                </a:solidFill>
                <a:latin typeface="Calibri"/>
              </a:rPr>
              <a:t>Columna D de la hoja PV</a:t>
            </a:r>
            <a:endParaRPr lang="es-ES" sz="1400"/>
          </a:p>
          <a:p>
            <a:pPr algn="l">
              <a:spcAft>
                <a:spcPts val="300"/>
              </a:spcAft>
            </a:pPr>
            <a:r>
              <a:rPr sz="1400" b="1" i="0" lang="es-ES">
                <a:solidFill>
                  <a:srgbClr val="5A6577"/>
                </a:solidFill>
                <a:latin typeface="Calibri"/>
              </a:rPr>
              <a:t>Dos empresas: </a:t>
            </a:r>
            <a:r>
              <a:rPr sz="1400" b="0" i="0" lang="es-ES">
                <a:solidFill>
                  <a:srgbClr val="1B2B48"/>
                </a:solidFill>
                <a:latin typeface="Calibri"/>
              </a:rPr>
              <a:t>Un BAC por empresa</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Cronograma sin importes</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En MS Project: </a:t>
            </a:r>
            <a:r>
              <a:rPr sz="1400" b="0" i="0" lang="es-ES">
                <a:solidFill>
                  <a:srgbClr val="1B2B48"/>
                </a:solidFill>
                <a:latin typeface="Calibri"/>
              </a:rPr>
              <a:t>Sin recursos ni costos</a:t>
            </a:r>
            <a:endParaRPr lang="es-ES" sz="1400"/>
          </a:p>
          <a:p>
            <a:pPr algn="l">
              <a:spcAft>
                <a:spcPts val="300"/>
              </a:spcAft>
            </a:pPr>
            <a:r>
              <a:rPr sz="1400" b="1" i="0" lang="es-ES">
                <a:solidFill>
                  <a:srgbClr val="5A6577"/>
                </a:solidFill>
                <a:latin typeface="Calibri"/>
              </a:rPr>
              <a:t>Se comparte: </a:t>
            </a:r>
            <a:r>
              <a:rPr sz="1400" b="0" i="0" lang="es-ES">
                <a:solidFill>
                  <a:srgbClr val="1B2B48"/>
                </a:solidFill>
                <a:latin typeface="Calibri"/>
              </a:rPr>
              <a:t>Con el cliente y entre empresas</a:t>
            </a:r>
            <a:endParaRPr lang="es-ES" sz="1400"/>
          </a:p>
          <a:p>
            <a:pPr algn="l">
              <a:spcAft>
                <a:spcPts val="300"/>
              </a:spcAft>
            </a:pPr>
            <a:r>
              <a:rPr sz="1400" b="1" i="0" lang="es-ES">
                <a:solidFill>
                  <a:srgbClr val="5A6577"/>
                </a:solidFill>
                <a:latin typeface="Calibri"/>
              </a:rPr>
              <a:t>Si tiene costos: </a:t>
            </a:r>
            <a:r>
              <a:rPr sz="1400" b="0" i="0" lang="es-ES">
                <a:solidFill>
                  <a:srgbClr val="1B2B48"/>
                </a:solidFill>
                <a:latin typeface="Calibri"/>
              </a:rPr>
              <a:t>No se usan</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el cronograma no lleva importes; la duración de cada tarea debe reflejar su trabajo</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duración y los hitos deciden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paquete de 300.000 € y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Una tarea de 3 meses</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por duración</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1</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final</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3</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Para la forma real: </a:t>
            </a:r>
            <a:r>
              <a:rPr sz="1500" b="0" i="0" lang="es-ES">
                <a:solidFill>
                  <a:srgbClr val="1B2B48"/>
                </a:solidFill>
                <a:latin typeface="Calibri"/>
              </a:rPr>
              <a:t>dividir el paquete en tareas con sus fechas o usar hitos con peso (anticipos, entregas, certificaciones).</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 planificado × BAC</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BAC ingresado en el libro</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Copia aprobada y congelada del plan: tareas de la EDT y sus fechas.</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y Fin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hitos con peso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validar, generar, ingresar el BAC y revisar las hojas Validación y % PV</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pesos de hitos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−1,9 M€ · SPI 0,84: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al preparar el cronograma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PREPARACIÓN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Hitos con pesos que suman más de 100</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escalan a 100 %; las tareas quedan sin PV</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Revisar los pesos: que sumen 100 o menos</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usan sus fechas actuales (aviso)</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largas de poco valor</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curva PV pesa la duración, no el valor</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Dividir el paquete o usar hitos con peso</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BAC sin ingresar en el libro</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PV y EV en 0; actualizar avisa</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Ingresarlo en la columna D (celdas amarillas)</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 días</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 días</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 días</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a:p>
            <a:pPr algn="l"/>
            <a:r>
              <a:rPr sz="1100" b="0" i="0" lang="es-ES">
                <a:solidFill>
                  <a:srgbClr val="5A6577"/>
                </a:solidFill>
                <a:latin typeface="Calibri"/>
              </a:rPr>
              <a:t>si los hitos no tuvieran peso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 × 100 % + 40 × 50 % + 20 × 0 %) / 90 × 900.000</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validar sin avisos de método</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al terminar</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Revisar con validar</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Sin errores ni trabajo pendiente antes de la fecha de estado</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Validar el cronograma, generar una vez y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validar, generar y actualizar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pesos de hitos</a:t>
            </a:r>
            <a:endParaRPr lang="es-ES" sz="1400"/>
          </a:p>
          <a:p>
            <a:pPr algn="l" marL="201168" indent="-201168">
              <a:spcAft>
                <a:spcPts val="400"/>
              </a:spcAft>
              <a:buFont typeface="Arial"/>
              <a:buChar char="•"/>
            </a:pPr>
            <a:r>
              <a:rPr sz="1400" b="0" i="0" lang="es-ES">
                <a:solidFill>
                  <a:srgbClr val="1B2B48"/>
                </a:solidFill>
                <a:latin typeface="Calibri"/>
              </a:rPr>
              <a:t>Línea base (fechas)</a:t>
            </a:r>
            <a:endParaRPr lang="es-ES" sz="1400"/>
          </a:p>
          <a:p>
            <a:pPr algn="l" marL="201168" indent="-201168">
              <a:spcAft>
                <a:spcPts val="400"/>
              </a:spcAft>
              <a:buFont typeface="Arial"/>
              <a:buChar char="•"/>
            </a:pPr>
            <a:r>
              <a:rPr sz="1400" b="0" i="0" lang="es-ES">
                <a:solidFill>
                  <a:srgbClr val="1B2B48"/>
                </a:solidFill>
                <a:latin typeface="Calibri"/>
              </a:rPr>
              <a:t>Avance</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 planificado</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 ganado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instalador</a:t>
            </a:r>
            <a:endParaRPr lang="es-ES" sz="1300"/>
          </a:p>
          <a:p>
            <a:pPr algn="l"/>
            <a:r>
              <a:rPr sz="1300" b="0" i="0" lang="es-ES">
                <a:solidFill>
                  <a:srgbClr val="5A6577"/>
                </a:solidFill>
                <a:latin typeface="Calibri"/>
              </a:rPr>
              <a:t>Sin Python ni permisos de administrador; o con Python 3.11 o posterior</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
        <p:nvSpPr>
          <p:cNvPr id="26" name="validar"/>
          <p:cNvSpPr txBox="1"/>
          <p:nvPr/>
        </p:nvSpPr>
        <p:spPr>
          <a:xfrm>
            <a:off x="777240" y="3703320"/>
            <a:ext cx="2450000" cy="320040"/>
          </a:xfrm>
          <a:prstGeom prst="rect">
            <a:avLst/>
          </a:prstGeom>
          <a:noFill/>
        </p:spPr>
        <p:txBody>
          <a:bodyPr wrap="square" lIns="0" rIns="0">
            <a:spAutoFit/>
          </a:bodyPr>
          <a:lstStyle/>
          <a:p>
            <a:r>
              <a:rPr b="1" sz="1400">
                <a:solidFill>
                  <a:srgbClr val="8A5A00"/>
                </a:solidFill>
                <a:latin typeface="Consolas"/>
              </a:rPr>
              <a:t>validar</a:t>
            </a:r>
            <a:r>
              <a:rPr sz="1200">
                <a:solidFill>
                  <a:srgbClr val="5A6577"/>
                </a:solidFill>
                <a:latin typeface="Calibri"/>
              </a:rPr>
              <a:t>  antes de cada comando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 planificado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se debe ingresar el BAC de cada fila</a:t>
            </a:r>
            <a:endParaRPr lang="es-ES" sz="1200"/>
          </a:p>
          <a:p>
            <a:pPr algn="l">
              <a:spcAft>
                <a:spcPts val="100"/>
              </a:spcAft>
            </a:pPr>
            <a:r>
              <a:rPr sz="1200" b="0" i="0" lang="es-ES">
                <a:solidFill>
                  <a:srgbClr val="9BD48A"/>
                </a:solidFill>
                <a:latin typeface="Consolas"/>
              </a:rPr>
              <a:t>      en la columna D de PV (celdas amarillas)</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Ingresar el BAC </a:t>
            </a:r>
            <a:r>
              <a:rPr sz="1400" b="0" i="0" lang="es-ES">
                <a:solidFill>
                  <a:srgbClr val="5A6577"/>
                </a:solidFill>
                <a:latin typeface="Calibri"/>
              </a:rPr>
              <a:t>de cada paquete (columna D de PV)</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 PV: </a:t>
            </a:r>
            <a:r>
              <a:rPr sz="1400" b="0" i="0" lang="es-ES">
                <a:solidFill>
                  <a:srgbClr val="5A6577"/>
                </a:solidFill>
                <a:latin typeface="Calibri"/>
              </a:rPr>
              <a:t>cada paquete suma 100 %</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sin fechas de línea base: se usan las actuales</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Pesos de hitos que suman más de 100: se escalan</a:t>
            </a:r>
            <a:endParaRPr lang="es-ES"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 ganado y EV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filas sin BAC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 ganado del mes y lista las desviaciones. Luego se carga el AC del ERP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F5C26B"/>
                </a:solidFill>
                <a:latin typeface="Consolas"/>
              </a:rPr>
              <a:t>        se usó % completado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12,092,032   % planificado 27.4 %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-1,901,492   SPI = 0.84</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340819"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Cuadro de Mando</a:t>
            </a:r>
            <a:endParaRPr lang="es-ES" sz="1200"/>
          </a:p>
        </p:txBody>
      </p:sp>
      <p:sp>
        <p:nvSpPr>
          <p:cNvPr id="7" name="Round Same Side Corner Rectangle 6"/>
          <p:cNvSpPr/>
          <p:nvPr/>
        </p:nvSpPr>
        <p:spPr>
          <a:xfrm>
            <a:off x="1926035" y="1508760"/>
            <a:ext cx="737715"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Resumen</a:t>
            </a:r>
            <a:endParaRPr lang="es-ES" sz="1200"/>
          </a:p>
        </p:txBody>
      </p:sp>
      <p:sp>
        <p:nvSpPr>
          <p:cNvPr id="8" name="Round Same Side Corner Rectangle 7"/>
          <p:cNvSpPr/>
          <p:nvPr/>
        </p:nvSpPr>
        <p:spPr>
          <a:xfrm>
            <a:off x="2700326" y="1508760"/>
            <a:ext cx="360775"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PV</a:t>
            </a:r>
            <a:endParaRPr lang="es-ES" sz="1200"/>
          </a:p>
        </p:txBody>
      </p:sp>
      <p:sp>
        <p:nvSpPr>
          <p:cNvPr id="34" name="Pestaña % PV"/>
          <p:cNvSpPr/>
          <p:nvPr/>
        </p:nvSpPr>
        <p:spPr>
          <a:xfrm>
            <a:off x="3097677" y="1508760"/>
            <a:ext cx="511551"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 PV</a:t>
            </a:r>
            <a:endParaRPr lang="es-ES" sz="1200"/>
          </a:p>
        </p:txBody>
      </p:sp>
      <p:sp>
        <p:nvSpPr>
          <p:cNvPr id="9" name="Round Same Side Corner Rectangle 8"/>
          <p:cNvSpPr/>
          <p:nvPr/>
        </p:nvSpPr>
        <p:spPr>
          <a:xfrm>
            <a:off x="3645804" y="1508760"/>
            <a:ext cx="360775"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EV</a:t>
            </a:r>
            <a:endParaRPr lang="es-ES" sz="1200"/>
          </a:p>
        </p:txBody>
      </p:sp>
      <p:sp>
        <p:nvSpPr>
          <p:cNvPr id="35" name="Pestaña % EV"/>
          <p:cNvSpPr/>
          <p:nvPr/>
        </p:nvSpPr>
        <p:spPr>
          <a:xfrm>
            <a:off x="4043155" y="1508760"/>
            <a:ext cx="511551"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 EV</a:t>
            </a:r>
            <a:endParaRPr lang="es-ES" sz="1200"/>
          </a:p>
        </p:txBody>
      </p:sp>
      <p:sp>
        <p:nvSpPr>
          <p:cNvPr id="10" name="Round Same Side Corner Rectangle 9"/>
          <p:cNvSpPr/>
          <p:nvPr/>
        </p:nvSpPr>
        <p:spPr>
          <a:xfrm>
            <a:off x="4591282" y="1508760"/>
            <a:ext cx="360775"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100" b="1" i="0" lang="es-ES">
                <a:solidFill>
                  <a:srgbClr val="1B2B48"/>
                </a:solidFill>
                <a:latin typeface="Calibri"/>
              </a:rPr>
              <a:t>AC</a:t>
            </a:r>
            <a:endParaRPr lang="es-ES" sz="1200"/>
          </a:p>
        </p:txBody>
      </p:sp>
      <p:sp>
        <p:nvSpPr>
          <p:cNvPr id="11" name="Round Same Side Corner Rectangle 10"/>
          <p:cNvSpPr/>
          <p:nvPr/>
        </p:nvSpPr>
        <p:spPr>
          <a:xfrm>
            <a:off x="4988633" y="1508760"/>
            <a:ext cx="1491595"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Evolución mensual</a:t>
            </a:r>
            <a:endParaRPr lang="es-ES" sz="1200"/>
          </a:p>
        </p:txBody>
      </p:sp>
      <p:sp>
        <p:nvSpPr>
          <p:cNvPr id="12" name="Round Same Side Corner Rectangle 11"/>
          <p:cNvSpPr/>
          <p:nvPr/>
        </p:nvSpPr>
        <p:spPr>
          <a:xfrm>
            <a:off x="6516804" y="1508760"/>
            <a:ext cx="1340819"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Indicadores EDT</a:t>
            </a:r>
            <a:endParaRPr lang="es-ES" sz="1200"/>
          </a:p>
        </p:txBody>
      </p:sp>
      <p:sp>
        <p:nvSpPr>
          <p:cNvPr id="33" name="Round Same Side Corner Rectangle 11 copia 33"/>
          <p:cNvSpPr/>
          <p:nvPr/>
        </p:nvSpPr>
        <p:spPr>
          <a:xfrm>
            <a:off x="7894199" y="1508760"/>
            <a:ext cx="2019311"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100" b="1" i="0" lang="es-ES">
                <a:solidFill>
                  <a:srgbClr val="FFFFFF"/>
                </a:solidFill>
                <a:latin typeface="Calibri"/>
              </a:rPr>
              <a:t>Análisis de desviaciones</a:t>
            </a:r>
            <a:endParaRPr lang="es-ES" sz="1200"/>
          </a:p>
        </p:txBody>
      </p:sp>
      <p:sp>
        <p:nvSpPr>
          <p:cNvPr id="13" name="Round Same Side Corner Rectangle 12"/>
          <p:cNvSpPr/>
          <p:nvPr/>
        </p:nvSpPr>
        <p:spPr>
          <a:xfrm>
            <a:off x="9950086" y="1508760"/>
            <a:ext cx="963879"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100" b="1" i="0" lang="es-ES">
                <a:solidFill>
                  <a:srgbClr val="1B2B48"/>
                </a:solidFill>
                <a:latin typeface="Calibri"/>
              </a:rPr>
              <a:t>Validación</a:t>
            </a:r>
            <a:endParaRPr lang="es-ES" sz="1200"/>
          </a:p>
        </p:txBody>
      </p:sp>
      <p:sp>
        <p:nvSpPr>
          <p:cNvPr id="14" name="Round Same Side Corner Rectangle 13"/>
          <p:cNvSpPr/>
          <p:nvPr/>
        </p:nvSpPr>
        <p:spPr>
          <a:xfrm>
            <a:off x="10950541" y="1508760"/>
            <a:ext cx="662338"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1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BAC y AC a mano; % PV y % EV</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BAC y AC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las hojas de datos</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4"/>
          <a:stretch>
            <a:fillRect/>
          </a:stretch>
        </p:blipFill>
        <p:spPr>
          <a:xfrm>
            <a:off x="548640" y="1371600"/>
            <a:ext cx="3474720"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4"/>
          <a:stretch>
            <a:fillRect/>
          </a:stretch>
        </p:blipFill>
        <p:spPr>
          <a:xfrm>
            <a:off x="548640" y="1463040"/>
            <a:ext cx="6858000"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0,85</a:t>
            </a:r>
            <a:endParaRPr lang="es-ES" sz="1400"/>
          </a:p>
          <a:p>
            <a:pPr algn="l"/>
            <a:r>
              <a:rPr sz="1400" b="0" i="0" lang="es-ES">
                <a:solidFill>
                  <a:srgbClr val="1B2B48"/>
                </a:solidFill>
                <a:latin typeface="Calibri"/>
              </a:rPr>
              <a:t>Explica el sobrecosto: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CPI 1,10  ·  SPI 1,00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sin punto en el gráfico</a:t>
            </a:r>
            <a:endParaRPr lang="es-ES" sz="1400"/>
          </a:p>
          <a:p>
            <a:pPr algn="l"/>
            <a:r>
              <a:rPr sz="1400" b="0" i="0" lang="es-ES">
                <a:solidFill>
                  <a:srgbClr val="1B2B48"/>
                </a:solidFill>
                <a:latin typeface="Calibri"/>
              </a:rPr>
              <a:t>Su PV está en los meses de sus hitos (2028): SPI sin valor y CPI 0.</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4"/>
          <a:stretch>
            <a:fillRect/>
          </a:stretch>
        </p:blipFill>
        <p:spPr>
          <a:xfrm>
            <a:off x="548640" y="1417320"/>
            <a:ext cx="11064240" cy="2633156"/>
          </a:xfrm>
          <a:prstGeom prst="rect">
            <a:avLst/>
          </a:prstGeom>
          <a:ln w="9525">
            <a:solidFill>
              <a:srgbClr val="D9D9D9"/>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Fecha de estado, avance y validar</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carga del AC y analizar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37</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Sin importes en el cronograma: el BAC se ingresa en el libro</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Validar, simular,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