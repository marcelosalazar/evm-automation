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92" r:id="rId44"/>
    <p:sldId id="279" r:id="rId30"/>
    <p:sldId id="280" r:id="rId31"/>
    <p:sldId id="281" r:id="rId32"/>
    <p:sldId id="282" r:id="rId33"/>
    <p:sldId id="283" r:id="rId34"/>
    <p:sldId id="284" r:id="rId35"/>
    <p:sldId id="285" r:id="rId36"/>
    <p:sldId id="286" r:id="rId37"/>
    <p:sldId id="287" r:id="rId38"/>
    <p:sldId id="288" r:id="rId39"/>
    <p:sldId id="291" r:id="rId43"/>
    <p:sldId id="289" r:id="rId40"/>
    <p:sldId id="290"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BAF27459-8423-4820-A6F3-FAFE21510C5D}">
          <p14:sldIdLst>
            <p14:sldId id="256"/>
            <p14:sldId id="257"/>
            <p14:sldId id="258"/>
          </p14:sldIdLst>
        </p14:section>
        <p14:section name="1. EVM" id="{9B1F387F-7FDA-417C-9532-641206DA6749}">
          <p14:sldIdLst>
            <p14:sldId id="259"/>
            <p14:sldId id="260"/>
            <p14:sldId id="261"/>
            <p14:sldId id="262"/>
            <p14:sldId id="263"/>
            <p14:sldId id="264"/>
          </p14:sldIdLst>
        </p14:section>
        <p14:section name="2. MS Project" id="{ED14AA2C-842E-44D1-8E8E-6A9F3C2C38E1}">
          <p14:sldIdLst>
            <p14:sldId id="265"/>
            <p14:sldId id="266"/>
            <p14:sldId id="267"/>
            <p14:sldId id="268"/>
            <p14:sldId id="269"/>
            <p14:sldId id="270"/>
            <p14:sldId id="271"/>
            <p14:sldId id="272"/>
            <p14:sldId id="273"/>
            <p14:sldId id="274"/>
            <p14:sldId id="275"/>
            <p14:sldId id="276"/>
            <p14:sldId id="277"/>
            <p14:sldId id="278"/>
            <p14:sldId id="279"/>
          </p14:sldIdLst>
        </p14:section>
        <p14:section name="3. Exportador EVM" id="{AB56BA96-9221-49F1-98A1-CC27DF811485}">
          <p14:sldIdLst>
            <p14:sldId id="280"/>
            <p14:sldId id="281"/>
            <p14:sldId id="282"/>
            <p14:sldId id="283"/>
            <p14:sldId id="284"/>
          </p14:sldIdLst>
        </p14:section>
        <p14:section name="4. Interpretar y actuar" id="{4B03E681-2F11-4A12-AE4D-E889FA9ACA94}">
          <p14:sldIdLst>
            <p14:sldId id="285"/>
            <p14:sldId id="286"/>
            <p14:sldId id="287"/>
            <p14:sldId id="288"/>
            <p14:sldId id="289"/>
            <p14:sldId id="29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notesMaster" Target="notesMasters/notesMaster1.xml"/><Relationship Id="rId43" Type="http://schemas.openxmlformats.org/officeDocument/2006/relationships/slide" Target="slides/slide35.xml"/><Relationship Id="rId44"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PV acumulado</c:v>
                </c:pt>
              </c:strCache>
            </c:strRef>
          </c:tx>
          <c:spPr>
            <a:ln w="34925">
              <a:solidFill>
                <a:srgbClr val="2F5597"/>
              </a:solidFill>
            </a:ln>
          </c:spPr>
          <c:marker>
            <c:symbol val="none"/>
          </c:marker>
          <c:xVal>
            <c:numRef>
              <c:f>Sheet1!$A$2:$A$62</c:f>
              <c:numCache>
                <c:formatCode>General</c:formatCode>
                <c:ptCount val="61"/>
                <c:pt idx="0">
                  <c:v>2026.0</c:v>
                </c:pt>
                <c:pt idx="1">
                  <c:v>2026.0833333333333</c:v>
                </c:pt>
                <c:pt idx="2">
                  <c:v>2026.1666666666667</c:v>
                </c:pt>
                <c:pt idx="3">
                  <c:v>2026.25</c:v>
                </c:pt>
                <c:pt idx="4">
                  <c:v>2026.3333333333333</c:v>
                </c:pt>
                <c:pt idx="5">
                  <c:v>2026.4166666666667</c:v>
                </c:pt>
                <c:pt idx="6">
                  <c:v>2026.5</c:v>
                </c:pt>
                <c:pt idx="7">
                  <c:v>2026.5833333333333</c:v>
                </c:pt>
                <c:pt idx="8">
                  <c:v>2026.6666666666667</c:v>
                </c:pt>
                <c:pt idx="9">
                  <c:v>2026.75</c:v>
                </c:pt>
                <c:pt idx="10">
                  <c:v>2026.8333333333333</c:v>
                </c:pt>
                <c:pt idx="11">
                  <c:v>2026.9166666666667</c:v>
                </c:pt>
                <c:pt idx="12">
                  <c:v>2027.0</c:v>
                </c:pt>
                <c:pt idx="13">
                  <c:v>2027.0833333333333</c:v>
                </c:pt>
                <c:pt idx="14">
                  <c:v>2027.1666666666667</c:v>
                </c:pt>
                <c:pt idx="15">
                  <c:v>2027.25</c:v>
                </c:pt>
                <c:pt idx="16">
                  <c:v>2027.3333333333333</c:v>
                </c:pt>
                <c:pt idx="17">
                  <c:v>2027.4166666666667</c:v>
                </c:pt>
                <c:pt idx="18">
                  <c:v>2027.5</c:v>
                </c:pt>
                <c:pt idx="19">
                  <c:v>2027.5833333333333</c:v>
                </c:pt>
                <c:pt idx="20">
                  <c:v>2027.6666666666667</c:v>
                </c:pt>
                <c:pt idx="21">
                  <c:v>2027.75</c:v>
                </c:pt>
                <c:pt idx="22">
                  <c:v>2027.8333333333333</c:v>
                </c:pt>
                <c:pt idx="23">
                  <c:v>2027.9166666666667</c:v>
                </c:pt>
                <c:pt idx="24">
                  <c:v>2028.0</c:v>
                </c:pt>
                <c:pt idx="25">
                  <c:v>2028.0833333333333</c:v>
                </c:pt>
                <c:pt idx="26">
                  <c:v>2028.1666666666667</c:v>
                </c:pt>
                <c:pt idx="27">
                  <c:v>2028.25</c:v>
                </c:pt>
                <c:pt idx="28">
                  <c:v>2028.3333333333333</c:v>
                </c:pt>
                <c:pt idx="29">
                  <c:v>2028.4166666666667</c:v>
                </c:pt>
                <c:pt idx="30">
                  <c:v>2028.5</c:v>
                </c:pt>
                <c:pt idx="31">
                  <c:v>2028.5833333333333</c:v>
                </c:pt>
                <c:pt idx="32">
                  <c:v>2028.6666666666667</c:v>
                </c:pt>
                <c:pt idx="33">
                  <c:v>2028.75</c:v>
                </c:pt>
                <c:pt idx="34">
                  <c:v>2028.8333333333333</c:v>
                </c:pt>
                <c:pt idx="35">
                  <c:v>2028.9166666666667</c:v>
                </c:pt>
                <c:pt idx="36">
                  <c:v>2029.0</c:v>
                </c:pt>
                <c:pt idx="37">
                  <c:v>2029.0833333333333</c:v>
                </c:pt>
                <c:pt idx="38">
                  <c:v>2029.1666666666667</c:v>
                </c:pt>
                <c:pt idx="39">
                  <c:v>2029.25</c:v>
                </c:pt>
                <c:pt idx="40">
                  <c:v>2029.3333333333333</c:v>
                </c:pt>
                <c:pt idx="41">
                  <c:v>2029.4166666666667</c:v>
                </c:pt>
                <c:pt idx="42">
                  <c:v>2029.5</c:v>
                </c:pt>
                <c:pt idx="43">
                  <c:v>2029.5833333333333</c:v>
                </c:pt>
                <c:pt idx="44">
                  <c:v>2029.6666666666667</c:v>
                </c:pt>
                <c:pt idx="45">
                  <c:v>2029.75</c:v>
                </c:pt>
                <c:pt idx="46">
                  <c:v>2029.8333333333333</c:v>
                </c:pt>
                <c:pt idx="47">
                  <c:v>2029.9166666666667</c:v>
                </c:pt>
                <c:pt idx="48">
                  <c:v>2030.0</c:v>
                </c:pt>
                <c:pt idx="49">
                  <c:v>2030.0833333333333</c:v>
                </c:pt>
                <c:pt idx="50">
                  <c:v>2030.1666666666667</c:v>
                </c:pt>
                <c:pt idx="51">
                  <c:v>2030.25</c:v>
                </c:pt>
                <c:pt idx="52">
                  <c:v>2030.3333333333333</c:v>
                </c:pt>
                <c:pt idx="53">
                  <c:v>2030.4166666666667</c:v>
                </c:pt>
                <c:pt idx="54">
                  <c:v>2030.5</c:v>
                </c:pt>
                <c:pt idx="55">
                  <c:v>2030.5833333333333</c:v>
                </c:pt>
                <c:pt idx="56">
                  <c:v>2030.6666666666667</c:v>
                </c:pt>
                <c:pt idx="57">
                  <c:v>2030.75</c:v>
                </c:pt>
                <c:pt idx="58">
                  <c:v>2030.8333333333333</c:v>
                </c:pt>
                <c:pt idx="59">
                  <c:v>2030.9166666666667</c:v>
                </c:pt>
                <c:pt idx="60">
                  <c:v>2031.0</c:v>
                </c:pt>
              </c:numCache>
            </c:numRef>
          </c:xVal>
          <c:yVal>
            <c:numRef>
              <c:f>Sheet1!$B$2:$B$62</c:f>
              <c:numCache>
                <c:formatCode>General</c:formatCode>
                <c:ptCount val="61"/>
                <c:pt idx="0">
                  <c:v>0.0</c:v>
                </c:pt>
                <c:pt idx="1">
                  <c:v>0.069</c:v>
                </c:pt>
                <c:pt idx="2">
                  <c:v>0.143</c:v>
                </c:pt>
                <c:pt idx="3">
                  <c:v>0.33</c:v>
                </c:pt>
                <c:pt idx="4">
                  <c:v>0.533</c:v>
                </c:pt>
                <c:pt idx="5">
                  <c:v>0.877</c:v>
                </c:pt>
                <c:pt idx="6">
                  <c:v>0.925</c:v>
                </c:pt>
                <c:pt idx="7">
                  <c:v>1.392</c:v>
                </c:pt>
                <c:pt idx="8">
                  <c:v>1.926</c:v>
                </c:pt>
                <c:pt idx="9">
                  <c:v>2.266</c:v>
                </c:pt>
                <c:pt idx="10">
                  <c:v>2.613</c:v>
                </c:pt>
                <c:pt idx="11">
                  <c:v>2.953</c:v>
                </c:pt>
                <c:pt idx="12">
                  <c:v>3.326</c:v>
                </c:pt>
                <c:pt idx="13">
                  <c:v>3.685</c:v>
                </c:pt>
                <c:pt idx="14">
                  <c:v>3.995</c:v>
                </c:pt>
                <c:pt idx="15">
                  <c:v>4.472</c:v>
                </c:pt>
                <c:pt idx="16">
                  <c:v>4.954</c:v>
                </c:pt>
                <c:pt idx="17">
                  <c:v>5.414</c:v>
                </c:pt>
                <c:pt idx="18">
                  <c:v>5.896</c:v>
                </c:pt>
                <c:pt idx="19">
                  <c:v>6.758</c:v>
                </c:pt>
                <c:pt idx="20">
                  <c:v>7.68</c:v>
                </c:pt>
                <c:pt idx="21">
                  <c:v>8.602</c:v>
                </c:pt>
                <c:pt idx="22">
                  <c:v>9.482</c:v>
                </c:pt>
                <c:pt idx="23">
                  <c:v>10.747</c:v>
                </c:pt>
                <c:pt idx="24">
                  <c:v>12.092</c:v>
                </c:pt>
                <c:pt idx="25">
                  <c:v>13.34</c:v>
                </c:pt>
                <c:pt idx="26">
                  <c:v>14.133</c:v>
                </c:pt>
                <c:pt idx="27">
                  <c:v>14.758</c:v>
                </c:pt>
                <c:pt idx="28">
                  <c:v>15.301</c:v>
                </c:pt>
                <c:pt idx="29">
                  <c:v>16.42</c:v>
                </c:pt>
                <c:pt idx="30">
                  <c:v>20.35</c:v>
                </c:pt>
                <c:pt idx="31">
                  <c:v>21.467</c:v>
                </c:pt>
                <c:pt idx="32">
                  <c:v>26.83</c:v>
                </c:pt>
                <c:pt idx="33">
                  <c:v>27.837</c:v>
                </c:pt>
                <c:pt idx="34">
                  <c:v>28.804</c:v>
                </c:pt>
                <c:pt idx="35">
                  <c:v>30.032</c:v>
                </c:pt>
                <c:pt idx="36">
                  <c:v>31.229</c:v>
                </c:pt>
                <c:pt idx="37">
                  <c:v>32.539</c:v>
                </c:pt>
                <c:pt idx="38">
                  <c:v>33.679</c:v>
                </c:pt>
                <c:pt idx="39">
                  <c:v>34.933</c:v>
                </c:pt>
                <c:pt idx="40">
                  <c:v>36.13</c:v>
                </c:pt>
                <c:pt idx="41">
                  <c:v>37.44</c:v>
                </c:pt>
                <c:pt idx="42">
                  <c:v>38.611</c:v>
                </c:pt>
                <c:pt idx="43">
                  <c:v>39.293</c:v>
                </c:pt>
                <c:pt idx="44">
                  <c:v>40.005</c:v>
                </c:pt>
                <c:pt idx="45">
                  <c:v>40.625</c:v>
                </c:pt>
                <c:pt idx="46">
                  <c:v>41.201</c:v>
                </c:pt>
                <c:pt idx="47">
                  <c:v>41.784</c:v>
                </c:pt>
                <c:pt idx="48">
                  <c:v>42.281</c:v>
                </c:pt>
                <c:pt idx="49">
                  <c:v>42.639</c:v>
                </c:pt>
                <c:pt idx="50">
                  <c:v>42.975</c:v>
                </c:pt>
                <c:pt idx="51">
                  <c:v>43.426</c:v>
                </c:pt>
                <c:pt idx="52">
                  <c:v>43.63</c:v>
                </c:pt>
                <c:pt idx="53">
                  <c:v>43.867</c:v>
                </c:pt>
                <c:pt idx="54">
                  <c:v>43.97</c:v>
                </c:pt>
                <c:pt idx="55">
                  <c:v>44.081</c:v>
                </c:pt>
                <c:pt idx="56">
                  <c:v>44.138</c:v>
                </c:pt>
                <c:pt idx="57">
                  <c:v>44.183</c:v>
                </c:pt>
                <c:pt idx="58">
                  <c:v>44.21</c:v>
                </c:pt>
                <c:pt idx="59">
                  <c:v>44.21</c:v>
                </c:pt>
                <c:pt idx="60">
                  <c:v>44.21</c:v>
                </c:pt>
              </c:numCache>
            </c:numRef>
          </c:yVal>
          <c:smooth val="0"/>
        </c:ser>
        <c:ser>
          <c:idx val="1"/>
          <c:order val="1"/>
          <c:tx>
            <c:strRef>
              <c:f>Sheet1!$B$64</c:f>
              <c:strCache>
                <c:ptCount val="1"/>
                <c:pt idx="0">
                  <c:v>EV acumulado</c:v>
                </c:pt>
              </c:strCache>
            </c:strRef>
          </c:tx>
          <c:spPr>
            <a:ln w="38100">
              <a:solidFill>
                <a:srgbClr val="4E8A3E"/>
              </a:solidFill>
            </a:ln>
          </c:spPr>
          <c:marker>
            <c:symbol val="none"/>
          </c:marker>
          <c:xVal>
            <c:numRef>
              <c:f>Sheet1!$A$65:$A$89</c:f>
              <c:numCache>
                <c:formatCode>General</c:formatCode>
                <c:ptCount val="25"/>
                <c:pt idx="0">
                  <c:v>2026.0</c:v>
                </c:pt>
                <c:pt idx="1">
                  <c:v>2026.0833</c:v>
                </c:pt>
                <c:pt idx="2">
                  <c:v>2026.1667</c:v>
                </c:pt>
                <c:pt idx="3">
                  <c:v>2026.25</c:v>
                </c:pt>
                <c:pt idx="4">
                  <c:v>2026.3333</c:v>
                </c:pt>
                <c:pt idx="5">
                  <c:v>2026.4167</c:v>
                </c:pt>
                <c:pt idx="6">
                  <c:v>2026.5</c:v>
                </c:pt>
                <c:pt idx="7">
                  <c:v>2026.5833</c:v>
                </c:pt>
                <c:pt idx="8">
                  <c:v>2026.6667</c:v>
                </c:pt>
                <c:pt idx="9">
                  <c:v>2026.75</c:v>
                </c:pt>
                <c:pt idx="10">
                  <c:v>2026.8333</c:v>
                </c:pt>
                <c:pt idx="11">
                  <c:v>2026.9167</c:v>
                </c:pt>
                <c:pt idx="12">
                  <c:v>2027.0</c:v>
                </c:pt>
                <c:pt idx="13">
                  <c:v>2027.0833</c:v>
                </c:pt>
                <c:pt idx="14">
                  <c:v>2027.1667</c:v>
                </c:pt>
                <c:pt idx="15">
                  <c:v>2027.25</c:v>
                </c:pt>
                <c:pt idx="16">
                  <c:v>2027.3333</c:v>
                </c:pt>
                <c:pt idx="17">
                  <c:v>2027.4167</c:v>
                </c:pt>
                <c:pt idx="18">
                  <c:v>2027.5</c:v>
                </c:pt>
                <c:pt idx="19">
                  <c:v>2027.5833</c:v>
                </c:pt>
                <c:pt idx="20">
                  <c:v>2027.6667</c:v>
                </c:pt>
                <c:pt idx="21">
                  <c:v>2027.75</c:v>
                </c:pt>
                <c:pt idx="22">
                  <c:v>2027.8333</c:v>
                </c:pt>
                <c:pt idx="23">
                  <c:v>2027.9167</c:v>
                </c:pt>
                <c:pt idx="24">
                  <c:v>2028.0</c:v>
                </c:pt>
              </c:numCache>
            </c:numRef>
          </c:xVal>
          <c:yVal>
            <c:numRef>
              <c:f>Sheet1!$B$65:$B$89</c:f>
              <c:numCache>
                <c:formatCode>General</c:formatCode>
                <c:ptCount val="25"/>
                <c:pt idx="0">
                  <c:v>0.0</c:v>
                </c:pt>
                <c:pt idx="1">
                  <c:v>0.039</c:v>
                </c:pt>
                <c:pt idx="2">
                  <c:v>0.083</c:v>
                </c:pt>
                <c:pt idx="3">
                  <c:v>0.307</c:v>
                </c:pt>
                <c:pt idx="4">
                  <c:v>0.355</c:v>
                </c:pt>
                <c:pt idx="5">
                  <c:v>0.582</c:v>
                </c:pt>
                <c:pt idx="6">
                  <c:v>0.63</c:v>
                </c:pt>
                <c:pt idx="7">
                  <c:v>1.059</c:v>
                </c:pt>
                <c:pt idx="8">
                  <c:v>1.32</c:v>
                </c:pt>
                <c:pt idx="9">
                  <c:v>1.913</c:v>
                </c:pt>
                <c:pt idx="10">
                  <c:v>2.193</c:v>
                </c:pt>
                <c:pt idx="11">
                  <c:v>2.445</c:v>
                </c:pt>
                <c:pt idx="12">
                  <c:v>2.736</c:v>
                </c:pt>
                <c:pt idx="13">
                  <c:v>3.035</c:v>
                </c:pt>
                <c:pt idx="14">
                  <c:v>3.301</c:v>
                </c:pt>
                <c:pt idx="15">
                  <c:v>3.699</c:v>
                </c:pt>
                <c:pt idx="16">
                  <c:v>4.136</c:v>
                </c:pt>
                <c:pt idx="17">
                  <c:v>4.539</c:v>
                </c:pt>
                <c:pt idx="18">
                  <c:v>4.946</c:v>
                </c:pt>
                <c:pt idx="19">
                  <c:v>5.688</c:v>
                </c:pt>
                <c:pt idx="20">
                  <c:v>6.493</c:v>
                </c:pt>
                <c:pt idx="21">
                  <c:v>7.266</c:v>
                </c:pt>
                <c:pt idx="22">
                  <c:v>8.041</c:v>
                </c:pt>
                <c:pt idx="23">
                  <c:v>9.095</c:v>
                </c:pt>
                <c:pt idx="24">
                  <c:v>10.191</c:v>
                </c:pt>
              </c:numCache>
            </c:numRef>
          </c:yVal>
          <c:smooth val="0"/>
        </c:ser>
        <c:ser>
          <c:idx val="2"/>
          <c:order val="2"/>
          <c:tx>
            <c:strRef>
              <c:f>Sheet1!$B$91</c:f>
              <c:strCache>
                <c:ptCount val="1"/>
                <c:pt idx="0">
                  <c:v>AC acumulado</c:v>
                </c:pt>
              </c:strCache>
            </c:strRef>
          </c:tx>
          <c:spPr>
            <a:ln w="38100">
              <a:solidFill>
                <a:srgbClr val="C0392B"/>
              </a:solidFill>
            </a:ln>
          </c:spPr>
          <c:marker>
            <c:symbol val="none"/>
          </c:marker>
          <c:xVal>
            <c:numRef>
              <c:f>Sheet1!$A$92:$A$116</c:f>
              <c:numCache>
                <c:formatCode>General</c:formatCode>
                <c:ptCount val="25"/>
                <c:pt idx="0">
                  <c:v>2026.0</c:v>
                </c:pt>
                <c:pt idx="1">
                  <c:v>2026.0833</c:v>
                </c:pt>
                <c:pt idx="2">
                  <c:v>2026.1667</c:v>
                </c:pt>
                <c:pt idx="3">
                  <c:v>2026.25</c:v>
                </c:pt>
                <c:pt idx="4">
                  <c:v>2026.3333</c:v>
                </c:pt>
                <c:pt idx="5">
                  <c:v>2026.4167</c:v>
                </c:pt>
                <c:pt idx="6">
                  <c:v>2026.5</c:v>
                </c:pt>
                <c:pt idx="7">
                  <c:v>2026.5833</c:v>
                </c:pt>
                <c:pt idx="8">
                  <c:v>2026.6667</c:v>
                </c:pt>
                <c:pt idx="9">
                  <c:v>2026.75</c:v>
                </c:pt>
                <c:pt idx="10">
                  <c:v>2026.8333</c:v>
                </c:pt>
                <c:pt idx="11">
                  <c:v>2026.9167</c:v>
                </c:pt>
                <c:pt idx="12">
                  <c:v>2027.0</c:v>
                </c:pt>
                <c:pt idx="13">
                  <c:v>2027.0833</c:v>
                </c:pt>
                <c:pt idx="14">
                  <c:v>2027.1667</c:v>
                </c:pt>
                <c:pt idx="15">
                  <c:v>2027.25</c:v>
                </c:pt>
                <c:pt idx="16">
                  <c:v>2027.3333</c:v>
                </c:pt>
                <c:pt idx="17">
                  <c:v>2027.4167</c:v>
                </c:pt>
                <c:pt idx="18">
                  <c:v>2027.5</c:v>
                </c:pt>
                <c:pt idx="19">
                  <c:v>2027.5833</c:v>
                </c:pt>
                <c:pt idx="20">
                  <c:v>2027.6667</c:v>
                </c:pt>
                <c:pt idx="21">
                  <c:v>2027.75</c:v>
                </c:pt>
                <c:pt idx="22">
                  <c:v>2027.8333</c:v>
                </c:pt>
                <c:pt idx="23">
                  <c:v>2027.9167</c:v>
                </c:pt>
                <c:pt idx="24">
                  <c:v>2028.0</c:v>
                </c:pt>
              </c:numCache>
            </c:numRef>
          </c:xVal>
          <c:yVal>
            <c:numRef>
              <c:f>Sheet1!$B$92:$B$116</c:f>
              <c:numCache>
                <c:formatCode>General</c:formatCode>
                <c:ptCount val="25"/>
                <c:pt idx="0">
                  <c:v>0.0</c:v>
                </c:pt>
                <c:pt idx="1">
                  <c:v>0.054</c:v>
                </c:pt>
                <c:pt idx="2">
                  <c:v>0.137</c:v>
                </c:pt>
                <c:pt idx="3">
                  <c:v>0.299</c:v>
                </c:pt>
                <c:pt idx="4">
                  <c:v>0.624</c:v>
                </c:pt>
                <c:pt idx="5">
                  <c:v>0.891</c:v>
                </c:pt>
                <c:pt idx="6">
                  <c:v>1.079</c:v>
                </c:pt>
                <c:pt idx="7">
                  <c:v>1.441</c:v>
                </c:pt>
                <c:pt idx="8">
                  <c:v>1.781</c:v>
                </c:pt>
                <c:pt idx="9">
                  <c:v>2.071</c:v>
                </c:pt>
                <c:pt idx="10">
                  <c:v>2.417</c:v>
                </c:pt>
                <c:pt idx="11">
                  <c:v>2.705</c:v>
                </c:pt>
                <c:pt idx="12">
                  <c:v>3.055</c:v>
                </c:pt>
                <c:pt idx="13">
                  <c:v>3.384</c:v>
                </c:pt>
                <c:pt idx="14">
                  <c:v>3.657</c:v>
                </c:pt>
                <c:pt idx="15">
                  <c:v>4.087</c:v>
                </c:pt>
                <c:pt idx="16">
                  <c:v>4.538</c:v>
                </c:pt>
                <c:pt idx="17">
                  <c:v>4.979</c:v>
                </c:pt>
                <c:pt idx="18">
                  <c:v>5.394</c:v>
                </c:pt>
                <c:pt idx="19">
                  <c:v>6.198</c:v>
                </c:pt>
                <c:pt idx="20">
                  <c:v>7.046</c:v>
                </c:pt>
                <c:pt idx="21">
                  <c:v>8.406</c:v>
                </c:pt>
                <c:pt idx="22">
                  <c:v>9.805</c:v>
                </c:pt>
                <c:pt idx="23">
                  <c:v>11.603</c:v>
                </c:pt>
                <c:pt idx="24">
                  <c:v>13.491</c:v>
                </c:pt>
              </c:numCache>
            </c:numRef>
          </c:yVal>
          <c:smooth val="0"/>
        </c:ser>
        <c:ser>
          <c:idx val="3"/>
          <c:order val="3"/>
          <c:tx>
            <c:strRef>
              <c:f>Sheet1!$B$118</c:f>
              <c:strCache>
                <c:ptCount val="1"/>
                <c:pt idx="0">
                  <c:v>BAC</c:v>
                </c:pt>
              </c:strCache>
            </c:strRef>
          </c:tx>
          <c:spPr>
            <a:ln w="19050">
              <a:solidFill>
                <a:srgbClr val="5A6577"/>
              </a:solidFill>
              <a:prstDash val="dash"/>
            </a:ln>
          </c:spPr>
          <c:marker>
            <c:symbol val="none"/>
          </c:marker>
          <c:xVal>
            <c:numRef>
              <c:f>Sheet1!$A$119:$A$120</c:f>
              <c:numCache>
                <c:formatCode>General</c:formatCode>
                <c:ptCount val="2"/>
                <c:pt idx="0">
                  <c:v>2026.0</c:v>
                </c:pt>
                <c:pt idx="1">
                  <c:v>2031.0</c:v>
                </c:pt>
              </c:numCache>
            </c:numRef>
          </c:xVal>
          <c:yVal>
            <c:numRef>
              <c:f>Sheet1!$B$119:$B$120</c:f>
              <c:numCache>
                <c:formatCode>General</c:formatCode>
                <c:ptCount val="2"/>
                <c:pt idx="0">
                  <c:v>44.21</c:v>
                </c:pt>
                <c:pt idx="1">
                  <c:v>44.21</c:v>
                </c:pt>
              </c:numCache>
            </c:numRef>
          </c:yVal>
          <c:smooth val="0"/>
        </c:ser>
        <c:axId val="-2128940872"/>
        <c:axId val="-2129643912"/>
      </c:scatterChart>
      <c:valAx>
        <c:axId val="-2128940872"/>
        <c:scaling>
          <c:orientation val="minMax"/>
          <c:max val="2031.0"/>
          <c:min val="2026.0"/>
        </c:scaling>
        <c:delete val="0"/>
        <c:axPos val="b"/>
        <c:numFmt formatCode="0" sourceLinked="0"/>
        <c:majorTickMark val="none"/>
        <c:minorTickMark val="none"/>
        <c:tickLblPos val="nextTo"/>
        <c:spPr>
          <a:ln>
            <a:solidFill>
              <a:srgbClr val="D5DBE5"/>
            </a:solidFill>
          </a:ln>
        </c:spPr>
        <c:txPr>
          <a:bodyPr/>
          <a:lstStyle/>
          <a:p>
            <a:pPr>
              <a:defRPr sz="1200">
                <a:solidFill>
                  <a:srgbClr val="5A6577"/>
                </a:solidFill>
                <a:latin typeface="Calibri"/>
              </a:defRPr>
            </a:pPr>
          </a:p>
        </c:txPr>
        <c:crossAx val="-2129643912"/>
        <c:crosses val="autoZero"/>
        <c:crossBetween val="midCat"/>
        <c:majorUnit val="1.0"/>
      </c:valAx>
      <c:valAx>
        <c:axId val="-2129643912"/>
        <c:scaling>
          <c:orientation val="minMax"/>
          <c:max val="50.0"/>
          <c:min val="0.0"/>
        </c:scaling>
        <c:delete val="0"/>
        <c:axPos val="l"/>
        <c:majorGridlines>
          <c:spPr>
            <a:ln w="9525">
              <a:solidFill>
                <a:srgbClr val="E3E7EE"/>
              </a:solidFill>
            </a:ln>
          </c:spPr>
        </c:majorGridlines>
        <c:numFmt formatCode="0" sourceLinked="0"/>
        <c:majorTickMark val="none"/>
        <c:minorTickMark val="none"/>
        <c:tickLblPos val="nextTo"/>
        <c:spPr>
          <a:ln>
            <a:noFill/>
          </a:ln>
        </c:spPr>
        <c:txPr>
          <a:bodyPr/>
          <a:lstStyle/>
          <a:p>
            <a:pPr>
              <a:defRPr sz="1200">
                <a:solidFill>
                  <a:srgbClr val="5A6577"/>
                </a:solidFill>
                <a:latin typeface="Calibri"/>
              </a:defRPr>
            </a:pPr>
          </a:p>
        </c:txPr>
        <c:crossAx val="-2128940872"/>
        <c:crosses val="autoZero"/>
        <c:crossBetween val="midCat"/>
        <c:majorUnit val="10.0"/>
      </c:valAx>
    </c:plotArea>
    <c:legend>
      <c:legendPos val="b"/>
      <c:layout/>
      <c:overlay val="0"/>
      <c:txPr>
        <a:bodyPr/>
        <a:lstStyle/>
        <a:p>
          <a:pPr>
            <a:defRPr sz="1200">
              <a:solidFill>
                <a:srgbClr val="5A6577"/>
              </a:solidFill>
            </a:defRPr>
          </a:pPr>
        </a:p>
      </c:txPr>
    </c:legend>
    <c:plotVisOnly val="1"/>
    <c:dispBlanksAs val="gap"/>
    <c:showDLblsOverMax val="0"/>
  </c:chart>
  <c:txPr>
    <a:bodyPr/>
    <a:lstStyle/>
    <a:p>
      <a:pPr>
        <a:defRPr sz="1200">
          <a:solidFill>
            <a:srgbClr val="5A6577"/>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Millones de euros</c:v>
                </c:pt>
              </c:strCache>
            </c:strRef>
          </c:tx>
          <c:spPr>
            <a:solidFill>
              <a:srgbClr val="2F5597"/>
            </a:solidFill>
          </c:spPr>
          <c:dPt>
            <c:idx val="0"/>
            <c:spPr>
              <a:solidFill>
                <a:srgbClr val="2F5597"/>
              </a:solidFill>
            </c:spPr>
          </c:dPt>
          <c:dPt>
            <c:idx val="1"/>
            <c:spPr>
              <a:solidFill>
                <a:srgbClr val="2F5597"/>
              </a:solidFill>
            </c:spPr>
          </c:dPt>
          <c:dPt>
            <c:idx val="2"/>
            <c:spPr>
              <a:solidFill>
                <a:srgbClr val="2F5597"/>
              </a:solidFill>
            </c:spPr>
          </c:dPt>
          <c:dPt>
            <c:idx val="3"/>
            <c:spPr>
              <a:solidFill>
                <a:srgbClr val="5A6577"/>
              </a:solidFill>
            </c:spPr>
          </c:dPt>
          <c:dLbls>
            <c:dLbl>
              <c:idx val="0"/>
              <c:tx>
                <c:rich>
                  <a:bodyPr/>
                  <a:lstStyle/>
                  <a:p>
                    <a:r>
                      <a:rPr sz="1300" b="1">
                        <a:solidFill>
                          <a:srgbClr val="1B2B48"/>
                        </a:solidFill>
                        <a:latin typeface="Calibri"/>
                      </a:rPr>
                      <a:t>66,9 M€</a:t>
                    </a:r>
                  </a:p>
                </c:rich>
              </c:tx>
              <c:dLblPos val="outEnd"/>
              <c:showLegendKey val="0"/>
              <c:showVal val="1"/>
              <c:showCatName val="0"/>
              <c:showSerName val="0"/>
              <c:showPercent val="0"/>
              <c:showBubbleSize val="0"/>
            </c:dLbl>
            <c:dLbl>
              <c:idx val="1"/>
              <c:tx>
                <c:rich>
                  <a:bodyPr/>
                  <a:lstStyle/>
                  <a:p>
                    <a:r>
                      <a:rPr sz="1300" b="1">
                        <a:solidFill>
                          <a:srgbClr val="1B2B48"/>
                        </a:solidFill>
                        <a:latin typeface="Calibri"/>
                      </a:rPr>
                      <a:t>58,5 M€</a:t>
                    </a:r>
                  </a:p>
                </c:rich>
              </c:tx>
              <c:dLblPos val="outEnd"/>
              <c:showLegendKey val="0"/>
              <c:showVal val="1"/>
              <c:showCatName val="0"/>
              <c:showSerName val="0"/>
              <c:showPercent val="0"/>
              <c:showBubbleSize val="0"/>
            </c:dLbl>
            <c:dLbl>
              <c:idx val="2"/>
              <c:tx>
                <c:rich>
                  <a:bodyPr/>
                  <a:lstStyle/>
                  <a:p>
                    <a:r>
                      <a:rPr sz="1300" b="1">
                        <a:solidFill>
                          <a:srgbClr val="1B2B48"/>
                        </a:solidFill>
                        <a:latin typeface="Calibri"/>
                      </a:rPr>
                      <a:t>47,5 M€</a:t>
                    </a:r>
                  </a:p>
                </c:rich>
              </c:tx>
              <c:dLblPos val="outEnd"/>
              <c:showLegendKey val="0"/>
              <c:showVal val="1"/>
              <c:showCatName val="0"/>
              <c:showSerName val="0"/>
              <c:showPercent val="0"/>
              <c:showBubbleSize val="0"/>
            </c:dLbl>
            <c:dLbl>
              <c:idx val="3"/>
              <c:tx>
                <c:rich>
                  <a:bodyPr/>
                  <a:lstStyle/>
                  <a:p>
                    <a:r>
                      <a:rPr sz="1300" b="1">
                        <a:solidFill>
                          <a:srgbClr val="1B2B48"/>
                        </a:solidFill>
                        <a:latin typeface="Calibri"/>
                      </a:rPr>
                      <a:t>44,2 M€</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AC + (BAC − EV) / (CPI × SPI)</c:v>
                </c:pt>
                <c:pt idx="1">
                  <c:v>BAC / CPI</c:v>
                </c:pt>
                <c:pt idx="2">
                  <c:v>AC + (BAC − EV)</c:v>
                </c:pt>
                <c:pt idx="3">
                  <c:v>BAC (presupuesto)</c:v>
                </c:pt>
              </c:strCache>
            </c:strRef>
          </c:cat>
          <c:val>
            <c:numRef>
              <c:f>Sheet1!$B$2:$B$5</c:f>
              <c:numCache>
                <c:formatCode>General</c:formatCode>
                <c:ptCount val="4"/>
                <c:pt idx="0">
                  <c:v>66.93</c:v>
                </c:pt>
                <c:pt idx="1">
                  <c:v>58.53</c:v>
                </c:pt>
                <c:pt idx="2">
                  <c:v>47.51</c:v>
                </c:pt>
                <c:pt idx="3">
                  <c:v>44.21</c:v>
                </c:pt>
              </c:numCache>
            </c:numRef>
          </c:val>
        </c:ser>
        <c:gapWidth val="55"/>
        <c:axId val="-2068027336"/>
        <c:axId val="-2113994440"/>
      </c:barChart>
      <c:catAx>
        <c:axId val="-2068027336"/>
        <c:scaling>
          <c:orientation val="minMax"/>
        </c:scaling>
        <c:delete val="0"/>
        <c:axPos val="l"/>
        <c:majorTickMark val="none"/>
        <c:minorTickMark val="none"/>
        <c:tickLblPos val="nextTo"/>
        <c:spPr>
          <a:ln>
            <a:solidFill>
              <a:srgbClr val="D5DBE5"/>
            </a:solidFill>
          </a:ln>
        </c:spPr>
        <c:txPr>
          <a:bodyPr/>
          <a:lstStyle/>
          <a:p>
            <a:pPr>
              <a:defRPr sz="1200">
                <a:solidFill>
                  <a:srgbClr val="5A6577"/>
                </a:solidFill>
                <a:latin typeface="Calibri"/>
              </a:defRPr>
            </a:pPr>
          </a:p>
        </c:txPr>
        <c:crossAx val="-2113994440"/>
        <c:crosses val="autoZero"/>
        <c:auto val="1"/>
        <c:lblAlgn val="ctr"/>
        <c:lblOffset val="100"/>
        <c:noMultiLvlLbl val="0"/>
      </c:catAx>
      <c:valAx>
        <c:axId val="-2113994440"/>
        <c:scaling>
          <c:max val="90.0"/>
          <c:min val="0.0"/>
        </c:scaling>
        <c:delete val="0"/>
        <c:axPos val="b"/>
        <c:majorGridlines>
          <c:spPr>
            <a:ln w="9525">
              <a:solidFill>
                <a:srgbClr val="E3E7EE"/>
              </a:solidFill>
            </a:ln>
          </c:spPr>
        </c:majorGridlines>
        <c:numFmt formatCode="0" sourceLinked="0"/>
        <c:majorTickMark val="none"/>
        <c:minorTickMark val="none"/>
        <c:tickLblPos val="nextTo"/>
        <c:spPr>
          <a:ln>
            <a:noFill/>
          </a:ln>
        </c:spPr>
        <c:txPr>
          <a:bodyPr/>
          <a:lstStyle/>
          <a:p>
            <a:pPr>
              <a:defRPr sz="1200">
                <a:solidFill>
                  <a:srgbClr val="5A6577"/>
                </a:solidFill>
                <a:latin typeface="Calibri"/>
              </a:defRPr>
            </a:pPr>
          </a:p>
        </c:txPr>
        <c:crossAx val="-2068027336"/>
        <c:crosses val="autoZero"/>
        <c:majorUnit val="10.0"/>
      </c:valAx>
    </c:plotArea>
    <c:dispBlanksAs val="gap"/>
  </c:chart>
  <c:txPr>
    <a:bodyPr/>
    <a:lstStyle/>
    <a:p>
      <a:pPr>
        <a:defRPr sz="1200">
          <a:solidFill>
            <a:srgbClr val="5A6577"/>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PV acumulado (plan)</c:v>
                </c:pt>
              </c:strCache>
            </c:strRef>
          </c:tx>
          <c:spPr>
            <a:ln w="34925">
              <a:solidFill>
                <a:srgbClr val="2F5597"/>
              </a:solidFill>
            </a:ln>
          </c:spPr>
          <c:marker>
            <c:symbol val="none"/>
          </c:marker>
          <c:xVal>
            <c:numRef>
              <c:f>Sheet1!$A$2:$A$32</c:f>
              <c:numCache>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Cache>
            </c:numRef>
          </c:xVal>
          <c:yVal>
            <c:numRef>
              <c:f>Sheet1!$B$2:$B$32</c:f>
              <c:numCache>
                <c:formatCode>General</c:formatCode>
                <c:ptCount val="31"/>
                <c:pt idx="0">
                  <c:v>0.0</c:v>
                </c:pt>
                <c:pt idx="1">
                  <c:v>0.069</c:v>
                </c:pt>
                <c:pt idx="2">
                  <c:v>0.143</c:v>
                </c:pt>
                <c:pt idx="3">
                  <c:v>0.33</c:v>
                </c:pt>
                <c:pt idx="4">
                  <c:v>0.533</c:v>
                </c:pt>
                <c:pt idx="5">
                  <c:v>0.877</c:v>
                </c:pt>
                <c:pt idx="6">
                  <c:v>0.925</c:v>
                </c:pt>
                <c:pt idx="7">
                  <c:v>1.392</c:v>
                </c:pt>
                <c:pt idx="8">
                  <c:v>1.926</c:v>
                </c:pt>
                <c:pt idx="9">
                  <c:v>2.266</c:v>
                </c:pt>
                <c:pt idx="10">
                  <c:v>2.613</c:v>
                </c:pt>
                <c:pt idx="11">
                  <c:v>2.953</c:v>
                </c:pt>
                <c:pt idx="12">
                  <c:v>3.326</c:v>
                </c:pt>
                <c:pt idx="13">
                  <c:v>3.685</c:v>
                </c:pt>
                <c:pt idx="14">
                  <c:v>3.995</c:v>
                </c:pt>
                <c:pt idx="15">
                  <c:v>4.472</c:v>
                </c:pt>
                <c:pt idx="16">
                  <c:v>4.954</c:v>
                </c:pt>
                <c:pt idx="17">
                  <c:v>5.414</c:v>
                </c:pt>
                <c:pt idx="18">
                  <c:v>5.896</c:v>
                </c:pt>
                <c:pt idx="19">
                  <c:v>6.758</c:v>
                </c:pt>
                <c:pt idx="20">
                  <c:v>7.68</c:v>
                </c:pt>
                <c:pt idx="21">
                  <c:v>8.602</c:v>
                </c:pt>
                <c:pt idx="22">
                  <c:v>9.482</c:v>
                </c:pt>
                <c:pt idx="23">
                  <c:v>10.747</c:v>
                </c:pt>
                <c:pt idx="24">
                  <c:v>12.092</c:v>
                </c:pt>
                <c:pt idx="25">
                  <c:v>13.34</c:v>
                </c:pt>
                <c:pt idx="26">
                  <c:v>14.133</c:v>
                </c:pt>
                <c:pt idx="27">
                  <c:v>14.758</c:v>
                </c:pt>
                <c:pt idx="28">
                  <c:v>15.301</c:v>
                </c:pt>
                <c:pt idx="29">
                  <c:v>16.42</c:v>
                </c:pt>
                <c:pt idx="30">
                  <c:v>20.35</c:v>
                </c:pt>
              </c:numCache>
            </c:numRef>
          </c:yVal>
          <c:smooth val="0"/>
        </c:ser>
        <c:ser>
          <c:idx val="1"/>
          <c:order val="1"/>
          <c:tx>
            <c:strRef>
              <c:f>Sheet1!$B$34</c:f>
              <c:strCache>
                <c:ptCount val="1"/>
                <c:pt idx="0">
                  <c:v>EV a dic-2027</c:v>
                </c:pt>
              </c:strCache>
            </c:strRef>
          </c:tx>
          <c:spPr>
            <a:ln>
              <a:noFill/>
            </a:ln>
          </c:spPr>
          <c:marker>
            <c:symbol val="circle"/>
            <c:size val="11"/>
            <c:spPr>
              <a:solidFill>
                <a:srgbClr val="4E8A3E"/>
              </a:solidFill>
              <a:ln>
                <a:solidFill>
                  <a:srgbClr val="FFFFFF"/>
                </a:solidFill>
              </a:ln>
            </c:spPr>
          </c:marker>
          <c:xVal>
            <c:numRef>
              <c:f>Sheet1!$A$35:$A$35</c:f>
              <c:numCache>
                <c:formatCode>General</c:formatCode>
                <c:ptCount val="1"/>
                <c:pt idx="0">
                  <c:v>24.0</c:v>
                </c:pt>
              </c:numCache>
            </c:numRef>
          </c:xVal>
          <c:yVal>
            <c:numRef>
              <c:f>Sheet1!$B$35:$B$35</c:f>
              <c:numCache>
                <c:formatCode>General</c:formatCode>
                <c:ptCount val="1"/>
                <c:pt idx="0">
                  <c:v>10.191</c:v>
                </c:pt>
              </c:numCache>
            </c:numRef>
          </c:yVal>
          <c:smooth val="0"/>
        </c:ser>
        <c:ser>
          <c:idx val="2"/>
          <c:order val="2"/>
          <c:tx>
            <c:strRef>
              <c:f>Sheet1!$B$37</c:f>
              <c:strCache>
                <c:ptCount val="1"/>
                <c:pt idx="0">
                  <c:v>ES: el plan preveía ese valor</c:v>
                </c:pt>
              </c:strCache>
            </c:strRef>
          </c:tx>
          <c:spPr>
            <a:ln>
              <a:noFill/>
            </a:ln>
          </c:spPr>
          <c:marker>
            <c:symbol val="diamond"/>
            <c:size val="11"/>
            <c:spPr>
              <a:solidFill>
                <a:srgbClr val="2F5597"/>
              </a:solidFill>
              <a:ln>
                <a:solidFill>
                  <a:srgbClr val="FFFFFF"/>
                </a:solidFill>
              </a:ln>
            </c:spPr>
          </c:marker>
          <c:xVal>
            <c:numRef>
              <c:f>Sheet1!$A$38:$A$38</c:f>
              <c:numCache>
                <c:formatCode>General</c:formatCode>
                <c:ptCount val="1"/>
                <c:pt idx="0">
                  <c:v>22.56</c:v>
                </c:pt>
              </c:numCache>
            </c:numRef>
          </c:xVal>
          <c:yVal>
            <c:numRef>
              <c:f>Sheet1!$B$38:$B$38</c:f>
              <c:numCache>
                <c:formatCode>General</c:formatCode>
                <c:ptCount val="1"/>
                <c:pt idx="0">
                  <c:v>10.191</c:v>
                </c:pt>
              </c:numCache>
            </c:numRef>
          </c:yVal>
          <c:smooth val="0"/>
        </c:ser>
        <c:ser>
          <c:idx val="3"/>
          <c:order val="3"/>
          <c:tx>
            <c:strRef>
              <c:f>Sheet1!$B$40</c:f>
              <c:strCache>
                <c:ptCount val="1"/>
                <c:pt idx="0">
                  <c:v>SV(t)</c:v>
                </c:pt>
              </c:strCache>
            </c:strRef>
          </c:tx>
          <c:spPr>
            <a:ln w="38100">
              <a:solidFill>
                <a:srgbClr val="8A5A00"/>
              </a:solidFill>
            </a:ln>
          </c:spPr>
          <c:marker>
            <c:symbol val="none"/>
          </c:marker>
          <c:xVal>
            <c:numRef>
              <c:f>Sheet1!$A$41:$A$42</c:f>
              <c:numCache>
                <c:formatCode>General</c:formatCode>
                <c:ptCount val="2"/>
                <c:pt idx="0">
                  <c:v>22.56</c:v>
                </c:pt>
                <c:pt idx="1">
                  <c:v>24</c:v>
                </c:pt>
              </c:numCache>
            </c:numRef>
          </c:xVal>
          <c:yVal>
            <c:numRef>
              <c:f>Sheet1!$B$41:$B$42</c:f>
              <c:numCache>
                <c:formatCode>General</c:formatCode>
                <c:ptCount val="2"/>
                <c:pt idx="0">
                  <c:v>10.191</c:v>
                </c:pt>
                <c:pt idx="1">
                  <c:v>10.191</c:v>
                </c:pt>
              </c:numCache>
            </c:numRef>
          </c:yVal>
          <c:smooth val="0"/>
        </c:ser>
        <c:ser>
          <c:idx val="4"/>
          <c:order val="4"/>
          <c:tx>
            <c:strRef>
              <c:f>Sheet1!$B$44</c:f>
              <c:strCache>
                <c:ptCount val="1"/>
                <c:pt idx="0">
                  <c:v>AT</c:v>
                </c:pt>
              </c:strCache>
            </c:strRef>
          </c:tx>
          <c:spPr>
            <a:ln w="15875">
              <a:solidFill>
                <a:srgbClr val="5A6577"/>
              </a:solidFill>
              <a:prstDash val="dash"/>
            </a:ln>
          </c:spPr>
          <c:marker>
            <c:symbol val="none"/>
          </c:marker>
          <c:xVal>
            <c:numRef>
              <c:f>Sheet1!$A$45:$A$46</c:f>
              <c:numCache>
                <c:formatCode>General</c:formatCode>
                <c:ptCount val="2"/>
                <c:pt idx="0">
                  <c:v>24.0</c:v>
                </c:pt>
                <c:pt idx="1">
                  <c:v>24.0</c:v>
                </c:pt>
              </c:numCache>
            </c:numRef>
          </c:xVal>
          <c:yVal>
            <c:numRef>
              <c:f>Sheet1!$B$45:$B$46</c:f>
              <c:numCache>
                <c:formatCode>General</c:formatCode>
                <c:ptCount val="2"/>
                <c:pt idx="0">
                  <c:v>0.0</c:v>
                </c:pt>
                <c:pt idx="1">
                  <c:v>10.191</c:v>
                </c:pt>
              </c:numCache>
            </c:numRef>
          </c:yVal>
          <c:smooth val="0"/>
        </c:ser>
        <c:ser>
          <c:idx val="5"/>
          <c:order val="5"/>
          <c:tx>
            <c:strRef>
              <c:f>Sheet1!$B$48</c:f>
              <c:strCache>
                <c:ptCount val="1"/>
                <c:pt idx="0">
                  <c:v>ES</c:v>
                </c:pt>
              </c:strCache>
            </c:strRef>
          </c:tx>
          <c:spPr>
            <a:ln w="15875">
              <a:solidFill>
                <a:srgbClr val="5A6577"/>
              </a:solidFill>
              <a:prstDash val="dash"/>
            </a:ln>
          </c:spPr>
          <c:marker>
            <c:symbol val="none"/>
          </c:marker>
          <c:xVal>
            <c:numRef>
              <c:f>Sheet1!$A$49:$A$50</c:f>
              <c:numCache>
                <c:formatCode>General</c:formatCode>
                <c:ptCount val="2"/>
                <c:pt idx="0">
                  <c:v>22.56</c:v>
                </c:pt>
                <c:pt idx="1">
                  <c:v>22.56</c:v>
                </c:pt>
              </c:numCache>
            </c:numRef>
          </c:xVal>
          <c:yVal>
            <c:numRef>
              <c:f>Sheet1!$B$49:$B$50</c:f>
              <c:numCache>
                <c:formatCode>General</c:formatCode>
                <c:ptCount val="2"/>
                <c:pt idx="0">
                  <c:v>0.0</c:v>
                </c:pt>
                <c:pt idx="1">
                  <c:v>10.191</c:v>
                </c:pt>
              </c:numCache>
            </c:numRef>
          </c:yVal>
          <c:smooth val="0"/>
        </c:ser>
        <c:axId val="-2128940872"/>
        <c:axId val="-2129643912"/>
      </c:scatterChart>
      <c:valAx>
        <c:axId val="-2128940872"/>
        <c:scaling>
          <c:orientation val="minMax"/>
          <c:max val="30.0"/>
          <c:min val="0.0"/>
        </c:scaling>
        <c:delete val="0"/>
        <c:axPos val="b"/>
        <c:numFmt formatCode="0" sourceLinked="0"/>
        <c:majorTickMark val="none"/>
        <c:minorTickMark val="none"/>
        <c:tickLblPos val="nextTo"/>
        <c:spPr>
          <a:ln>
            <a:solidFill>
              <a:srgbClr val="D5DBE5"/>
            </a:solidFill>
          </a:ln>
        </c:spPr>
        <c:txPr>
          <a:bodyPr/>
          <a:lstStyle/>
          <a:p>
            <a:pPr>
              <a:defRPr sz="1200">
                <a:solidFill>
                  <a:srgbClr val="5A6577"/>
                </a:solidFill>
                <a:latin typeface="Calibri"/>
              </a:defRPr>
            </a:pPr>
          </a:p>
        </c:txPr>
        <c:crossAx val="-2129643912"/>
        <c:crosses val="autoZero"/>
        <c:crossBetween val="midCat"/>
        <c:majorUnit val="3.0"/>
      </c:valAx>
      <c:valAx>
        <c:axId val="-2129643912"/>
        <c:scaling>
          <c:orientation val="minMax"/>
          <c:max val="20.0"/>
          <c:min val="0.0"/>
        </c:scaling>
        <c:delete val="0"/>
        <c:axPos val="l"/>
        <c:majorGridlines>
          <c:spPr>
            <a:ln w="9525">
              <a:solidFill>
                <a:srgbClr val="E3E7EE"/>
              </a:solidFill>
            </a:ln>
          </c:spPr>
        </c:majorGridlines>
        <c:numFmt formatCode="0" sourceLinked="0"/>
        <c:majorTickMark val="none"/>
        <c:minorTickMark val="none"/>
        <c:tickLblPos val="nextTo"/>
        <c:spPr>
          <a:ln>
            <a:noFill/>
          </a:ln>
        </c:spPr>
        <c:txPr>
          <a:bodyPr/>
          <a:lstStyle/>
          <a:p>
            <a:pPr>
              <a:defRPr sz="1200">
                <a:solidFill>
                  <a:srgbClr val="5A6577"/>
                </a:solidFill>
                <a:latin typeface="Calibri"/>
              </a:defRPr>
            </a:pPr>
          </a:p>
        </c:txPr>
        <c:crossAx val="-2128940872"/>
        <c:crosses val="autoZero"/>
        <c:crossBetween val="midCat"/>
        <c:majorUnit val="5.0"/>
      </c:valAx>
    </c:plotArea>
    <c:plotVisOnly val="1"/>
    <c:dispBlanksAs val="gap"/>
    <c:showDLblsOverMax val="0"/>
  </c:chart>
  <c:txPr>
    <a:bodyPr/>
    <a:lstStyle/>
    <a:p>
      <a:pPr>
        <a:defRPr sz="1200">
          <a:solidFill>
            <a:srgbClr val="5A6577"/>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PV</c:v>
                </c:pt>
              </c:strCache>
            </c:strRef>
          </c:tx>
          <c:spPr>
            <a:solidFill>
              <a:srgbClr val="2F5597"/>
            </a:solidFill>
          </c:spPr>
          <c:cat>
            <c:strRef>
              <c:f>Sheet1!$A$2:$A$4</c:f>
              <c:strCache>
                <c:ptCount val="3"/>
                <c:pt idx="0">
                  <c:v>Mes 1</c:v>
                </c:pt>
                <c:pt idx="1">
                  <c:v>Mes 2</c:v>
                </c:pt>
                <c:pt idx="2">
                  <c:v>Mes 3</c:v>
                </c:pt>
              </c:strCache>
            </c:strRef>
          </c:cat>
          <c:val>
            <c:numRef>
              <c:f>Sheet1!$B$2:$B$4</c:f>
              <c:numCache>
                <c:formatCode>General</c:formatCode>
                <c:ptCount val="3"/>
                <c:pt idx="0">
                  <c:v>100</c:v>
                </c:pt>
                <c:pt idx="1">
                  <c:v>100</c:v>
                </c:pt>
                <c:pt idx="2">
                  <c:v>100</c:v>
                </c:pt>
              </c:numCache>
            </c:numRef>
          </c:val>
        </c:ser>
        <c:dLbls>
          <c:numFmt formatCode="0" sourceLinked="0"/>
          <c:txPr>
            <a:bodyPr/>
            <a:lstStyle/>
            <a:p>
              <a:pPr>
                <a:defRPr sz="1300" b="1">
                  <a:solidFill>
                    <a:srgbClr val="1B2B48"/>
                  </a:solidFill>
                  <a:latin typeface="Calibr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none"/>
        <c:minorTickMark val="none"/>
        <c:tickLblPos val="nextTo"/>
        <c:spPr>
          <a:ln>
            <a:solidFill>
              <a:srgbClr val="D5DBE5"/>
            </a:solidFill>
          </a:ln>
        </c:spPr>
        <c:txPr>
          <a:bodyPr/>
          <a:lstStyle/>
          <a:p>
            <a:pPr>
              <a:defRPr sz="1200">
                <a:solidFill>
                  <a:srgbClr val="5A6577"/>
                </a:solidFill>
                <a:latin typeface="Calibri"/>
              </a:defRPr>
            </a:pPr>
          </a:p>
        </c:txPr>
        <c:crossAx val="-2113994440"/>
        <c:crosses val="autoZero"/>
        <c:auto val="1"/>
        <c:lblAlgn val="ctr"/>
        <c:lblOffset val="100"/>
        <c:noMultiLvlLbl val="0"/>
      </c:catAx>
      <c:valAx>
        <c:axId val="-2113994440"/>
        <c:scaling>
          <c:max val="350.0"/>
          <c:min val="0.0"/>
        </c:scaling>
        <c:delete/>
        <c:axPos val="l"/>
        <c:numFmt formatCode="0" sourceLinked="0"/>
        <c:majorTickMark val="none"/>
        <c:minorTickMark val="none"/>
        <c:tickLblPos val="nextTo"/>
        <c:spPr>
          <a:ln>
            <a:noFill/>
          </a:ln>
        </c:spPr>
        <c:txPr>
          <a:bodyPr/>
          <a:lstStyle/>
          <a:p>
            <a:pPr>
              <a:defRPr sz="1200">
                <a:solidFill>
                  <a:srgbClr val="5A6577"/>
                </a:solidFill>
                <a:latin typeface="Calibri"/>
              </a:defRPr>
            </a:pPr>
          </a:p>
        </c:txPr>
        <c:crossAx val="-2068027336"/>
        <c:crosses val="autoZero"/>
        <c:majorUnit val="100.0"/>
      </c:valAx>
    </c:plotArea>
    <c:dispBlanksAs val="gap"/>
  </c:chart>
  <c:txPr>
    <a:bodyPr/>
    <a:lstStyle/>
    <a:p>
      <a:pPr>
        <a:defRPr sz="1200">
          <a:solidFill>
            <a:srgbClr val="5A6577"/>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PV</c:v>
                </c:pt>
              </c:strCache>
            </c:strRef>
          </c:tx>
          <c:spPr>
            <a:solidFill>
              <a:srgbClr val="2F5597"/>
            </a:solidFill>
          </c:spPr>
          <c:cat>
            <c:strRef>
              <c:f>Sheet1!$A$2:$A$4</c:f>
              <c:strCache>
                <c:ptCount val="3"/>
                <c:pt idx="0">
                  <c:v>Mes 1</c:v>
                </c:pt>
                <c:pt idx="1">
                  <c:v>Mes 2</c:v>
                </c:pt>
                <c:pt idx="2">
                  <c:v>Mes 3</c:v>
                </c:pt>
              </c:strCache>
            </c:strRef>
          </c:cat>
          <c:val>
            <c:numRef>
              <c:f>Sheet1!$B$2:$B$4</c:f>
              <c:numCache>
                <c:formatCode>General</c:formatCode>
                <c:ptCount val="3"/>
                <c:pt idx="0">
                  <c:v>300</c:v>
                </c:pt>
                <c:pt idx="1">
                  <c:v>0</c:v>
                </c:pt>
                <c:pt idx="2">
                  <c:v>0</c:v>
                </c:pt>
              </c:numCache>
            </c:numRef>
          </c:val>
        </c:ser>
        <c:dLbls>
          <c:numFmt formatCode="0" sourceLinked="0"/>
          <c:txPr>
            <a:bodyPr/>
            <a:lstStyle/>
            <a:p>
              <a:pPr>
                <a:defRPr sz="1300" b="1">
                  <a:solidFill>
                    <a:srgbClr val="1B2B48"/>
                  </a:solidFill>
                  <a:latin typeface="Calibr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none"/>
        <c:minorTickMark val="none"/>
        <c:tickLblPos val="nextTo"/>
        <c:spPr>
          <a:ln>
            <a:solidFill>
              <a:srgbClr val="D5DBE5"/>
            </a:solidFill>
          </a:ln>
        </c:spPr>
        <c:txPr>
          <a:bodyPr/>
          <a:lstStyle/>
          <a:p>
            <a:pPr>
              <a:defRPr sz="1200">
                <a:solidFill>
                  <a:srgbClr val="5A6577"/>
                </a:solidFill>
                <a:latin typeface="Calibri"/>
              </a:defRPr>
            </a:pPr>
          </a:p>
        </c:txPr>
        <c:crossAx val="-2113994440"/>
        <c:crosses val="autoZero"/>
        <c:auto val="1"/>
        <c:lblAlgn val="ctr"/>
        <c:lblOffset val="100"/>
        <c:noMultiLvlLbl val="0"/>
      </c:catAx>
      <c:valAx>
        <c:axId val="-2113994440"/>
        <c:scaling>
          <c:max val="350.0"/>
          <c:min val="0.0"/>
        </c:scaling>
        <c:delete/>
        <c:axPos val="l"/>
        <c:numFmt formatCode="0" sourceLinked="0"/>
        <c:majorTickMark val="none"/>
        <c:minorTickMark val="none"/>
        <c:tickLblPos val="nextTo"/>
        <c:spPr>
          <a:ln>
            <a:noFill/>
          </a:ln>
        </c:spPr>
        <c:txPr>
          <a:bodyPr/>
          <a:lstStyle/>
          <a:p>
            <a:pPr>
              <a:defRPr sz="1200">
                <a:solidFill>
                  <a:srgbClr val="5A6577"/>
                </a:solidFill>
                <a:latin typeface="Calibri"/>
              </a:defRPr>
            </a:pPr>
          </a:p>
        </c:txPr>
        <c:crossAx val="-2068027336"/>
        <c:crosses val="autoZero"/>
        <c:majorUnit val="100.0"/>
      </c:valAx>
    </c:plotArea>
    <c:dispBlanksAs val="gap"/>
  </c:chart>
  <c:txPr>
    <a:bodyPr/>
    <a:lstStyle/>
    <a:p>
      <a:pPr>
        <a:defRPr sz="1200">
          <a:solidFill>
            <a:srgbClr val="5A6577"/>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PV</c:v>
                </c:pt>
              </c:strCache>
            </c:strRef>
          </c:tx>
          <c:spPr>
            <a:solidFill>
              <a:srgbClr val="2F5597"/>
            </a:solidFill>
          </c:spPr>
          <c:cat>
            <c:strRef>
              <c:f>Sheet1!$A$2:$A$4</c:f>
              <c:strCache>
                <c:ptCount val="3"/>
                <c:pt idx="0">
                  <c:v>Mes 1</c:v>
                </c:pt>
                <c:pt idx="1">
                  <c:v>Mes 2</c:v>
                </c:pt>
                <c:pt idx="2">
                  <c:v>Mes 3</c:v>
                </c:pt>
              </c:strCache>
            </c:strRef>
          </c:cat>
          <c:val>
            <c:numRef>
              <c:f>Sheet1!$B$2:$B$4</c:f>
              <c:numCache>
                <c:formatCode>General</c:formatCode>
                <c:ptCount val="3"/>
                <c:pt idx="0">
                  <c:v>0</c:v>
                </c:pt>
                <c:pt idx="1">
                  <c:v>0</c:v>
                </c:pt>
                <c:pt idx="2">
                  <c:v>300</c:v>
                </c:pt>
              </c:numCache>
            </c:numRef>
          </c:val>
        </c:ser>
        <c:dLbls>
          <c:numFmt formatCode="0" sourceLinked="0"/>
          <c:txPr>
            <a:bodyPr/>
            <a:lstStyle/>
            <a:p>
              <a:pPr>
                <a:defRPr sz="1300" b="1">
                  <a:solidFill>
                    <a:srgbClr val="1B2B48"/>
                  </a:solidFill>
                  <a:latin typeface="Calibr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none"/>
        <c:minorTickMark val="none"/>
        <c:tickLblPos val="nextTo"/>
        <c:spPr>
          <a:ln>
            <a:solidFill>
              <a:srgbClr val="D5DBE5"/>
            </a:solidFill>
          </a:ln>
        </c:spPr>
        <c:txPr>
          <a:bodyPr/>
          <a:lstStyle/>
          <a:p>
            <a:pPr>
              <a:defRPr sz="1200">
                <a:solidFill>
                  <a:srgbClr val="5A6577"/>
                </a:solidFill>
                <a:latin typeface="Calibri"/>
              </a:defRPr>
            </a:pPr>
          </a:p>
        </c:txPr>
        <c:crossAx val="-2113994440"/>
        <c:crosses val="autoZero"/>
        <c:auto val="1"/>
        <c:lblAlgn val="ctr"/>
        <c:lblOffset val="100"/>
        <c:noMultiLvlLbl val="0"/>
      </c:catAx>
      <c:valAx>
        <c:axId val="-2113994440"/>
        <c:scaling>
          <c:max val="350.0"/>
          <c:min val="0.0"/>
        </c:scaling>
        <c:delete/>
        <c:axPos val="l"/>
        <c:numFmt formatCode="0" sourceLinked="0"/>
        <c:majorTickMark val="none"/>
        <c:minorTickMark val="none"/>
        <c:tickLblPos val="nextTo"/>
        <c:spPr>
          <a:ln>
            <a:noFill/>
          </a:ln>
        </c:spPr>
        <c:txPr>
          <a:bodyPr/>
          <a:lstStyle/>
          <a:p>
            <a:pPr>
              <a:defRPr sz="1200">
                <a:solidFill>
                  <a:srgbClr val="5A6577"/>
                </a:solidFill>
                <a:latin typeface="Calibri"/>
              </a:defRPr>
            </a:pPr>
          </a:p>
        </c:txPr>
        <c:crossAx val="-2068027336"/>
        <c:crosses val="autoZero"/>
        <c:majorUnit val="100.0"/>
      </c:valAx>
    </c:plotArea>
    <c:dispBlanksAs val="gap"/>
  </c:chart>
  <c:txPr>
    <a:bodyPr/>
    <a:lstStyle/>
    <a:p>
      <a:pPr>
        <a:defRPr sz="1200">
          <a:solidFill>
            <a:srgbClr val="5A6577"/>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EV</c:v>
                </c:pt>
              </c:strCache>
            </c:strRef>
          </c:tx>
          <c:spPr>
            <a:ln w="44450">
              <a:solidFill>
                <a:srgbClr val="4E8A3E"/>
              </a:solidFill>
            </a:ln>
          </c:spPr>
          <c:marker>
            <c:symbol val="none"/>
          </c:marker>
          <c:xVal>
            <c:numRef>
              <c:f>Sheet1!$A$2:$A$26</c:f>
              <c:numCache>
                <c:formatCode>General</c:formatCode>
                <c:ptCount val="25"/>
                <c:pt idx="0">
                  <c:v>0.0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numCache>
            </c:numRef>
          </c:xVal>
          <c:yVal>
            <c:numRef>
              <c:f>Sheet1!$B$2:$B$26</c:f>
              <c:numCache>
                <c:formatCode>General</c:formatCode>
                <c:ptCount val="25"/>
                <c:pt idx="0">
                  <c:v>0.0</c:v>
                </c:pt>
                <c:pt idx="1">
                  <c:v>0.039</c:v>
                </c:pt>
                <c:pt idx="2">
                  <c:v>0.083</c:v>
                </c:pt>
                <c:pt idx="3">
                  <c:v>0.307</c:v>
                </c:pt>
                <c:pt idx="4">
                  <c:v>0.355</c:v>
                </c:pt>
                <c:pt idx="5">
                  <c:v>0.582</c:v>
                </c:pt>
                <c:pt idx="6">
                  <c:v>0.63</c:v>
                </c:pt>
                <c:pt idx="7">
                  <c:v>1.059</c:v>
                </c:pt>
                <c:pt idx="8">
                  <c:v>1.32</c:v>
                </c:pt>
                <c:pt idx="9">
                  <c:v>1.913</c:v>
                </c:pt>
                <c:pt idx="10">
                  <c:v>2.193</c:v>
                </c:pt>
                <c:pt idx="11">
                  <c:v>2.445</c:v>
                </c:pt>
                <c:pt idx="12">
                  <c:v>2.736</c:v>
                </c:pt>
                <c:pt idx="13">
                  <c:v>3.035</c:v>
                </c:pt>
                <c:pt idx="14">
                  <c:v>3.301</c:v>
                </c:pt>
                <c:pt idx="15">
                  <c:v>3.699</c:v>
                </c:pt>
                <c:pt idx="16">
                  <c:v>4.136</c:v>
                </c:pt>
                <c:pt idx="17">
                  <c:v>4.539</c:v>
                </c:pt>
                <c:pt idx="18">
                  <c:v>4.946</c:v>
                </c:pt>
                <c:pt idx="19">
                  <c:v>5.688</c:v>
                </c:pt>
                <c:pt idx="20">
                  <c:v>6.493</c:v>
                </c:pt>
                <c:pt idx="21">
                  <c:v>7.266</c:v>
                </c:pt>
                <c:pt idx="22">
                  <c:v>8.041</c:v>
                </c:pt>
                <c:pt idx="23">
                  <c:v>9.095</c:v>
                </c:pt>
                <c:pt idx="24">
                  <c:v>10.191</c:v>
                </c:pt>
              </c:numCache>
            </c:numRef>
          </c:yVal>
          <c:smooth val="0"/>
        </c:ser>
        <c:ser>
          <c:idx val="1"/>
          <c:order val="1"/>
          <c:tx>
            <c:strRef>
              <c:f>Sheet1!$B$28</c:f>
              <c:strCache>
                <c:ptCount val="1"/>
                <c:pt idx="0">
                  <c:v>PV</c:v>
                </c:pt>
              </c:strCache>
            </c:strRef>
          </c:tx>
          <c:spPr>
            <a:ln w="28575">
              <a:solidFill>
                <a:srgbClr val="2F5597"/>
              </a:solidFill>
              <a:prstDash val="dash"/>
            </a:ln>
          </c:spPr>
          <c:marker>
            <c:symbol val="none"/>
          </c:marker>
          <c:xVal>
            <c:numRef>
              <c:f>Sheet1!$A$29:$A$53</c:f>
              <c:numCache>
                <c:formatCode>General</c:formatCod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numCache>
            </c:numRef>
          </c:xVal>
          <c:yVal>
            <c:numRef>
              <c:f>Sheet1!$B$29:$B$53</c:f>
              <c:numCache>
                <c:formatCode>General</c:formatCode>
                <c:ptCount val="25"/>
                <c:pt idx="0">
                  <c:v>0.0</c:v>
                </c:pt>
                <c:pt idx="1">
                  <c:v>0.069</c:v>
                </c:pt>
                <c:pt idx="2">
                  <c:v>0.143</c:v>
                </c:pt>
                <c:pt idx="3">
                  <c:v>0.33</c:v>
                </c:pt>
                <c:pt idx="4">
                  <c:v>0.533</c:v>
                </c:pt>
                <c:pt idx="5">
                  <c:v>0.877</c:v>
                </c:pt>
                <c:pt idx="6">
                  <c:v>0.925</c:v>
                </c:pt>
                <c:pt idx="7">
                  <c:v>1.392</c:v>
                </c:pt>
                <c:pt idx="8">
                  <c:v>1.926</c:v>
                </c:pt>
                <c:pt idx="9">
                  <c:v>2.266</c:v>
                </c:pt>
                <c:pt idx="10">
                  <c:v>2.613</c:v>
                </c:pt>
                <c:pt idx="11">
                  <c:v>2.953</c:v>
                </c:pt>
                <c:pt idx="12">
                  <c:v>3.326</c:v>
                </c:pt>
                <c:pt idx="13">
                  <c:v>3.685</c:v>
                </c:pt>
                <c:pt idx="14">
                  <c:v>3.995</c:v>
                </c:pt>
                <c:pt idx="15">
                  <c:v>4.472</c:v>
                </c:pt>
                <c:pt idx="16">
                  <c:v>4.954</c:v>
                </c:pt>
                <c:pt idx="17">
                  <c:v>5.414</c:v>
                </c:pt>
                <c:pt idx="18">
                  <c:v>5.896</c:v>
                </c:pt>
                <c:pt idx="19">
                  <c:v>6.758</c:v>
                </c:pt>
                <c:pt idx="20">
                  <c:v>7.68</c:v>
                </c:pt>
                <c:pt idx="21">
                  <c:v>8.602</c:v>
                </c:pt>
                <c:pt idx="22">
                  <c:v>9.482</c:v>
                </c:pt>
                <c:pt idx="23">
                  <c:v>10.747</c:v>
                </c:pt>
                <c:pt idx="24">
                  <c:v>12.092</c:v>
                </c:pt>
              </c:numCache>
            </c:numRef>
          </c:yVal>
          <c:smooth val="0"/>
        </c:ser>
        <c:axId val="-2128940872"/>
        <c:axId val="-2129643912"/>
      </c:scatterChart>
      <c:valAx>
        <c:axId val="-2128940872"/>
        <c:scaling>
          <c:orientation val="minMax"/>
          <c:max val="24.0"/>
          <c:min val="0.0"/>
        </c:scaling>
        <c:delete val="0"/>
        <c:axPos val="b"/>
        <c:numFmt formatCode="0" sourceLinked="0"/>
        <c:majorTickMark val="none"/>
        <c:minorTickMark val="none"/>
        <c:tickLblPos val="nextTo"/>
        <c:spPr>
          <a:ln>
            <a:solidFill>
              <a:srgbClr val="D5DBE5"/>
            </a:solidFill>
          </a:ln>
        </c:spPr>
        <c:txPr>
          <a:bodyPr/>
          <a:lstStyle/>
          <a:p>
            <a:pPr>
              <a:defRPr sz="1100">
                <a:solidFill>
                  <a:srgbClr val="5A6577"/>
                </a:solidFill>
                <a:latin typeface="Calibri"/>
              </a:defRPr>
            </a:pPr>
          </a:p>
        </c:txPr>
        <c:crossAx val="-2129643912"/>
        <c:crosses val="autoZero"/>
        <c:crossBetween val="midCat"/>
        <c:majorUnit val="6.0"/>
      </c:valAx>
      <c:valAx>
        <c:axId val="-2129643912"/>
        <c:scaling>
          <c:orientation val="minMax"/>
          <c:max val="16.0"/>
          <c:min val="0.0"/>
        </c:scaling>
        <c:delete val="0"/>
        <c:axPos val="l"/>
        <c:majorGridlines>
          <c:spPr>
            <a:ln w="9525">
              <a:solidFill>
                <a:srgbClr val="E3E7EE"/>
              </a:solidFill>
            </a:ln>
          </c:spPr>
        </c:majorGridlines>
        <c:numFmt formatCode="0" sourceLinked="0"/>
        <c:majorTickMark val="none"/>
        <c:minorTickMark val="none"/>
        <c:tickLblPos val="nextTo"/>
        <c:spPr>
          <a:ln>
            <a:noFill/>
          </a:ln>
        </c:spPr>
        <c:txPr>
          <a:bodyPr/>
          <a:lstStyle/>
          <a:p>
            <a:pPr>
              <a:defRPr sz="1100">
                <a:solidFill>
                  <a:srgbClr val="5A6577"/>
                </a:solidFill>
                <a:latin typeface="Calibri"/>
              </a:defRPr>
            </a:pPr>
          </a:p>
        </c:txPr>
        <c:crossAx val="-2128940872"/>
        <c:crosses val="autoZero"/>
        <c:crossBetween val="midCat"/>
        <c:majorUnit val="4.0"/>
      </c:valAx>
    </c:plotArea>
    <c:plotVisOnly val="1"/>
    <c:dispBlanksAs val="gap"/>
    <c:showDLblsOverMax val="0"/>
  </c:chart>
  <c:txPr>
    <a:bodyPr/>
    <a:lstStyle/>
    <a:p>
      <a:pPr>
        <a:defRPr sz="1100">
          <a:solidFill>
            <a:srgbClr val="5A6577"/>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PV</c:v>
                </c:pt>
              </c:strCache>
            </c:strRef>
          </c:tx>
          <c:spPr>
            <a:ln w="88900">
              <a:solidFill>
                <a:srgbClr val="2F5597"/>
              </a:solidFill>
            </a:ln>
          </c:spPr>
          <c:marker>
            <c:symbol val="none"/>
          </c:marker>
          <c:xVal>
            <c:numRef>
              <c:f>Sheet1!$A$2:$A$26</c:f>
              <c:numCache>
                <c:formatCode>General</c:formatCod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numCache>
            </c:numRef>
          </c:xVal>
          <c:yVal>
            <c:numRef>
              <c:f>Sheet1!$B$2:$B$26</c:f>
              <c:numCache>
                <c:formatCode>General</c:formatCode>
                <c:ptCount val="25"/>
                <c:pt idx="0">
                  <c:v>0</c:v>
                </c:pt>
                <c:pt idx="1">
                  <c:v>0.039</c:v>
                </c:pt>
                <c:pt idx="2">
                  <c:v>0.083</c:v>
                </c:pt>
                <c:pt idx="3">
                  <c:v>0.307</c:v>
                </c:pt>
                <c:pt idx="4">
                  <c:v>0.355</c:v>
                </c:pt>
                <c:pt idx="5">
                  <c:v>0.582</c:v>
                </c:pt>
                <c:pt idx="6">
                  <c:v>0.63</c:v>
                </c:pt>
                <c:pt idx="7">
                  <c:v>1.059</c:v>
                </c:pt>
                <c:pt idx="8">
                  <c:v>1.32</c:v>
                </c:pt>
                <c:pt idx="9">
                  <c:v>1.913</c:v>
                </c:pt>
                <c:pt idx="10">
                  <c:v>2.193</c:v>
                </c:pt>
                <c:pt idx="11">
                  <c:v>2.445</c:v>
                </c:pt>
                <c:pt idx="12">
                  <c:v>2.736</c:v>
                </c:pt>
                <c:pt idx="13">
                  <c:v>3.035</c:v>
                </c:pt>
                <c:pt idx="14">
                  <c:v>3.301</c:v>
                </c:pt>
                <c:pt idx="15">
                  <c:v>3.699</c:v>
                </c:pt>
                <c:pt idx="16">
                  <c:v>4.136</c:v>
                </c:pt>
                <c:pt idx="17">
                  <c:v>4.539</c:v>
                </c:pt>
                <c:pt idx="18">
                  <c:v>4.946</c:v>
                </c:pt>
                <c:pt idx="19">
                  <c:v>5.688</c:v>
                </c:pt>
                <c:pt idx="20">
                  <c:v>6.493</c:v>
                </c:pt>
                <c:pt idx="21">
                  <c:v>7.266</c:v>
                </c:pt>
                <c:pt idx="22">
                  <c:v>8.041</c:v>
                </c:pt>
                <c:pt idx="23">
                  <c:v>9.095</c:v>
                </c:pt>
                <c:pt idx="24">
                  <c:v>10.191</c:v>
                </c:pt>
              </c:numCache>
            </c:numRef>
          </c:yVal>
          <c:smooth val="0"/>
        </c:ser>
        <c:ser>
          <c:idx val="1"/>
          <c:order val="1"/>
          <c:tx>
            <c:strRef>
              <c:f>Sheet1!$B$28</c:f>
              <c:strCache>
                <c:ptCount val="1"/>
                <c:pt idx="0">
                  <c:v>EV</c:v>
                </c:pt>
              </c:strCache>
            </c:strRef>
          </c:tx>
          <c:spPr>
            <a:ln w="34925">
              <a:solidFill>
                <a:srgbClr val="4E8A3E"/>
              </a:solidFill>
            </a:ln>
          </c:spPr>
          <c:marker>
            <c:symbol val="none"/>
          </c:marker>
          <c:xVal>
            <c:numRef>
              <c:f>Sheet1!$A$29:$A$53</c:f>
              <c:numCache>
                <c:formatCode>General</c:formatCod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numCache>
            </c:numRef>
          </c:xVal>
          <c:yVal>
            <c:numRef>
              <c:f>Sheet1!$B$29:$B$53</c:f>
              <c:numCache>
                <c:formatCode>General</c:formatCode>
                <c:ptCount val="25"/>
                <c:pt idx="0">
                  <c:v>0</c:v>
                </c:pt>
                <c:pt idx="1">
                  <c:v>0.039</c:v>
                </c:pt>
                <c:pt idx="2">
                  <c:v>0.083</c:v>
                </c:pt>
                <c:pt idx="3">
                  <c:v>0.307</c:v>
                </c:pt>
                <c:pt idx="4">
                  <c:v>0.355</c:v>
                </c:pt>
                <c:pt idx="5">
                  <c:v>0.582</c:v>
                </c:pt>
                <c:pt idx="6">
                  <c:v>0.63</c:v>
                </c:pt>
                <c:pt idx="7">
                  <c:v>1.059</c:v>
                </c:pt>
                <c:pt idx="8">
                  <c:v>1.32</c:v>
                </c:pt>
                <c:pt idx="9">
                  <c:v>1.913</c:v>
                </c:pt>
                <c:pt idx="10">
                  <c:v>2.193</c:v>
                </c:pt>
                <c:pt idx="11">
                  <c:v>2.445</c:v>
                </c:pt>
                <c:pt idx="12">
                  <c:v>2.736</c:v>
                </c:pt>
                <c:pt idx="13">
                  <c:v>3.035</c:v>
                </c:pt>
                <c:pt idx="14">
                  <c:v>3.301</c:v>
                </c:pt>
                <c:pt idx="15">
                  <c:v>3.699</c:v>
                </c:pt>
                <c:pt idx="16">
                  <c:v>4.136</c:v>
                </c:pt>
                <c:pt idx="17">
                  <c:v>4.539</c:v>
                </c:pt>
                <c:pt idx="18">
                  <c:v>4.946</c:v>
                </c:pt>
                <c:pt idx="19">
                  <c:v>5.688</c:v>
                </c:pt>
                <c:pt idx="20">
                  <c:v>6.493</c:v>
                </c:pt>
                <c:pt idx="21">
                  <c:v>7.266</c:v>
                </c:pt>
                <c:pt idx="22">
                  <c:v>8.041</c:v>
                </c:pt>
                <c:pt idx="23">
                  <c:v>9.095</c:v>
                </c:pt>
                <c:pt idx="24">
                  <c:v>10.191</c:v>
                </c:pt>
              </c:numCache>
            </c:numRef>
          </c:yVal>
          <c:smooth val="0"/>
        </c:ser>
        <c:axId val="-2128940872"/>
        <c:axId val="-2129643912"/>
      </c:scatterChart>
      <c:valAx>
        <c:axId val="-2128940872"/>
        <c:scaling>
          <c:orientation val="minMax"/>
          <c:max val="24.0"/>
          <c:min val="0.0"/>
        </c:scaling>
        <c:delete val="0"/>
        <c:axPos val="b"/>
        <c:numFmt formatCode="0" sourceLinked="0"/>
        <c:majorTickMark val="none"/>
        <c:minorTickMark val="none"/>
        <c:tickLblPos val="nextTo"/>
        <c:spPr>
          <a:ln>
            <a:solidFill>
              <a:srgbClr val="D5DBE5"/>
            </a:solidFill>
          </a:ln>
        </c:spPr>
        <c:txPr>
          <a:bodyPr/>
          <a:lstStyle/>
          <a:p>
            <a:pPr>
              <a:defRPr sz="1100">
                <a:solidFill>
                  <a:srgbClr val="5A6577"/>
                </a:solidFill>
                <a:latin typeface="Calibri"/>
              </a:defRPr>
            </a:pPr>
          </a:p>
        </c:txPr>
        <c:crossAx val="-2129643912"/>
        <c:crosses val="autoZero"/>
        <c:crossBetween val="midCat"/>
        <c:majorUnit val="6.0"/>
      </c:valAx>
      <c:valAx>
        <c:axId val="-2129643912"/>
        <c:scaling>
          <c:orientation val="minMax"/>
          <c:max val="16.0"/>
          <c:min val="0.0"/>
        </c:scaling>
        <c:delete val="0"/>
        <c:axPos val="l"/>
        <c:majorGridlines>
          <c:spPr>
            <a:ln w="9525">
              <a:solidFill>
                <a:srgbClr val="E3E7EE"/>
              </a:solidFill>
            </a:ln>
          </c:spPr>
        </c:majorGridlines>
        <c:numFmt formatCode="0" sourceLinked="0"/>
        <c:majorTickMark val="none"/>
        <c:minorTickMark val="none"/>
        <c:tickLblPos val="nextTo"/>
        <c:spPr>
          <a:ln>
            <a:noFill/>
          </a:ln>
        </c:spPr>
        <c:txPr>
          <a:bodyPr/>
          <a:lstStyle/>
          <a:p>
            <a:pPr>
              <a:defRPr sz="1100">
                <a:solidFill>
                  <a:srgbClr val="5A6577"/>
                </a:solidFill>
                <a:latin typeface="Calibri"/>
              </a:defRPr>
            </a:pPr>
          </a:p>
        </c:txPr>
        <c:crossAx val="-2128940872"/>
        <c:crosses val="autoZero"/>
        <c:crossBetween val="midCat"/>
        <c:majorUnit val="4.0"/>
      </c:valAx>
    </c:plotArea>
    <c:plotVisOnly val="1"/>
    <c:dispBlanksAs val="gap"/>
    <c:showDLblsOverMax val="0"/>
  </c:chart>
  <c:txPr>
    <a:bodyPr/>
    <a:lstStyle/>
    <a:p>
      <a:pPr>
        <a:defRPr sz="1100">
          <a:solidFill>
            <a:srgbClr val="5A6577"/>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EV acumulado (miles de €)</c:v>
                </c:pt>
              </c:strCache>
            </c:strRef>
          </c:tx>
          <c:spPr>
            <a:solidFill>
              <a:srgbClr val="4E8A3E"/>
            </a:solidFill>
          </c:spPr>
          <c:cat>
            <c:strRef>
              <c:f>Sheet1!$A$2:$A$7</c:f>
              <c:strCache>
                <c:ptCount val="6"/>
                <c:pt idx="0">
                  <c:v>abr</c:v>
                </c:pt>
                <c:pt idx="1">
                  <c:v>may</c:v>
                </c:pt>
                <c:pt idx="2">
                  <c:v>jun</c:v>
                </c:pt>
                <c:pt idx="3">
                  <c:v>jul</c:v>
                </c:pt>
                <c:pt idx="4">
                  <c:v>ago</c:v>
                </c:pt>
                <c:pt idx="5">
                  <c:v>sep</c:v>
                </c:pt>
              </c:strCache>
            </c:strRef>
          </c:cat>
          <c:val>
            <c:numRef>
              <c:f>Sheet1!$B$2:$B$7</c:f>
              <c:numCache>
                <c:formatCode>General</c:formatCode>
                <c:ptCount val="6"/>
                <c:pt idx="0">
                  <c:v>0</c:v>
                </c:pt>
                <c:pt idx="1">
                  <c:v>180</c:v>
                </c:pt>
                <c:pt idx="2">
                  <c:v>180</c:v>
                </c:pt>
                <c:pt idx="3">
                  <c:v>360</c:v>
                </c:pt>
                <c:pt idx="4">
                  <c:v>360</c:v>
                </c:pt>
                <c:pt idx="5">
                  <c:v>600</c:v>
                </c:pt>
              </c:numCache>
            </c:numRef>
          </c:val>
        </c:ser>
        <c:dLbls>
          <c:numFmt formatCode="0" sourceLinked="0"/>
          <c:txPr>
            <a:bodyPr/>
            <a:lstStyle/>
            <a:p>
              <a:pPr>
                <a:defRPr sz="1300" b="1">
                  <a:solidFill>
                    <a:srgbClr val="1B2B48"/>
                  </a:solidFill>
                  <a:latin typeface="Calibri"/>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none"/>
        <c:minorTickMark val="none"/>
        <c:tickLblPos val="nextTo"/>
        <c:spPr>
          <a:ln>
            <a:solidFill>
              <a:srgbClr val="D5DBE5"/>
            </a:solidFill>
          </a:ln>
        </c:spPr>
        <c:txPr>
          <a:bodyPr/>
          <a:lstStyle/>
          <a:p>
            <a:pPr>
              <a:defRPr sz="1300">
                <a:solidFill>
                  <a:srgbClr val="5A6577"/>
                </a:solidFill>
                <a:latin typeface="Calibri"/>
              </a:defRPr>
            </a:pPr>
          </a:p>
        </c:txPr>
        <c:crossAx val="-2113994440"/>
        <c:crosses val="autoZero"/>
        <c:auto val="1"/>
        <c:lblAlgn val="ctr"/>
        <c:lblOffset val="100"/>
        <c:noMultiLvlLbl val="0"/>
      </c:catAx>
      <c:valAx>
        <c:axId val="-2113994440"/>
        <c:scaling>
          <c:max val="700.0"/>
          <c:min val="0.0"/>
        </c:scaling>
        <c:delete val="0"/>
        <c:axPos val="l"/>
        <c:majorGridlines>
          <c:spPr>
            <a:ln w="9525">
              <a:solidFill>
                <a:srgbClr val="E3E7EE"/>
              </a:solidFill>
            </a:ln>
          </c:spPr>
        </c:majorGridlines>
        <c:numFmt formatCode="0" sourceLinked="0"/>
        <c:majorTickMark val="none"/>
        <c:minorTickMark val="none"/>
        <c:tickLblPos val="nextTo"/>
        <c:spPr>
          <a:ln>
            <a:noFill/>
          </a:ln>
        </c:spPr>
        <c:txPr>
          <a:bodyPr/>
          <a:lstStyle/>
          <a:p>
            <a:pPr>
              <a:defRPr sz="1300">
                <a:solidFill>
                  <a:srgbClr val="5A6577"/>
                </a:solidFill>
                <a:latin typeface="Calibri"/>
              </a:defRPr>
            </a:pPr>
          </a:p>
        </c:txPr>
        <c:crossAx val="-2068027336"/>
        <c:crosses val="autoZero"/>
        <c:majorUnit val="100.0"/>
      </c:valAx>
    </c:plotArea>
    <c:dispBlanksAs val="gap"/>
  </c:chart>
  <c:txPr>
    <a:bodyPr/>
    <a:lstStyle/>
    <a:p>
      <a:pPr>
        <a:defRPr sz="1300">
          <a:solidFill>
            <a:srgbClr val="5A6577"/>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ES"/>
              <a:t>Tiempo: 0:20 min  ·  Acumulado: 0:20 min</a:t>
            </a:r>
          </a:p>
          <a:p/>
          <a:p>
            <a:r>
              <a:rPr lang="es-ES"/>
              <a:t>Bienvenida y presentación. Objetivo: que al terminar sepan qué hay que preparar en MS Project para que el informe EVM (Earned Value Management) sea fiable, y cómo se obtiene ese informe en Excel con el Exportador EVM y unos pocos comandos.</a:t>
            </a:r>
          </a:p>
          <a:p/>
          <a:p>
            <a:r>
              <a:rPr lang="es-ES"/>
              <a:t>Usaremos las siglas EVM en inglés (PV, EV, AC, SV, CPI...): son las del estándar del PMI y las que usa el libro Excel. Cuando MS Project en español use otro nombre, lo indicaremos como nota.</a:t>
            </a:r>
          </a:p>
          <a:p/>
          <a:p>
            <a:r>
              <a:rPr lang="es-ES"/>
              <a:t>Las tres curvas de la portada son las del proyecto de ejemplo que usaremos durante toda la sesión: azul el PV (Planned Value), verde el EV (Earned Value) y rojo el AC (Actual Cost).</a:t>
            </a:r>
          </a:p>
          <a:p/>
          <a:p>
            <a:r>
              <a:rPr lang="es-ES"/>
              <a:t>Duración: unos 26 minutos de contenido y 4 minutos de preguntas.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ES"/>
              <a:t>Tiempo: 1:00 min  ·  Acumulado: 1:20 min</a:t>
            </a:r>
          </a:p>
          <a:p/>
          <a:p>
            <a:r>
              <a:rPr lang="es-ES"/>
              <a:t>Pregunta a la sala (sin esperar mucha respuesta): ¿cuánto tiempo del cierre mensual dedican hoy a preparar datos y cuánto a analizarlos?</a:t>
            </a:r>
          </a:p>
          <a:p/>
          <a:p>
            <a:r>
              <a:rPr lang="es-ES"/>
              <a:t>Izquierda: lo que normalmente se hace a mano en Excel cada mes. Derecha: lo que hace el Exportador EVM. Lee el cronograma de MS Project (el archivo .mpp o un XML), que no necesita importes, y produce un libro Excel con el % planificado y el % ganado de cada elemento de la EDT. Con el BAC que se ingresa en el libro se obtienen el PV y el EV; con el AC del mes, los indicadores y los gráficos, todo con fórmulas de Excel.</a:t>
            </a:r>
          </a:p>
          <a:p/>
          <a:p>
            <a:r>
              <a:rPr lang="es-ES"/>
              <a:t>Mensaje clave (frase de abajo): la herramienta no reemplaza a MS Project ni el criterio del Jefe de Proyecto. Automatiza lo repetitivo. Pero la calidad del resultado depende de cómo esté construido el cronograma: por eso el bloque más largo de la sesión es MS Project.</a:t>
            </a:r>
          </a:p>
          <a:p/>
          <a:p>
            <a:r>
              <a:rPr lang="es-ES"/>
              <a:t>Transición: veamos cómo se reparte la sesión.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ES"/>
              <a:t>Tiempo: 0:25 min  ·  Acumulado: 1:45 min</a:t>
            </a:r>
          </a:p>
          <a:p/>
          <a:p>
            <a:r>
              <a:rPr lang="es-ES"/>
              <a:t>Cuatro bloques. El bloque de MS Project es el más largo porque es donde se decide la calidad del informe: la herramienta solo puede leer lo que el cronograma contiene. Dentro de él, la línea base tiene cuatro diapositivas propias.</a:t>
            </a:r>
          </a:p>
          <a:p/>
          <a:p>
            <a:r>
              <a:rPr lang="es-ES"/>
              <a:t>La barra inferior muestra el reparto del tiempo. Las preguntas se dejan para el final; si surge una duda rápida, se puede responder en el momento.</a:t>
            </a:r>
          </a:p>
          <a:p/>
          <a:p>
            <a:r>
              <a:rPr lang="es-ES"/>
              <a:t>Si el tiempo es justo, las diapositivas marcadas como opcionales en estas notas (Earned Schedule, Forma de la curva PV e Hitos ponderados) se pueden pasar en 15 segundos cada una.</a:t>
            </a:r>
          </a:p>
          <a:p>
            <a:r>
              <a:rPr lang="es-ES"/>
              <a:t>Transición: antes de ver la herramienta, repasemos en cinco minutos el vocabulario EVM.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ES"/>
              <a:t>Tiempo: 0:10 min  ·  Acumulado: 1:55 min</a:t>
            </a:r>
          </a:p>
          <a:p/>
          <a:p>
            <a:r>
              <a:rPr lang="es-ES"/>
              <a:t>Primer bloque: el vocabulario mínimo. Seguramente muchos ya lo conocen; el objetivo es que todos usemos las mismas siglas, en inglés, como el estándar del PMI y el libro Excel.</a:t>
            </a:r>
          </a:p>
          <a:p/>
          <a:p>
            <a:r>
              <a:rPr lang="es-ES"/>
              <a:t>MS Project en español usa otros nombres (CPTP, CPTR, CRTR, VP...). Los indicaremos como nota para quien trabaje con esas tablas.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ES"/>
              <a:t>Tiempo: 1:10 min  ·  Acumulado: 3:05 min</a:t>
            </a:r>
          </a:p>
          <a:p/>
          <a:p>
            <a:r>
              <a:rPr lang="es-ES"/>
              <a:t>Todo el EVM se basa en comparar tres cantidades, todas en euros:</a:t>
            </a:r>
          </a:p>
          <a:p>
            <a:r>
              <a:rPr lang="es-ES"/>
              <a:t>- PV (Planned Value): el presupuesto del trabajo que debía estar hecho a la fecha.</a:t>
            </a:r>
          </a:p>
          <a:p>
            <a:r>
              <a:rPr lang="es-ES"/>
              <a:t>- EV (Earned Value): el presupuesto del trabajo realmente hecho.</a:t>
            </a:r>
          </a:p>
          <a:p>
            <a:r>
              <a:rPr lang="es-ES"/>
              <a:t>- AC (Actual Cost): lo que realmente costó ese trabajo.</a:t>
            </a:r>
          </a:p>
          <a:p/>
          <a:p>
            <a:r>
              <a:rPr lang="es-ES"/>
              <a:t>Ejemplo sencillo (cifras de las tarjetas): un paquete de 100.000 €. A fin de mes debía estar al 50 %: PV = 50.000 €. Está realmente al 40 %: EV = 40.000 €. Ya se gastaron 55.000 €: AC = 55.000 €.</a:t>
            </a:r>
          </a:p>
          <a:p>
            <a:r>
              <a:rPr lang="es-ES"/>
              <a:t>Lectura: vamos atrasados 10.000 € de trabajo (EV − PV) y con un sobrecosto de 15.000 € (EV − AC).</a:t>
            </a:r>
          </a:p>
          <a:p/>
          <a:p>
            <a:r>
              <a:rPr lang="es-ES"/>
              <a:t>La clave es el EV: traduce el avance físico a euros del presupuesto. Así se puede comparar avance y costo con la misma unidad.</a:t>
            </a:r>
          </a:p>
          <a:p/>
          <a:p>
            <a:r>
              <a:rPr lang="es-ES"/>
              <a:t>El BAC (Budget at Completion) es el presupuesto total: la suma del PV de todos los meses.</a:t>
            </a:r>
          </a:p>
          <a:p/>
          <a:p>
            <a:r>
              <a:rPr lang="es-ES"/>
              <a:t>Nota para MS Project en español: el PV se llama CPTP, el EV se llama CPTR ("valor acumulado") y el AC se llama CRTR. El BAC se ingresa en el libro Excel.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ES"/>
              <a:t>Tiempo: 1:05 min  ·  Acumulado: 4:10 min</a:t>
            </a:r>
          </a:p>
          <a:p/>
          <a:p>
            <a:r>
              <a:rPr lang="es-ES"/>
              <a:t>Este es el proyecto de ejemplo de la documentación: un programa de unos 5 años con un BAC de 44,2 millones de euros, después de 24 cierres mensuales simulados con atraso y sobrecosto.</a:t>
            </a:r>
          </a:p>
          <a:p/>
          <a:p>
            <a:r>
              <a:rPr lang="es-ES"/>
              <a:t>Cómo leerla:</a:t>
            </a:r>
          </a:p>
          <a:p>
            <a:r>
              <a:rPr lang="es-ES"/>
              <a:t>- La curva azul (PV) es la línea base acumulada: llega al BAC al final del plan y no cambia mes a mes.</a:t>
            </a:r>
          </a:p>
          <a:p>
            <a:r>
              <a:rPr lang="es-ES"/>
              <a:t>- La verde (EV) por debajo de la azul indica atraso: se ganó menos valor del planificado.</a:t>
            </a:r>
          </a:p>
          <a:p>
            <a:r>
              <a:rPr lang="es-ES"/>
              <a:t>- La roja (AC) por encima de la verde indica sobrecosto: se gastó más de lo que vale lo hecho.</a:t>
            </a:r>
          </a:p>
          <a:p/>
          <a:p>
            <a:r>
              <a:rPr lang="es-ES"/>
              <a:t>La distancia vertical entre EV y PV es la SV (Schedule Variance); entre EV y AC, la CV (Cost Variance).</a:t>
            </a:r>
          </a:p>
          <a:p/>
          <a:p>
            <a:r>
              <a:rPr lang="es-ES"/>
              <a:t>Dato práctico: si alguien vuelve a guardar la línea base de todo el proyecto cada mes, la curva azul se "pega" a la verde y el atraso desaparece del informe. Lo veremos en el bloque de MS Project.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1:10 min  ·  Acumulado: 5:20 min</a:t>
            </a:r>
          </a:p>
          <a:p/>
          <a:p>
            <a:r>
              <a:t>Cuatro indicadores, todos calculados con PV, EV y AC. Las cifras son las del proyecto de ejemplo a diciembre de 2027.</a:t>
            </a:r>
          </a:p>
          <a:p/>
          <a:p>
            <a:r>
              <a:t>- Variaciones, en euros: SV (Schedule Variance) = EV − PV y CV (Cost Variance) = EV − AC. Negativo es malo en ambos casos. Ojo: la SV mide el atraso en valor, no en tiempo.</a:t>
            </a:r>
          </a:p>
          <a:p>
            <a:r>
              <a:t>- Índices de eficiencia: SPI (Schedule Performance Index) = EV / PV y CPI (Cost Performance Index) = EV / AC. Menor que 1 es malo. CPI 0,76 significa que por cada euro gastado se obtuvieron 76 céntimos de trabajo presupuestado.</a:t>
            </a:r>
          </a:p>
          <a:p/>
          <a:p>
            <a:r>
              <a:t>El semáforo es común para el CPI y el SPI y tiene umbrales inferiores y superiores: verde de 0,95 a 1,05; amarillo de 0,90 a 0,95 y de 1,05 a 1,10; rojo por debajo de 0,90 o por encima de 1,10. Un índice demasiado alto también se revisa: puede deberse a un AC incompleto o a un avance informado de más. Los umbrales se ajustan en la configuración (sección [semaforo]) y el Cuadro de Mando los muestra; se guardan en el libro al generarlo, así que un cambio exige regenerar el libro con --migrar-desde.</a:t>
            </a:r>
          </a:p>
          <a:p/>
          <a:p>
            <a:r>
              <a:t>Nota para MS Project en español (recuadro de abajo a la derecha): las tablas de valor acumulado usan otras siglas: VP para la SV, VC para la CV, IRP para el SPI e IRC para el CPI. La confusión típica: VP no es el valor planificado (el PV), sino la variación del cronograma. El PV se llama CPTP.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ES"/>
              <a:t>Tiempo: 0:55 min  ·  Acumulado: 6:15 min</a:t>
            </a:r>
          </a:p>
          <a:p/>
          <a:p>
            <a:r>
              <a:rPr lang="es-ES"/>
              <a:t>El EAC (Estimate at Completion) es la estimación del costo final. El libro ofrece tres fórmulas (se eligen en el Cuadro de Mando):</a:t>
            </a:r>
          </a:p>
          <a:p>
            <a:r>
              <a:rPr lang="es-ES"/>
              <a:t>- BAC / CPI (por defecto): el trabajo restante tendrá la misma eficiencia que hasta ahora. Es el más usado.</a:t>
            </a:r>
          </a:p>
          <a:p>
            <a:r>
              <a:rPr lang="es-ES"/>
              <a:t>- AC + (BAC − EV): el resto se ejecutará según presupuesto; la desviación fue puntual. Con un CPI menor que 1, es el más optimista.</a:t>
            </a:r>
          </a:p>
          <a:p>
            <a:r>
              <a:rPr lang="es-ES"/>
              <a:t>- AC + (BAC − EV) / (CPI × SPI): el atraso también encarece lo que falta. Suele ser el más pesimista.</a:t>
            </a:r>
          </a:p>
          <a:p/>
          <a:p>
            <a:r>
              <a:rPr lang="es-ES"/>
              <a:t>Derivados: ETC (Estimate to Complete) = EAC − AC, lo que falta gastar; VAC (Variance at Completion) = BAC − EAC; TCPI (To-Complete Performance Index), la eficiencia necesaria en el trabajo restante para terminar dentro del BAC.</a:t>
            </a:r>
          </a:p>
          <a:p/>
          <a:p>
            <a:r>
              <a:rPr lang="es-ES"/>
              <a:t>En el ejemplo, el EAC va de 47,5 a 66,9 millones frente a un BAC de 44,2. El TCPI de 1,11 dice que, para terminar dentro del BAC, el trabajo restante debería hacerse con una eficiencia del 111 %, cuando la histórica es del 76 %: el BAC ya no es realista.</a:t>
            </a:r>
          </a:p>
          <a:p/>
          <a:p>
            <a:r>
              <a:rPr lang="es-ES"/>
              <a:t>Buena práctica: estos pronósticos son estadísticos. Hay que contrastarlos con un EAC por estimación detallada, preparado por los responsables de paquete, y explicar las diferencias.</a:t>
            </a:r>
          </a:p>
          <a:p/>
          <a:p>
            <a:r>
              <a:rPr lang="es-ES"/>
              <a:t>Nota para MS Project en español: el EAC se llama CEF, el VAC se llama VAF y el TCPI se llama IRPC.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ES"/>
              <a:t>Tiempo: 0:40 min  ·  Acumulado: 6:55 min</a:t>
            </a:r>
          </a:p>
          <a:p/>
          <a:p>
            <a:r>
              <a:rPr lang="es-ES"/>
              <a:t>(Opcional si el tiempo es justo: quedarse solo con la frase "el SPI tiende a 1 al final; el SPI(t) no".)</a:t>
            </a:r>
          </a:p>
          <a:p/>
          <a:p>
            <a:r>
              <a:rPr lang="es-ES"/>
              <a:t>El SPI compara euros, no tiempo. Al final de cualquier proyecto, aunque termine tarde, EV = PV = BAC y el SPI vuelve a 1. Por eso el libro calcula también el Earned Schedule (ES).</a:t>
            </a:r>
          </a:p>
          <a:p/>
          <a:p>
            <a:r>
              <a:rPr lang="es-ES"/>
              <a:t>Cómo se lee el gráfico: a diciembre de 2027 (mes 24, AT = Actual Time) llevamos ganados 10,19 M€. El plan preveía alcanzar ese valor en el mes 22,56 (ES). Vamos 1,44 meses tarde: SV(t) = ES − AT = −1,44 meses, y SPI(t) = ES / AT = 0,94.</a:t>
            </a:r>
          </a:p>
          <a:p/>
          <a:p>
            <a:r>
              <a:rPr lang="es-ES"/>
              <a:t>Con una duración planificada de 58 meses, la duración estimada es 58 / 0,94 ≈ 62 meses. Es un dato que la dirección entiende inmediatamente.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ES"/>
              <a:t>Tiempo: 0:10 min  ·  Acumulado: 7:05 min</a:t>
            </a:r>
          </a:p>
          <a:p/>
          <a:p>
            <a:r>
              <a:rPr lang="es-ES"/>
              <a:t>Segundo bloque, el más importante. La herramienta solo puede leer lo que el cronograma contiene. Si la EDT, las duraciones, los pesos de los hitos o la línea base están mal, el informe estará mal, aunque las fórmulas sean perfectas.</a:t>
            </a:r>
          </a:p>
          <a:p/>
          <a:p>
            <a:r>
              <a:rPr lang="es-ES"/>
              <a:t>Los nombres de menú son los de MS Project en español (2016 a 2024 y la versión de suscripción). Las imágenes son esquemas ilustrativos, no capturas.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ES"/>
              <a:t>Tiempo: 0:40 min  ·  Acumulado: 7:45 min</a:t>
            </a:r>
          </a:p>
          <a:p/>
          <a:p>
            <a:r>
              <a:rPr lang="es-ES"/>
              <a:t>Esta es la lista de control de todo el bloque. Las cuatro primeras se preparan una vez (y se revisan con cada cambio aprobado); las dos últimas se hacen cada mes antes de exportar.</a:t>
            </a:r>
          </a:p>
          <a:p/>
          <a:p>
            <a:r>
              <a:rPr lang="es-ES"/>
              <a:t>Las vamos a ver una a una en las siguientes diapositivas. Lo práctico: validar revisa en la terminal el archivo de MS Project (códigos EDT, fechas y duraciones, pesos, métodos, avance a la fecha de estado y lógica del cronograma), y generar deja en la hoja Validación los avisos que afectan al libro, así que no hay que revisarlo todo a mano. Lo que ningún control puede juzgar es si las duraciones y los pesos son realistas: eso es tarea del equipo.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ES"/>
              <a:t>Tiempo: 0:50 min  ·  Acumulado: 8:35 min</a:t>
            </a:r>
          </a:p>
          <a:p/>
          <a:p>
            <a:r>
              <a:rPr lang="es-ES"/>
              <a:t>El programa toma el nivel de cada tarea de su código EDT, no de la sangría del esquema. 2.0.0 es nivel 1, 2.1.0 nivel 2 y 2.1.1 nivel 3; los ceros finales no cuentan.</a:t>
            </a:r>
          </a:p>
          <a:p/>
          <a:p>
            <a:r>
              <a:rPr lang="es-ES"/>
              <a:t>- Niveles 1 y 2: son subtotales en el libro (fórmulas SUM).</a:t>
            </a:r>
          </a:p>
          <a:p>
            <a:r>
              <a:rPr lang="es-ES"/>
              <a:t>- Nivel 3: el paquete de trabajo, la unidad de medición del EV. Cada paquete con un responsable, un presupuesto y un método de medición. Es la fila donde se ingresan el BAC y el AC, y donde se calcula el EV.</a:t>
            </a:r>
          </a:p>
          <a:p>
            <a:r>
              <a:rPr lang="es-ES"/>
              <a:t>- Lo que está debajo (actividades, hitos) no necesita código: se suma en su paquete.</a:t>
            </a:r>
          </a:p>
          <a:p>
            <a:r>
              <a:rPr lang="es-ES"/>
              <a:t>validar y la hoja Validación comprueban que el código de cada tarea dependa del de su tarea superior: bajo 2.1.0 van 2.1.1, 2.1.2...; un 1.14.2 bajo 1.2.0 es un error.</a:t>
            </a:r>
          </a:p>
          <a:p/>
          <a:p>
            <a:r>
              <a:rPr lang="es-ES"/>
              <a:t>¿Dónde está el código? Tres opciones: el campo EDT de MS Project, el número de esquema, o un campo personalizado de texto (por ejemplo "Item EDT"). El campo de texto es el más flexible: el código se escribe solo en las tareas que deben tener fila, y permite tener dos planificaciones (INTERNO y CLIENTE) en el mismo archivo.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ES"/>
              <a:t>Tiempo: 0:35 min  ·  Acumulado: 9:10 min</a:t>
            </a:r>
          </a:p>
          <a:p/>
          <a:p>
            <a:r>
              <a:rPr lang="es-ES"/>
              <a:t>Tres campos personalizados de tarea hacen el trabajo:</a:t>
            </a:r>
          </a:p>
          <a:p>
            <a:r>
              <a:rPr lang="es-ES"/>
              <a:t>- Item EDT (Texto2): el código EDT, si no se usa el campo EDT de MS Project.</a:t>
            </a:r>
          </a:p>
          <a:p>
            <a:r>
              <a:rPr lang="es-ES"/>
              <a:t>- Método EVM (Texto10): el método de medición de cada paquete, con lista de búsqueda para que solo se puedan elegir valores válidos.</a:t>
            </a:r>
          </a:p>
          <a:p>
            <a:r>
              <a:rPr lang="es-ES"/>
              <a:t>- Peso hito (Número1): el % del BAC del paquete que vale cada hito; se usa en el % planificado y en el método de hitos ponderados.</a:t>
            </a:r>
          </a:p>
          <a:p>
            <a:r>
              <a:rPr lang="es-ES"/>
              <a:t>(Opcionales: Empresa y % Reparto si el proyecto se ejecuta entre dos empresas, y Visible para mostrar más o menos detalle en cada rama.)</a:t>
            </a:r>
          </a:p>
          <a:p/>
          <a:p>
            <a:r>
              <a:rPr lang="es-ES"/>
              <a:t>Cómo se crean: clic derecho en un encabezado de columna &gt; Campos personalizados &gt; elegir Texto o Número &gt; Cambiar nombre. Para el método: Búsqueda, escribir los valores y desmarcar "Permitir introducir elementos adicionales".</a:t>
            </a:r>
          </a:p>
          <a:p/>
          <a:p>
            <a:r>
              <a:rPr lang="es-ES"/>
              <a:t>Consejo: guardar una tabla y una vista propias ("EVM") con estas columnas más % completado, % físico completado, Comienzo real y Fin real. Con el Organizador se copian a otros proyectos o a la plantilla global.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ES"/>
              <a:t>Tiempo: 1:00 min  ·  Acumulado: 10:10 min</a:t>
            </a:r>
          </a:p>
          <a:p/>
          <a:p>
            <a:r>
              <a:rPr lang="es-ES"/>
              <a:t>El cronograma de MS Project no lleva importes. El presupuesto se arma con tres piezas:</a:t>
            </a:r>
          </a:p>
          <a:p>
            <a:r>
              <a:rPr lang="es-ES"/>
              <a:t>A. Duración de las tareas: cada tarea de detalle pesa dentro de su paquete según su duración de la línea base, repartida entre los meses que abarcan sus fechas. Por eso la duración debe reflejar el trabajo: una tarea larga de poco valor pesa más que una corta de mucho valor.</a:t>
            </a:r>
          </a:p>
          <a:p>
            <a:r>
              <a:rPr lang="es-ES"/>
              <a:t>B. Peso de los hitos: el campo Peso hito es el % del BAC del paquete que se planifica en el mes del hito; el resto se reparte entre las tareas por duración. Con pesos que suman 100, el paquete solo tiene valor en sus hitos.</a:t>
            </a:r>
          </a:p>
          <a:p>
            <a:r>
              <a:rPr lang="es-ES"/>
              <a:t>C. BAC en el libro: el presupuesto de cada paquete se escribe en las celdas amarillas de la columna D de la hoja PV (con dos empresas, uno por empresa). El PV de cada mes es ese BAC × el % planificado.</a:t>
            </a:r>
          </a:p>
          <a:p>
            <a:r>
              <a:rPr lang="es-ES"/>
              <a:t>D. Cronograma sin importes: como el presupuesto está en el libro, el cronograma se puede compartir con el cliente o entre las empresas que ejecutan el proyecto sin mostrar importes. Si el proyecto tiene recursos o costos cargados en MS Project, el programa no los usa.</a:t>
            </a:r>
          </a:p>
          <a:p/>
          <a:p>
            <a:r>
              <a:rPr lang="es-ES"/>
              <a:t>Regla de oro: el cronograma no lleva importes, y la duración de cada tarea debe reflejar su trabajo.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ES"/>
              <a:t>Tiempo: 0:30 min  ·  Acumulado: 10:40 min</a:t>
            </a:r>
          </a:p>
          <a:p/>
          <a:p>
            <a:r>
              <a:rPr lang="es-ES"/>
              <a:t>(Opcional si el tiempo es justo.)</a:t>
            </a:r>
          </a:p>
          <a:p/>
          <a:p>
            <a:r>
              <a:rPr lang="es-ES"/>
              <a:t>El mismo importe puede dar curvas PV muy distintas. Ejemplo: un paquete de 300.000 € de tres meses.</a:t>
            </a:r>
          </a:p>
          <a:p>
            <a:r>
              <a:rPr lang="es-ES"/>
              <a:t>- Una tarea de tres meses: 100.000 € cada mes, porque su peso se reparte según su duración.</a:t>
            </a:r>
          </a:p>
          <a:p>
            <a:r>
              <a:rPr lang="es-ES"/>
              <a:t>- Un hito con Peso hito 100 en el primer mes (por ejemplo, un anticipo): los 300.000 € el primer mes.</a:t>
            </a:r>
          </a:p>
          <a:p>
            <a:r>
              <a:rPr lang="es-ES"/>
              <a:t>- Un hito con Peso hito 100 al final (una entrega): los 300.000 € el último mes.</a:t>
            </a:r>
          </a:p>
          <a:p/>
          <a:p>
            <a:r>
              <a:rPr lang="es-ES"/>
              <a:t>Para que el PV tenga la forma real se divide el paquete en tareas con sus fechas, o se combinan tareas e hitos: por ejemplo, hitos con pesos 10 y 20, y el 70 % restante repartido entre las tareas según su duración.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ES"/>
              <a:t>Tiempo: 1:00 min  ·  Acumulado: 11:40 min</a:t>
            </a:r>
          </a:p>
          <a:p/>
          <a:p>
            <a:r>
              <a:rPr lang="es-ES"/>
              <a:t>La línea base (baseline) es una copia aprobada y congelada del plan: el alcance (las tareas de la EDT) y sus fechas. MS Project la guarda en los campos "previstos": Comienzo previsto y Fin previsto.</a:t>
            </a:r>
          </a:p>
          <a:p/>
          <a:p>
            <a:r>
              <a:rPr lang="es-ES"/>
              <a:t>Relación con el EVM (franja inferior):</a:t>
            </a:r>
          </a:p>
          <a:p>
            <a:r>
              <a:rPr lang="es-ES"/>
              <a:t>- Las fechas previstas dicen cuándo debía hacerse cada tarea.</a:t>
            </a:r>
          </a:p>
          <a:p>
            <a:r>
              <a:rPr lang="es-ES"/>
              <a:t>- Con esas fechas y las duraciones, el programa calcula el % planificado de cada mes; multiplicado por el BAC del libro, es el PV: lo que se debía haber ejecutado cada mes.</a:t>
            </a:r>
          </a:p>
          <a:p>
            <a:r>
              <a:rPr lang="es-ES"/>
              <a:t>- El BAC es el presupuesto de cada paquete, que se ingresa en el libro.</a:t>
            </a:r>
          </a:p>
          <a:p>
            <a:r>
              <a:rPr lang="es-ES"/>
              <a:t>Sin línea base, el programa usa las fechas actuales y lo advierte: el PV se movería con cada reprogramación y la SV y el SPI perderían sentido.</a:t>
            </a:r>
          </a:p>
          <a:p/>
          <a:p>
            <a:r>
              <a:rPr lang="es-ES"/>
              <a:t>El Gantt muestra la idea, como la vista Gantt de seguimiento de MS Project: la barra gris es la línea base, que no se mueve; la barra azul es el plan actual, que se actualiza cada mes con el avance real y la reprogramación. La diferencia entre ambas es la desviación que hay que explicar.</a:t>
            </a:r>
          </a:p>
          <a:p/>
          <a:p>
            <a:r>
              <a:rPr lang="es-ES"/>
              <a:t>Por qué se define: es la referencia para medir el proyecto, es el compromiso aprobado con la dirección o el cliente, y permite separar las desviaciones de desempeño de los cambios aprobados.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ES"/>
              <a:t>Tiempo: 0:50 min  ·  Acumulado: 12:30 min</a:t>
            </a:r>
          </a:p>
          <a:p/>
          <a:p>
            <a:r>
              <a:rPr lang="es-ES"/>
              <a:t>La línea base se guarda cuando el plan está completo y aprobado, no antes:</a:t>
            </a:r>
          </a:p>
          <a:p>
            <a:r>
              <a:rPr lang="es-ES"/>
              <a:t>1. Completar el plan: EDT con código hasta los paquetes de trabajo; lógica entre tareas (predecesoras y sucesoras), sin restricciones innecesarias; duraciones realistas; hitos con su Peso hito; método de medición de cada paquete. Un cronograma con buena lógica da un PV creíble.</a:t>
            </a:r>
          </a:p>
          <a:p>
            <a:r>
              <a:rPr lang="es-ES"/>
              <a:t>2. Revisarlo con los responsables de paquete, que se comprometen con fechas y presupuesto, y aprobarlo formalmente: dirección, cliente o comité, según el contrato.</a:t>
            </a:r>
          </a:p>
          <a:p>
            <a:r>
              <a:rPr lang="es-ES"/>
              <a:t>3. Guardar: Proyecto &gt; Establecer línea base &gt; Establecer línea base, "Línea base", "Para: Proyecto completo" (recuadro 1 de la imagen).</a:t>
            </a:r>
          </a:p>
          <a:p>
            <a:r>
              <a:rPr lang="es-ES"/>
              <a:t>4. Verificar: ejecutar validar y corregir en MS Project los errores (códigos EDT, fechas, pesos, métodos); después, ejecutar generar, ingresar el BAC de cada paquete en el libro y revisar la hoja Validación y la hoja % PV (cada paquete suma 100 %).</a:t>
            </a:r>
          </a:p>
          <a:p>
            <a:r>
              <a:rPr lang="es-ES"/>
              <a:t>5. Registrar: copiar la línea base aprobada en Línea base 1 (Establecer plan provisional) y anotar fecha y versión. Así queda el historial para cuando haya cambios.</a:t>
            </a:r>
          </a:p>
          <a:p/>
          <a:p>
            <a:r>
              <a:rPr lang="es-ES"/>
              <a:t>Los recuadros 2 y 3 de la imagen se usan más adelante, para incorporar un cambio aprobado (siguiente diapositiva).</a:t>
            </a:r>
          </a:p>
          <a:p/>
          <a:p>
            <a:r>
              <a:rPr lang="es-ES"/>
              <a:t>Nota técnica: el programa usa la línea base que MS Project usa para el valor acumulado (Archivo &gt; Opciones &gt; Avanzadas) o la que se indique con --linea-base.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ES"/>
              <a:t>Tiempo: 1:10 min  ·  Acumulado: 13:40 min</a:t>
            </a:r>
          </a:p>
          <a:p/>
          <a:p>
            <a:r>
              <a:rPr lang="es-ES"/>
              <a:t>La pregunta clave ante cualquier cambio: ¿es una desviación de desempeño o un cambio aprobado?</a:t>
            </a:r>
          </a:p>
          <a:p/>
          <a:p>
            <a:r>
              <a:rPr lang="es-ES"/>
              <a:t>Izquierda, desviación de desempeño: una tarea se retrasa, dura más de lo previsto o cuesta más. La línea base NO se toca. En MS Project se registran el avance y las fechas reales, se reprograma el trabajo pendiente después de la fecha de estado (Proyecto &gt; Actualizar proyecto) y, si hace falta, se ajustan duraciones o la lógica del trabajo restante: todo eso en el plan actual. La desviación aparece en SV, SPI, SPI(t), CV y CPI; se explica la causa, se define la acción y se actualizan el EAC y la fecha prevista de fin.</a:t>
            </a:r>
          </a:p>
          <a:p/>
          <a:p>
            <a:r>
              <a:rPr lang="es-ES"/>
              <a:t>Derecha, cambio aprobado de alcance, plazo o presupuesto: por ejemplo, el cliente amplía el alcance, se firma una prórroga de plazo o se aprueba un aumento de presupuesto o el uso de una reserva de gestión. Ahí SÍ se actualiza la línea base, siguiendo el control de cambios:</a:t>
            </a:r>
          </a:p>
          <a:p>
            <a:r>
              <a:rPr lang="es-ES"/>
              <a:t>1. Solicitud de cambio y análisis de impacto en alcance, plazo y costo.</a:t>
            </a:r>
          </a:p>
          <a:p>
            <a:r>
              <a:rPr lang="es-ES"/>
              <a:t>2. Aprobación formal.</a:t>
            </a:r>
          </a:p>
          <a:p>
            <a:r>
              <a:rPr lang="es-ES"/>
              <a:t>3. Copiar la línea base vigente en Línea base N (Establecer plan provisional) para conservar el historial.</a:t>
            </a:r>
          </a:p>
          <a:p>
            <a:r>
              <a:rPr lang="es-ES"/>
              <a:t>4. Modificar en MS Project: tareas nuevas, nuevas duraciones o nuevos pesos de hitos.</a:t>
            </a:r>
          </a:p>
          <a:p>
            <a:r>
              <a:rPr lang="es-ES"/>
              <a:t>5. Seleccionar solo las tareas nuevas o modificadas y guardar la línea base con "Tareas seleccionadas" y "Resumir líneas base: Para todas las tareas de resumen". El resto de la línea base no cambia.</a:t>
            </a:r>
          </a:p>
          <a:p>
            <a:r>
              <a:rPr lang="es-ES"/>
              <a:t>6. Generar el libro nuevo con --migrar-desde, que conserva el BAC ingresado y el historial de EV y AC, escribir el BAC nuevo de los paquetes afectados y registrar en el informe la fecha, el motivo y la variación del BAC. Si se entregaron fichas de tareas al cliente, se vuelven a crear con generar-fichas.</a:t>
            </a:r>
          </a:p>
          <a:p/>
          <a:p>
            <a:r>
              <a:rPr lang="es-ES"/>
              <a:t>Ojo: en las tareas cuya línea base se vuelve a guardar cambia también el PV de los meses ya informados; por eso se conserva el libro anterior como registro de lo informado.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ES"/>
              <a:t>Tiempo: 0:45 min  ·  Acumulado: 14:25 min</a:t>
            </a:r>
          </a:p>
          <a:p/>
          <a:p>
            <a:r>
              <a:rPr lang="es-ES"/>
              <a:t>Es el error más frecuente y el más dañino. Si cada mes se vuelve a guardar la línea base de todo el proyecto, la línea base pasa a ser igual al plan actual, que ya incluye el avance real y el trabajo pendiente reprogramado: el PV acumulado pasa a coincidir con lo realmente hecho.</a:t>
            </a:r>
          </a:p>
          <a:p/>
          <a:p>
            <a:r>
              <a:rPr lang="es-ES"/>
              <a:t>Los dos gráficos usan los primeros 24 meses del proyecto de ejemplo:</a:t>
            </a:r>
          </a:p>
          <a:p>
            <a:r>
              <a:rPr lang="es-ES"/>
              <a:t>- Izquierda, línea base fija: el EV queda 1,9 millones por debajo del PV; SPI 0,84. El atraso se ve y se puede gestionar.</a:t>
            </a:r>
          </a:p>
          <a:p>
            <a:r>
              <a:rPr lang="es-ES"/>
              <a:t>- Derecha, línea base guardada cada mes (ilustrativo): el PV se "pega" al EV; SV ≈ 0 y SPI ≈ 1. El mismo proyecto parece ir en plazo.</a:t>
            </a:r>
          </a:p>
          <a:p/>
          <a:p>
            <a:r>
              <a:rPr lang="es-ES"/>
              <a:t>Además:</a:t>
            </a:r>
          </a:p>
          <a:p>
            <a:r>
              <a:rPr lang="es-ES"/>
              <a:t>- Cambia el PV de los meses ya informados: los informes anteriores dejan de cuadrar.</a:t>
            </a:r>
          </a:p>
          <a:p>
            <a:r>
              <a:rPr lang="es-ES"/>
              <a:t>- Se pierde la referencia aprobada con el cliente o la dirección.</a:t>
            </a:r>
          </a:p>
          <a:p>
            <a:r>
              <a:rPr lang="es-ES"/>
              <a:t>- El informe deja de ser comparable mes a mes y pierde credibilidad.</a:t>
            </a:r>
          </a:p>
          <a:p>
            <a:r>
              <a:rPr lang="es-ES"/>
              <a:t>- Los problemas aparecen tarde, cuando ya no hay margen para corregir.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ES"/>
              <a:t>Tiempo: 0:40 min  ·  Acumulado: 15:05 min</a:t>
            </a:r>
          </a:p>
          <a:p/>
          <a:p>
            <a:r>
              <a:rPr lang="es-ES"/>
              <a:t>Estos son los errores que más se repiten al preparar un proyecto. Casi todos se detectan con validar antes de generar, o en la hoja Validación y al actualizar, así que no hay que buscarlos a mano: basta con leer los avisos. Las tareas largas de poco valor no las detecta ningún control: se revisan al planificar.</a:t>
            </a:r>
          </a:p>
          <a:p/>
          <a:p>
            <a:r>
              <a:rPr lang="es-ES"/>
              <a:t>Recorrer las filas rápidamente. Insistir en dos:</a:t>
            </a:r>
          </a:p>
          <a:p>
            <a:r>
              <a:rPr lang="es-ES"/>
              <a:t>- La duración pesa: el PV de un paquete se reparte según la duración de sus tareas. Una tarea larga de poco valor (por ejemplo, una gestión de doce meses) se lleva gran parte del paquete: conviene separarla en su propio paquete o usar hitos con peso.</a:t>
            </a:r>
          </a:p>
          <a:p>
            <a:r>
              <a:rPr lang="es-ES"/>
              <a:t>- El BAC sin ingresar: después de generar hay que escribir el BAC de cada paquete; si falta, el PV y el EV quedan en 0 y actualizar lo avisa.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ES"/>
              <a:t>Tiempo: 1:00 min  ·  Acumulado: 16:05 min</a:t>
            </a:r>
          </a:p>
          <a:p/>
          <a:p>
            <a:r>
              <a:rPr lang="es-ES"/>
              <a:t>El método de medición convierte el avance de un paquete en EV. Se elige uno por paquete al planificar y se mantiene durante toda su ejecución.</a:t>
            </a:r>
          </a:p>
          <a:p/>
          <a:p>
            <a:r>
              <a:rPr lang="es-ES"/>
              <a:t>El ejemplo (franja superior, de la documentación): un paquete con un BAC de 900.000 € que comenzó y no terminó. Tiene tres subtareas: la memoria de cálculo (30 días) terminada, los planos (40 días) a la mitad y las especificaciones (20 días) sin empezar. Además tiene tres hitos con pesos 30, 30 y 40, de los que dos están cumplidos.</a:t>
            </a:r>
          </a:p>
          <a:p/>
          <a:p>
            <a:r>
              <a:rPr lang="es-ES"/>
              <a:t>Cómo se llega a cada valor, fila por fila:</a:t>
            </a:r>
          </a:p>
          <a:p>
            <a:r>
              <a:rPr lang="es-ES"/>
              <a:t>- 0/100: el paquete solo gana valor cuando termina. No terminó, así que EV = 0.</a:t>
            </a:r>
          </a:p>
          <a:p>
            <a:r>
              <a:rPr lang="es-ES"/>
              <a:t>- 50/50: gana la mitad del BAC al comenzar y la otra mitad al terminar. Comenzó: 50 % de 900.000 = 450.000 €.</a:t>
            </a:r>
          </a:p>
          <a:p>
            <a:r>
              <a:rPr lang="es-ES"/>
              <a:t>- 20/80: igual, pero con el 20 % al comenzar: 20 % de 900.000 = 180.000 €.</a:t>
            </a:r>
          </a:p>
          <a:p>
            <a:r>
              <a:rPr lang="es-ES"/>
              <a:t>- % Completado: si los hitos no tuvieran Peso hito, cada subtarea pesaría según su duración: (30 días al 100 % + 40 al 50 % + 20 al 0 %) / 90 días = 55,6 % del BAC = 500.000 €. Con los pesos de este paquete (30, 30 y 40, que suman 100) las tareas no pesan y el % Completado daría lo mismo que los hitos ponderados: 540.000 €.</a:t>
            </a:r>
          </a:p>
          <a:p>
            <a:r>
              <a:rPr lang="es-ES"/>
              <a:t>- Hitos ponderados: se suman los pesos de los hitos cumplidos: 30 + 30 = 60 de 100, es decir, el 60 % de 900.000 = 540.000 €.</a:t>
            </a:r>
          </a:p>
          <a:p/>
          <a:p>
            <a:r>
              <a:rPr lang="es-ES"/>
              <a:t>Mensaje: con el mismo avance, el EV va de 0 a 540.000 €. Por eso el método se decide antes de empezar y no se cambia para "mejorar" el informe. MS Project no tiene de forma nativa 0/100, 50/50 ni hitos ponderados: los calcula el Exportador EVM a partir del avance registrado.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ES"/>
              <a:t>Tiempo: 0:40 min  ·  Acumulado: 16:45 min</a:t>
            </a:r>
          </a:p>
          <a:p/>
          <a:p>
            <a:r>
              <a:rPr lang="es-ES"/>
              <a:t>Guía para elegir el método de cada paquete, con ejemplos prácticos (elegir dos o tres según la audiencia):</a:t>
            </a:r>
          </a:p>
          <a:p/>
          <a:p>
            <a:r>
              <a:rPr lang="es-ES"/>
              <a:t>- Avance lineal (LOE): soporte sin entregables medibles que dura lo que dura el proyecto. Ejemplos: dirección del proyecto, PMO, control de proyectos, aseguramiento de calidad, administración de contratos, supervisión de obra, seguridad y salud. EV = PV, así que nunca muestra atraso: limitarlo a lo indispensable y no mezclarlo con trabajo medible.</a:t>
            </a:r>
          </a:p>
          <a:p/>
          <a:p>
            <a:r>
              <a:rPr lang="es-ES"/>
              <a:t>- 0/100: paquetes que empiezan y terminan en el mismo mes, o que solo tienen valor al entregarse. Ejemplos: la compra de un equipo menor, que vale cuando se recibe; un informe o estudio corto que se emite en el mes; la obtención de un permiso o una licencia; una prueba de un día; la reunión de lanzamiento con su acta.</a:t>
            </a:r>
          </a:p>
          <a:p/>
          <a:p>
            <a:r>
              <a:rPr lang="es-ES"/>
              <a:t>- 50/50: paquetes de hasta dos meses con el valor repartido. Ejemplos: un estudio de terreno de seis semanas, una licitación de obras de dos meses, una campaña de capacitación, la redacción y revisión de una especificación.</a:t>
            </a:r>
          </a:p>
          <a:p/>
          <a:p>
            <a:r>
              <a:rPr lang="es-ES"/>
              <a:t>- 25/75 o 20/80: cuando lo que importa es el resultado final. Ejemplos: pruebas o ensayos cuyo informe es el entregable, la puesta en marcha de un sistema, una auditoría que termina con su informe, una entrega de software que solo vale cuando se valida.</a:t>
            </a:r>
          </a:p>
          <a:p/>
          <a:p>
            <a:r>
              <a:rPr lang="es-ES"/>
              <a:t>- Hitos ponderados: paquetes de tres meses o más con entregables intermedios verificables. Ejemplos: un diseño con bases, alternativa e informe aprobados; la fabricación de un equipo con pedido colocado, planos aprobados, prueba en fábrica (FAT) y entrega en obra; una ingeniería con revisiones al 30, 60 y 90 %; una obra con certificaciones parciales; un software con entregas aceptadas por el cliente. Conviene al menos un hito por mes.</a:t>
            </a:r>
          </a:p>
          <a:p/>
          <a:p>
            <a:r>
              <a:rPr lang="es-ES"/>
              <a:t>- Unidades completadas: trabajo repetitivo en unidades homogéneas. Ejemplos: metros cúbicos excavados, toneladas de acero montadas, metros de cañería o de cable tendidos, pilotes ejecutados, equipos instalados, kilómetros de carretera.</a:t>
            </a:r>
          </a:p>
          <a:p/>
          <a:p>
            <a:r>
              <a:rPr lang="es-ES"/>
              <a:t>- % Físico completado: el avance se puede medir, pero no en unidades homogéneas. Ejemplos: ingeniería de detalle medida por planos emitidos y ponderados por complejidad; montaje electromecánico evaluado por el supervisor con un criterio escrito; obra civil con avance certificado por la dirección de obra. El criterio se documenta en las Notas de la tarea.</a:t>
            </a:r>
          </a:p>
          <a:p/>
          <a:p>
            <a:r>
              <a:rPr lang="es-ES"/>
              <a:t>- % Completado: solo cuando no hay una medida mejor y la duración transcurrida refleja el avance, por ejemplo en tareas cortas de esfuerzo uniforme. Ojo: mide el % de la duración, no del trabajo hecho.</a:t>
            </a:r>
          </a:p>
          <a:p/>
          <a:p>
            <a:r>
              <a:rPr lang="es-ES"/>
              <a:t>Regla general: preferir métodos objetivos (hitos con criterio de aceptación, cantidades medidas, fórmulas fijas) frente a porcentajes estimados, y paquetes de duración acotada: un paquete muy largo con % completado esconde los problemas hasta el final.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ES"/>
              <a:t>Tiempo: 0:20 min  ·  Acumulado: 17:05 min</a:t>
            </a:r>
          </a:p>
          <a:p/>
          <a:p>
            <a:r>
              <a:rPr lang="es-ES"/>
              <a:t>(Opcional si el tiempo es justo: mostrar solo el gráfico.)</a:t>
            </a:r>
          </a:p>
          <a:p/>
          <a:p>
            <a:r>
              <a:rPr lang="es-ES"/>
              <a:t>Ejemplo de la documentación: paquete 2.1.2 Diseño conceptual, 600.000 €, con tres hitos de pesos 30, 30 y 40. El EV sube por escalones: 180.000 € en mayo, 360.000 € en julio y 600.000 € en septiembre.</a:t>
            </a:r>
          </a:p>
          <a:p/>
          <a:p>
            <a:r>
              <a:rPr lang="es-ES"/>
              <a:t>Implementación en MS Project:</a:t>
            </a:r>
          </a:p>
          <a:p>
            <a:r>
              <a:rPr lang="es-ES"/>
              <a:t>- Los hitos son subtareas del paquete con duración 0, vinculados a las actividades que producen el entregable.</a:t>
            </a:r>
          </a:p>
          <a:p>
            <a:r>
              <a:rPr lang="es-ES"/>
              <a:t>- El peso va en el campo Peso hito y es el % del BAC del paquete: en un paquete medido solo con hitos, los pesos suman 100 y su PV queda en los meses de los hitos.</a:t>
            </a:r>
          </a:p>
          <a:p>
            <a:r>
              <a:rPr lang="es-ES"/>
              <a:t>- En las Notas de cada hito se escribe la evidencia que lo da por cumplido ("plano aprobado por el cliente", "acta FAT firmada").</a:t>
            </a:r>
          </a:p>
          <a:p>
            <a:r>
              <a:rPr lang="es-ES"/>
              <a:t>- Cada mes, el hito cumplido se marca al 100 % con su Fin real. Un hito no se marca parcialmente: si no se cumplió, se reprograma.</a:t>
            </a:r>
          </a:p>
          <a:p/>
          <a:p>
            <a:r>
              <a:rPr lang="es-ES"/>
              <a:t>Regla práctica: al menos un hito por período de informe, para que el SPI del paquete no oscile.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ES"/>
              <a:t>Tiempo: 0:40 min  ·  Acumulado: 18:25 min</a:t>
            </a:r>
          </a:p>
          <a:p/>
          <a:p>
            <a:r>
              <a:rPr lang="es-ES"/>
              <a:t>Cuatro pasos cada mes, en este orden:</a:t>
            </a:r>
          </a:p>
          <a:p>
            <a:r>
              <a:rPr lang="es-ES"/>
              <a:t>1. Fijar la fecha de estado en el último día del mes (Proyecto &gt; Fecha de estado).</a:t>
            </a:r>
          </a:p>
          <a:p>
            <a:r>
              <a:rPr lang="es-ES"/>
              <a:t>2. Registrar el avance a la fecha de estado (no a la fecha en que se actualiza): % completado o duración real, % físico completado, comienzo y fin reales, y los hitos cumplidos al 100 %.</a:t>
            </a:r>
          </a:p>
          <a:p>
            <a:r>
              <a:rPr lang="es-ES"/>
              <a:t>3. Reprogramar el trabajo pendiente para que empiece después de la fecha de estado (Proyecto &gt; Actualizar proyecto). Así las fechas futuras siguen siendo una previsión realista. No cambia la línea base ni el PV. Si se trabaja con XML, guardar el XML al terminar.</a:t>
            </a:r>
          </a:p>
          <a:p>
            <a:r>
              <a:rPr lang="es-ES"/>
              <a:t>4. Ejecutar validar: revisa en la terminal, sin crear archivos, los códigos EDT, las fechas, los pesos y los métodos, el avance a la fecha de estado (tareas sin actualizar, fechas reales incoherentes, índice BEI) y la lógica del cronograma. Se corrige en MS Project hasta que no queden errores ni trabajo pendiente antes de la fecha de estado.</a:t>
            </a:r>
          </a:p>
          <a:p>
            <a:r>
              <a:rPr lang="es-ES"/>
              <a:t>El costo real no se registra en MS Project: Finanzas lo entrega del ERP (devengado, con la misma fecha de corte y en la misma base que el BAC) y se carga en la hoja AC del libro, o en las de cada empresa, después de actualizar (bloque siguiente).</a:t>
            </a:r>
          </a:p>
          <a:p/>
          <a:p>
            <a:r>
              <a:rPr lang="es-ES"/>
              <a:t>Aunque el informe sea bimestral, conviene registrar el estado todos los meses: la curva S es mensual y las desviaciones se detectan antes.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ES"/>
              <a:t>Tiempo: 0:10 min  ·  Acumulado: 18:35 min</a:t>
            </a:r>
          </a:p>
          <a:p/>
          <a:p>
            <a:r>
              <a:rPr lang="es-ES"/>
              <a:t>Tercer bloque: la herramienta. Es un programa en Python que se ejecuta en Windows desde la línea de comandos. No hace falta saber programar: son pocos comandos que se copian y se ajustan: validar, generar y actualizar; analizar y generar-fichas son de apoyo.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0:45 min  ·  Acumulado: 19:20 min</a:t>
            </a:r>
          </a:p>
          <a:p/>
          <a:p>
            <a:r>
              <a:t>El flujo completo:</a:t>
            </a:r>
          </a:p>
          <a:p>
            <a:r>
              <a:t>- generar: se ejecuta una vez por línea base. Lee la EDT y la línea base de MS Project y crea el libro Excel con el % planificado de cada elemento de la EDT y mes (120 meses por defecto). Después se escribe el BAC de cada paquete en el libro: el PV es el BAC × el %.</a:t>
            </a:r>
          </a:p>
          <a:p>
            <a:r>
              <a:t>- actualizar: se ejecuta cada mes. Lee el avance a la fecha de estado, calcula el % ganado acumulado de cada paquete según su método y escribe el % del mes en el libro; el EV es el BAC × el %. El AC del mes se carga a mano. Indicadores y gráficos se recalculan solos.</a:t>
            </a:r>
          </a:p>
          <a:p>
            <a:r>
              <a:t>- validar: antes de generar y antes de cada actualizar. Revisa el archivo de MS Project sin crear archivos: códigos EDT, fechas y duraciones, pesos de los hitos, método frente a la duración del paquete, avance a la fecha de estado y lógica del cronograma (criterios DCMA). Termina con código 1 si hay errores.</a:t>
            </a:r>
          </a:p>
          <a:p>
            <a:r>
              <a:t>- generar-fichas (opcional): crea un documento Markdown con la ficha de cada elemento EDT del libro (fechas y duración de la línea base, predecesoras y sucesoras) para el cliente, sin importes.</a:t>
            </a:r>
          </a:p>
          <a:p/>
          <a:p>
            <a:r>
              <a:t>Requisitos: Windows. Lo más simple es el instalador de cada versión, en las publicaciones del repositorio en GitHub: no necesita Python ni permisos de administrador, y el comando pasa a ser evm_export. También se puede usar con Python 3.11 o posterior. Para leer archivos .mpp hace falta MS Project de escritorio en la misma PC (el programa lo controla por automatización y lo abre en solo lectura: nunca modifica el .mpp). Sin MS Project, se guarda el proyecto como XML desde MS Project (Archivo &gt; Guardar como &gt; XML) y se usa ese archivo.</a:t>
            </a:r>
          </a:p>
          <a:p/>
          <a:p>
            <a:r>
              <a:t>La configuración (config.toml) indica los nombres de los campos: Item EDT, Método EVM, Peso hito, la planificación a exportar y los umbrales del semáforo.</a:t>
            </a:r>
          </a:p>
          <a:p/>
          <a:p>
            <a:r>
              <a:t>Opcional: multi-empresa, con el BAC, el PV, el EV y el AC de dos empresas por separado, y varios archivos de MS Project en un mismo libro (secciones [[proyectos]] de la configuración).</a:t>
            </a:r>
          </a:p>
          <a:p/>
          <a:p>
            <a:r>
              <a:t>Además de los indicadores, actualizar lista los paquetes fuera de umbral en la hoja Análisis de desviaciones (la vemos en el último bloque).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ES"/>
              <a:t>Tiempo: 0:55 min  ·  Acumulado: 20:15 min</a:t>
            </a:r>
          </a:p>
          <a:p/>
          <a:p>
            <a:r>
              <a:rPr lang="es-ES"/>
              <a:t>Se ejecuta una vez, después de guardar la línea base y de revisar el archivo con validar. La salida en pantalla resume lo leído: planificación, filas de la EDT, horizonte de meses y el recordatorio de ingresar el BAC, más observaciones informativas y avisos, por ejemplo de paquetes demasiado largos para su método (0/100, 50/50...).</a:t>
            </a:r>
          </a:p>
          <a:p/>
          <a:p>
            <a:r>
              <a:rPr lang="es-ES"/>
              <a:t>En el ejemplo: 36 filas EDT, 24 de ellas de ingreso (paquetes); 14 tareas sin código (actividades e hitos) que se sumaron en su paquete, que es lo esperado; y una fila sin método de medición, que hay que completar.</a:t>
            </a:r>
          </a:p>
          <a:p/>
          <a:p>
            <a:r>
              <a:rPr lang="es-ES"/>
              <a:t>Después de generar, tres pasos (derecha):</a:t>
            </a:r>
          </a:p>
          <a:p>
            <a:r>
              <a:rPr lang="es-ES"/>
              <a:t>1. Ingresar el BAC de cada paquete en las celdas amarillas de la columna D de la hoja PV (con dos empresas, en la hoja de cada una); la fila TOTAL debe coincidir con el presupuesto aprobado.</a:t>
            </a:r>
          </a:p>
          <a:p>
            <a:r>
              <a:rPr lang="es-ES"/>
              <a:t>2. Revisar la hoja % PV: cada paquete suma 100 %, repartido según la duración de sus tareas y el peso de sus hitos.</a:t>
            </a:r>
          </a:p>
          <a:p>
            <a:r>
              <a:rPr lang="es-ES"/>
              <a:t>3. Revisar la hoja Validación; corregir en MS Project y volver a generar si hace falta.</a:t>
            </a:r>
          </a:p>
          <a:p/>
          <a:p>
            <a:r>
              <a:rPr lang="es-ES"/>
              <a:t>Opciones útiles: --planificacion CLIENTE para exportar la otra planificación; --origen activo para el proyecto abierto en MS Project (útil con Project Online o SharePoint); --migrar-desde para una nueva línea base conservando el historial.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0:55 min  ·  Acumulado: 21:10 min</a:t>
            </a:r>
          </a:p>
          <a:p/>
          <a:p>
            <a:r>
              <a:t>Cada mes, con el avance registrado y la fecha de estado en el último día del mes:</a:t>
            </a:r>
          </a:p>
          <a:p>
            <a:r>
              <a:t>1. Primero "actualizar --simular": calcula todo y lo muestra en pantalla, pero no modifica el libro.</a:t>
            </a:r>
          </a:p>
          <a:p>
            <a:r>
              <a:t>2. Revisar las observaciones por fila: métodos no definidos, valores del mes negativos (por ejemplo, una corrección de avance), tareas sin fila, filas con avance y sin BAC. Si algo no es razonable, se corrige en MS Project y se vuelve a simular.</a:t>
            </a:r>
          </a:p>
          <a:p>
            <a:r>
              <a:t>3. "actualizar" sin --simular: escribe el % ganado del mes en la hoja % EV (el EV es el BAC × ese %). El AC del mes se carga a mano en la hoja AC. actualizar también agrega a la hoja Análisis de desviaciones los paquetes fuera de umbral; si el AC se carga a mano después, el comando "analizar" completa esa lista sin volver a leer MS Project.</a:t>
            </a:r>
          </a:p>
          <a:p/>
          <a:p>
            <a:r>
              <a:t>Detalles que dan tranquilidad: repetir actualizar para el mismo mes reemplaza el valor, no lo duplica; antes de modificar el libro se guarda una copia de respaldo; y si el libro está abierto en Excel, avisa.</a:t>
            </a:r>
          </a:p>
          <a:p/>
          <a:p>
            <a:r>
              <a:t>La salida de la derecha es un extracto real del ejemplo a diciembre de 2027, con el AC del mes ya cargado: los mismos indicadores que veremos en el Cuadro de Mando.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0:40 min  ·  Acumulado: 21:50 min</a:t>
            </a:r>
          </a:p>
          <a:p/>
          <a:p>
            <a:r>
              <a:t>Las pestañas del libro, por colores:</a:t>
            </a:r>
          </a:p>
          <a:p>
            <a:r>
              <a:t>- Azul: resultados calculados con fórmulas (Cuadro de Mando, Resumen, Evolución mensual, Indicadores EDT) y el Análisis de desviaciones, que se completa a mano.</a:t>
            </a:r>
          </a:p>
          <a:p>
            <a:r>
              <a:t>- Ámbar: datos. En PV se ingresa el BAC de cada paquete (celdas amarillas); el PV y el EV de cada mes son el BAC × el % de las hojas % PV y % EV, que calculan generar y actualizar. En AC, las celdas amarillas contienen el costo real de cada mes (no el acumulado), que se carga a mano desde el ERP.</a:t>
            </a:r>
          </a:p>
          <a:p>
            <a:r>
              <a:t>- Gris: control (Validación y Listas de métodos).</a:t>
            </a:r>
          </a:p>
          <a:p/>
          <a:p>
            <a:r>
              <a:t>Reglas de uso (derecha): no insertar, borrar ni ordenar filas o columnas, porque actualizar ubica cada fila por su posición; para cambiar la EDT se cambia MS Project y se regenera con --migrar-desde. No escribir sobre subtotales ni fórmulas. El método de medición se define en MS Project: generar lo copia a la columna C de la hoja PV, que es la que usa actualizar. La columna C solo se edita para aplicar un cambio de método aprobado, que se escribe también en MS Project; si no, los dos quedan distintos y el programa no lo advierte.</a:t>
            </a:r>
          </a:p>
          <a:p/>
          <a:p>
            <a:r>
              <a:t>Las hojas ocultas (_graficos, _estructura, _meta) no se tocan. Y se recomienda archivar una copia del libro de cada informe emitido.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ES"/>
              <a:t>Tiempo: 0:10 min  ·  Acumulado: 22:00 min</a:t>
            </a:r>
          </a:p>
          <a:p/>
          <a:p>
            <a:r>
              <a:rPr lang="es-ES"/>
              <a:t>Último bloque: lo que hace el Jefe de Proyecto con el libro. Aquí es donde se recupera el tiempo que antes se dedicaba a preparar datos.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0:55 min  ·  Acumulado: 22:55 min</a:t>
            </a:r>
          </a:p>
          <a:p/>
          <a:p>
            <a:r>
              <a:t>El Cuadro de Mando es la hoja principal y se imprime en una página, lista para adjuntar al informe mensual.</a:t>
            </a:r>
          </a:p>
          <a:p/>
          <a:p>
            <a:r>
              <a:t>Zonas (números rojos de la imagen):</a:t>
            </a:r>
          </a:p>
          <a:p>
            <a:r>
              <a:t>1. Mes de reporte (celda amarilla): actualizar lo fija en el mes de corte, pero se puede elegir cualquier mes anterior para revisar un informe pasado; todo el tablero cambia a ese mes.</a:t>
            </a:r>
          </a:p>
          <a:p>
            <a:r>
              <a:t>2. Método EAC (celda amarilla): BAC / CPI por defecto; las otras dos fórmulas que vimos.</a:t>
            </a:r>
          </a:p>
          <a:p>
            <a:r>
              <a:t>3. Valores acumulados: BAC, PV, EV y AC con su porcentaje del BAC.</a:t>
            </a:r>
          </a:p>
          <a:p>
            <a:r>
              <a:t>4. Desviaciones e índices con semáforo; debajo, la escala del semáforo con los umbrales del libro.</a:t>
            </a:r>
          </a:p>
          <a:p>
            <a:r>
              <a:t>5. Pronósticos: ETC, EAC, VAC y TCPI.</a:t>
            </a:r>
          </a:p>
          <a:p>
            <a:r>
              <a:t>6. Curva S.</a:t>
            </a:r>
          </a:p>
          <a:p>
            <a:r>
              <a:t>7. Evolución de CPI y SPI sobre las zonas del semáforo (roja, amarilla, verde, amarilla y roja): mirar la tendencia más que el valor puntual. En los primeros meses los índices oscilan mucho porque los importes son pequeños.</a:t>
            </a:r>
          </a:p>
          <a:p>
            <a:r>
              <a:t>8 y 9. Desempeño por elemento EDT: lo vemos en la siguiente diapositiva.</a:t>
            </a:r>
          </a:p>
          <a:p/>
          <a:p>
            <a:r>
              <a:t>Si se quiere, este es buen momento para abrir el libro de ejemplo y cambiar el mes de reporte en directo.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0:40 min  ·  Acumulado: 23:35 min</a:t>
            </a:r>
          </a:p>
          <a:p/>
          <a:p>
            <a:r>
              <a:t>El gráfico pone cada elemento de la EDT (niveles 1 y 2) en un plano: eje horizontal CPI, eje vertical SPI, centro en (1; 1). Arriba a la derecha, adelantado y con ahorro; abajo a la izquierda, atrasado y con sobrecosto. Los elementos alejados del centro son los que explican la desviación del proyecto.</a:t>
            </a:r>
          </a:p>
          <a:p/>
          <a:p>
            <a:r>
              <a:t>Lectura del ejemplo:</a:t>
            </a:r>
          </a:p>
          <a:p>
            <a:r>
              <a:t>- 3.0.0 Construcción (CPI 0,54, SPI 0,85) es el que arrastra el costo del proyecto: hay que bajar a sus paquetes en la hoja Indicadores EDT. En plazo, el más alejado es 1.2.0 Gestión de contratos (SPI 0,51): las licitaciones no terminaron.</a:t>
            </a:r>
          </a:p>
          <a:p>
            <a:r>
              <a:t>- 1.1.0 Dirección y control está exactamente en SPI = 1: es LOE, nunca muestra atraso. Su CPI (1,10) está por encima del rango verde (1,05): el costo real es menor que el planificado, y conviene confirmar que el AC esté completo antes de darlo por bueno.</a:t>
            </a:r>
          </a:p>
          <a:p>
            <a:r>
              <a:t>- 3.2.0 Montaje no aparece en el gráfico: su suministro de equipos se mide con hitos ponderados (pesos que suman 100), su PV está en los meses de los hitos, en 2028, y todavía no cumplió ninguno: tiene costo real pero PV y EV cero. Es el comportamiento esperado del método, no un error. Los valores están en la tabla.</a:t>
            </a:r>
          </a:p>
          <a:p/>
          <a:p>
            <a:r>
              <a:t>Mensaje: el índice del proyecto dice "hay un problema"; este gráfico dice "dónde".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0:40 min  ·  Acumulado: 24:15 min</a:t>
            </a:r>
          </a:p>
          <a:p/>
          <a:p>
            <a:r>
              <a:t>Tabla de referencia rápida (está completa en la documentación, Cuadro de Mando e indicadores):</a:t>
            </a:r>
          </a:p>
          <a:p>
            <a:r>
              <a:t>- CPI menor que 0,90 de forma sostenida: el sobrecosto no es puntual. Los estudios sobre grandes contratos muestran que, superado el 20 % de avance, el CPI acumulado rara vez mejora de forma significativa. Revisar EAC y causas por paquete.</a:t>
            </a:r>
          </a:p>
          <a:p>
            <a:r>
              <a:t>- SPI menor que 0,90 y SV(t) creciente: atraso que se acumula. Revisar el camino crítico en MS Project: el SPI no dice si el atraso afecta a la fecha de fin.</a:t>
            </a:r>
          </a:p>
          <a:p>
            <a:r>
              <a:t>- SPI cerca de 1 al final pero SV(t) negativo: el SPI convergió, el proyecto sigue atrasado. Informar SV(t) y SPI(t).</a:t>
            </a:r>
          </a:p>
          <a:p>
            <a:r>
              <a:t>- TCPI muy superior al CPI: terminar en el BAC exige una eficiencia irreal; una regla práctica es una diferencia mayor de 0,05 a 0,10. Informar el EAC y evaluar un cambio de línea base o de alcance.</a:t>
            </a:r>
          </a:p>
          <a:p>
            <a:r>
              <a:t>- CPI o SPI por encima de 1,05 (fuera del rango verde, en amarillo o rojo): buena noticia... o un AC incompleto, un avance informado de más o métodos subjetivos. El semáforo lo marca para verificarlo antes de celebrar.</a:t>
            </a:r>
          </a:p>
          <a:p>
            <a:r>
              <a:t>- EV con AC cero en una fila: costo real aún no registrado (facturas pendientes, AC del ERP).</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0:30 min  ·  Acumulado: 25:30 min</a:t>
            </a:r>
          </a:p>
          <a:p/>
          <a:p>
            <a:r>
              <a:t>Calendario orientativo en días hábiles después del fin de mes (D+n); hay que adaptarlo a los plazos de contabilidad de cada organización.</a:t>
            </a:r>
          </a:p>
          <a:p/>
          <a:p>
            <a:r>
              <a:t>- D+1 a D+2: los responsables de paquete informan el avance físico con evidencia objetiva (entregables, hitos, cantidades).</a:t>
            </a:r>
          </a:p>
          <a:p>
            <a:r>
              <a:t>- D+1 a D+3: Finanzas entrega el costo real devengado del mes (no pagos ni compromisos), con la misma fecha de corte.</a:t>
            </a:r>
          </a:p>
          <a:p>
            <a:r>
              <a:t>- D+3: el planificador (PMO) fija la fecha de estado, registra el avance en MS Project y ejecuta validar (sin errores ni trabajo pendiente antes de la fecha de estado).</a:t>
            </a:r>
          </a:p>
          <a:p>
            <a:r>
              <a:t>- D+4: actualizar --simular, revisión de observaciones, actualizar, carga del AC del ERP en el libro y analizar.</a:t>
            </a:r>
          </a:p>
          <a:p>
            <a:r>
              <a:t>- D+5 a D+6: el Jefe de Proyecto analiza las desviaciones fuera de umbral con los responsables, en la hoja Análisis de desviaciones (causa, impacto, acción con responsable y fecha) y revisa el EAC.</a:t>
            </a:r>
          </a:p>
          <a:p>
            <a:r>
              <a:t>- D+7: informe y reunión de seguimiento.</a:t>
            </a:r>
          </a:p>
          <a:p/>
          <a:p>
            <a:r>
              <a:t>El Jefe de Proyecto es el dueño del informe. En proyectos pequeños varios roles los cumple la misma persona; lo importante es que avance, costo real y análisis tengan un responsable claro.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0:30 min  ·  Acumulado: 26:00 min</a:t>
            </a:r>
          </a:p>
          <a:p/>
          <a:p>
            <a:r>
              <a:t>Cinco ideas para llevarse (leerlas o pedir a alguien de la sala que elija la que le parezca más difícil de aplicar en su proyecto):</a:t>
            </a:r>
          </a:p>
          <a:p>
            <a:r>
              <a:t>1. La línea base define el PV: se guarda una vez y solo cambia por control de cambios.</a:t>
            </a:r>
          </a:p>
          <a:p>
            <a:r>
              <a:t>2. El cronograma no lleva importes: las duraciones y los pesos de los hitos reparten el BAC, que se ingresa en el libro.</a:t>
            </a:r>
          </a:p>
          <a:p>
            <a:r>
              <a:t>3. Un método de medición objetivo por paquete, definido antes de empezar.</a:t>
            </a:r>
          </a:p>
          <a:p>
            <a:r>
              <a:t>4. Fecha de estado en el último día del mes y avance con evidencia.</a:t>
            </a:r>
          </a:p>
          <a:p>
            <a:r>
              <a:t>5. Validar, simular y actualizar; y dedicar el tiempo del cierre a analizar.</a:t>
            </a:r>
          </a:p>
          <a:p/>
          <a:p>
            <a:r>
              <a:t>Para empezar: el tutorial de la documentación recorre todo el ciclo con el proyecto de ejemplo, sin necesidad de MS Project. Después, la guía de preparación en MS Project y el proceso de reporte mensual.</a:t>
            </a:r>
          </a:p>
          <a:p/>
          <a:p>
            <a:r>
              <a:t>Abrir turno de preguntas (4 minutos).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0:45 min  ·  Acumulado: 25:00 min</a:t>
            </a:r>
          </a:p>
          <a:p/>
          <a:p>
            <a:r>
              <a:t>La hoja Análisis de desviaciones lleva al libro el paso que antes se hacía aparte: explicar cada desviación.</a:t>
            </a:r>
          </a:p>
          <a:p>
            <a:r>
              <a:t>- Qué lista: cada mes, actualizar agrega los paquetes con SPI o CPI fuera del rango verde del semáforo, por debajo (atraso, sobrecosto) o por encima (por ejemplo, el CPI 1,10 de la PMO, con puestos sin cubrir). Los valores son fórmulas sobre las hojas PV, EV y AC.</a:t>
            </a:r>
          </a:p>
          <a:p>
            <a:r>
              <a:t>- Qué se completa: las columnas amarillas, con los responsables de cada paquete: causa, impacto en plazo y costo, acción correctiva, responsable y fecha compromiso.</a:t>
            </a:r>
          </a:p>
          <a:p>
            <a:r>
              <a:t>- Qué se conserva: lo escrito se mantiene al repetir actualizar y al regenerar el libro con --migrar-desde. Si un paquete sigue fuera de umbral el mes siguiente, su texto se copia con la marca "se debe revisar", para actualizarlo en lugar de escribirlo de nuevo.</a:t>
            </a:r>
          </a:p>
          <a:p/>
          <a:p>
            <a:r>
              <a:t>Si el AC del ERP se carga a mano después de actualizar, se ejecuta analizar: vuelve a calcular la lista con los valores del libro, sin leer MS Project.</a:t>
            </a:r>
          </a:p>
          <a:p/>
          <a:p>
            <a:r>
              <a:t>La hoja se imprime en horizontal y se adjunta al informe junto con el Cuadro de Mando.</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0:40 min  ·  Acumulado: 17:45 min</a:t>
            </a:r>
          </a:p>
          <a:p/>
          <a:p>
            <a:r>
              <a:t>El método no lo decide una sola persona: se define durante la planificación, antes de guardar la línea base, y se aprueba con ella. Cinco pasos, cada uno con su responsable (el color del círculo: azul el PMO, ámbar el responsable de paquete y verde el Jefe de Proyecto):</a:t>
            </a:r>
          </a:p>
          <a:p>
            <a:r>
              <a:t>1. Revisar los paquetes (PMO): el método se asigna al paquete de trabajo, no a sus tareas ni a sus hitos. Cada paquete con responsable, presupuesto y duración acotada. Un paquete largo sin entregables intermedios conviene dividirlo antes de recurrir a un porcentaje estimado.</a:t>
            </a:r>
          </a:p>
          <a:p>
            <a:r>
              <a:t>2. Proponer el método (PMO), con la guía que acabamos de ver.</a:t>
            </a:r>
          </a:p>
          <a:p>
            <a:r>
              <a:t>3. Definir el criterio de medición (responsable de paquete): con hitos ponderados, qué hitos, qué pesos y qué evidencia da cada uno por cumplido; con % físico o unidades, qué se mide y de dónde sale la medición; con LOE, por qué el paquete no tiene entregables medibles.</a:t>
            </a:r>
          </a:p>
          <a:p>
            <a:r>
              <a:t>4. Aprobar con la línea base (Jefe de Proyecto). Antes se revisa el conjunto: cuánto del BAC queda en LOE y en % completado (conviene acordar un tope), al menos un hito por mes y ningún paquete largo con 0/100. Si el EVM se informa al cliente, conviene acordar con él los criterios de medición.</a:t>
            </a:r>
          </a:p>
          <a:p>
            <a:r>
              <a:t>5. Cargar y verificar (PMO): el método en el campo Método EVM, los pesos en Peso hito y el criterio en las Notas del paquete o del hito. validar y, después de generar, la hoja Validación no deben mostrar métodos por definir. validar también avisa si un 0/100 dura más de 1 mes o un 50/50, 25/75 o 20/80 más de 2 meses (umbrales de la sección [validacion]), si un paquete de hitos ponderados no tiene hitos o si un método no se reconoce.</a:t>
            </a:r>
          </a:p>
          <a:p/>
          <a:p>
            <a:r>
              <a:t>Registro: una tabla en el plan de gestión con paquete, responsable, BAC, método y criterio de medición. Es la referencia para medir cada mes y para explicar el informe.</a:t>
            </a:r>
          </a:p>
          <a:p/>
          <a:p>
            <a:r>
              <a:t>Cambio de método: solo por control de cambios, como la línea base. Se cambia en MS Project y también en la columna C de la hoja PV, que es la que usa actualizar. El EV del paquete se recalcula con el método nuevo y toda la diferencia cae en el mes del cambio: hay que explicarlo en el informe.</a:t>
            </a:r>
          </a:p>
          <a:p/>
          <a:p>
            <a:r>
              <a:t>Detalle en la documentación: Métodos de medición, sección 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6"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6"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0"/>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7.xml"/><Relationship Id="rId3" Type="http://schemas.openxmlformats.org/officeDocument/2006/relationships/chart" Target="../charts/chart8.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9.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31.xml"/><Relationship Id="rId4"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2.xml"/><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36.xml"/><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github.com/MarceloSalazar/evm-automation/blob/main/docs/ejemplo-paso-a-paso.md" TargetMode="External"/><Relationship Id="rId3" Type="http://schemas.openxmlformats.org/officeDocument/2006/relationships/hyperlink" Target="https://github.com/MarceloSalazar/evm-automation/blob/main/docs/preparacion-ms-project.md" TargetMode="External"/><Relationship Id="rId4" Type="http://schemas.openxmlformats.org/officeDocument/2006/relationships/hyperlink" Target="https://github.com/MarceloSalazar/evm-automation/blob/main/docs/proceso-reporte-evm.md" TargetMode="External"/><Relationship Id="rId5"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B48"/>
        </a:solidFill>
        <a:effectLst/>
      </p:bgPr>
    </p:bg>
    <p:spTree>
      <p:nvGrpSpPr>
        <p:cNvPr id="1" name=""/>
        <p:cNvGrpSpPr/>
        <p:nvPr/>
      </p:nvGrpSpPr>
      <p:grpSpPr/>
      <p:sp>
        <p:nvSpPr>
          <p:cNvPr id="2" name="Title 1"/>
          <p:cNvSpPr>
            <a:spLocks noGrp="1"/>
          </p:cNvSpPr>
          <p:nvPr>
            <p:ph type="title"/>
          </p:nvPr>
        </p:nvSpPr>
        <p:spPr>
          <a:xfrm>
            <a:off x="548640" y="2011680"/>
            <a:ext cx="5852160" cy="1463040"/>
          </a:xfrm>
        </p:spPr>
        <p:txBody>
          <a:bodyPr wrap="square" lIns="0" rIns="0" tIns="0" bIns="0" anchor="t">
            <a:noAutofit/>
          </a:bodyPr>
          <a:lstStyle/>
          <a:p>
            <a:pPr algn="l"/>
            <a:r>
              <a:rPr sz="4400" b="1" i="0" lang="es-ES">
                <a:solidFill>
                  <a:srgbClr val="FFFFFF"/>
                </a:solidFill>
                <a:latin typeface="Calibri"/>
              </a:rPr>
              <a:t>Del cronograma al informe EVM</a:t>
            </a:r>
            <a:endParaRPr lang="es-ES" sz="4400"/>
          </a:p>
        </p:txBody>
      </p:sp>
      <p:sp>
        <p:nvSpPr>
          <p:cNvPr id="3" name="TextBox 2"/>
          <p:cNvSpPr txBox="1"/>
          <p:nvPr/>
        </p:nvSpPr>
        <p:spPr>
          <a:xfrm>
            <a:off x="548640" y="1691640"/>
            <a:ext cx="7315200" cy="274320"/>
          </a:xfrm>
          <a:prstGeom prst="rect">
            <a:avLst/>
          </a:prstGeom>
          <a:noFill/>
        </p:spPr>
        <p:txBody>
          <a:bodyPr wrap="square" lIns="0" rIns="0" tIns="0" bIns="0" anchor="t">
            <a:noAutofit/>
          </a:bodyPr>
          <a:lstStyle/>
          <a:p>
            <a:pPr algn="l"/>
            <a:r>
              <a:rPr sz="1100" b="1" i="0" lang="es-ES" spc="120">
                <a:solidFill>
                  <a:srgbClr val="F2B134"/>
                </a:solidFill>
                <a:latin typeface="Calibri"/>
              </a:rPr>
              <a:t>SESIÓN PARA EQUIPO DE PROYECTO</a:t>
            </a:r>
            <a:endParaRPr lang="es-ES" sz="1100"/>
          </a:p>
        </p:txBody>
      </p:sp>
      <p:sp>
        <p:nvSpPr>
          <p:cNvPr id="4" name="TextBox 3"/>
          <p:cNvSpPr txBox="1"/>
          <p:nvPr/>
        </p:nvSpPr>
        <p:spPr>
          <a:xfrm>
            <a:off x="548640" y="3611880"/>
            <a:ext cx="5486400" cy="1188720"/>
          </a:xfrm>
          <a:prstGeom prst="rect">
            <a:avLst/>
          </a:prstGeom>
          <a:noFill/>
        </p:spPr>
        <p:txBody>
          <a:bodyPr wrap="square" lIns="0" rIns="0" tIns="0" bIns="0" anchor="t">
            <a:noAutofit/>
          </a:bodyPr>
          <a:lstStyle/>
          <a:p>
            <a:pPr algn="l">
              <a:lnSpc>
                <a:spcPct val="110000"/>
              </a:lnSpc>
            </a:pPr>
            <a:r>
              <a:rPr sz="1800" b="0" i="0" lang="es-ES">
                <a:solidFill>
                  <a:srgbClr val="C9D3E3"/>
                </a:solidFill>
                <a:latin typeface="Calibri"/>
              </a:rPr>
              <a:t>Conceptos clave de MS Project para planificar y medir el avance, y el Exportador EVM para generar el informe mensual en Excel</a:t>
            </a:r>
            <a:endParaRPr lang="es-ES" sz="1800"/>
          </a:p>
        </p:txBody>
      </p:sp>
      <p:sp>
        <p:nvSpPr>
          <p:cNvPr id="5" name="TextBox 4"/>
          <p:cNvSpPr txBox="1"/>
          <p:nvPr/>
        </p:nvSpPr>
        <p:spPr>
          <a:xfrm>
            <a:off x="548640" y="4937760"/>
            <a:ext cx="5486400" cy="365760"/>
          </a:xfrm>
          <a:prstGeom prst="rect">
            <a:avLst/>
          </a:prstGeom>
          <a:noFill/>
        </p:spPr>
        <p:txBody>
          <a:bodyPr wrap="square" lIns="0" rIns="0" tIns="0" bIns="0" anchor="t">
            <a:noAutofit/>
          </a:bodyPr>
          <a:lstStyle/>
          <a:p>
            <a:pPr algn="l"/>
            <a:r>
              <a:rPr sz="1400" b="1" i="0" lang="es-ES">
                <a:solidFill>
                  <a:srgbClr val="F2B134"/>
                </a:solidFill>
                <a:latin typeface="Calibri"/>
              </a:rPr>
              <a:t>30 minutos</a:t>
            </a:r>
            <a:r>
              <a:rPr sz="1400" b="0" i="0" lang="es-ES">
                <a:solidFill>
                  <a:srgbClr val="C9D3E3"/>
                </a:solidFill>
                <a:latin typeface="Calibri"/>
              </a:rPr>
              <a:t>  ·  PV, EV y AC  ·  MS Project  ·  Excel</a:t>
            </a:r>
            <a:endParaRPr lang="es-ES" sz="1400"/>
          </a:p>
        </p:txBody>
      </p:sp>
      <p:sp>
        <p:nvSpPr>
          <p:cNvPr id="19" name="Versión"/>
          <p:cNvSpPr txBox="1"/>
          <p:nvPr/>
        </p:nvSpPr>
        <p:spPr>
          <a:xfrm>
            <a:off x="548640" y="6217920"/>
            <a:ext cx="5486400" cy="365760"/>
          </a:xfrm>
          <a:prstGeom prst="rect">
            <a:avLst/>
          </a:prstGeom>
          <a:noFill/>
        </p:spPr>
        <p:txBody>
          <a:bodyPr wrap="square" lIns="0" rIns="0" tIns="0" bIns="0" anchor="t">
            <a:noAutofit/>
          </a:bodyPr>
          <a:lstStyle/>
          <a:p>
            <a:pPr algn="l"/>
            <a:r>
              <a:rPr sz="1400" b="1" i="0" lang="es-ES">
                <a:solidFill>
                  <a:srgbClr val="F2B134"/>
                </a:solidFill>
                <a:latin typeface="Calibri"/>
              </a:rPr>
              <a:t>Versión 2.2.1</a:t>
            </a:r>
            <a:r>
              <a:rPr sz="1400" b="0" i="0" lang="es-ES">
                <a:solidFill>
                  <a:srgbClr val="C9D3E3"/>
                </a:solidFill>
                <a:latin typeface="Calibri"/>
              </a:rPr>
              <a:t>  ·  Exportador EVM</a:t>
            </a:r>
            <a:endParaRPr lang="es-ES" sz="1400"/>
          </a:p>
        </p:txBody>
      </p:sp>
      <p:sp>
        <p:nvSpPr>
          <p:cNvPr id="6" name="TextBox 5"/>
          <p:cNvSpPr txBox="1"/>
          <p:nvPr/>
        </p:nvSpPr>
        <p:spPr>
          <a:xfrm>
            <a:off x="548640" y="5760720"/>
            <a:ext cx="5486400" cy="411480"/>
          </a:xfrm>
          <a:prstGeom prst="rect">
            <a:avLst/>
          </a:prstGeom>
          <a:noFill/>
        </p:spPr>
        <p:txBody>
          <a:bodyPr wrap="square" lIns="0" rIns="0" tIns="0" bIns="0" anchor="t">
            <a:noAutofit/>
          </a:bodyPr>
          <a:lstStyle/>
          <a:p>
            <a:pPr algn="l"/>
            <a:r>
              <a:rPr sz="2000" b="1" i="0" lang="es-ES">
                <a:solidFill>
                  <a:srgbClr val="FFFFFF"/>
                </a:solidFill>
                <a:latin typeface="Calibri"/>
              </a:rPr>
              <a:t>Marcelo Salazar</a:t>
            </a:r>
            <a:endParaRPr lang="es-ES" sz="2000"/>
          </a:p>
        </p:txBody>
      </p:sp>
      <p:sp>
        <p:nvSpPr>
          <p:cNvPr id="7" name="Marco curvas"/>
          <p:cNvSpPr/>
          <p:nvPr/>
        </p:nvSpPr>
        <p:spPr>
          <a:xfrm>
            <a:off x="6675120" y="1188720"/>
            <a:ext cx="4937760" cy="4480560"/>
          </a:xfrm>
          <a:prstGeom prst="roundRect">
            <a:avLst>
              <a:gd name="adj" fmla="val 3061"/>
            </a:avLst>
          </a:prstGeom>
          <a:solidFill>
            <a:srgbClr val="2A3D61"/>
          </a:solidFill>
          <a:ln>
            <a:noFill/>
          </a:ln>
        </p:spPr>
        <p:txBody>
          <a:bodyPr rtlCol="0" anchor="ctr" wrap="square" lIns="73152" rIns="73152" tIns="73152" bIns="73152">
            <a:noAutofit/>
          </a:bodyPr>
          <a:lstStyle/>
          <a:p>
            <a:pPr algn="ctr"/>
          </a:p>
        </p:txBody>
      </p:sp>
      <p:cxnSp>
        <p:nvCxnSpPr>
          <p:cNvPr id="8" name="Connector 7"/>
          <p:cNvCxnSpPr/>
          <p:nvPr/>
        </p:nvCxnSpPr>
        <p:spPr>
          <a:xfrm>
            <a:off x="7086600" y="4937759"/>
            <a:ext cx="4114800" cy="0"/>
          </a:xfrm>
          <a:prstGeom prst="line">
            <a:avLst/>
          </a:prstGeom>
          <a:ln w="9525">
            <a:solidFill>
              <a:srgbClr val="3A4F78"/>
            </a:solidFill>
          </a:ln>
        </p:spPr>
      </p:cxnSp>
      <p:cxnSp>
        <p:nvCxnSpPr>
          <p:cNvPr id="9" name="Connector 8"/>
          <p:cNvCxnSpPr/>
          <p:nvPr/>
        </p:nvCxnSpPr>
        <p:spPr>
          <a:xfrm>
            <a:off x="7086600" y="4126229"/>
            <a:ext cx="4114800" cy="0"/>
          </a:xfrm>
          <a:prstGeom prst="line">
            <a:avLst/>
          </a:prstGeom>
          <a:ln w="9525">
            <a:solidFill>
              <a:srgbClr val="3A4F78"/>
            </a:solidFill>
          </a:ln>
        </p:spPr>
      </p:cxnSp>
      <p:cxnSp>
        <p:nvCxnSpPr>
          <p:cNvPr id="10" name="Connector 9"/>
          <p:cNvCxnSpPr/>
          <p:nvPr/>
        </p:nvCxnSpPr>
        <p:spPr>
          <a:xfrm>
            <a:off x="7086600" y="3314699"/>
            <a:ext cx="4114800" cy="0"/>
          </a:xfrm>
          <a:prstGeom prst="line">
            <a:avLst/>
          </a:prstGeom>
          <a:ln w="9525">
            <a:solidFill>
              <a:srgbClr val="3A4F78"/>
            </a:solidFill>
          </a:ln>
        </p:spPr>
      </p:cxnSp>
      <p:cxnSp>
        <p:nvCxnSpPr>
          <p:cNvPr id="11" name="Connector 10"/>
          <p:cNvCxnSpPr/>
          <p:nvPr/>
        </p:nvCxnSpPr>
        <p:spPr>
          <a:xfrm>
            <a:off x="7086600" y="2503170"/>
            <a:ext cx="4114800" cy="0"/>
          </a:xfrm>
          <a:prstGeom prst="line">
            <a:avLst/>
          </a:prstGeom>
          <a:ln w="9525">
            <a:solidFill>
              <a:srgbClr val="3A4F78"/>
            </a:solidFill>
          </a:ln>
        </p:spPr>
      </p:cxnSp>
      <p:cxnSp>
        <p:nvCxnSpPr>
          <p:cNvPr id="12" name="Connector 11"/>
          <p:cNvCxnSpPr/>
          <p:nvPr/>
        </p:nvCxnSpPr>
        <p:spPr>
          <a:xfrm>
            <a:off x="7086600" y="1691639"/>
            <a:ext cx="4114800" cy="0"/>
          </a:xfrm>
          <a:prstGeom prst="line">
            <a:avLst/>
          </a:prstGeom>
          <a:ln w="9525">
            <a:solidFill>
              <a:srgbClr val="3A4F78"/>
            </a:solidFill>
          </a:ln>
        </p:spPr>
      </p:cxnSp>
      <p:sp>
        <p:nvSpPr>
          <p:cNvPr id="13" name="Freeform 12"/>
          <p:cNvSpPr/>
          <p:nvPr/>
        </p:nvSpPr>
        <p:spPr>
          <a:xfrm>
            <a:off x="7086600" y="1748627"/>
            <a:ext cx="4114800" cy="3189132"/>
          </a:xfrm>
          <a:custGeom>
            <a:avLst/>
            <a:gdLst/>
            <a:ahLst/>
            <a:cxnLst/>
            <a:rect l="l" t="t" r="r" b="b"/>
            <a:pathLst>
              <a:path w="4114800" h="3189132">
                <a:moveTo>
                  <a:pt x="0" y="3189132"/>
                </a:moveTo>
                <a:lnTo>
                  <a:pt x="68580" y="3184155"/>
                </a:lnTo>
                <a:lnTo>
                  <a:pt x="137160" y="3178817"/>
                </a:lnTo>
                <a:lnTo>
                  <a:pt x="205740" y="3165327"/>
                </a:lnTo>
                <a:lnTo>
                  <a:pt x="274320" y="3150684"/>
                </a:lnTo>
                <a:lnTo>
                  <a:pt x="342900" y="3125869"/>
                </a:lnTo>
                <a:lnTo>
                  <a:pt x="411480" y="3122406"/>
                </a:lnTo>
                <a:lnTo>
                  <a:pt x="480060" y="3088719"/>
                </a:lnTo>
                <a:lnTo>
                  <a:pt x="548640" y="3050198"/>
                </a:lnTo>
                <a:lnTo>
                  <a:pt x="617220" y="3025672"/>
                </a:lnTo>
                <a:lnTo>
                  <a:pt x="685800" y="3000641"/>
                </a:lnTo>
                <a:lnTo>
                  <a:pt x="754380" y="2976114"/>
                </a:lnTo>
                <a:lnTo>
                  <a:pt x="822960" y="2949208"/>
                </a:lnTo>
                <a:lnTo>
                  <a:pt x="891540" y="2923311"/>
                </a:lnTo>
                <a:lnTo>
                  <a:pt x="960120" y="2900949"/>
                </a:lnTo>
                <a:lnTo>
                  <a:pt x="1028700" y="2866540"/>
                </a:lnTo>
                <a:lnTo>
                  <a:pt x="1097280" y="2831770"/>
                </a:lnTo>
                <a:lnTo>
                  <a:pt x="1165860" y="2798588"/>
                </a:lnTo>
                <a:lnTo>
                  <a:pt x="1234440" y="2763818"/>
                </a:lnTo>
                <a:lnTo>
                  <a:pt x="1303020" y="2701637"/>
                </a:lnTo>
                <a:lnTo>
                  <a:pt x="1371600" y="2635128"/>
                </a:lnTo>
                <a:lnTo>
                  <a:pt x="1440180" y="2568618"/>
                </a:lnTo>
                <a:lnTo>
                  <a:pt x="1508760" y="2505139"/>
                </a:lnTo>
                <a:lnTo>
                  <a:pt x="1577340" y="2413887"/>
                </a:lnTo>
                <a:lnTo>
                  <a:pt x="1645920" y="2316864"/>
                </a:lnTo>
                <a:lnTo>
                  <a:pt x="1714500" y="2226838"/>
                </a:lnTo>
                <a:lnTo>
                  <a:pt x="1783080" y="2169634"/>
                </a:lnTo>
                <a:lnTo>
                  <a:pt x="1851660" y="2124549"/>
                </a:lnTo>
                <a:lnTo>
                  <a:pt x="1920240" y="2085379"/>
                </a:lnTo>
                <a:lnTo>
                  <a:pt x="1988820" y="2004659"/>
                </a:lnTo>
                <a:lnTo>
                  <a:pt x="2057400" y="1721165"/>
                </a:lnTo>
                <a:lnTo>
                  <a:pt x="2125980" y="1640589"/>
                </a:lnTo>
                <a:lnTo>
                  <a:pt x="2194560" y="1253723"/>
                </a:lnTo>
                <a:lnTo>
                  <a:pt x="2263140" y="1181083"/>
                </a:lnTo>
                <a:lnTo>
                  <a:pt x="2331720" y="1111327"/>
                </a:lnTo>
                <a:lnTo>
                  <a:pt x="2400300" y="1022744"/>
                </a:lnTo>
                <a:lnTo>
                  <a:pt x="2468880" y="936397"/>
                </a:lnTo>
                <a:lnTo>
                  <a:pt x="2537460" y="841899"/>
                </a:lnTo>
                <a:lnTo>
                  <a:pt x="2606040" y="759664"/>
                </a:lnTo>
                <a:lnTo>
                  <a:pt x="2674620" y="669206"/>
                </a:lnTo>
                <a:lnTo>
                  <a:pt x="2743200" y="582859"/>
                </a:lnTo>
                <a:lnTo>
                  <a:pt x="2811780" y="488361"/>
                </a:lnTo>
                <a:lnTo>
                  <a:pt x="2880360" y="403889"/>
                </a:lnTo>
                <a:lnTo>
                  <a:pt x="2948940" y="354693"/>
                </a:lnTo>
                <a:lnTo>
                  <a:pt x="3017520" y="303332"/>
                </a:lnTo>
                <a:lnTo>
                  <a:pt x="3086100" y="258608"/>
                </a:lnTo>
                <a:lnTo>
                  <a:pt x="3154680" y="217057"/>
                </a:lnTo>
                <a:lnTo>
                  <a:pt x="3223260" y="175002"/>
                </a:lnTo>
                <a:lnTo>
                  <a:pt x="3291840" y="139150"/>
                </a:lnTo>
                <a:lnTo>
                  <a:pt x="3360420" y="113326"/>
                </a:lnTo>
                <a:lnTo>
                  <a:pt x="3429000" y="89088"/>
                </a:lnTo>
                <a:lnTo>
                  <a:pt x="3497580" y="56555"/>
                </a:lnTo>
                <a:lnTo>
                  <a:pt x="3566160" y="41839"/>
                </a:lnTo>
                <a:lnTo>
                  <a:pt x="3634740" y="24743"/>
                </a:lnTo>
                <a:lnTo>
                  <a:pt x="3703320" y="17313"/>
                </a:lnTo>
                <a:lnTo>
                  <a:pt x="3771900" y="9306"/>
                </a:lnTo>
                <a:lnTo>
                  <a:pt x="3840480" y="5194"/>
                </a:lnTo>
                <a:lnTo>
                  <a:pt x="3909060" y="1948"/>
                </a:lnTo>
                <a:lnTo>
                  <a:pt x="3977640" y="0"/>
                </a:lnTo>
                <a:lnTo>
                  <a:pt x="4046220" y="0"/>
                </a:lnTo>
                <a:lnTo>
                  <a:pt x="4114800" y="0"/>
                </a:lnTo>
              </a:path>
            </a:pathLst>
          </a:custGeom>
          <a:noFill/>
          <a:ln w="41275">
            <a:solidFill>
              <a:srgbClr val="8FB3EA"/>
            </a:solidFill>
          </a:ln>
        </p:spPr>
        <p:txBody>
          <a:bodyPr rtlCol="0" anchor="ctr"/>
          <a:lstStyle/>
          <a:p>
            <a:pPr algn="ctr"/>
          </a:p>
        </p:txBody>
      </p:sp>
      <p:sp>
        <p:nvSpPr>
          <p:cNvPr id="14" name="Freeform 13"/>
          <p:cNvSpPr/>
          <p:nvPr/>
        </p:nvSpPr>
        <p:spPr>
          <a:xfrm>
            <a:off x="7086600" y="3964547"/>
            <a:ext cx="1645920" cy="973212"/>
          </a:xfrm>
          <a:custGeom>
            <a:avLst/>
            <a:gdLst/>
            <a:ahLst/>
            <a:cxnLst/>
            <a:rect l="l" t="t" r="r" b="b"/>
            <a:pathLst>
              <a:path w="1645920" h="973212">
                <a:moveTo>
                  <a:pt x="0" y="973212"/>
                </a:moveTo>
                <a:lnTo>
                  <a:pt x="68580" y="969341"/>
                </a:lnTo>
                <a:lnTo>
                  <a:pt x="137160" y="963326"/>
                </a:lnTo>
                <a:lnTo>
                  <a:pt x="205740" y="951617"/>
                </a:lnTo>
                <a:lnTo>
                  <a:pt x="274320" y="928221"/>
                </a:lnTo>
                <a:lnTo>
                  <a:pt x="342900" y="908924"/>
                </a:lnTo>
                <a:lnTo>
                  <a:pt x="411479" y="895352"/>
                </a:lnTo>
                <a:lnTo>
                  <a:pt x="480060" y="869230"/>
                </a:lnTo>
                <a:lnTo>
                  <a:pt x="548640" y="844744"/>
                </a:lnTo>
                <a:lnTo>
                  <a:pt x="617220" y="823787"/>
                </a:lnTo>
                <a:lnTo>
                  <a:pt x="685800" y="798841"/>
                </a:lnTo>
                <a:lnTo>
                  <a:pt x="754379" y="778095"/>
                </a:lnTo>
                <a:lnTo>
                  <a:pt x="822960" y="752822"/>
                </a:lnTo>
                <a:lnTo>
                  <a:pt x="891540" y="729091"/>
                </a:lnTo>
                <a:lnTo>
                  <a:pt x="960120" y="709428"/>
                </a:lnTo>
                <a:lnTo>
                  <a:pt x="1028700" y="678389"/>
                </a:lnTo>
                <a:lnTo>
                  <a:pt x="1097279" y="645871"/>
                </a:lnTo>
                <a:lnTo>
                  <a:pt x="1165860" y="614054"/>
                </a:lnTo>
                <a:lnTo>
                  <a:pt x="1234440" y="584122"/>
                </a:lnTo>
                <a:lnTo>
                  <a:pt x="1303020" y="526128"/>
                </a:lnTo>
                <a:lnTo>
                  <a:pt x="1371600" y="464940"/>
                </a:lnTo>
                <a:lnTo>
                  <a:pt x="1440180" y="366824"/>
                </a:lnTo>
                <a:lnTo>
                  <a:pt x="1508760" y="265943"/>
                </a:lnTo>
                <a:lnTo>
                  <a:pt x="1577340" y="136251"/>
                </a:lnTo>
                <a:lnTo>
                  <a:pt x="1645920" y="0"/>
                </a:lnTo>
              </a:path>
            </a:pathLst>
          </a:custGeom>
          <a:noFill/>
          <a:ln w="41275">
            <a:solidFill>
              <a:srgbClr val="F08A7E"/>
            </a:solidFill>
          </a:ln>
        </p:spPr>
        <p:txBody>
          <a:bodyPr rtlCol="0" anchor="ctr"/>
          <a:lstStyle/>
          <a:p>
            <a:pPr algn="ctr"/>
          </a:p>
        </p:txBody>
      </p:sp>
      <p:sp>
        <p:nvSpPr>
          <p:cNvPr id="15" name="Freeform 14"/>
          <p:cNvSpPr/>
          <p:nvPr/>
        </p:nvSpPr>
        <p:spPr>
          <a:xfrm>
            <a:off x="7086600" y="4202655"/>
            <a:ext cx="1645920" cy="735104"/>
          </a:xfrm>
          <a:custGeom>
            <a:avLst/>
            <a:gdLst/>
            <a:ahLst/>
            <a:cxnLst/>
            <a:rect l="l" t="t" r="r" b="b"/>
            <a:pathLst>
              <a:path w="1645920" h="735104">
                <a:moveTo>
                  <a:pt x="0" y="735104"/>
                </a:moveTo>
                <a:lnTo>
                  <a:pt x="68580" y="732277"/>
                </a:lnTo>
                <a:lnTo>
                  <a:pt x="137160" y="729124"/>
                </a:lnTo>
                <a:lnTo>
                  <a:pt x="205740" y="712993"/>
                </a:lnTo>
                <a:lnTo>
                  <a:pt x="274320" y="709486"/>
                </a:lnTo>
                <a:lnTo>
                  <a:pt x="342900" y="693154"/>
                </a:lnTo>
                <a:lnTo>
                  <a:pt x="411479" y="689647"/>
                </a:lnTo>
                <a:lnTo>
                  <a:pt x="480060" y="658712"/>
                </a:lnTo>
                <a:lnTo>
                  <a:pt x="548640" y="639891"/>
                </a:lnTo>
                <a:lnTo>
                  <a:pt x="617220" y="597106"/>
                </a:lnTo>
                <a:lnTo>
                  <a:pt x="685800" y="576935"/>
                </a:lnTo>
                <a:lnTo>
                  <a:pt x="754379" y="558759"/>
                </a:lnTo>
                <a:lnTo>
                  <a:pt x="822960" y="537732"/>
                </a:lnTo>
                <a:lnTo>
                  <a:pt x="891540" y="516183"/>
                </a:lnTo>
                <a:lnTo>
                  <a:pt x="960120" y="496988"/>
                </a:lnTo>
                <a:lnTo>
                  <a:pt x="1028700" y="468242"/>
                </a:lnTo>
                <a:lnTo>
                  <a:pt x="1097279" y="436765"/>
                </a:lnTo>
                <a:lnTo>
                  <a:pt x="1165860" y="407678"/>
                </a:lnTo>
                <a:lnTo>
                  <a:pt x="1234440" y="378292"/>
                </a:lnTo>
                <a:lnTo>
                  <a:pt x="1303020" y="324778"/>
                </a:lnTo>
                <a:lnTo>
                  <a:pt x="1371600" y="266754"/>
                </a:lnTo>
                <a:lnTo>
                  <a:pt x="1440180" y="210931"/>
                </a:lnTo>
                <a:lnTo>
                  <a:pt x="1508760" y="155081"/>
                </a:lnTo>
                <a:lnTo>
                  <a:pt x="1577340" y="79024"/>
                </a:lnTo>
                <a:lnTo>
                  <a:pt x="1645920" y="0"/>
                </a:lnTo>
              </a:path>
            </a:pathLst>
          </a:custGeom>
          <a:noFill/>
          <a:ln w="41275">
            <a:solidFill>
              <a:srgbClr val="93D07F"/>
            </a:solidFill>
          </a:ln>
        </p:spPr>
        <p:txBody>
          <a:bodyPr rtlCol="0" anchor="ctr"/>
          <a:lstStyle/>
          <a:p>
            <a:pPr algn="ctr"/>
          </a:p>
        </p:txBody>
      </p:sp>
      <p:sp>
        <p:nvSpPr>
          <p:cNvPr id="16" name="TextBox 15"/>
          <p:cNvSpPr txBox="1"/>
          <p:nvPr/>
        </p:nvSpPr>
        <p:spPr>
          <a:xfrm>
            <a:off x="10241280" y="1337147"/>
            <a:ext cx="1005840" cy="320040"/>
          </a:xfrm>
          <a:prstGeom prst="rect">
            <a:avLst/>
          </a:prstGeom>
          <a:noFill/>
        </p:spPr>
        <p:txBody>
          <a:bodyPr wrap="square" lIns="0" rIns="0" tIns="0" bIns="0" anchor="t">
            <a:noAutofit/>
          </a:bodyPr>
          <a:lstStyle/>
          <a:p>
            <a:pPr algn="r"/>
            <a:r>
              <a:rPr sz="1600" b="1" i="0" lang="es-ES">
                <a:solidFill>
                  <a:srgbClr val="8FB3EA"/>
                </a:solidFill>
                <a:latin typeface="Calibri"/>
              </a:rPr>
              <a:t>PV</a:t>
            </a:r>
            <a:endParaRPr lang="es-ES" sz="1600"/>
          </a:p>
        </p:txBody>
      </p:sp>
      <p:sp>
        <p:nvSpPr>
          <p:cNvPr id="17" name="TextBox 16"/>
          <p:cNvSpPr txBox="1"/>
          <p:nvPr/>
        </p:nvSpPr>
        <p:spPr>
          <a:xfrm>
            <a:off x="6949440" y="5257800"/>
            <a:ext cx="4480560" cy="274320"/>
          </a:xfrm>
          <a:prstGeom prst="rect">
            <a:avLst/>
          </a:prstGeom>
          <a:noFill/>
        </p:spPr>
        <p:txBody>
          <a:bodyPr wrap="square" lIns="0" rIns="0" tIns="0" bIns="0" anchor="t">
            <a:noAutofit/>
          </a:bodyPr>
          <a:lstStyle/>
          <a:p>
            <a:pPr algn="l"/>
            <a:r>
              <a:rPr sz="1200" b="1" i="0" lang="es-ES">
                <a:solidFill>
                  <a:srgbClr val="8FB3EA"/>
                </a:solidFill>
                <a:latin typeface="Calibri"/>
              </a:rPr>
              <a:t>PV</a:t>
            </a:r>
            <a:r>
              <a:rPr sz="1200" b="0" i="0" lang="es-ES">
                <a:solidFill>
                  <a:srgbClr val="C9D3E3"/>
                </a:solidFill>
                <a:latin typeface="Calibri"/>
              </a:rPr>
              <a:t> Planned Value   </a:t>
            </a:r>
            <a:r>
              <a:rPr sz="1200" b="1" i="0" lang="es-ES">
                <a:solidFill>
                  <a:srgbClr val="93D07F"/>
                </a:solidFill>
                <a:latin typeface="Calibri"/>
              </a:rPr>
              <a:t>EV</a:t>
            </a:r>
            <a:r>
              <a:rPr sz="1200" b="0" i="0" lang="es-ES">
                <a:solidFill>
                  <a:srgbClr val="C9D3E3"/>
                </a:solidFill>
                <a:latin typeface="Calibri"/>
              </a:rPr>
              <a:t> Earned Value   </a:t>
            </a:r>
            <a:r>
              <a:rPr sz="1200" b="1" i="0" lang="es-ES">
                <a:solidFill>
                  <a:srgbClr val="F08A7E"/>
                </a:solidFill>
                <a:latin typeface="Calibri"/>
              </a:rPr>
              <a:t>AC</a:t>
            </a:r>
            <a:r>
              <a:rPr sz="1200" b="0" i="0" lang="es-ES">
                <a:solidFill>
                  <a:srgbClr val="C9D3E3"/>
                </a:solidFill>
                <a:latin typeface="Calibri"/>
              </a:rPr>
              <a:t> Actual Cost</a:t>
            </a:r>
            <a:endParaRPr lang="es-ES" sz="1200"/>
          </a:p>
        </p:txBody>
      </p:sp>
      <p:sp>
        <p:nvSpPr>
          <p:cNvPr id="18" name="TextBox 17"/>
          <p:cNvSpPr txBox="1"/>
          <p:nvPr/>
        </p:nvSpPr>
        <p:spPr>
          <a:xfrm>
            <a:off x="6949440" y="1371600"/>
            <a:ext cx="4389120" cy="274320"/>
          </a:xfrm>
          <a:prstGeom prst="rect">
            <a:avLst/>
          </a:prstGeom>
          <a:noFill/>
        </p:spPr>
        <p:txBody>
          <a:bodyPr wrap="square" lIns="0" rIns="0" tIns="0" bIns="0" anchor="t">
            <a:noAutofit/>
          </a:bodyPr>
          <a:lstStyle/>
          <a:p>
            <a:pPr algn="l"/>
            <a:r>
              <a:rPr sz="1100" b="0" i="0" lang="es-ES">
                <a:solidFill>
                  <a:srgbClr val="C9D3E3"/>
                </a:solidFill>
                <a:latin typeface="Calibri"/>
              </a:rPr>
              <a:t>Proyecto de ejemplo · millones de euros acumulados</a:t>
            </a:r>
            <a:endParaRPr lang="es-ES" sz="110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Del cierre manual al cierre automatizado</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PUNTO DE PARTIDA</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2</a:t>
            </a:fld>
            <a:endParaRPr lang="es-ES" sz="1000"/>
          </a:p>
        </p:txBody>
      </p:sp>
      <p:sp>
        <p:nvSpPr>
          <p:cNvPr id="6" name="Rounded Rectangle 5"/>
          <p:cNvSpPr/>
          <p:nvPr/>
        </p:nvSpPr>
        <p:spPr>
          <a:xfrm>
            <a:off x="548640" y="1508760"/>
            <a:ext cx="5029200" cy="3749039"/>
          </a:xfrm>
          <a:prstGeom prst="roundRect">
            <a:avLst>
              <a:gd name="adj" fmla="val 2926"/>
            </a:avLst>
          </a:prstGeom>
          <a:solidFill>
            <a:srgbClr val="F3F5F9"/>
          </a:solidFill>
          <a:ln>
            <a:noFill/>
          </a:ln>
        </p:spPr>
        <p:txBody>
          <a:bodyPr rtlCol="0" anchor="ctr" wrap="square" lIns="73152" rIns="73152" tIns="73152" bIns="73152">
            <a:noAutofit/>
          </a:bodyPr>
          <a:lstStyle/>
          <a:p>
            <a:pPr algn="ctr"/>
          </a:p>
        </p:txBody>
      </p:sp>
      <p:sp>
        <p:nvSpPr>
          <p:cNvPr id="7" name="TextBox 6"/>
          <p:cNvSpPr txBox="1"/>
          <p:nvPr/>
        </p:nvSpPr>
        <p:spPr>
          <a:xfrm>
            <a:off x="868680" y="1737360"/>
            <a:ext cx="4480560" cy="411480"/>
          </a:xfrm>
          <a:prstGeom prst="rect">
            <a:avLst/>
          </a:prstGeom>
          <a:noFill/>
        </p:spPr>
        <p:txBody>
          <a:bodyPr wrap="square" lIns="0" rIns="0" tIns="0" bIns="0" anchor="t">
            <a:noAutofit/>
          </a:bodyPr>
          <a:lstStyle/>
          <a:p>
            <a:pPr algn="l"/>
            <a:r>
              <a:rPr sz="2000" b="1" i="0" lang="es-ES">
                <a:solidFill>
                  <a:srgbClr val="5A6577"/>
                </a:solidFill>
                <a:latin typeface="Calibri"/>
              </a:rPr>
              <a:t>Cierre manual</a:t>
            </a:r>
            <a:endParaRPr lang="es-ES" sz="2000"/>
          </a:p>
        </p:txBody>
      </p:sp>
      <p:sp>
        <p:nvSpPr>
          <p:cNvPr id="8" name="TextBox 7"/>
          <p:cNvSpPr txBox="1"/>
          <p:nvPr/>
        </p:nvSpPr>
        <p:spPr>
          <a:xfrm>
            <a:off x="868680" y="2286000"/>
            <a:ext cx="4480560" cy="2011680"/>
          </a:xfrm>
          <a:prstGeom prst="rect">
            <a:avLst/>
          </a:prstGeom>
          <a:noFill/>
        </p:spPr>
        <p:txBody>
          <a:bodyPr wrap="square" lIns="0" rIns="0" tIns="0" bIns="0" anchor="t">
            <a:noAutofit/>
          </a:bodyPr>
          <a:lstStyle/>
          <a:p>
            <a:pPr algn="l" marL="201168" indent="-201168">
              <a:spcAft>
                <a:spcPts val="800"/>
              </a:spcAft>
              <a:buClr>
                <a:srgbClr val="5A6577"/>
              </a:buClr>
              <a:buFont typeface="Arial"/>
              <a:buChar char="•"/>
            </a:pPr>
            <a:r>
              <a:rPr sz="1600" b="0" i="0" lang="es-ES">
                <a:solidFill>
                  <a:srgbClr val="1B2B48"/>
                </a:solidFill>
                <a:latin typeface="Calibri"/>
              </a:rPr>
              <a:t>Repartir a mano el presupuesto de cada paquete por meses</a:t>
            </a:r>
            <a:endParaRPr lang="es-ES" sz="1600"/>
          </a:p>
          <a:p>
            <a:pPr algn="l" marL="201168" indent="-201168">
              <a:spcAft>
                <a:spcPts val="800"/>
              </a:spcAft>
              <a:buClr>
                <a:srgbClr val="5A6577"/>
              </a:buClr>
              <a:buFont typeface="Arial"/>
              <a:buChar char="•"/>
            </a:pPr>
            <a:r>
              <a:rPr sz="1600" b="0" i="0" lang="es-ES">
                <a:solidFill>
                  <a:srgbClr val="1B2B48"/>
                </a:solidFill>
                <a:latin typeface="Calibri"/>
              </a:rPr>
              <a:t>Calcular el EV paquete a paquete</a:t>
            </a:r>
            <a:endParaRPr lang="es-ES" sz="1600"/>
          </a:p>
          <a:p>
            <a:pPr algn="l" marL="201168" indent="-201168">
              <a:spcAft>
                <a:spcPts val="800"/>
              </a:spcAft>
              <a:buClr>
                <a:srgbClr val="5A6577"/>
              </a:buClr>
              <a:buFont typeface="Arial"/>
              <a:buChar char="•"/>
            </a:pPr>
            <a:r>
              <a:rPr sz="1600" b="0" i="0" lang="es-ES">
                <a:solidFill>
                  <a:srgbClr val="1B2B48"/>
                </a:solidFill>
                <a:latin typeface="Calibri"/>
              </a:rPr>
              <a:t>Copiar avances y costos entre archivos</a:t>
            </a:r>
            <a:endParaRPr lang="es-ES" sz="1600"/>
          </a:p>
          <a:p>
            <a:pPr algn="l" marL="201168" indent="-201168">
              <a:buClr>
                <a:srgbClr val="5A6577"/>
              </a:buClr>
              <a:buFont typeface="Arial"/>
              <a:buChar char="•"/>
            </a:pPr>
            <a:r>
              <a:rPr sz="1600" b="0" i="0" lang="es-ES">
                <a:solidFill>
                  <a:srgbClr val="1B2B48"/>
                </a:solidFill>
                <a:latin typeface="Calibri"/>
              </a:rPr>
              <a:t>Rehacer tablas y gráficos cada mes</a:t>
            </a:r>
            <a:endParaRPr lang="es-ES" sz="1600"/>
          </a:p>
        </p:txBody>
      </p:sp>
      <p:sp>
        <p:nvSpPr>
          <p:cNvPr id="9" name="Rounded Rectangle 8"/>
          <p:cNvSpPr/>
          <p:nvPr/>
        </p:nvSpPr>
        <p:spPr>
          <a:xfrm>
            <a:off x="868680" y="4434840"/>
            <a:ext cx="4389120" cy="548640"/>
          </a:xfrm>
          <a:prstGeom prst="roundRect">
            <a:avLst>
              <a:gd name="adj" fmla="val 16666"/>
            </a:avLst>
          </a:prstGeom>
          <a:solidFill>
            <a:srgbClr val="FBE4E1"/>
          </a:solidFill>
          <a:ln>
            <a:noFill/>
          </a:ln>
        </p:spPr>
        <p:txBody>
          <a:bodyPr rtlCol="0" anchor="ctr" wrap="square" lIns="73152" rIns="73152" tIns="73152" bIns="73152">
            <a:noAutofit/>
          </a:bodyPr>
          <a:lstStyle/>
          <a:p>
            <a:pPr algn="ctr"/>
            <a:r>
              <a:rPr sz="1400" b="1" i="0" lang="es-ES">
                <a:solidFill>
                  <a:srgbClr val="C0392B"/>
                </a:solidFill>
                <a:latin typeface="Calibri"/>
              </a:rPr>
              <a:t>Horas de preparación, errores de copia y poco tiempo para analizar</a:t>
            </a:r>
            <a:endParaRPr lang="es-ES" sz="1400"/>
          </a:p>
        </p:txBody>
      </p:sp>
      <p:sp>
        <p:nvSpPr>
          <p:cNvPr id="10" name="Flecha"/>
          <p:cNvSpPr/>
          <p:nvPr/>
        </p:nvSpPr>
        <p:spPr>
          <a:xfrm>
            <a:off x="5715000" y="2971800"/>
            <a:ext cx="777240" cy="777240"/>
          </a:xfrm>
          <a:prstGeom prst="rightArrow">
            <a:avLst/>
          </a:prstGeom>
          <a:solidFill>
            <a:srgbClr val="F2B134"/>
          </a:solidFill>
          <a:ln>
            <a:noFill/>
          </a:ln>
        </p:spPr>
        <p:txBody>
          <a:bodyPr rtlCol="0" anchor="ctr" wrap="square" lIns="73152" rIns="73152" tIns="73152" bIns="73152">
            <a:noAutofit/>
          </a:bodyPr>
          <a:lstStyle/>
          <a:p>
            <a:pPr algn="ctr"/>
          </a:p>
        </p:txBody>
      </p:sp>
      <p:sp>
        <p:nvSpPr>
          <p:cNvPr id="11" name="Rounded Rectangle 10"/>
          <p:cNvSpPr/>
          <p:nvPr/>
        </p:nvSpPr>
        <p:spPr>
          <a:xfrm>
            <a:off x="6629400" y="1508760"/>
            <a:ext cx="5029200" cy="3749039"/>
          </a:xfrm>
          <a:prstGeom prst="roundRect">
            <a:avLst>
              <a:gd name="adj" fmla="val 2926"/>
            </a:avLst>
          </a:prstGeom>
          <a:solidFill>
            <a:srgbClr val="FFFFFF"/>
          </a:solidFill>
          <a:ln w="19050">
            <a:solidFill>
              <a:srgbClr val="2F5597"/>
            </a:solidFill>
          </a:ln>
        </p:spPr>
        <p:txBody>
          <a:bodyPr rtlCol="0" anchor="ctr" wrap="square" lIns="73152" rIns="73152" tIns="73152" bIns="73152">
            <a:noAutofit/>
          </a:bodyPr>
          <a:lstStyle/>
          <a:p>
            <a:pPr algn="ctr"/>
          </a:p>
        </p:txBody>
      </p:sp>
      <p:sp>
        <p:nvSpPr>
          <p:cNvPr id="12" name="TextBox 11"/>
          <p:cNvSpPr txBox="1"/>
          <p:nvPr/>
        </p:nvSpPr>
        <p:spPr>
          <a:xfrm>
            <a:off x="6949440" y="1737360"/>
            <a:ext cx="4480560" cy="411480"/>
          </a:xfrm>
          <a:prstGeom prst="rect">
            <a:avLst/>
          </a:prstGeom>
          <a:noFill/>
        </p:spPr>
        <p:txBody>
          <a:bodyPr wrap="square" lIns="0" rIns="0" tIns="0" bIns="0" anchor="t">
            <a:noAutofit/>
          </a:bodyPr>
          <a:lstStyle/>
          <a:p>
            <a:pPr algn="l"/>
            <a:r>
              <a:rPr sz="2000" b="1" i="0" lang="es-ES">
                <a:solidFill>
                  <a:srgbClr val="2F5597"/>
                </a:solidFill>
                <a:latin typeface="Calibri"/>
              </a:rPr>
              <a:t>Con el Exportador EVM</a:t>
            </a:r>
            <a:endParaRPr lang="es-ES" sz="2000"/>
          </a:p>
        </p:txBody>
      </p:sp>
      <p:sp>
        <p:nvSpPr>
          <p:cNvPr id="13" name="TextBox 12"/>
          <p:cNvSpPr txBox="1"/>
          <p:nvPr/>
        </p:nvSpPr>
        <p:spPr>
          <a:xfrm>
            <a:off x="6949440" y="2286000"/>
            <a:ext cx="4480560" cy="2011680"/>
          </a:xfrm>
          <a:prstGeom prst="rect">
            <a:avLst/>
          </a:prstGeom>
          <a:noFill/>
        </p:spPr>
        <p:txBody>
          <a:bodyPr wrap="square" lIns="0" rIns="0" tIns="0" bIns="0" anchor="t">
            <a:noAutofit/>
          </a:bodyPr>
          <a:lstStyle/>
          <a:p>
            <a:pPr algn="l" marL="201168" indent="-201168">
              <a:spcAft>
                <a:spcPts val="800"/>
              </a:spcAft>
              <a:buClr>
                <a:srgbClr val="2F5597"/>
              </a:buClr>
              <a:buFont typeface="Arial"/>
              <a:buChar char="•"/>
            </a:pPr>
            <a:r>
              <a:rPr sz="1600" b="0" i="0" lang="es-ES">
                <a:solidFill>
                  <a:srgbClr val="1B2B48"/>
                </a:solidFill>
                <a:latin typeface="Calibri"/>
              </a:rPr>
              <a:t>% planificado y ganado calculados con los datos de MS Project</a:t>
            </a:r>
            <a:endParaRPr lang="es-ES" sz="1600"/>
          </a:p>
          <a:p>
            <a:pPr algn="l" marL="201168" indent="-201168">
              <a:spcAft>
                <a:spcPts val="800"/>
              </a:spcAft>
              <a:buClr>
                <a:srgbClr val="2F5597"/>
              </a:buClr>
              <a:buFont typeface="Arial"/>
              <a:buChar char="•"/>
            </a:pPr>
            <a:r>
              <a:rPr sz="1600" b="0" i="0" lang="es-ES">
                <a:solidFill>
                  <a:srgbClr val="1B2B48"/>
                </a:solidFill>
                <a:latin typeface="Calibri"/>
              </a:rPr>
              <a:t>EV de cada paquete según su método de medición</a:t>
            </a:r>
            <a:endParaRPr lang="es-ES" sz="1600"/>
          </a:p>
          <a:p>
            <a:pPr algn="l" marL="201168" indent="-201168">
              <a:spcAft>
                <a:spcPts val="800"/>
              </a:spcAft>
              <a:buClr>
                <a:srgbClr val="2F5597"/>
              </a:buClr>
              <a:buFont typeface="Arial"/>
              <a:buChar char="•"/>
            </a:pPr>
            <a:r>
              <a:rPr sz="1600" b="0" i="0" lang="es-ES">
                <a:solidFill>
                  <a:srgbClr val="1B2B48"/>
                </a:solidFill>
                <a:latin typeface="Calibri"/>
              </a:rPr>
              <a:t>Indicadores, pronósticos y gráficos con fórmulas de Excel</a:t>
            </a:r>
            <a:endParaRPr lang="es-ES" sz="1600"/>
          </a:p>
          <a:p>
            <a:pPr algn="l" marL="201168" indent="-201168">
              <a:buClr>
                <a:srgbClr val="2F5597"/>
              </a:buClr>
              <a:buFont typeface="Arial"/>
              <a:buChar char="•"/>
            </a:pPr>
            <a:r>
              <a:rPr sz="1600" b="0" i="0" lang="es-ES">
                <a:solidFill>
                  <a:srgbClr val="1B2B48"/>
                </a:solidFill>
                <a:latin typeface="Calibri"/>
              </a:rPr>
              <a:t>Validaciones automáticas del cronograma y del libro</a:t>
            </a:r>
            <a:endParaRPr lang="es-ES" sz="1600"/>
          </a:p>
        </p:txBody>
      </p:sp>
      <p:sp>
        <p:nvSpPr>
          <p:cNvPr id="14" name="Rounded Rectangle 13"/>
          <p:cNvSpPr/>
          <p:nvPr/>
        </p:nvSpPr>
        <p:spPr>
          <a:xfrm>
            <a:off x="6949440" y="4434840"/>
            <a:ext cx="4389120" cy="548640"/>
          </a:xfrm>
          <a:prstGeom prst="roundRect">
            <a:avLst>
              <a:gd name="adj" fmla="val 16666"/>
            </a:avLst>
          </a:prstGeom>
          <a:solidFill>
            <a:srgbClr val="E4F1DF"/>
          </a:solidFill>
          <a:ln>
            <a:noFill/>
          </a:ln>
        </p:spPr>
        <p:txBody>
          <a:bodyPr rtlCol="0" anchor="ctr" wrap="square" lIns="73152" rIns="73152" tIns="73152" bIns="73152">
            <a:noAutofit/>
          </a:bodyPr>
          <a:lstStyle/>
          <a:p>
            <a:pPr algn="ctr"/>
            <a:r>
              <a:rPr sz="1400" b="1" i="0" lang="es-ES">
                <a:solidFill>
                  <a:srgbClr val="4E8A3E"/>
                </a:solidFill>
                <a:latin typeface="Calibri"/>
              </a:rPr>
              <a:t>El tiempo del cierre se dedica a analizar y decidir</a:t>
            </a:r>
            <a:endParaRPr lang="es-ES" sz="1400"/>
          </a:p>
        </p:txBody>
      </p:sp>
      <p:sp>
        <p:nvSpPr>
          <p:cNvPr id="15" name="TextBox 14"/>
          <p:cNvSpPr txBox="1"/>
          <p:nvPr/>
        </p:nvSpPr>
        <p:spPr>
          <a:xfrm>
            <a:off x="548640" y="5577840"/>
            <a:ext cx="11064240" cy="457200"/>
          </a:xfrm>
          <a:prstGeom prst="rect">
            <a:avLst/>
          </a:prstGeom>
          <a:noFill/>
        </p:spPr>
        <p:txBody>
          <a:bodyPr wrap="square" lIns="0" rIns="0" tIns="0" bIns="0" anchor="t">
            <a:noAutofit/>
          </a:bodyPr>
          <a:lstStyle/>
          <a:p>
            <a:pPr algn="ctr"/>
            <a:r>
              <a:rPr sz="1600" b="1" i="0" lang="es-ES">
                <a:solidFill>
                  <a:srgbClr val="1B2B48"/>
                </a:solidFill>
                <a:latin typeface="Calibri"/>
              </a:rPr>
              <a:t>No reemplaza a MS Project ni al Jefe de Proyecto: </a:t>
            </a:r>
            <a:r>
              <a:rPr sz="1600" b="0" i="0" lang="es-ES">
                <a:solidFill>
                  <a:srgbClr val="1B2B48"/>
                </a:solidFill>
                <a:latin typeface="Calibri"/>
              </a:rPr>
              <a:t>automatiza la parte repetitiva del informe.</a:t>
            </a:r>
            <a:endParaRPr lang="es-ES" sz="160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Agenda</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30 MINUTOS</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3</a:t>
            </a:fld>
            <a:endParaRPr lang="es-ES" sz="1000"/>
          </a:p>
        </p:txBody>
      </p:sp>
      <p:sp>
        <p:nvSpPr>
          <p:cNvPr id="6" name="Rounded Rectangle 5"/>
          <p:cNvSpPr/>
          <p:nvPr/>
        </p:nvSpPr>
        <p:spPr>
          <a:xfrm>
            <a:off x="548640" y="1554480"/>
            <a:ext cx="2615184" cy="3246120"/>
          </a:xfrm>
          <a:prstGeom prst="roundRect">
            <a:avLst>
              <a:gd name="adj" fmla="val 4195"/>
            </a:avLst>
          </a:prstGeom>
          <a:solidFill>
            <a:srgbClr val="F3F5F9"/>
          </a:solidFill>
          <a:ln>
            <a:noFill/>
          </a:ln>
        </p:spPr>
        <p:txBody>
          <a:bodyPr rtlCol="0" anchor="ctr" wrap="square" lIns="73152" rIns="73152" tIns="73152" bIns="73152">
            <a:noAutofit/>
          </a:bodyPr>
          <a:lstStyle/>
          <a:p>
            <a:pPr algn="ctr"/>
          </a:p>
        </p:txBody>
      </p:sp>
      <p:sp>
        <p:nvSpPr>
          <p:cNvPr id="7" name="TextBox 6"/>
          <p:cNvSpPr txBox="1"/>
          <p:nvPr/>
        </p:nvSpPr>
        <p:spPr>
          <a:xfrm>
            <a:off x="822959" y="1783080"/>
            <a:ext cx="1371600" cy="731520"/>
          </a:xfrm>
          <a:prstGeom prst="rect">
            <a:avLst/>
          </a:prstGeom>
          <a:noFill/>
        </p:spPr>
        <p:txBody>
          <a:bodyPr wrap="square" lIns="0" rIns="0" tIns="0" bIns="0" anchor="t">
            <a:noAutofit/>
          </a:bodyPr>
          <a:lstStyle/>
          <a:p>
            <a:pPr algn="l"/>
            <a:r>
              <a:rPr sz="4000" b="1" i="0" lang="es-ES">
                <a:solidFill>
                  <a:srgbClr val="2F5597"/>
                </a:solidFill>
                <a:latin typeface="Calibri"/>
              </a:rPr>
              <a:t>01</a:t>
            </a:r>
            <a:endParaRPr lang="es-ES" sz="4000"/>
          </a:p>
        </p:txBody>
      </p:sp>
      <p:sp>
        <p:nvSpPr>
          <p:cNvPr id="8" name="TextBox 7"/>
          <p:cNvSpPr txBox="1"/>
          <p:nvPr/>
        </p:nvSpPr>
        <p:spPr>
          <a:xfrm>
            <a:off x="822959" y="2606040"/>
            <a:ext cx="2103120" cy="822960"/>
          </a:xfrm>
          <a:prstGeom prst="rect">
            <a:avLst/>
          </a:prstGeom>
          <a:noFill/>
        </p:spPr>
        <p:txBody>
          <a:bodyPr wrap="square" lIns="0" rIns="0" tIns="0" bIns="0" anchor="t">
            <a:noAutofit/>
          </a:bodyPr>
          <a:lstStyle/>
          <a:p>
            <a:pPr algn="l">
              <a:lnSpc>
                <a:spcPct val="95000"/>
              </a:lnSpc>
            </a:pPr>
            <a:r>
              <a:rPr sz="1900" b="1" i="0" lang="es-ES">
                <a:solidFill>
                  <a:srgbClr val="1B2B48"/>
                </a:solidFill>
                <a:latin typeface="Calibri"/>
              </a:rPr>
              <a:t>EVM en 5 minutos</a:t>
            </a:r>
            <a:endParaRPr lang="es-ES" sz="1900"/>
          </a:p>
        </p:txBody>
      </p:sp>
      <p:sp>
        <p:nvSpPr>
          <p:cNvPr id="9" name="TextBox 8"/>
          <p:cNvSpPr txBox="1"/>
          <p:nvPr/>
        </p:nvSpPr>
        <p:spPr>
          <a:xfrm>
            <a:off x="822959" y="3474720"/>
            <a:ext cx="2103120" cy="822960"/>
          </a:xfrm>
          <a:prstGeom prst="rect">
            <a:avLst/>
          </a:prstGeom>
          <a:noFill/>
        </p:spPr>
        <p:txBody>
          <a:bodyPr wrap="square" lIns="0" rIns="0" tIns="0" bIns="0" anchor="t">
            <a:noAutofit/>
          </a:bodyPr>
          <a:lstStyle/>
          <a:p>
            <a:pPr algn="l"/>
            <a:r>
              <a:rPr sz="1400" b="0" i="0" lang="es-ES">
                <a:solidFill>
                  <a:srgbClr val="5A6577"/>
                </a:solidFill>
                <a:latin typeface="Calibri"/>
              </a:rPr>
              <a:t>PV, EV, AC, SV, CV, SPI, CPI, EAC y Earned Schedule</a:t>
            </a:r>
            <a:endParaRPr lang="es-ES" sz="1400"/>
          </a:p>
        </p:txBody>
      </p:sp>
      <p:sp>
        <p:nvSpPr>
          <p:cNvPr id="10" name="Rounded Rectangle 9"/>
          <p:cNvSpPr/>
          <p:nvPr/>
        </p:nvSpPr>
        <p:spPr>
          <a:xfrm>
            <a:off x="822959" y="4251960"/>
            <a:ext cx="960120" cy="347472"/>
          </a:xfrm>
          <a:prstGeom prst="roundRect">
            <a:avLst>
              <a:gd name="adj" fmla="val 50000"/>
            </a:avLst>
          </a:prstGeom>
          <a:solidFill>
            <a:srgbClr val="FFFFFF"/>
          </a:solidFill>
          <a:ln w="12700">
            <a:solidFill>
              <a:srgbClr val="D5DBE5"/>
            </a:solidFill>
          </a:ln>
        </p:spPr>
        <p:txBody>
          <a:bodyPr rtlCol="0" anchor="ctr" wrap="square" lIns="0" rIns="0" tIns="0" bIns="0">
            <a:noAutofit/>
          </a:bodyPr>
          <a:lstStyle/>
          <a:p>
            <a:pPr algn="ctr"/>
            <a:r>
              <a:rPr sz="1300" b="1" i="0" lang="es-ES">
                <a:solidFill>
                  <a:srgbClr val="1B2B48"/>
                </a:solidFill>
                <a:latin typeface="Calibri"/>
              </a:rPr>
              <a:t>5 min</a:t>
            </a:r>
            <a:endParaRPr lang="es-ES" sz="1300"/>
          </a:p>
        </p:txBody>
      </p:sp>
      <p:sp>
        <p:nvSpPr>
          <p:cNvPr id="11" name="Rounded Rectangle 10"/>
          <p:cNvSpPr/>
          <p:nvPr/>
        </p:nvSpPr>
        <p:spPr>
          <a:xfrm>
            <a:off x="3364992" y="1554480"/>
            <a:ext cx="2615184" cy="3246120"/>
          </a:xfrm>
          <a:prstGeom prst="roundRect">
            <a:avLst>
              <a:gd name="adj" fmla="val 4195"/>
            </a:avLst>
          </a:prstGeom>
          <a:solidFill>
            <a:srgbClr val="F3F5F9"/>
          </a:solidFill>
          <a:ln>
            <a:noFill/>
          </a:ln>
        </p:spPr>
        <p:txBody>
          <a:bodyPr rtlCol="0" anchor="ctr" wrap="square" lIns="73152" rIns="73152" tIns="73152" bIns="73152">
            <a:noAutofit/>
          </a:bodyPr>
          <a:lstStyle/>
          <a:p>
            <a:pPr algn="ctr"/>
          </a:p>
        </p:txBody>
      </p:sp>
      <p:sp>
        <p:nvSpPr>
          <p:cNvPr id="12" name="TextBox 11"/>
          <p:cNvSpPr txBox="1"/>
          <p:nvPr/>
        </p:nvSpPr>
        <p:spPr>
          <a:xfrm>
            <a:off x="3639312" y="1783080"/>
            <a:ext cx="1371600" cy="731520"/>
          </a:xfrm>
          <a:prstGeom prst="rect">
            <a:avLst/>
          </a:prstGeom>
          <a:noFill/>
        </p:spPr>
        <p:txBody>
          <a:bodyPr wrap="square" lIns="0" rIns="0" tIns="0" bIns="0" anchor="t">
            <a:noAutofit/>
          </a:bodyPr>
          <a:lstStyle/>
          <a:p>
            <a:pPr algn="l"/>
            <a:r>
              <a:rPr sz="4000" b="1" i="0" lang="es-ES">
                <a:solidFill>
                  <a:srgbClr val="4E8A3E"/>
                </a:solidFill>
                <a:latin typeface="Calibri"/>
              </a:rPr>
              <a:t>02</a:t>
            </a:r>
            <a:endParaRPr lang="es-ES" sz="4000"/>
          </a:p>
        </p:txBody>
      </p:sp>
      <p:sp>
        <p:nvSpPr>
          <p:cNvPr id="13" name="TextBox 12"/>
          <p:cNvSpPr txBox="1"/>
          <p:nvPr/>
        </p:nvSpPr>
        <p:spPr>
          <a:xfrm>
            <a:off x="3639312" y="2606040"/>
            <a:ext cx="2103120" cy="822960"/>
          </a:xfrm>
          <a:prstGeom prst="rect">
            <a:avLst/>
          </a:prstGeom>
          <a:noFill/>
        </p:spPr>
        <p:txBody>
          <a:bodyPr wrap="square" lIns="0" rIns="0" tIns="0" bIns="0" anchor="t">
            <a:noAutofit/>
          </a:bodyPr>
          <a:lstStyle/>
          <a:p>
            <a:pPr algn="l">
              <a:lnSpc>
                <a:spcPct val="95000"/>
              </a:lnSpc>
            </a:pPr>
            <a:r>
              <a:rPr sz="1900" b="1" i="0" lang="es-ES">
                <a:solidFill>
                  <a:srgbClr val="1B2B48"/>
                </a:solidFill>
                <a:latin typeface="Calibri"/>
              </a:rPr>
              <a:t>MS Project: la base del informe</a:t>
            </a:r>
            <a:endParaRPr lang="es-ES" sz="1900"/>
          </a:p>
        </p:txBody>
      </p:sp>
      <p:sp>
        <p:nvSpPr>
          <p:cNvPr id="14" name="TextBox 13"/>
          <p:cNvSpPr txBox="1"/>
          <p:nvPr/>
        </p:nvSpPr>
        <p:spPr>
          <a:xfrm>
            <a:off x="3639312" y="3474720"/>
            <a:ext cx="2103120" cy="822960"/>
          </a:xfrm>
          <a:prstGeom prst="rect">
            <a:avLst/>
          </a:prstGeom>
          <a:noFill/>
        </p:spPr>
        <p:txBody>
          <a:bodyPr wrap="square" lIns="0" rIns="0" tIns="0" bIns="0" anchor="t">
            <a:noAutofit/>
          </a:bodyPr>
          <a:lstStyle/>
          <a:p>
            <a:pPr algn="l"/>
            <a:r>
              <a:rPr sz="1400" b="0" i="0" lang="es-ES">
                <a:solidFill>
                  <a:srgbClr val="5A6577"/>
                </a:solidFill>
                <a:latin typeface="Calibri"/>
              </a:rPr>
              <a:t>EDT, presupuesto, línea base, métodos de medición y avance</a:t>
            </a:r>
            <a:endParaRPr lang="es-ES" sz="1400"/>
          </a:p>
        </p:txBody>
      </p:sp>
      <p:sp>
        <p:nvSpPr>
          <p:cNvPr id="15" name="Rounded Rectangle 14"/>
          <p:cNvSpPr/>
          <p:nvPr/>
        </p:nvSpPr>
        <p:spPr>
          <a:xfrm>
            <a:off x="3639312" y="4251960"/>
            <a:ext cx="960120" cy="347472"/>
          </a:xfrm>
          <a:prstGeom prst="roundRect">
            <a:avLst>
              <a:gd name="adj" fmla="val 50000"/>
            </a:avLst>
          </a:prstGeom>
          <a:solidFill>
            <a:srgbClr val="FFFFFF"/>
          </a:solidFill>
          <a:ln w="12700">
            <a:solidFill>
              <a:srgbClr val="D5DBE5"/>
            </a:solidFill>
          </a:ln>
        </p:spPr>
        <p:txBody>
          <a:bodyPr rtlCol="0" anchor="ctr" wrap="square" lIns="0" rIns="0" tIns="0" bIns="0">
            <a:noAutofit/>
          </a:bodyPr>
          <a:lstStyle/>
          <a:p>
            <a:pPr algn="ctr"/>
            <a:r>
              <a:rPr sz="1300" b="1" i="0" lang="es-ES">
                <a:solidFill>
                  <a:srgbClr val="1B2B48"/>
                </a:solidFill>
                <a:latin typeface="Calibri"/>
              </a:rPr>
              <a:t>12 min</a:t>
            </a:r>
            <a:endParaRPr lang="es-ES" sz="1300"/>
          </a:p>
        </p:txBody>
      </p:sp>
      <p:sp>
        <p:nvSpPr>
          <p:cNvPr id="16" name="Rounded Rectangle 15"/>
          <p:cNvSpPr/>
          <p:nvPr/>
        </p:nvSpPr>
        <p:spPr>
          <a:xfrm>
            <a:off x="6181344" y="1554480"/>
            <a:ext cx="2615184" cy="3246120"/>
          </a:xfrm>
          <a:prstGeom prst="roundRect">
            <a:avLst>
              <a:gd name="adj" fmla="val 4195"/>
            </a:avLst>
          </a:prstGeom>
          <a:solidFill>
            <a:srgbClr val="F3F5F9"/>
          </a:solidFill>
          <a:ln>
            <a:noFill/>
          </a:ln>
        </p:spPr>
        <p:txBody>
          <a:bodyPr rtlCol="0" anchor="ctr" wrap="square" lIns="73152" rIns="73152" tIns="73152" bIns="73152">
            <a:noAutofit/>
          </a:bodyPr>
          <a:lstStyle/>
          <a:p>
            <a:pPr algn="ctr"/>
          </a:p>
        </p:txBody>
      </p:sp>
      <p:sp>
        <p:nvSpPr>
          <p:cNvPr id="17" name="TextBox 16"/>
          <p:cNvSpPr txBox="1"/>
          <p:nvPr/>
        </p:nvSpPr>
        <p:spPr>
          <a:xfrm>
            <a:off x="6455664" y="1783080"/>
            <a:ext cx="1371600" cy="731520"/>
          </a:xfrm>
          <a:prstGeom prst="rect">
            <a:avLst/>
          </a:prstGeom>
          <a:noFill/>
        </p:spPr>
        <p:txBody>
          <a:bodyPr wrap="square" lIns="0" rIns="0" tIns="0" bIns="0" anchor="t">
            <a:noAutofit/>
          </a:bodyPr>
          <a:lstStyle/>
          <a:p>
            <a:pPr algn="l"/>
            <a:r>
              <a:rPr sz="4000" b="1" i="0" lang="es-ES">
                <a:solidFill>
                  <a:srgbClr val="8A5A00"/>
                </a:solidFill>
                <a:latin typeface="Calibri"/>
              </a:rPr>
              <a:t>03</a:t>
            </a:r>
            <a:endParaRPr lang="es-ES" sz="4000"/>
          </a:p>
        </p:txBody>
      </p:sp>
      <p:sp>
        <p:nvSpPr>
          <p:cNvPr id="18" name="TextBox 17"/>
          <p:cNvSpPr txBox="1"/>
          <p:nvPr/>
        </p:nvSpPr>
        <p:spPr>
          <a:xfrm>
            <a:off x="6455664" y="2606040"/>
            <a:ext cx="2103120" cy="822960"/>
          </a:xfrm>
          <a:prstGeom prst="rect">
            <a:avLst/>
          </a:prstGeom>
          <a:noFill/>
        </p:spPr>
        <p:txBody>
          <a:bodyPr wrap="square" lIns="0" rIns="0" tIns="0" bIns="0" anchor="t">
            <a:noAutofit/>
          </a:bodyPr>
          <a:lstStyle/>
          <a:p>
            <a:pPr algn="l">
              <a:lnSpc>
                <a:spcPct val="95000"/>
              </a:lnSpc>
            </a:pPr>
            <a:r>
              <a:rPr sz="1900" b="1" i="0" lang="es-ES">
                <a:solidFill>
                  <a:srgbClr val="1B2B48"/>
                </a:solidFill>
                <a:latin typeface="Calibri"/>
              </a:rPr>
              <a:t>Exportador EVM</a:t>
            </a:r>
            <a:endParaRPr lang="es-ES" sz="1900"/>
          </a:p>
        </p:txBody>
      </p:sp>
      <p:sp>
        <p:nvSpPr>
          <p:cNvPr id="19" name="TextBox 18"/>
          <p:cNvSpPr txBox="1"/>
          <p:nvPr/>
        </p:nvSpPr>
        <p:spPr>
          <a:xfrm>
            <a:off x="6455664" y="3474720"/>
            <a:ext cx="2103120" cy="822960"/>
          </a:xfrm>
          <a:prstGeom prst="rect">
            <a:avLst/>
          </a:prstGeom>
          <a:noFill/>
        </p:spPr>
        <p:txBody>
          <a:bodyPr wrap="square" lIns="0" rIns="0" tIns="0" bIns="0" anchor="t">
            <a:noAutofit/>
          </a:bodyPr>
          <a:lstStyle/>
          <a:p>
            <a:pPr algn="l"/>
            <a:r>
              <a:rPr sz="1400" b="0" i="0" lang="es-ES">
                <a:solidFill>
                  <a:srgbClr val="5A6577"/>
                </a:solidFill>
                <a:latin typeface="Calibri"/>
              </a:rPr>
              <a:t>Comandos validar, generar y actualizar, y el libro Excel</a:t>
            </a:r>
            <a:endParaRPr lang="es-ES" sz="1400"/>
          </a:p>
        </p:txBody>
      </p:sp>
      <p:sp>
        <p:nvSpPr>
          <p:cNvPr id="20" name="Rounded Rectangle 19"/>
          <p:cNvSpPr/>
          <p:nvPr/>
        </p:nvSpPr>
        <p:spPr>
          <a:xfrm>
            <a:off x="6455664" y="4251960"/>
            <a:ext cx="960120" cy="347472"/>
          </a:xfrm>
          <a:prstGeom prst="roundRect">
            <a:avLst>
              <a:gd name="adj" fmla="val 50000"/>
            </a:avLst>
          </a:prstGeom>
          <a:solidFill>
            <a:srgbClr val="FFFFFF"/>
          </a:solidFill>
          <a:ln w="12700">
            <a:solidFill>
              <a:srgbClr val="D5DBE5"/>
            </a:solidFill>
          </a:ln>
        </p:spPr>
        <p:txBody>
          <a:bodyPr rtlCol="0" anchor="ctr" wrap="square" lIns="0" rIns="0" tIns="0" bIns="0">
            <a:noAutofit/>
          </a:bodyPr>
          <a:lstStyle/>
          <a:p>
            <a:pPr algn="ctr"/>
            <a:r>
              <a:rPr sz="1300" b="1" i="0" lang="es-ES">
                <a:solidFill>
                  <a:srgbClr val="1B2B48"/>
                </a:solidFill>
                <a:latin typeface="Calibri"/>
              </a:rPr>
              <a:t>3 min</a:t>
            </a:r>
            <a:endParaRPr lang="es-ES" sz="1300"/>
          </a:p>
        </p:txBody>
      </p:sp>
      <p:sp>
        <p:nvSpPr>
          <p:cNvPr id="21" name="Rounded Rectangle 20"/>
          <p:cNvSpPr/>
          <p:nvPr/>
        </p:nvSpPr>
        <p:spPr>
          <a:xfrm>
            <a:off x="8997696" y="1554480"/>
            <a:ext cx="2615184" cy="3246120"/>
          </a:xfrm>
          <a:prstGeom prst="roundRect">
            <a:avLst>
              <a:gd name="adj" fmla="val 4195"/>
            </a:avLst>
          </a:prstGeom>
          <a:solidFill>
            <a:srgbClr val="F3F5F9"/>
          </a:solidFill>
          <a:ln>
            <a:noFill/>
          </a:ln>
        </p:spPr>
        <p:txBody>
          <a:bodyPr rtlCol="0" anchor="ctr" wrap="square" lIns="73152" rIns="73152" tIns="73152" bIns="73152">
            <a:noAutofit/>
          </a:bodyPr>
          <a:lstStyle/>
          <a:p>
            <a:pPr algn="ctr"/>
          </a:p>
        </p:txBody>
      </p:sp>
      <p:sp>
        <p:nvSpPr>
          <p:cNvPr id="22" name="TextBox 21"/>
          <p:cNvSpPr txBox="1"/>
          <p:nvPr/>
        </p:nvSpPr>
        <p:spPr>
          <a:xfrm>
            <a:off x="9272016" y="1783080"/>
            <a:ext cx="1371600" cy="731520"/>
          </a:xfrm>
          <a:prstGeom prst="rect">
            <a:avLst/>
          </a:prstGeom>
          <a:noFill/>
        </p:spPr>
        <p:txBody>
          <a:bodyPr wrap="square" lIns="0" rIns="0" tIns="0" bIns="0" anchor="t">
            <a:noAutofit/>
          </a:bodyPr>
          <a:lstStyle/>
          <a:p>
            <a:pPr algn="l"/>
            <a:r>
              <a:rPr sz="4000" b="1" i="0" lang="es-ES">
                <a:solidFill>
                  <a:srgbClr val="C0392B"/>
                </a:solidFill>
                <a:latin typeface="Calibri"/>
              </a:rPr>
              <a:t>04</a:t>
            </a:r>
            <a:endParaRPr lang="es-ES" sz="4000"/>
          </a:p>
        </p:txBody>
      </p:sp>
      <p:sp>
        <p:nvSpPr>
          <p:cNvPr id="23" name="TextBox 22"/>
          <p:cNvSpPr txBox="1"/>
          <p:nvPr/>
        </p:nvSpPr>
        <p:spPr>
          <a:xfrm>
            <a:off x="9272016" y="2606040"/>
            <a:ext cx="2103120" cy="822960"/>
          </a:xfrm>
          <a:prstGeom prst="rect">
            <a:avLst/>
          </a:prstGeom>
          <a:noFill/>
        </p:spPr>
        <p:txBody>
          <a:bodyPr wrap="square" lIns="0" rIns="0" tIns="0" bIns="0" anchor="t">
            <a:noAutofit/>
          </a:bodyPr>
          <a:lstStyle/>
          <a:p>
            <a:pPr algn="l">
              <a:lnSpc>
                <a:spcPct val="95000"/>
              </a:lnSpc>
            </a:pPr>
            <a:r>
              <a:rPr sz="1900" b="1" i="0" lang="es-ES">
                <a:solidFill>
                  <a:srgbClr val="1B2B48"/>
                </a:solidFill>
                <a:latin typeface="Calibri"/>
              </a:rPr>
              <a:t>Interpretar y actuar</a:t>
            </a:r>
            <a:endParaRPr lang="es-ES" sz="1900"/>
          </a:p>
        </p:txBody>
      </p:sp>
      <p:sp>
        <p:nvSpPr>
          <p:cNvPr id="24" name="TextBox 23"/>
          <p:cNvSpPr txBox="1"/>
          <p:nvPr/>
        </p:nvSpPr>
        <p:spPr>
          <a:xfrm>
            <a:off x="9272016" y="3474720"/>
            <a:ext cx="2103120" cy="822960"/>
          </a:xfrm>
          <a:prstGeom prst="rect">
            <a:avLst/>
          </a:prstGeom>
          <a:noFill/>
        </p:spPr>
        <p:txBody>
          <a:bodyPr wrap="square" lIns="0" rIns="0" tIns="0" bIns="0" anchor="t">
            <a:noAutofit/>
          </a:bodyPr>
          <a:lstStyle/>
          <a:p>
            <a:pPr algn="l"/>
            <a:r>
              <a:rPr sz="1400" b="0" i="0" lang="es-ES">
                <a:solidFill>
                  <a:srgbClr val="5A6577"/>
                </a:solidFill>
                <a:latin typeface="Calibri"/>
              </a:rPr>
              <a:t>Cuadro de Mando, indicadores, desviaciones y cierre mensual</a:t>
            </a:r>
            <a:endParaRPr lang="es-ES" sz="1400"/>
          </a:p>
        </p:txBody>
      </p:sp>
      <p:sp>
        <p:nvSpPr>
          <p:cNvPr id="25" name="Rounded Rectangle 24"/>
          <p:cNvSpPr/>
          <p:nvPr/>
        </p:nvSpPr>
        <p:spPr>
          <a:xfrm>
            <a:off x="9272016" y="4251960"/>
            <a:ext cx="960120" cy="347472"/>
          </a:xfrm>
          <a:prstGeom prst="roundRect">
            <a:avLst>
              <a:gd name="adj" fmla="val 50000"/>
            </a:avLst>
          </a:prstGeom>
          <a:solidFill>
            <a:srgbClr val="FFFFFF"/>
          </a:solidFill>
          <a:ln w="12700">
            <a:solidFill>
              <a:srgbClr val="D5DBE5"/>
            </a:solidFill>
          </a:ln>
        </p:spPr>
        <p:txBody>
          <a:bodyPr rtlCol="0" anchor="ctr" wrap="square" lIns="0" rIns="0" tIns="0" bIns="0">
            <a:noAutofit/>
          </a:bodyPr>
          <a:lstStyle/>
          <a:p>
            <a:pPr algn="ctr"/>
            <a:r>
              <a:rPr sz="1300" b="1" i="0" lang="es-ES">
                <a:solidFill>
                  <a:srgbClr val="1B2B48"/>
                </a:solidFill>
                <a:latin typeface="Calibri"/>
              </a:rPr>
              <a:t>4 min</a:t>
            </a:r>
            <a:endParaRPr lang="es-ES" sz="1300"/>
          </a:p>
        </p:txBody>
      </p:sp>
      <p:sp>
        <p:nvSpPr>
          <p:cNvPr id="26" name="Rectangle 25"/>
          <p:cNvSpPr/>
          <p:nvPr/>
        </p:nvSpPr>
        <p:spPr>
          <a:xfrm>
            <a:off x="548640" y="5257800"/>
            <a:ext cx="701040" cy="457200"/>
          </a:xfrm>
          <a:prstGeom prst="rect">
            <a:avLst/>
          </a:prstGeom>
          <a:solidFill>
            <a:srgbClr val="5A6577"/>
          </a:solidFill>
          <a:ln>
            <a:noFill/>
          </a:ln>
        </p:spPr>
        <p:txBody>
          <a:bodyPr rtlCol="0" anchor="ctr" wrap="square" lIns="0" rIns="0" tIns="0" bIns="0">
            <a:noAutofit/>
          </a:bodyPr>
          <a:lstStyle/>
          <a:p>
            <a:pPr algn="ctr"/>
            <a:r>
              <a:rPr sz="1200" b="1" i="0" lang="es-ES">
                <a:solidFill>
                  <a:srgbClr val="FFFFFF"/>
                </a:solidFill>
                <a:latin typeface="Calibri"/>
              </a:rPr>
              <a:t>Intro · 2'</a:t>
            </a:r>
            <a:endParaRPr lang="es-ES" sz="1200"/>
          </a:p>
        </p:txBody>
      </p:sp>
      <p:sp>
        <p:nvSpPr>
          <p:cNvPr id="27" name="Rectangle 26"/>
          <p:cNvSpPr/>
          <p:nvPr/>
        </p:nvSpPr>
        <p:spPr>
          <a:xfrm>
            <a:off x="1286256" y="5257800"/>
            <a:ext cx="1807464" cy="457200"/>
          </a:xfrm>
          <a:prstGeom prst="rect">
            <a:avLst/>
          </a:prstGeom>
          <a:solidFill>
            <a:srgbClr val="2F5597"/>
          </a:solidFill>
          <a:ln>
            <a:noFill/>
          </a:ln>
        </p:spPr>
        <p:txBody>
          <a:bodyPr rtlCol="0" anchor="ctr" wrap="square" lIns="0" rIns="0" tIns="0" bIns="0">
            <a:noAutofit/>
          </a:bodyPr>
          <a:lstStyle/>
          <a:p>
            <a:pPr algn="ctr"/>
            <a:r>
              <a:rPr sz="1200" b="1" i="0" lang="es-ES">
                <a:solidFill>
                  <a:srgbClr val="FFFFFF"/>
                </a:solidFill>
                <a:latin typeface="Calibri"/>
              </a:rPr>
              <a:t>EVM · 5'</a:t>
            </a:r>
            <a:endParaRPr lang="es-ES" sz="1200"/>
          </a:p>
        </p:txBody>
      </p:sp>
      <p:sp>
        <p:nvSpPr>
          <p:cNvPr id="28" name="Rectangle 27"/>
          <p:cNvSpPr/>
          <p:nvPr/>
        </p:nvSpPr>
        <p:spPr>
          <a:xfrm>
            <a:off x="3130296" y="5257800"/>
            <a:ext cx="4389120" cy="457200"/>
          </a:xfrm>
          <a:prstGeom prst="rect">
            <a:avLst/>
          </a:prstGeom>
          <a:solidFill>
            <a:srgbClr val="4E8A3E"/>
          </a:solidFill>
          <a:ln>
            <a:noFill/>
          </a:ln>
        </p:spPr>
        <p:txBody>
          <a:bodyPr rtlCol="0" anchor="ctr" wrap="square" lIns="0" rIns="0" tIns="0" bIns="0">
            <a:noAutofit/>
          </a:bodyPr>
          <a:lstStyle/>
          <a:p>
            <a:pPr algn="ctr"/>
            <a:r>
              <a:rPr sz="1200" b="1" i="0" lang="es-ES">
                <a:solidFill>
                  <a:srgbClr val="FFFFFF"/>
                </a:solidFill>
                <a:latin typeface="Calibri"/>
              </a:rPr>
              <a:t>MS Project · 12'</a:t>
            </a:r>
            <a:endParaRPr lang="es-ES" sz="1200"/>
          </a:p>
        </p:txBody>
      </p:sp>
      <p:sp>
        <p:nvSpPr>
          <p:cNvPr id="29" name="Rectangle 28"/>
          <p:cNvSpPr/>
          <p:nvPr/>
        </p:nvSpPr>
        <p:spPr>
          <a:xfrm>
            <a:off x="7555992" y="5257800"/>
            <a:ext cx="1069848" cy="457200"/>
          </a:xfrm>
          <a:prstGeom prst="rect">
            <a:avLst/>
          </a:prstGeom>
          <a:solidFill>
            <a:srgbClr val="F2B134"/>
          </a:solidFill>
          <a:ln>
            <a:noFill/>
          </a:ln>
        </p:spPr>
        <p:txBody>
          <a:bodyPr rtlCol="0" anchor="ctr" wrap="square" lIns="0" rIns="0" tIns="0" bIns="0">
            <a:noAutofit/>
          </a:bodyPr>
          <a:lstStyle/>
          <a:p>
            <a:pPr algn="ctr"/>
            <a:r>
              <a:rPr sz="1200" b="1" i="0" lang="es-ES">
                <a:solidFill>
                  <a:srgbClr val="1B2B48"/>
                </a:solidFill>
                <a:latin typeface="Calibri"/>
              </a:rPr>
              <a:t>Exportador · 3'</a:t>
            </a:r>
            <a:endParaRPr lang="es-ES" sz="1200"/>
          </a:p>
        </p:txBody>
      </p:sp>
      <p:sp>
        <p:nvSpPr>
          <p:cNvPr id="30" name="Rectangle 29"/>
          <p:cNvSpPr/>
          <p:nvPr/>
        </p:nvSpPr>
        <p:spPr>
          <a:xfrm>
            <a:off x="8662416" y="5257800"/>
            <a:ext cx="1438656" cy="457200"/>
          </a:xfrm>
          <a:prstGeom prst="rect">
            <a:avLst/>
          </a:prstGeom>
          <a:solidFill>
            <a:srgbClr val="C0392B"/>
          </a:solidFill>
          <a:ln>
            <a:noFill/>
          </a:ln>
        </p:spPr>
        <p:txBody>
          <a:bodyPr rtlCol="0" anchor="ctr" wrap="square" lIns="0" rIns="0" tIns="0" bIns="0">
            <a:noAutofit/>
          </a:bodyPr>
          <a:lstStyle/>
          <a:p>
            <a:pPr algn="ctr"/>
            <a:r>
              <a:rPr sz="1200" b="1" i="0" lang="es-ES">
                <a:solidFill>
                  <a:srgbClr val="FFFFFF"/>
                </a:solidFill>
                <a:latin typeface="Calibri"/>
              </a:rPr>
              <a:t>Interpretar · 4'</a:t>
            </a:r>
            <a:endParaRPr lang="es-ES" sz="1200"/>
          </a:p>
        </p:txBody>
      </p:sp>
      <p:sp>
        <p:nvSpPr>
          <p:cNvPr id="31" name="Rectangle 30"/>
          <p:cNvSpPr/>
          <p:nvPr/>
        </p:nvSpPr>
        <p:spPr>
          <a:xfrm>
            <a:off x="10137648" y="5257800"/>
            <a:ext cx="1438656" cy="457200"/>
          </a:xfrm>
          <a:prstGeom prst="rect">
            <a:avLst/>
          </a:prstGeom>
          <a:solidFill>
            <a:srgbClr val="1B2B48"/>
          </a:solidFill>
          <a:ln>
            <a:noFill/>
          </a:ln>
        </p:spPr>
        <p:txBody>
          <a:bodyPr rtlCol="0" anchor="ctr" wrap="square" lIns="0" rIns="0" tIns="0" bIns="0">
            <a:noAutofit/>
          </a:bodyPr>
          <a:lstStyle/>
          <a:p>
            <a:pPr algn="ctr"/>
            <a:r>
              <a:rPr sz="1200" b="1" i="0" lang="es-ES">
                <a:solidFill>
                  <a:srgbClr val="FFFFFF"/>
                </a:solidFill>
                <a:latin typeface="Calibri"/>
              </a:rPr>
              <a:t>Preguntas · 4'</a:t>
            </a:r>
            <a:endParaRPr lang="es-ES" sz="1200"/>
          </a:p>
        </p:txBody>
      </p:sp>
      <p:sp>
        <p:nvSpPr>
          <p:cNvPr id="32" name="TextBox 31"/>
          <p:cNvSpPr txBox="1"/>
          <p:nvPr/>
        </p:nvSpPr>
        <p:spPr>
          <a:xfrm>
            <a:off x="548640" y="5806440"/>
            <a:ext cx="11064240" cy="274320"/>
          </a:xfrm>
          <a:prstGeom prst="rect">
            <a:avLst/>
          </a:prstGeom>
          <a:noFill/>
        </p:spPr>
        <p:txBody>
          <a:bodyPr wrap="square" lIns="0" rIns="0" tIns="0" bIns="0" anchor="t">
            <a:noAutofit/>
          </a:bodyPr>
          <a:lstStyle/>
          <a:p>
            <a:pPr algn="l"/>
            <a:r>
              <a:rPr sz="1100" b="0" i="0" lang="es-ES">
                <a:solidFill>
                  <a:srgbClr val="5A6577"/>
                </a:solidFill>
                <a:latin typeface="Calibri"/>
              </a:rPr>
              <a:t>Reparto orientativo del tiempo (minutos)</a:t>
            </a:r>
            <a:endParaRPr lang="es-ES" sz="110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2B48"/>
        </a:solidFill>
        <a:effectLst/>
      </p:bgPr>
    </p:bg>
    <p:spTree>
      <p:nvGrpSpPr>
        <p:cNvPr id="1" name=""/>
        <p:cNvGrpSpPr/>
        <p:nvPr/>
      </p:nvGrpSpPr>
      <p:grpSpPr/>
      <p:sp>
        <p:nvSpPr>
          <p:cNvPr id="2" name="Title 1"/>
          <p:cNvSpPr>
            <a:spLocks noGrp="1"/>
          </p:cNvSpPr>
          <p:nvPr>
            <p:ph type="title"/>
          </p:nvPr>
        </p:nvSpPr>
        <p:spPr>
          <a:xfrm>
            <a:off x="548640" y="2743200"/>
            <a:ext cx="11064240" cy="914400"/>
          </a:xfrm>
        </p:spPr>
        <p:txBody>
          <a:bodyPr wrap="square" lIns="0" rIns="0" tIns="0" bIns="0" anchor="t">
            <a:noAutofit/>
          </a:bodyPr>
          <a:lstStyle/>
          <a:p>
            <a:pPr algn="l"/>
            <a:r>
              <a:rPr sz="4000" b="1" i="0" lang="es-ES">
                <a:solidFill>
                  <a:srgbClr val="FFFFFF"/>
                </a:solidFill>
                <a:latin typeface="Calibri"/>
              </a:rPr>
              <a:t>EVM en 5 minutos</a:t>
            </a:r>
            <a:endParaRPr lang="es-ES" sz="4000"/>
          </a:p>
        </p:txBody>
      </p:sp>
      <p:sp>
        <p:nvSpPr>
          <p:cNvPr id="3" name="TextBox 2"/>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C9D3E3"/>
                </a:solidFill>
                <a:latin typeface="Calibri"/>
              </a:rPr>
              <a:t>Exportador EVM · Sesión para equipo de proyecto</a:t>
            </a:r>
            <a:endParaRPr lang="es-ES" sz="1000"/>
          </a:p>
        </p:txBody>
      </p:sp>
      <p:sp>
        <p:nvSpPr>
          <p:cNvPr id="4" name="TextBox 3"/>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C9D3E3"/>
                </a:solidFill>
                <a:latin typeface="Calibri"/>
              </a:rPr>
              <a:t>4</a:t>
            </a:fld>
            <a:endParaRPr lang="es-ES" sz="1000"/>
          </a:p>
        </p:txBody>
      </p:sp>
      <p:sp>
        <p:nvSpPr>
          <p:cNvPr id="5" name="TextBox 4"/>
          <p:cNvSpPr txBox="1"/>
          <p:nvPr/>
        </p:nvSpPr>
        <p:spPr>
          <a:xfrm>
            <a:off x="548640" y="1417320"/>
            <a:ext cx="2743200" cy="1188720"/>
          </a:xfrm>
          <a:prstGeom prst="rect">
            <a:avLst/>
          </a:prstGeom>
          <a:noFill/>
        </p:spPr>
        <p:txBody>
          <a:bodyPr wrap="square" lIns="0" rIns="0" tIns="0" bIns="0" anchor="t">
            <a:noAutofit/>
          </a:bodyPr>
          <a:lstStyle/>
          <a:p>
            <a:pPr algn="l"/>
            <a:r>
              <a:rPr sz="7200" b="1" i="0" lang="es-ES">
                <a:solidFill>
                  <a:srgbClr val="F2B134"/>
                </a:solidFill>
                <a:latin typeface="Calibri"/>
              </a:rPr>
              <a:t>01</a:t>
            </a:r>
            <a:endParaRPr lang="es-ES" sz="7200"/>
          </a:p>
        </p:txBody>
      </p:sp>
      <p:sp>
        <p:nvSpPr>
          <p:cNvPr id="6" name="TextBox 5"/>
          <p:cNvSpPr txBox="1"/>
          <p:nvPr/>
        </p:nvSpPr>
        <p:spPr>
          <a:xfrm>
            <a:off x="548640" y="3703320"/>
            <a:ext cx="10058400" cy="548640"/>
          </a:xfrm>
          <a:prstGeom prst="rect">
            <a:avLst/>
          </a:prstGeom>
          <a:noFill/>
        </p:spPr>
        <p:txBody>
          <a:bodyPr wrap="square" lIns="0" rIns="0" tIns="0" bIns="0" anchor="t">
            <a:noAutofit/>
          </a:bodyPr>
          <a:lstStyle/>
          <a:p>
            <a:pPr algn="l"/>
            <a:r>
              <a:rPr sz="2000" b="0" i="0" lang="es-ES">
                <a:solidFill>
                  <a:srgbClr val="C9D3E3"/>
                </a:solidFill>
                <a:latin typeface="Calibri"/>
              </a:rPr>
              <a:t>Earned Value Management: tres magnitudes, cuatro indicadores y un pronóstico</a:t>
            </a:r>
            <a:endParaRPr lang="es-ES" sz="2000"/>
          </a:p>
        </p:txBody>
      </p:sp>
      <p:sp>
        <p:nvSpPr>
          <p:cNvPr id="7" name="Rounded Rectangle 6"/>
          <p:cNvSpPr/>
          <p:nvPr/>
        </p:nvSpPr>
        <p:spPr>
          <a:xfrm>
            <a:off x="548640" y="4846320"/>
            <a:ext cx="1563624" cy="411480"/>
          </a:xfrm>
          <a:prstGeom prst="roundRect">
            <a:avLst>
              <a:gd name="adj" fmla="val 48888"/>
            </a:avLst>
          </a:prstGeom>
          <a:solidFill>
            <a:srgbClr val="2A3D61"/>
          </a:solidFill>
          <a:ln>
            <a:noFill/>
          </a:ln>
        </p:spPr>
        <p:txBody>
          <a:bodyPr rtlCol="0" anchor="ctr" wrap="square" lIns="0" rIns="0" tIns="0" bIns="0">
            <a:noAutofit/>
          </a:bodyPr>
          <a:lstStyle/>
          <a:p>
            <a:pPr algn="ctr"/>
            <a:r>
              <a:rPr sz="1300" b="0" i="0" lang="es-ES">
                <a:solidFill>
                  <a:srgbClr val="FFFFFF"/>
                </a:solidFill>
                <a:latin typeface="Calibri"/>
              </a:rPr>
              <a:t>PV, EV y AC</a:t>
            </a:r>
            <a:endParaRPr lang="es-ES" sz="1300"/>
          </a:p>
        </p:txBody>
      </p:sp>
      <p:sp>
        <p:nvSpPr>
          <p:cNvPr id="8" name="Rounded Rectangle 7"/>
          <p:cNvSpPr/>
          <p:nvPr/>
        </p:nvSpPr>
        <p:spPr>
          <a:xfrm>
            <a:off x="2249424" y="4846320"/>
            <a:ext cx="1161288" cy="411480"/>
          </a:xfrm>
          <a:prstGeom prst="roundRect">
            <a:avLst>
              <a:gd name="adj" fmla="val 48888"/>
            </a:avLst>
          </a:prstGeom>
          <a:solidFill>
            <a:srgbClr val="2A3D61"/>
          </a:solidFill>
          <a:ln>
            <a:noFill/>
          </a:ln>
        </p:spPr>
        <p:txBody>
          <a:bodyPr rtlCol="0" anchor="ctr" wrap="square" lIns="0" rIns="0" tIns="0" bIns="0">
            <a:noAutofit/>
          </a:bodyPr>
          <a:lstStyle/>
          <a:p>
            <a:pPr algn="ctr"/>
            <a:r>
              <a:rPr sz="1300" b="0" i="0" lang="es-ES">
                <a:solidFill>
                  <a:srgbClr val="FFFFFF"/>
                </a:solidFill>
                <a:latin typeface="Calibri"/>
              </a:rPr>
              <a:t>Curva S</a:t>
            </a:r>
            <a:endParaRPr lang="es-ES" sz="1300"/>
          </a:p>
        </p:txBody>
      </p:sp>
      <p:sp>
        <p:nvSpPr>
          <p:cNvPr id="9" name="Rounded Rectangle 8"/>
          <p:cNvSpPr/>
          <p:nvPr/>
        </p:nvSpPr>
        <p:spPr>
          <a:xfrm>
            <a:off x="3547872" y="4846320"/>
            <a:ext cx="2167128" cy="411480"/>
          </a:xfrm>
          <a:prstGeom prst="roundRect">
            <a:avLst>
              <a:gd name="adj" fmla="val 48888"/>
            </a:avLst>
          </a:prstGeom>
          <a:solidFill>
            <a:srgbClr val="2A3D61"/>
          </a:solidFill>
          <a:ln>
            <a:noFill/>
          </a:ln>
        </p:spPr>
        <p:txBody>
          <a:bodyPr rtlCol="0" anchor="ctr" wrap="square" lIns="0" rIns="0" tIns="0" bIns="0">
            <a:noAutofit/>
          </a:bodyPr>
          <a:lstStyle/>
          <a:p>
            <a:pPr algn="ctr"/>
            <a:r>
              <a:rPr sz="1300" b="0" i="0" lang="es-ES">
                <a:solidFill>
                  <a:srgbClr val="FFFFFF"/>
                </a:solidFill>
                <a:latin typeface="Calibri"/>
              </a:rPr>
              <a:t>SV, CV, SPI y CPI</a:t>
            </a:r>
            <a:endParaRPr lang="es-ES" sz="1300"/>
          </a:p>
        </p:txBody>
      </p:sp>
      <p:sp>
        <p:nvSpPr>
          <p:cNvPr id="10" name="Rounded Rectangle 9"/>
          <p:cNvSpPr/>
          <p:nvPr/>
        </p:nvSpPr>
        <p:spPr>
          <a:xfrm>
            <a:off x="5852160" y="4846320"/>
            <a:ext cx="1463040" cy="411480"/>
          </a:xfrm>
          <a:prstGeom prst="roundRect">
            <a:avLst>
              <a:gd name="adj" fmla="val 48888"/>
            </a:avLst>
          </a:prstGeom>
          <a:solidFill>
            <a:srgbClr val="2A3D61"/>
          </a:solidFill>
          <a:ln>
            <a:noFill/>
          </a:ln>
        </p:spPr>
        <p:txBody>
          <a:bodyPr rtlCol="0" anchor="ctr" wrap="square" lIns="0" rIns="0" tIns="0" bIns="0">
            <a:noAutofit/>
          </a:bodyPr>
          <a:lstStyle/>
          <a:p>
            <a:pPr algn="ctr"/>
            <a:r>
              <a:rPr sz="1300" b="0" i="0" lang="es-ES">
                <a:solidFill>
                  <a:srgbClr val="FFFFFF"/>
                </a:solidFill>
                <a:latin typeface="Calibri"/>
              </a:rPr>
              <a:t>EAC y TCPI</a:t>
            </a:r>
            <a:endParaRPr lang="es-ES" sz="1300"/>
          </a:p>
        </p:txBody>
      </p:sp>
      <p:sp>
        <p:nvSpPr>
          <p:cNvPr id="11" name="Rounded Rectangle 10"/>
          <p:cNvSpPr/>
          <p:nvPr/>
        </p:nvSpPr>
        <p:spPr>
          <a:xfrm>
            <a:off x="7452360" y="4846320"/>
            <a:ext cx="1965960" cy="411480"/>
          </a:xfrm>
          <a:prstGeom prst="roundRect">
            <a:avLst>
              <a:gd name="adj" fmla="val 48888"/>
            </a:avLst>
          </a:prstGeom>
          <a:solidFill>
            <a:srgbClr val="2A3D61"/>
          </a:solidFill>
          <a:ln>
            <a:noFill/>
          </a:ln>
        </p:spPr>
        <p:txBody>
          <a:bodyPr rtlCol="0" anchor="ctr" wrap="square" lIns="0" rIns="0" tIns="0" bIns="0">
            <a:noAutofit/>
          </a:bodyPr>
          <a:lstStyle/>
          <a:p>
            <a:pPr algn="ctr"/>
            <a:r>
              <a:rPr sz="1300" b="0" i="0" lang="es-ES">
                <a:solidFill>
                  <a:srgbClr val="FFFFFF"/>
                </a:solidFill>
                <a:latin typeface="Calibri"/>
              </a:rPr>
              <a:t>Earned Schedule</a:t>
            </a:r>
            <a:endParaRPr lang="es-ES" sz="130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Tres preguntas, tres magnitudes</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EVM</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5</a:t>
            </a:fld>
            <a:endParaRPr lang="es-ES" sz="1000"/>
          </a:p>
        </p:txBody>
      </p:sp>
      <p:sp>
        <p:nvSpPr>
          <p:cNvPr id="6" name="Rounded Rectangle 5"/>
          <p:cNvSpPr/>
          <p:nvPr/>
        </p:nvSpPr>
        <p:spPr>
          <a:xfrm>
            <a:off x="548640" y="1463040"/>
            <a:ext cx="3520440" cy="3749039"/>
          </a:xfrm>
          <a:prstGeom prst="roundRect">
            <a:avLst>
              <a:gd name="adj" fmla="val 3116"/>
            </a:avLst>
          </a:prstGeom>
          <a:solidFill>
            <a:srgbClr val="FFFFFF"/>
          </a:solidFill>
          <a:ln w="12700">
            <a:solidFill>
              <a:srgbClr val="D5DBE5"/>
            </a:solidFill>
          </a:ln>
        </p:spPr>
        <p:txBody>
          <a:bodyPr rtlCol="0" anchor="ctr" wrap="square" lIns="73152" rIns="73152" tIns="73152" bIns="73152">
            <a:noAutofit/>
          </a:bodyPr>
          <a:lstStyle/>
          <a:p>
            <a:pPr algn="ctr"/>
          </a:p>
        </p:txBody>
      </p:sp>
      <p:sp>
        <p:nvSpPr>
          <p:cNvPr id="7" name="Oval 6"/>
          <p:cNvSpPr/>
          <p:nvPr/>
        </p:nvSpPr>
        <p:spPr>
          <a:xfrm>
            <a:off x="800100" y="1668779"/>
            <a:ext cx="868680" cy="868680"/>
          </a:xfrm>
          <a:prstGeom prst="ellipse">
            <a:avLst/>
          </a:prstGeom>
          <a:solidFill>
            <a:srgbClr val="2F5597"/>
          </a:solidFill>
          <a:ln>
            <a:noFill/>
          </a:ln>
        </p:spPr>
        <p:txBody>
          <a:bodyPr rtlCol="0" anchor="ctr" wrap="square" lIns="0" rIns="0" tIns="0" bIns="0">
            <a:noAutofit/>
          </a:bodyPr>
          <a:lstStyle/>
          <a:p>
            <a:pPr algn="ctr"/>
            <a:r>
              <a:rPr sz="2200" b="1" i="0" lang="es-ES">
                <a:solidFill>
                  <a:srgbClr val="FFFFFF"/>
                </a:solidFill>
                <a:latin typeface="Calibri"/>
              </a:rPr>
              <a:t>PV</a:t>
            </a:r>
            <a:endParaRPr lang="es-ES" sz="2200"/>
          </a:p>
        </p:txBody>
      </p:sp>
      <p:sp>
        <p:nvSpPr>
          <p:cNvPr id="8" name="TextBox 7"/>
          <p:cNvSpPr txBox="1"/>
          <p:nvPr/>
        </p:nvSpPr>
        <p:spPr>
          <a:xfrm>
            <a:off x="1828800" y="1783080"/>
            <a:ext cx="2103120" cy="411480"/>
          </a:xfrm>
          <a:prstGeom prst="rect">
            <a:avLst/>
          </a:prstGeom>
          <a:noFill/>
        </p:spPr>
        <p:txBody>
          <a:bodyPr wrap="square" lIns="0" rIns="0" tIns="0" bIns="0" anchor="t">
            <a:noAutofit/>
          </a:bodyPr>
          <a:lstStyle/>
          <a:p>
            <a:pPr algn="l"/>
            <a:r>
              <a:rPr sz="2000" b="1" i="0" lang="es-ES">
                <a:solidFill>
                  <a:srgbClr val="2F5597"/>
                </a:solidFill>
                <a:latin typeface="Calibri"/>
              </a:rPr>
              <a:t>Planned Value</a:t>
            </a:r>
            <a:endParaRPr lang="es-ES" sz="2000"/>
          </a:p>
        </p:txBody>
      </p:sp>
      <p:sp>
        <p:nvSpPr>
          <p:cNvPr id="9" name="TextBox 8"/>
          <p:cNvSpPr txBox="1"/>
          <p:nvPr/>
        </p:nvSpPr>
        <p:spPr>
          <a:xfrm>
            <a:off x="1828800" y="2212848"/>
            <a:ext cx="2103120" cy="274320"/>
          </a:xfrm>
          <a:prstGeom prst="rect">
            <a:avLst/>
          </a:prstGeom>
          <a:noFill/>
        </p:spPr>
        <p:txBody>
          <a:bodyPr wrap="square" lIns="0" rIns="0" tIns="0" bIns="0" anchor="t">
            <a:noAutofit/>
          </a:bodyPr>
          <a:lstStyle/>
          <a:p>
            <a:pPr algn="l"/>
            <a:r>
              <a:rPr sz="1300" b="0" i="0" lang="es-ES">
                <a:solidFill>
                  <a:srgbClr val="5A6577"/>
                </a:solidFill>
                <a:latin typeface="Calibri"/>
              </a:rPr>
              <a:t>valor planificado</a:t>
            </a:r>
            <a:endParaRPr lang="es-ES" sz="1300"/>
          </a:p>
        </p:txBody>
      </p:sp>
      <p:sp>
        <p:nvSpPr>
          <p:cNvPr id="10" name="TextBox 9"/>
          <p:cNvSpPr txBox="1"/>
          <p:nvPr/>
        </p:nvSpPr>
        <p:spPr>
          <a:xfrm>
            <a:off x="868680" y="2743200"/>
            <a:ext cx="2926080" cy="685800"/>
          </a:xfrm>
          <a:prstGeom prst="rect">
            <a:avLst/>
          </a:prstGeom>
          <a:noFill/>
        </p:spPr>
        <p:txBody>
          <a:bodyPr wrap="square" lIns="0" rIns="0" tIns="0" bIns="0" anchor="t">
            <a:noAutofit/>
          </a:bodyPr>
          <a:lstStyle/>
          <a:p>
            <a:pPr algn="l"/>
            <a:r>
              <a:rPr sz="1700" b="1" i="1" lang="es-ES">
                <a:solidFill>
                  <a:srgbClr val="1B2B48"/>
                </a:solidFill>
                <a:latin typeface="Calibri"/>
              </a:rPr>
              <a:t>¿Cuánto trabajo debía estar hecho?</a:t>
            </a:r>
            <a:endParaRPr lang="es-ES" sz="1700"/>
          </a:p>
        </p:txBody>
      </p:sp>
      <p:sp>
        <p:nvSpPr>
          <p:cNvPr id="11" name="TextBox 10"/>
          <p:cNvSpPr txBox="1"/>
          <p:nvPr/>
        </p:nvSpPr>
        <p:spPr>
          <a:xfrm>
            <a:off x="868680" y="3429000"/>
            <a:ext cx="2926080" cy="640080"/>
          </a:xfrm>
          <a:prstGeom prst="rect">
            <a:avLst/>
          </a:prstGeom>
          <a:noFill/>
        </p:spPr>
        <p:txBody>
          <a:bodyPr wrap="square" lIns="0" rIns="0" tIns="0" bIns="0" anchor="t">
            <a:noAutofit/>
          </a:bodyPr>
          <a:lstStyle/>
          <a:p>
            <a:pPr algn="l"/>
            <a:r>
              <a:rPr sz="1400" b="0" i="0" lang="es-ES">
                <a:solidFill>
                  <a:srgbClr val="5A6577"/>
                </a:solidFill>
                <a:latin typeface="Calibri"/>
              </a:rPr>
              <a:t>Presupuesto del trabajo programado hasta la fecha</a:t>
            </a:r>
            <a:endParaRPr lang="es-ES" sz="1400"/>
          </a:p>
        </p:txBody>
      </p:sp>
      <p:sp>
        <p:nvSpPr>
          <p:cNvPr id="12" name="TextBox 11"/>
          <p:cNvSpPr txBox="1"/>
          <p:nvPr/>
        </p:nvSpPr>
        <p:spPr>
          <a:xfrm>
            <a:off x="868680" y="4069080"/>
            <a:ext cx="2926080" cy="274320"/>
          </a:xfrm>
          <a:prstGeom prst="rect">
            <a:avLst/>
          </a:prstGeom>
          <a:noFill/>
        </p:spPr>
        <p:txBody>
          <a:bodyPr wrap="square" lIns="0" rIns="0" tIns="0" bIns="0" anchor="t">
            <a:noAutofit/>
          </a:bodyPr>
          <a:lstStyle/>
          <a:p>
            <a:pPr algn="l"/>
            <a:r>
              <a:rPr sz="1000" b="1" i="0" lang="es-ES">
                <a:solidFill>
                  <a:srgbClr val="5A6577"/>
                </a:solidFill>
                <a:latin typeface="Calibri"/>
              </a:rPr>
              <a:t>EJEMPLO</a:t>
            </a:r>
            <a:endParaRPr lang="es-ES" sz="1000"/>
          </a:p>
        </p:txBody>
      </p:sp>
      <p:sp>
        <p:nvSpPr>
          <p:cNvPr id="13" name="TextBox 12"/>
          <p:cNvSpPr txBox="1"/>
          <p:nvPr/>
        </p:nvSpPr>
        <p:spPr>
          <a:xfrm>
            <a:off x="868680" y="4279392"/>
            <a:ext cx="2926080" cy="548640"/>
          </a:xfrm>
          <a:prstGeom prst="rect">
            <a:avLst/>
          </a:prstGeom>
          <a:noFill/>
        </p:spPr>
        <p:txBody>
          <a:bodyPr wrap="square" lIns="0" rIns="0" tIns="0" bIns="0" anchor="t">
            <a:noAutofit/>
          </a:bodyPr>
          <a:lstStyle/>
          <a:p>
            <a:pPr algn="l"/>
            <a:r>
              <a:rPr sz="2800" b="1" i="0" lang="es-ES">
                <a:solidFill>
                  <a:srgbClr val="2F5597"/>
                </a:solidFill>
                <a:latin typeface="Calibri"/>
              </a:rPr>
              <a:t>50.000 €</a:t>
            </a:r>
            <a:endParaRPr lang="es-ES" sz="2800"/>
          </a:p>
        </p:txBody>
      </p:sp>
      <p:sp>
        <p:nvSpPr>
          <p:cNvPr id="14" name="TextBox 13"/>
          <p:cNvSpPr txBox="1"/>
          <p:nvPr/>
        </p:nvSpPr>
        <p:spPr>
          <a:xfrm>
            <a:off x="868680" y="4846320"/>
            <a:ext cx="2926080" cy="274320"/>
          </a:xfrm>
          <a:prstGeom prst="rect">
            <a:avLst/>
          </a:prstGeom>
          <a:noFill/>
        </p:spPr>
        <p:txBody>
          <a:bodyPr wrap="square" lIns="0" rIns="0" tIns="0" bIns="0" anchor="t">
            <a:noAutofit/>
          </a:bodyPr>
          <a:lstStyle/>
          <a:p>
            <a:pPr algn="l"/>
            <a:r>
              <a:rPr sz="1100" b="0" i="0" lang="es-ES">
                <a:solidFill>
                  <a:srgbClr val="5A6577"/>
                </a:solidFill>
                <a:latin typeface="Calibri"/>
              </a:rPr>
              <a:t>MS Project en español: </a:t>
            </a:r>
            <a:r>
              <a:rPr sz="1100" b="1" i="0" lang="es-ES">
                <a:solidFill>
                  <a:srgbClr val="5A6577"/>
                </a:solidFill>
                <a:latin typeface="Calibri"/>
              </a:rPr>
              <a:t>CPTP</a:t>
            </a:r>
            <a:endParaRPr lang="es-ES" sz="1100"/>
          </a:p>
        </p:txBody>
      </p:sp>
      <p:sp>
        <p:nvSpPr>
          <p:cNvPr id="15" name="Rounded Rectangle 14"/>
          <p:cNvSpPr/>
          <p:nvPr/>
        </p:nvSpPr>
        <p:spPr>
          <a:xfrm>
            <a:off x="4325112" y="1463040"/>
            <a:ext cx="3520440" cy="3749039"/>
          </a:xfrm>
          <a:prstGeom prst="roundRect">
            <a:avLst>
              <a:gd name="adj" fmla="val 3116"/>
            </a:avLst>
          </a:prstGeom>
          <a:solidFill>
            <a:srgbClr val="FFFFFF"/>
          </a:solidFill>
          <a:ln w="12700">
            <a:solidFill>
              <a:srgbClr val="D5DBE5"/>
            </a:solidFill>
          </a:ln>
        </p:spPr>
        <p:txBody>
          <a:bodyPr rtlCol="0" anchor="ctr" wrap="square" lIns="73152" rIns="73152" tIns="73152" bIns="73152">
            <a:noAutofit/>
          </a:bodyPr>
          <a:lstStyle/>
          <a:p>
            <a:pPr algn="ctr"/>
          </a:p>
        </p:txBody>
      </p:sp>
      <p:sp>
        <p:nvSpPr>
          <p:cNvPr id="16" name="Oval 15"/>
          <p:cNvSpPr/>
          <p:nvPr/>
        </p:nvSpPr>
        <p:spPr>
          <a:xfrm>
            <a:off x="4576572" y="1668779"/>
            <a:ext cx="868680" cy="868680"/>
          </a:xfrm>
          <a:prstGeom prst="ellipse">
            <a:avLst/>
          </a:prstGeom>
          <a:solidFill>
            <a:srgbClr val="4E8A3E"/>
          </a:solidFill>
          <a:ln>
            <a:noFill/>
          </a:ln>
        </p:spPr>
        <p:txBody>
          <a:bodyPr rtlCol="0" anchor="ctr" wrap="square" lIns="0" rIns="0" tIns="0" bIns="0">
            <a:noAutofit/>
          </a:bodyPr>
          <a:lstStyle/>
          <a:p>
            <a:pPr algn="ctr"/>
            <a:r>
              <a:rPr sz="2200" b="1" i="0" lang="es-ES">
                <a:solidFill>
                  <a:srgbClr val="FFFFFF"/>
                </a:solidFill>
                <a:latin typeface="Calibri"/>
              </a:rPr>
              <a:t>EV</a:t>
            </a:r>
            <a:endParaRPr lang="es-ES" sz="2200"/>
          </a:p>
        </p:txBody>
      </p:sp>
      <p:sp>
        <p:nvSpPr>
          <p:cNvPr id="17" name="TextBox 16"/>
          <p:cNvSpPr txBox="1"/>
          <p:nvPr/>
        </p:nvSpPr>
        <p:spPr>
          <a:xfrm>
            <a:off x="5605271" y="1783080"/>
            <a:ext cx="2103120" cy="411480"/>
          </a:xfrm>
          <a:prstGeom prst="rect">
            <a:avLst/>
          </a:prstGeom>
          <a:noFill/>
        </p:spPr>
        <p:txBody>
          <a:bodyPr wrap="square" lIns="0" rIns="0" tIns="0" bIns="0" anchor="t">
            <a:noAutofit/>
          </a:bodyPr>
          <a:lstStyle/>
          <a:p>
            <a:pPr algn="l"/>
            <a:r>
              <a:rPr sz="2000" b="1" i="0" lang="es-ES">
                <a:solidFill>
                  <a:srgbClr val="4E8A3E"/>
                </a:solidFill>
                <a:latin typeface="Calibri"/>
              </a:rPr>
              <a:t>Earned Value</a:t>
            </a:r>
            <a:endParaRPr lang="es-ES" sz="2000"/>
          </a:p>
        </p:txBody>
      </p:sp>
      <p:sp>
        <p:nvSpPr>
          <p:cNvPr id="18" name="TextBox 17"/>
          <p:cNvSpPr txBox="1"/>
          <p:nvPr/>
        </p:nvSpPr>
        <p:spPr>
          <a:xfrm>
            <a:off x="5605271" y="2212848"/>
            <a:ext cx="2103120" cy="274320"/>
          </a:xfrm>
          <a:prstGeom prst="rect">
            <a:avLst/>
          </a:prstGeom>
          <a:noFill/>
        </p:spPr>
        <p:txBody>
          <a:bodyPr wrap="square" lIns="0" rIns="0" tIns="0" bIns="0" anchor="t">
            <a:noAutofit/>
          </a:bodyPr>
          <a:lstStyle/>
          <a:p>
            <a:pPr algn="l"/>
            <a:r>
              <a:rPr sz="1300" b="0" i="0" lang="es-ES">
                <a:solidFill>
                  <a:srgbClr val="5A6577"/>
                </a:solidFill>
                <a:latin typeface="Calibri"/>
              </a:rPr>
              <a:t>valor ganado</a:t>
            </a:r>
            <a:endParaRPr lang="es-ES" sz="1300"/>
          </a:p>
        </p:txBody>
      </p:sp>
      <p:sp>
        <p:nvSpPr>
          <p:cNvPr id="19" name="TextBox 18"/>
          <p:cNvSpPr txBox="1"/>
          <p:nvPr/>
        </p:nvSpPr>
        <p:spPr>
          <a:xfrm>
            <a:off x="4645151" y="2743200"/>
            <a:ext cx="2926080" cy="685800"/>
          </a:xfrm>
          <a:prstGeom prst="rect">
            <a:avLst/>
          </a:prstGeom>
          <a:noFill/>
        </p:spPr>
        <p:txBody>
          <a:bodyPr wrap="square" lIns="0" rIns="0" tIns="0" bIns="0" anchor="t">
            <a:noAutofit/>
          </a:bodyPr>
          <a:lstStyle/>
          <a:p>
            <a:pPr algn="l"/>
            <a:r>
              <a:rPr sz="1700" b="1" i="1" lang="es-ES">
                <a:solidFill>
                  <a:srgbClr val="1B2B48"/>
                </a:solidFill>
                <a:latin typeface="Calibri"/>
              </a:rPr>
              <a:t>¿Cuánto trabajo está hecho?</a:t>
            </a:r>
            <a:endParaRPr lang="es-ES" sz="1700"/>
          </a:p>
        </p:txBody>
      </p:sp>
      <p:sp>
        <p:nvSpPr>
          <p:cNvPr id="20" name="TextBox 19"/>
          <p:cNvSpPr txBox="1"/>
          <p:nvPr/>
        </p:nvSpPr>
        <p:spPr>
          <a:xfrm>
            <a:off x="4645151" y="3429000"/>
            <a:ext cx="2926080" cy="640080"/>
          </a:xfrm>
          <a:prstGeom prst="rect">
            <a:avLst/>
          </a:prstGeom>
          <a:noFill/>
        </p:spPr>
        <p:txBody>
          <a:bodyPr wrap="square" lIns="0" rIns="0" tIns="0" bIns="0" anchor="t">
            <a:noAutofit/>
          </a:bodyPr>
          <a:lstStyle/>
          <a:p>
            <a:pPr algn="l"/>
            <a:r>
              <a:rPr sz="1400" b="0" i="0" lang="es-ES">
                <a:solidFill>
                  <a:srgbClr val="5A6577"/>
                </a:solidFill>
                <a:latin typeface="Calibri"/>
              </a:rPr>
              <a:t>Presupuesto del trabajo realizado: avance × BAC</a:t>
            </a:r>
            <a:endParaRPr lang="es-ES" sz="1400"/>
          </a:p>
        </p:txBody>
      </p:sp>
      <p:sp>
        <p:nvSpPr>
          <p:cNvPr id="21" name="TextBox 20"/>
          <p:cNvSpPr txBox="1"/>
          <p:nvPr/>
        </p:nvSpPr>
        <p:spPr>
          <a:xfrm>
            <a:off x="4645151" y="4069080"/>
            <a:ext cx="2926080" cy="274320"/>
          </a:xfrm>
          <a:prstGeom prst="rect">
            <a:avLst/>
          </a:prstGeom>
          <a:noFill/>
        </p:spPr>
        <p:txBody>
          <a:bodyPr wrap="square" lIns="0" rIns="0" tIns="0" bIns="0" anchor="t">
            <a:noAutofit/>
          </a:bodyPr>
          <a:lstStyle/>
          <a:p>
            <a:pPr algn="l"/>
            <a:r>
              <a:rPr sz="1000" b="1" i="0" lang="es-ES">
                <a:solidFill>
                  <a:srgbClr val="5A6577"/>
                </a:solidFill>
                <a:latin typeface="Calibri"/>
              </a:rPr>
              <a:t>EJEMPLO</a:t>
            </a:r>
            <a:endParaRPr lang="es-ES" sz="1000"/>
          </a:p>
        </p:txBody>
      </p:sp>
      <p:sp>
        <p:nvSpPr>
          <p:cNvPr id="22" name="TextBox 21"/>
          <p:cNvSpPr txBox="1"/>
          <p:nvPr/>
        </p:nvSpPr>
        <p:spPr>
          <a:xfrm>
            <a:off x="4645151" y="4279392"/>
            <a:ext cx="2926080" cy="548640"/>
          </a:xfrm>
          <a:prstGeom prst="rect">
            <a:avLst/>
          </a:prstGeom>
          <a:noFill/>
        </p:spPr>
        <p:txBody>
          <a:bodyPr wrap="square" lIns="0" rIns="0" tIns="0" bIns="0" anchor="t">
            <a:noAutofit/>
          </a:bodyPr>
          <a:lstStyle/>
          <a:p>
            <a:pPr algn="l"/>
            <a:r>
              <a:rPr sz="2800" b="1" i="0" lang="es-ES">
                <a:solidFill>
                  <a:srgbClr val="4E8A3E"/>
                </a:solidFill>
                <a:latin typeface="Calibri"/>
              </a:rPr>
              <a:t>40.000 €</a:t>
            </a:r>
            <a:endParaRPr lang="es-ES" sz="2800"/>
          </a:p>
        </p:txBody>
      </p:sp>
      <p:sp>
        <p:nvSpPr>
          <p:cNvPr id="23" name="TextBox 22"/>
          <p:cNvSpPr txBox="1"/>
          <p:nvPr/>
        </p:nvSpPr>
        <p:spPr>
          <a:xfrm>
            <a:off x="4645151" y="4846320"/>
            <a:ext cx="2926080" cy="274320"/>
          </a:xfrm>
          <a:prstGeom prst="rect">
            <a:avLst/>
          </a:prstGeom>
          <a:noFill/>
        </p:spPr>
        <p:txBody>
          <a:bodyPr wrap="square" lIns="0" rIns="0" tIns="0" bIns="0" anchor="t">
            <a:noAutofit/>
          </a:bodyPr>
          <a:lstStyle/>
          <a:p>
            <a:pPr algn="l"/>
            <a:r>
              <a:rPr sz="1100" b="0" i="0" lang="es-ES">
                <a:solidFill>
                  <a:srgbClr val="5A6577"/>
                </a:solidFill>
                <a:latin typeface="Calibri"/>
              </a:rPr>
              <a:t>MS Project en español: </a:t>
            </a:r>
            <a:r>
              <a:rPr sz="1100" b="1" i="0" lang="es-ES">
                <a:solidFill>
                  <a:srgbClr val="5A6577"/>
                </a:solidFill>
                <a:latin typeface="Calibri"/>
              </a:rPr>
              <a:t>CPTR</a:t>
            </a:r>
            <a:endParaRPr lang="es-ES" sz="1100"/>
          </a:p>
        </p:txBody>
      </p:sp>
      <p:sp>
        <p:nvSpPr>
          <p:cNvPr id="24" name="Rounded Rectangle 23"/>
          <p:cNvSpPr/>
          <p:nvPr/>
        </p:nvSpPr>
        <p:spPr>
          <a:xfrm>
            <a:off x="8101583" y="1463040"/>
            <a:ext cx="3520440" cy="3749039"/>
          </a:xfrm>
          <a:prstGeom prst="roundRect">
            <a:avLst>
              <a:gd name="adj" fmla="val 3116"/>
            </a:avLst>
          </a:prstGeom>
          <a:solidFill>
            <a:srgbClr val="FFFFFF"/>
          </a:solidFill>
          <a:ln w="12700">
            <a:solidFill>
              <a:srgbClr val="D5DBE5"/>
            </a:solidFill>
          </a:ln>
        </p:spPr>
        <p:txBody>
          <a:bodyPr rtlCol="0" anchor="ctr" wrap="square" lIns="73152" rIns="73152" tIns="73152" bIns="73152">
            <a:noAutofit/>
          </a:bodyPr>
          <a:lstStyle/>
          <a:p>
            <a:pPr algn="ctr"/>
          </a:p>
        </p:txBody>
      </p:sp>
      <p:sp>
        <p:nvSpPr>
          <p:cNvPr id="25" name="Oval 24"/>
          <p:cNvSpPr/>
          <p:nvPr/>
        </p:nvSpPr>
        <p:spPr>
          <a:xfrm>
            <a:off x="8353044" y="1668779"/>
            <a:ext cx="868680" cy="868680"/>
          </a:xfrm>
          <a:prstGeom prst="ellipse">
            <a:avLst/>
          </a:prstGeom>
          <a:solidFill>
            <a:srgbClr val="C0392B"/>
          </a:solidFill>
          <a:ln>
            <a:noFill/>
          </a:ln>
        </p:spPr>
        <p:txBody>
          <a:bodyPr rtlCol="0" anchor="ctr" wrap="square" lIns="0" rIns="0" tIns="0" bIns="0">
            <a:noAutofit/>
          </a:bodyPr>
          <a:lstStyle/>
          <a:p>
            <a:pPr algn="ctr"/>
            <a:r>
              <a:rPr sz="2200" b="1" i="0" lang="es-ES">
                <a:solidFill>
                  <a:srgbClr val="FFFFFF"/>
                </a:solidFill>
                <a:latin typeface="Calibri"/>
              </a:rPr>
              <a:t>AC</a:t>
            </a:r>
            <a:endParaRPr lang="es-ES" sz="2200"/>
          </a:p>
        </p:txBody>
      </p:sp>
      <p:sp>
        <p:nvSpPr>
          <p:cNvPr id="26" name="TextBox 25"/>
          <p:cNvSpPr txBox="1"/>
          <p:nvPr/>
        </p:nvSpPr>
        <p:spPr>
          <a:xfrm>
            <a:off x="9381744" y="1783080"/>
            <a:ext cx="2103120" cy="411480"/>
          </a:xfrm>
          <a:prstGeom prst="rect">
            <a:avLst/>
          </a:prstGeom>
          <a:noFill/>
        </p:spPr>
        <p:txBody>
          <a:bodyPr wrap="square" lIns="0" rIns="0" tIns="0" bIns="0" anchor="t">
            <a:noAutofit/>
          </a:bodyPr>
          <a:lstStyle/>
          <a:p>
            <a:pPr algn="l"/>
            <a:r>
              <a:rPr sz="2000" b="1" i="0" lang="es-ES">
                <a:solidFill>
                  <a:srgbClr val="C0392B"/>
                </a:solidFill>
                <a:latin typeface="Calibri"/>
              </a:rPr>
              <a:t>Actual Cost</a:t>
            </a:r>
            <a:endParaRPr lang="es-ES" sz="2000"/>
          </a:p>
        </p:txBody>
      </p:sp>
      <p:sp>
        <p:nvSpPr>
          <p:cNvPr id="27" name="TextBox 26"/>
          <p:cNvSpPr txBox="1"/>
          <p:nvPr/>
        </p:nvSpPr>
        <p:spPr>
          <a:xfrm>
            <a:off x="9381744" y="2212848"/>
            <a:ext cx="2103120" cy="274320"/>
          </a:xfrm>
          <a:prstGeom prst="rect">
            <a:avLst/>
          </a:prstGeom>
          <a:noFill/>
        </p:spPr>
        <p:txBody>
          <a:bodyPr wrap="square" lIns="0" rIns="0" tIns="0" bIns="0" anchor="t">
            <a:noAutofit/>
          </a:bodyPr>
          <a:lstStyle/>
          <a:p>
            <a:pPr algn="l"/>
            <a:r>
              <a:rPr sz="1300" b="0" i="0" lang="es-ES">
                <a:solidFill>
                  <a:srgbClr val="5A6577"/>
                </a:solidFill>
                <a:latin typeface="Calibri"/>
              </a:rPr>
              <a:t>costo real</a:t>
            </a:r>
            <a:endParaRPr lang="es-ES" sz="1300"/>
          </a:p>
        </p:txBody>
      </p:sp>
      <p:sp>
        <p:nvSpPr>
          <p:cNvPr id="28" name="TextBox 27"/>
          <p:cNvSpPr txBox="1"/>
          <p:nvPr/>
        </p:nvSpPr>
        <p:spPr>
          <a:xfrm>
            <a:off x="8421624" y="2743200"/>
            <a:ext cx="2926080" cy="685800"/>
          </a:xfrm>
          <a:prstGeom prst="rect">
            <a:avLst/>
          </a:prstGeom>
          <a:noFill/>
        </p:spPr>
        <p:txBody>
          <a:bodyPr wrap="square" lIns="0" rIns="0" tIns="0" bIns="0" anchor="t">
            <a:noAutofit/>
          </a:bodyPr>
          <a:lstStyle/>
          <a:p>
            <a:pPr algn="l"/>
            <a:r>
              <a:rPr sz="1700" b="1" i="1" lang="es-ES">
                <a:solidFill>
                  <a:srgbClr val="1B2B48"/>
                </a:solidFill>
                <a:latin typeface="Calibri"/>
              </a:rPr>
              <a:t>¿Cuánto costó lo hecho?</a:t>
            </a:r>
            <a:endParaRPr lang="es-ES" sz="1700"/>
          </a:p>
        </p:txBody>
      </p:sp>
      <p:sp>
        <p:nvSpPr>
          <p:cNvPr id="29" name="TextBox 28"/>
          <p:cNvSpPr txBox="1"/>
          <p:nvPr/>
        </p:nvSpPr>
        <p:spPr>
          <a:xfrm>
            <a:off x="8421624" y="3429000"/>
            <a:ext cx="2926080" cy="640080"/>
          </a:xfrm>
          <a:prstGeom prst="rect">
            <a:avLst/>
          </a:prstGeom>
          <a:noFill/>
        </p:spPr>
        <p:txBody>
          <a:bodyPr wrap="square" lIns="0" rIns="0" tIns="0" bIns="0" anchor="t">
            <a:noAutofit/>
          </a:bodyPr>
          <a:lstStyle/>
          <a:p>
            <a:pPr algn="l"/>
            <a:r>
              <a:rPr sz="1400" b="0" i="0" lang="es-ES">
                <a:solidFill>
                  <a:srgbClr val="5A6577"/>
                </a:solidFill>
                <a:latin typeface="Calibri"/>
              </a:rPr>
              <a:t>Costo real devengado del trabajo realizado</a:t>
            </a:r>
            <a:endParaRPr lang="es-ES" sz="1400"/>
          </a:p>
        </p:txBody>
      </p:sp>
      <p:sp>
        <p:nvSpPr>
          <p:cNvPr id="30" name="TextBox 29"/>
          <p:cNvSpPr txBox="1"/>
          <p:nvPr/>
        </p:nvSpPr>
        <p:spPr>
          <a:xfrm>
            <a:off x="8421624" y="4069080"/>
            <a:ext cx="2926080" cy="274320"/>
          </a:xfrm>
          <a:prstGeom prst="rect">
            <a:avLst/>
          </a:prstGeom>
          <a:noFill/>
        </p:spPr>
        <p:txBody>
          <a:bodyPr wrap="square" lIns="0" rIns="0" tIns="0" bIns="0" anchor="t">
            <a:noAutofit/>
          </a:bodyPr>
          <a:lstStyle/>
          <a:p>
            <a:pPr algn="l"/>
            <a:r>
              <a:rPr sz="1000" b="1" i="0" lang="es-ES">
                <a:solidFill>
                  <a:srgbClr val="5A6577"/>
                </a:solidFill>
                <a:latin typeface="Calibri"/>
              </a:rPr>
              <a:t>EJEMPLO</a:t>
            </a:r>
            <a:endParaRPr lang="es-ES" sz="1000"/>
          </a:p>
        </p:txBody>
      </p:sp>
      <p:sp>
        <p:nvSpPr>
          <p:cNvPr id="31" name="TextBox 30"/>
          <p:cNvSpPr txBox="1"/>
          <p:nvPr/>
        </p:nvSpPr>
        <p:spPr>
          <a:xfrm>
            <a:off x="8421624" y="4279392"/>
            <a:ext cx="2926080" cy="548640"/>
          </a:xfrm>
          <a:prstGeom prst="rect">
            <a:avLst/>
          </a:prstGeom>
          <a:noFill/>
        </p:spPr>
        <p:txBody>
          <a:bodyPr wrap="square" lIns="0" rIns="0" tIns="0" bIns="0" anchor="t">
            <a:noAutofit/>
          </a:bodyPr>
          <a:lstStyle/>
          <a:p>
            <a:pPr algn="l"/>
            <a:r>
              <a:rPr sz="2800" b="1" i="0" lang="es-ES">
                <a:solidFill>
                  <a:srgbClr val="C0392B"/>
                </a:solidFill>
                <a:latin typeface="Calibri"/>
              </a:rPr>
              <a:t>55.000 €</a:t>
            </a:r>
            <a:endParaRPr lang="es-ES" sz="2800"/>
          </a:p>
        </p:txBody>
      </p:sp>
      <p:sp>
        <p:nvSpPr>
          <p:cNvPr id="32" name="TextBox 31"/>
          <p:cNvSpPr txBox="1"/>
          <p:nvPr/>
        </p:nvSpPr>
        <p:spPr>
          <a:xfrm>
            <a:off x="8421624" y="4846320"/>
            <a:ext cx="2926080" cy="274320"/>
          </a:xfrm>
          <a:prstGeom prst="rect">
            <a:avLst/>
          </a:prstGeom>
          <a:noFill/>
        </p:spPr>
        <p:txBody>
          <a:bodyPr wrap="square" lIns="0" rIns="0" tIns="0" bIns="0" anchor="t">
            <a:noAutofit/>
          </a:bodyPr>
          <a:lstStyle/>
          <a:p>
            <a:pPr algn="l"/>
            <a:r>
              <a:rPr sz="1100" b="0" i="0" lang="es-ES">
                <a:solidFill>
                  <a:srgbClr val="5A6577"/>
                </a:solidFill>
                <a:latin typeface="Calibri"/>
              </a:rPr>
              <a:t>MS Project en español: </a:t>
            </a:r>
            <a:r>
              <a:rPr sz="1100" b="1" i="0" lang="es-ES">
                <a:solidFill>
                  <a:srgbClr val="5A6577"/>
                </a:solidFill>
                <a:latin typeface="Calibri"/>
              </a:rPr>
              <a:t>CRTR</a:t>
            </a:r>
            <a:endParaRPr lang="es-ES" sz="1100"/>
          </a:p>
        </p:txBody>
      </p:sp>
      <p:sp>
        <p:nvSpPr>
          <p:cNvPr id="33" name="Rounded Rectangle 32"/>
          <p:cNvSpPr/>
          <p:nvPr/>
        </p:nvSpPr>
        <p:spPr>
          <a:xfrm>
            <a:off x="548640" y="5440680"/>
            <a:ext cx="11064240" cy="731520"/>
          </a:xfrm>
          <a:prstGeom prst="roundRect">
            <a:avLst>
              <a:gd name="adj" fmla="val 15000"/>
            </a:avLst>
          </a:prstGeom>
          <a:solidFill>
            <a:srgbClr val="1B2B48"/>
          </a:solidFill>
          <a:ln>
            <a:noFill/>
          </a:ln>
        </p:spPr>
        <p:txBody>
          <a:bodyPr rtlCol="0" anchor="ctr" wrap="square" lIns="228600" rIns="228600" tIns="228600" bIns="228600">
            <a:noAutofit/>
          </a:bodyPr>
          <a:lstStyle/>
          <a:p>
            <a:pPr algn="l"/>
            <a:r>
              <a:rPr sz="2000" b="1" i="0" lang="es-ES">
                <a:solidFill>
                  <a:srgbClr val="F2B134"/>
                </a:solidFill>
                <a:latin typeface="Calibri"/>
              </a:rPr>
              <a:t>BAC = 100.000 €   </a:t>
            </a:r>
            <a:r>
              <a:rPr sz="1500" b="0" i="0" lang="es-ES">
                <a:solidFill>
                  <a:srgbClr val="FFFFFF"/>
                </a:solidFill>
                <a:latin typeface="Calibri"/>
              </a:rPr>
              <a:t>Budget at Completion: suma del PV de todos los meses (se ingresa en el libro Excel)</a:t>
            </a:r>
            <a:endParaRPr lang="es-ES" sz="140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La curva S resume el estado del proyecto</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EVM</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6</a:t>
            </a:fld>
            <a:endParaRPr lang="es-ES" sz="1000"/>
          </a:p>
        </p:txBody>
      </p:sp>
      <p:graphicFrame>
        <p:nvGraphicFramePr>
          <p:cNvPr id="6" name="Chart 5"/>
          <p:cNvGraphicFramePr>
            <a:graphicFrameLocks noGrp="1"/>
          </p:cNvGraphicFramePr>
          <p:nvPr/>
        </p:nvGraphicFramePr>
        <p:xfrm>
          <a:off x="411480" y="1691640"/>
          <a:ext cx="7863840" cy="4526280"/>
        </p:xfrm>
        <a:graphic>
          <a:graphicData uri="http://schemas.openxmlformats.org/drawingml/2006/chart">
            <c:chart xmlns:c="http://schemas.openxmlformats.org/drawingml/2006/chart" r:id="rId2"/>
          </a:graphicData>
        </a:graphic>
      </p:graphicFrame>
      <p:sp>
        <p:nvSpPr>
          <p:cNvPr id="7" name="TextBox 6"/>
          <p:cNvSpPr txBox="1"/>
          <p:nvPr/>
        </p:nvSpPr>
        <p:spPr>
          <a:xfrm>
            <a:off x="548640" y="1417320"/>
            <a:ext cx="5486400" cy="274320"/>
          </a:xfrm>
          <a:prstGeom prst="rect">
            <a:avLst/>
          </a:prstGeom>
          <a:noFill/>
        </p:spPr>
        <p:txBody>
          <a:bodyPr wrap="square" lIns="0" rIns="0" tIns="0" bIns="0" anchor="t">
            <a:noAutofit/>
          </a:bodyPr>
          <a:lstStyle/>
          <a:p>
            <a:pPr algn="l"/>
            <a:r>
              <a:rPr sz="1200" b="0" i="0" lang="es-ES">
                <a:solidFill>
                  <a:srgbClr val="5A6577"/>
                </a:solidFill>
                <a:latin typeface="Calibri"/>
              </a:rPr>
              <a:t>Proyecto de ejemplo · millones de euros acumulados por mes</a:t>
            </a:r>
            <a:endParaRPr lang="es-ES" sz="1200"/>
          </a:p>
        </p:txBody>
      </p:sp>
      <p:sp>
        <p:nvSpPr>
          <p:cNvPr id="8" name="TextBox 7"/>
          <p:cNvSpPr txBox="1"/>
          <p:nvPr/>
        </p:nvSpPr>
        <p:spPr>
          <a:xfrm>
            <a:off x="8549640" y="1508760"/>
            <a:ext cx="3108960" cy="320040"/>
          </a:xfrm>
          <a:prstGeom prst="rect">
            <a:avLst/>
          </a:prstGeom>
          <a:noFill/>
        </p:spPr>
        <p:txBody>
          <a:bodyPr wrap="square" lIns="0" rIns="0" tIns="0" bIns="0" anchor="t">
            <a:noAutofit/>
          </a:bodyPr>
          <a:lstStyle/>
          <a:p>
            <a:pPr algn="l"/>
            <a:r>
              <a:rPr sz="1600" b="1" i="0" lang="es-ES">
                <a:solidFill>
                  <a:srgbClr val="1B2B48"/>
                </a:solidFill>
                <a:latin typeface="Calibri"/>
              </a:rPr>
              <a:t>A dic-2027 (mes 24)</a:t>
            </a:r>
            <a:endParaRPr lang="es-ES" sz="1600"/>
          </a:p>
        </p:txBody>
      </p:sp>
      <p:sp>
        <p:nvSpPr>
          <p:cNvPr id="9" name="Oval 8"/>
          <p:cNvSpPr/>
          <p:nvPr/>
        </p:nvSpPr>
        <p:spPr>
          <a:xfrm>
            <a:off x="8586215" y="2066543"/>
            <a:ext cx="566928" cy="566928"/>
          </a:xfrm>
          <a:prstGeom prst="ellipse">
            <a:avLst/>
          </a:prstGeom>
          <a:solidFill>
            <a:srgbClr val="2F5597"/>
          </a:solidFill>
          <a:ln>
            <a:noFill/>
          </a:ln>
        </p:spPr>
        <p:txBody>
          <a:bodyPr rtlCol="0" anchor="ctr" wrap="square" lIns="0" rIns="0" tIns="0" bIns="0">
            <a:noAutofit/>
          </a:bodyPr>
          <a:lstStyle/>
          <a:p>
            <a:pPr algn="ctr"/>
            <a:r>
              <a:rPr sz="1500" b="1" i="0" lang="es-ES">
                <a:solidFill>
                  <a:srgbClr val="FFFFFF"/>
                </a:solidFill>
                <a:latin typeface="Calibri"/>
              </a:rPr>
              <a:t>PV</a:t>
            </a:r>
            <a:endParaRPr lang="es-ES" sz="1500"/>
          </a:p>
        </p:txBody>
      </p:sp>
      <p:sp>
        <p:nvSpPr>
          <p:cNvPr id="10" name="TextBox 9"/>
          <p:cNvSpPr txBox="1"/>
          <p:nvPr/>
        </p:nvSpPr>
        <p:spPr>
          <a:xfrm>
            <a:off x="9326880" y="1984248"/>
            <a:ext cx="2286000" cy="457200"/>
          </a:xfrm>
          <a:prstGeom prst="rect">
            <a:avLst/>
          </a:prstGeom>
          <a:noFill/>
        </p:spPr>
        <p:txBody>
          <a:bodyPr wrap="square" lIns="0" rIns="0" tIns="0" bIns="0" anchor="t">
            <a:noAutofit/>
          </a:bodyPr>
          <a:lstStyle/>
          <a:p>
            <a:pPr algn="l"/>
            <a:r>
              <a:rPr sz="2600" b="1" i="0" lang="es-ES">
                <a:solidFill>
                  <a:srgbClr val="2F5597"/>
                </a:solidFill>
                <a:latin typeface="Calibri"/>
              </a:rPr>
              <a:t>12,1 M€</a:t>
            </a:r>
            <a:endParaRPr lang="es-ES" sz="2600"/>
          </a:p>
        </p:txBody>
      </p:sp>
      <p:sp>
        <p:nvSpPr>
          <p:cNvPr id="11" name="TextBox 10"/>
          <p:cNvSpPr txBox="1"/>
          <p:nvPr/>
        </p:nvSpPr>
        <p:spPr>
          <a:xfrm>
            <a:off x="9326880" y="2441448"/>
            <a:ext cx="2286000" cy="274320"/>
          </a:xfrm>
          <a:prstGeom prst="rect">
            <a:avLst/>
          </a:prstGeom>
          <a:noFill/>
        </p:spPr>
        <p:txBody>
          <a:bodyPr wrap="square" lIns="0" rIns="0" tIns="0" bIns="0" anchor="t">
            <a:noAutofit/>
          </a:bodyPr>
          <a:lstStyle/>
          <a:p>
            <a:pPr algn="l"/>
            <a:r>
              <a:rPr sz="1300" b="0" i="0" lang="es-ES">
                <a:solidFill>
                  <a:srgbClr val="5A6577"/>
                </a:solidFill>
                <a:latin typeface="Calibri"/>
              </a:rPr>
              <a:t>27 % planificado</a:t>
            </a:r>
            <a:endParaRPr lang="es-ES" sz="1300"/>
          </a:p>
        </p:txBody>
      </p:sp>
      <p:sp>
        <p:nvSpPr>
          <p:cNvPr id="12" name="Oval 11"/>
          <p:cNvSpPr/>
          <p:nvPr/>
        </p:nvSpPr>
        <p:spPr>
          <a:xfrm>
            <a:off x="8586215" y="3026664"/>
            <a:ext cx="566928" cy="566928"/>
          </a:xfrm>
          <a:prstGeom prst="ellipse">
            <a:avLst/>
          </a:prstGeom>
          <a:solidFill>
            <a:srgbClr val="4E8A3E"/>
          </a:solidFill>
          <a:ln>
            <a:noFill/>
          </a:ln>
        </p:spPr>
        <p:txBody>
          <a:bodyPr rtlCol="0" anchor="ctr" wrap="square" lIns="0" rIns="0" tIns="0" bIns="0">
            <a:noAutofit/>
          </a:bodyPr>
          <a:lstStyle/>
          <a:p>
            <a:pPr algn="ctr"/>
            <a:r>
              <a:rPr sz="1500" b="1" i="0" lang="es-ES">
                <a:solidFill>
                  <a:srgbClr val="FFFFFF"/>
                </a:solidFill>
                <a:latin typeface="Calibri"/>
              </a:rPr>
              <a:t>EV</a:t>
            </a:r>
            <a:endParaRPr lang="es-ES" sz="1500"/>
          </a:p>
        </p:txBody>
      </p:sp>
      <p:sp>
        <p:nvSpPr>
          <p:cNvPr id="13" name="TextBox 12"/>
          <p:cNvSpPr txBox="1"/>
          <p:nvPr/>
        </p:nvSpPr>
        <p:spPr>
          <a:xfrm>
            <a:off x="9326880" y="2944368"/>
            <a:ext cx="2286000" cy="457200"/>
          </a:xfrm>
          <a:prstGeom prst="rect">
            <a:avLst/>
          </a:prstGeom>
          <a:noFill/>
        </p:spPr>
        <p:txBody>
          <a:bodyPr wrap="square" lIns="0" rIns="0" tIns="0" bIns="0" anchor="t">
            <a:noAutofit/>
          </a:bodyPr>
          <a:lstStyle/>
          <a:p>
            <a:pPr algn="l"/>
            <a:r>
              <a:rPr sz="2600" b="1" i="0" lang="es-ES">
                <a:solidFill>
                  <a:srgbClr val="4E8A3E"/>
                </a:solidFill>
                <a:latin typeface="Calibri"/>
              </a:rPr>
              <a:t>10,2 M€</a:t>
            </a:r>
            <a:endParaRPr lang="es-ES" sz="2600"/>
          </a:p>
        </p:txBody>
      </p:sp>
      <p:sp>
        <p:nvSpPr>
          <p:cNvPr id="14" name="TextBox 13"/>
          <p:cNvSpPr txBox="1"/>
          <p:nvPr/>
        </p:nvSpPr>
        <p:spPr>
          <a:xfrm>
            <a:off x="9326880" y="3401568"/>
            <a:ext cx="2286000" cy="274320"/>
          </a:xfrm>
          <a:prstGeom prst="rect">
            <a:avLst/>
          </a:prstGeom>
          <a:noFill/>
        </p:spPr>
        <p:txBody>
          <a:bodyPr wrap="square" lIns="0" rIns="0" tIns="0" bIns="0" anchor="t">
            <a:noAutofit/>
          </a:bodyPr>
          <a:lstStyle/>
          <a:p>
            <a:pPr algn="l"/>
            <a:r>
              <a:rPr sz="1300" b="0" i="0" lang="es-ES">
                <a:solidFill>
                  <a:srgbClr val="5A6577"/>
                </a:solidFill>
                <a:latin typeface="Calibri"/>
              </a:rPr>
              <a:t>23 % completado</a:t>
            </a:r>
            <a:endParaRPr lang="es-ES" sz="1300"/>
          </a:p>
        </p:txBody>
      </p:sp>
      <p:sp>
        <p:nvSpPr>
          <p:cNvPr id="15" name="Oval 14"/>
          <p:cNvSpPr/>
          <p:nvPr/>
        </p:nvSpPr>
        <p:spPr>
          <a:xfrm>
            <a:off x="8586215" y="3986784"/>
            <a:ext cx="566928" cy="566928"/>
          </a:xfrm>
          <a:prstGeom prst="ellipse">
            <a:avLst/>
          </a:prstGeom>
          <a:solidFill>
            <a:srgbClr val="C0392B"/>
          </a:solidFill>
          <a:ln>
            <a:noFill/>
          </a:ln>
        </p:spPr>
        <p:txBody>
          <a:bodyPr rtlCol="0" anchor="ctr" wrap="square" lIns="0" rIns="0" tIns="0" bIns="0">
            <a:noAutofit/>
          </a:bodyPr>
          <a:lstStyle/>
          <a:p>
            <a:pPr algn="ctr"/>
            <a:r>
              <a:rPr sz="1500" b="1" i="0" lang="es-ES">
                <a:solidFill>
                  <a:srgbClr val="FFFFFF"/>
                </a:solidFill>
                <a:latin typeface="Calibri"/>
              </a:rPr>
              <a:t>AC</a:t>
            </a:r>
            <a:endParaRPr lang="es-ES" sz="1500"/>
          </a:p>
        </p:txBody>
      </p:sp>
      <p:sp>
        <p:nvSpPr>
          <p:cNvPr id="16" name="TextBox 15"/>
          <p:cNvSpPr txBox="1"/>
          <p:nvPr/>
        </p:nvSpPr>
        <p:spPr>
          <a:xfrm>
            <a:off x="9326880" y="3904487"/>
            <a:ext cx="2286000" cy="457200"/>
          </a:xfrm>
          <a:prstGeom prst="rect">
            <a:avLst/>
          </a:prstGeom>
          <a:noFill/>
        </p:spPr>
        <p:txBody>
          <a:bodyPr wrap="square" lIns="0" rIns="0" tIns="0" bIns="0" anchor="t">
            <a:noAutofit/>
          </a:bodyPr>
          <a:lstStyle/>
          <a:p>
            <a:pPr algn="l"/>
            <a:r>
              <a:rPr sz="2600" b="1" i="0" lang="es-ES">
                <a:solidFill>
                  <a:srgbClr val="C0392B"/>
                </a:solidFill>
                <a:latin typeface="Calibri"/>
              </a:rPr>
              <a:t>13,5 M€</a:t>
            </a:r>
            <a:endParaRPr lang="es-ES" sz="2600"/>
          </a:p>
        </p:txBody>
      </p:sp>
      <p:sp>
        <p:nvSpPr>
          <p:cNvPr id="17" name="TextBox 16"/>
          <p:cNvSpPr txBox="1"/>
          <p:nvPr/>
        </p:nvSpPr>
        <p:spPr>
          <a:xfrm>
            <a:off x="9326880" y="4361688"/>
            <a:ext cx="2286000" cy="274320"/>
          </a:xfrm>
          <a:prstGeom prst="rect">
            <a:avLst/>
          </a:prstGeom>
          <a:noFill/>
        </p:spPr>
        <p:txBody>
          <a:bodyPr wrap="square" lIns="0" rIns="0" tIns="0" bIns="0" anchor="t">
            <a:noAutofit/>
          </a:bodyPr>
          <a:lstStyle/>
          <a:p>
            <a:pPr algn="l"/>
            <a:r>
              <a:rPr sz="1300" b="0" i="0" lang="es-ES">
                <a:solidFill>
                  <a:srgbClr val="5A6577"/>
                </a:solidFill>
                <a:latin typeface="Calibri"/>
              </a:rPr>
              <a:t>31 % gastado</a:t>
            </a:r>
            <a:endParaRPr lang="es-ES" sz="1300"/>
          </a:p>
        </p:txBody>
      </p:sp>
      <p:sp>
        <p:nvSpPr>
          <p:cNvPr id="18" name="Rounded Rectangle 17"/>
          <p:cNvSpPr/>
          <p:nvPr/>
        </p:nvSpPr>
        <p:spPr>
          <a:xfrm>
            <a:off x="8549640" y="4937760"/>
            <a:ext cx="3063240" cy="1280160"/>
          </a:xfrm>
          <a:prstGeom prst="roundRect">
            <a:avLst>
              <a:gd name="adj" fmla="val 8571"/>
            </a:avLst>
          </a:prstGeom>
          <a:solidFill>
            <a:srgbClr val="F3F5F9"/>
          </a:solidFill>
          <a:ln>
            <a:noFill/>
          </a:ln>
        </p:spPr>
        <p:txBody>
          <a:bodyPr rtlCol="0" anchor="ctr" wrap="square" lIns="137160" rIns="137160" tIns="137160" bIns="137160">
            <a:noAutofit/>
          </a:bodyPr>
          <a:lstStyle/>
          <a:p>
            <a:pPr algn="l">
              <a:spcAft>
                <a:spcPts val="600"/>
              </a:spcAft>
            </a:pPr>
            <a:r>
              <a:rPr sz="1600" b="1" i="0" lang="es-ES">
                <a:solidFill>
                  <a:srgbClr val="4E8A3E"/>
                </a:solidFill>
                <a:latin typeface="Calibri"/>
              </a:rPr>
              <a:t>EV &lt; PV</a:t>
            </a:r>
            <a:r>
              <a:rPr sz="1600" b="0" i="0" lang="es-ES">
                <a:solidFill>
                  <a:srgbClr val="1B2B48"/>
                </a:solidFill>
                <a:latin typeface="Calibri"/>
              </a:rPr>
              <a:t> → atraso</a:t>
            </a:r>
            <a:endParaRPr lang="es-ES" sz="1600"/>
          </a:p>
          <a:p>
            <a:pPr algn="l"/>
            <a:r>
              <a:rPr sz="1600" b="1" i="0" lang="es-ES">
                <a:solidFill>
                  <a:srgbClr val="C0392B"/>
                </a:solidFill>
                <a:latin typeface="Calibri"/>
              </a:rPr>
              <a:t>AC &gt; EV</a:t>
            </a:r>
            <a:r>
              <a:rPr sz="1600" b="0" i="0" lang="es-ES">
                <a:solidFill>
                  <a:srgbClr val="1B2B48"/>
                </a:solidFill>
                <a:latin typeface="Calibri"/>
              </a:rPr>
              <a:t> → sobrecosto</a:t>
            </a:r>
            <a:endParaRPr lang="es-ES" sz="16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SV, CV, SPI y CPI: ¿vamos bien?</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EVM</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7</a:t>
            </a:fld>
            <a:endParaRPr lang="es-ES" sz="1000"/>
          </a:p>
        </p:txBody>
      </p:sp>
      <p:sp>
        <p:nvSpPr>
          <p:cNvPr id="6" name="Rounded Rectangle 5"/>
          <p:cNvSpPr/>
          <p:nvPr/>
        </p:nvSpPr>
        <p:spPr>
          <a:xfrm>
            <a:off x="548640" y="1463040"/>
            <a:ext cx="3429000" cy="1920240"/>
          </a:xfrm>
          <a:prstGeom prst="roundRect">
            <a:avLst>
              <a:gd name="adj" fmla="val 5714"/>
            </a:avLst>
          </a:prstGeom>
          <a:solidFill>
            <a:srgbClr val="FFFFFF"/>
          </a:solidFill>
          <a:ln w="12700">
            <a:solidFill>
              <a:srgbClr val="D5DBE5"/>
            </a:solidFill>
          </a:ln>
        </p:spPr>
        <p:txBody>
          <a:bodyPr rtlCol="0" anchor="ctr" wrap="square" lIns="73152" rIns="73152" tIns="73152" bIns="73152">
            <a:noAutofit/>
          </a:bodyPr>
          <a:lstStyle/>
          <a:p>
            <a:pPr algn="ctr"/>
          </a:p>
        </p:txBody>
      </p:sp>
      <p:sp>
        <p:nvSpPr>
          <p:cNvPr id="7" name="TextBox 6"/>
          <p:cNvSpPr txBox="1"/>
          <p:nvPr/>
        </p:nvSpPr>
        <p:spPr>
          <a:xfrm>
            <a:off x="822959" y="1627632"/>
            <a:ext cx="2926080" cy="384048"/>
          </a:xfrm>
          <a:prstGeom prst="rect">
            <a:avLst/>
          </a:prstGeom>
          <a:noFill/>
        </p:spPr>
        <p:txBody>
          <a:bodyPr wrap="square" lIns="0" rIns="0" tIns="0" bIns="0" anchor="t">
            <a:noAutofit/>
          </a:bodyPr>
          <a:lstStyle/>
          <a:p>
            <a:pPr algn="l"/>
            <a:r>
              <a:rPr sz="2000" b="1" i="0" lang="es-ES">
                <a:solidFill>
                  <a:srgbClr val="1B2B48"/>
                </a:solidFill>
                <a:latin typeface="Calibri"/>
              </a:rPr>
              <a:t>SV = EV − PV</a:t>
            </a:r>
            <a:endParaRPr lang="es-ES" sz="2000"/>
          </a:p>
        </p:txBody>
      </p:sp>
      <p:sp>
        <p:nvSpPr>
          <p:cNvPr id="8" name="TextBox 7"/>
          <p:cNvSpPr txBox="1"/>
          <p:nvPr/>
        </p:nvSpPr>
        <p:spPr>
          <a:xfrm>
            <a:off x="822959" y="2011680"/>
            <a:ext cx="2926080" cy="274320"/>
          </a:xfrm>
          <a:prstGeom prst="rect">
            <a:avLst/>
          </a:prstGeom>
          <a:noFill/>
        </p:spPr>
        <p:txBody>
          <a:bodyPr wrap="square" lIns="0" rIns="0" tIns="0" bIns="0" anchor="t">
            <a:noAutofit/>
          </a:bodyPr>
          <a:lstStyle/>
          <a:p>
            <a:pPr algn="l"/>
            <a:r>
              <a:rPr sz="1200" b="0" i="0" lang="es-ES">
                <a:solidFill>
                  <a:srgbClr val="5A6577"/>
                </a:solidFill>
                <a:latin typeface="Calibri"/>
              </a:rPr>
              <a:t>Schedule Variance</a:t>
            </a:r>
            <a:endParaRPr lang="es-ES" sz="1200"/>
          </a:p>
        </p:txBody>
      </p:sp>
      <p:sp>
        <p:nvSpPr>
          <p:cNvPr id="9" name="TextBox 8"/>
          <p:cNvSpPr txBox="1"/>
          <p:nvPr/>
        </p:nvSpPr>
        <p:spPr>
          <a:xfrm>
            <a:off x="822959" y="2267712"/>
            <a:ext cx="2926080" cy="548640"/>
          </a:xfrm>
          <a:prstGeom prst="rect">
            <a:avLst/>
          </a:prstGeom>
          <a:noFill/>
        </p:spPr>
        <p:txBody>
          <a:bodyPr wrap="square" lIns="0" rIns="0" tIns="0" bIns="0" anchor="t">
            <a:noAutofit/>
          </a:bodyPr>
          <a:lstStyle/>
          <a:p>
            <a:pPr algn="l"/>
            <a:r>
              <a:rPr sz="3000" b="1" i="0" lang="es-ES">
                <a:solidFill>
                  <a:srgbClr val="C0392B"/>
                </a:solidFill>
                <a:latin typeface="Calibri"/>
              </a:rPr>
              <a:t>−1,90 M€</a:t>
            </a:r>
            <a:endParaRPr lang="es-ES" sz="3000"/>
          </a:p>
        </p:txBody>
      </p:sp>
      <p:sp>
        <p:nvSpPr>
          <p:cNvPr id="10" name="TextBox 9"/>
          <p:cNvSpPr txBox="1"/>
          <p:nvPr/>
        </p:nvSpPr>
        <p:spPr>
          <a:xfrm>
            <a:off x="822959" y="2834640"/>
            <a:ext cx="2971800" cy="457200"/>
          </a:xfrm>
          <a:prstGeom prst="rect">
            <a:avLst/>
          </a:prstGeom>
          <a:noFill/>
        </p:spPr>
        <p:txBody>
          <a:bodyPr wrap="square" lIns="0" rIns="0" tIns="0" bIns="0" anchor="t">
            <a:noAutofit/>
          </a:bodyPr>
          <a:lstStyle/>
          <a:p>
            <a:pPr algn="l"/>
            <a:r>
              <a:rPr sz="1300" b="0" i="0" lang="es-ES">
                <a:solidFill>
                  <a:srgbClr val="5A6577"/>
                </a:solidFill>
                <a:latin typeface="Calibri"/>
              </a:rPr>
              <a:t>&lt; 0: atraso (en valor, no en tiempo)</a:t>
            </a:r>
            <a:endParaRPr lang="es-ES" sz="1300"/>
          </a:p>
        </p:txBody>
      </p:sp>
      <p:sp>
        <p:nvSpPr>
          <p:cNvPr id="11" name="Rounded Rectangle 10"/>
          <p:cNvSpPr/>
          <p:nvPr/>
        </p:nvSpPr>
        <p:spPr>
          <a:xfrm>
            <a:off x="4160520" y="1463040"/>
            <a:ext cx="3429000" cy="1920240"/>
          </a:xfrm>
          <a:prstGeom prst="roundRect">
            <a:avLst>
              <a:gd name="adj" fmla="val 5714"/>
            </a:avLst>
          </a:prstGeom>
          <a:solidFill>
            <a:srgbClr val="FFFFFF"/>
          </a:solidFill>
          <a:ln w="12700">
            <a:solidFill>
              <a:srgbClr val="D5DBE5"/>
            </a:solidFill>
          </a:ln>
        </p:spPr>
        <p:txBody>
          <a:bodyPr rtlCol="0" anchor="ctr" wrap="square" lIns="73152" rIns="73152" tIns="73152" bIns="73152">
            <a:noAutofit/>
          </a:bodyPr>
          <a:lstStyle/>
          <a:p>
            <a:pPr algn="ctr"/>
          </a:p>
        </p:txBody>
      </p:sp>
      <p:sp>
        <p:nvSpPr>
          <p:cNvPr id="12" name="TextBox 11"/>
          <p:cNvSpPr txBox="1"/>
          <p:nvPr/>
        </p:nvSpPr>
        <p:spPr>
          <a:xfrm>
            <a:off x="4434840" y="1627632"/>
            <a:ext cx="2926080" cy="384048"/>
          </a:xfrm>
          <a:prstGeom prst="rect">
            <a:avLst/>
          </a:prstGeom>
          <a:noFill/>
        </p:spPr>
        <p:txBody>
          <a:bodyPr wrap="square" lIns="0" rIns="0" tIns="0" bIns="0" anchor="t">
            <a:noAutofit/>
          </a:bodyPr>
          <a:lstStyle/>
          <a:p>
            <a:pPr algn="l"/>
            <a:r>
              <a:rPr sz="2000" b="1" i="0" lang="es-ES">
                <a:solidFill>
                  <a:srgbClr val="1B2B48"/>
                </a:solidFill>
                <a:latin typeface="Calibri"/>
              </a:rPr>
              <a:t>CV = EV − AC</a:t>
            </a:r>
            <a:endParaRPr lang="es-ES" sz="2000"/>
          </a:p>
        </p:txBody>
      </p:sp>
      <p:sp>
        <p:nvSpPr>
          <p:cNvPr id="13" name="TextBox 12"/>
          <p:cNvSpPr txBox="1"/>
          <p:nvPr/>
        </p:nvSpPr>
        <p:spPr>
          <a:xfrm>
            <a:off x="4434840" y="2011680"/>
            <a:ext cx="2926080" cy="274320"/>
          </a:xfrm>
          <a:prstGeom prst="rect">
            <a:avLst/>
          </a:prstGeom>
          <a:noFill/>
        </p:spPr>
        <p:txBody>
          <a:bodyPr wrap="square" lIns="0" rIns="0" tIns="0" bIns="0" anchor="t">
            <a:noAutofit/>
          </a:bodyPr>
          <a:lstStyle/>
          <a:p>
            <a:pPr algn="l"/>
            <a:r>
              <a:rPr sz="1200" b="0" i="0" lang="es-ES">
                <a:solidFill>
                  <a:srgbClr val="5A6577"/>
                </a:solidFill>
                <a:latin typeface="Calibri"/>
              </a:rPr>
              <a:t>Cost Variance</a:t>
            </a:r>
            <a:endParaRPr lang="es-ES" sz="1200"/>
          </a:p>
        </p:txBody>
      </p:sp>
      <p:sp>
        <p:nvSpPr>
          <p:cNvPr id="14" name="TextBox 13"/>
          <p:cNvSpPr txBox="1"/>
          <p:nvPr/>
        </p:nvSpPr>
        <p:spPr>
          <a:xfrm>
            <a:off x="4434840" y="2267712"/>
            <a:ext cx="2926080" cy="548640"/>
          </a:xfrm>
          <a:prstGeom prst="rect">
            <a:avLst/>
          </a:prstGeom>
          <a:noFill/>
        </p:spPr>
        <p:txBody>
          <a:bodyPr wrap="square" lIns="0" rIns="0" tIns="0" bIns="0" anchor="t">
            <a:noAutofit/>
          </a:bodyPr>
          <a:lstStyle/>
          <a:p>
            <a:pPr algn="l"/>
            <a:r>
              <a:rPr sz="3000" b="1" i="0" lang="es-ES">
                <a:solidFill>
                  <a:srgbClr val="C0392B"/>
                </a:solidFill>
                <a:latin typeface="Calibri"/>
              </a:rPr>
              <a:t>−3,30 M€</a:t>
            </a:r>
            <a:endParaRPr lang="es-ES" sz="3000"/>
          </a:p>
        </p:txBody>
      </p:sp>
      <p:sp>
        <p:nvSpPr>
          <p:cNvPr id="15" name="TextBox 14"/>
          <p:cNvSpPr txBox="1"/>
          <p:nvPr/>
        </p:nvSpPr>
        <p:spPr>
          <a:xfrm>
            <a:off x="4434840" y="2834640"/>
            <a:ext cx="2971800" cy="457200"/>
          </a:xfrm>
          <a:prstGeom prst="rect">
            <a:avLst/>
          </a:prstGeom>
          <a:noFill/>
        </p:spPr>
        <p:txBody>
          <a:bodyPr wrap="square" lIns="0" rIns="0" tIns="0" bIns="0" anchor="t">
            <a:noAutofit/>
          </a:bodyPr>
          <a:lstStyle/>
          <a:p>
            <a:pPr algn="l"/>
            <a:r>
              <a:rPr sz="1300" b="0" i="0" lang="es-ES">
                <a:solidFill>
                  <a:srgbClr val="5A6577"/>
                </a:solidFill>
                <a:latin typeface="Calibri"/>
              </a:rPr>
              <a:t>&lt; 0: sobrecosto</a:t>
            </a:r>
            <a:endParaRPr lang="es-ES" sz="1300"/>
          </a:p>
        </p:txBody>
      </p:sp>
      <p:sp>
        <p:nvSpPr>
          <p:cNvPr id="16" name="Rounded Rectangle 15"/>
          <p:cNvSpPr/>
          <p:nvPr/>
        </p:nvSpPr>
        <p:spPr>
          <a:xfrm>
            <a:off x="548640" y="3566160"/>
            <a:ext cx="3429000" cy="1920240"/>
          </a:xfrm>
          <a:prstGeom prst="roundRect">
            <a:avLst>
              <a:gd name="adj" fmla="val 5714"/>
            </a:avLst>
          </a:prstGeom>
          <a:solidFill>
            <a:srgbClr val="FFFFFF"/>
          </a:solidFill>
          <a:ln w="12700">
            <a:solidFill>
              <a:srgbClr val="D5DBE5"/>
            </a:solidFill>
          </a:ln>
        </p:spPr>
        <p:txBody>
          <a:bodyPr rtlCol="0" anchor="ctr" wrap="square" lIns="73152" rIns="73152" tIns="73152" bIns="73152">
            <a:noAutofit/>
          </a:bodyPr>
          <a:lstStyle/>
          <a:p>
            <a:pPr algn="ctr"/>
          </a:p>
        </p:txBody>
      </p:sp>
      <p:sp>
        <p:nvSpPr>
          <p:cNvPr id="17" name="TextBox 16"/>
          <p:cNvSpPr txBox="1"/>
          <p:nvPr/>
        </p:nvSpPr>
        <p:spPr>
          <a:xfrm>
            <a:off x="822959" y="3730752"/>
            <a:ext cx="2926080" cy="384048"/>
          </a:xfrm>
          <a:prstGeom prst="rect">
            <a:avLst/>
          </a:prstGeom>
          <a:noFill/>
        </p:spPr>
        <p:txBody>
          <a:bodyPr wrap="square" lIns="0" rIns="0" tIns="0" bIns="0" anchor="t">
            <a:noAutofit/>
          </a:bodyPr>
          <a:lstStyle/>
          <a:p>
            <a:pPr algn="l"/>
            <a:r>
              <a:rPr sz="2000" b="1" i="0" lang="es-ES">
                <a:solidFill>
                  <a:srgbClr val="1B2B48"/>
                </a:solidFill>
                <a:latin typeface="Calibri"/>
              </a:rPr>
              <a:t>SPI = EV / PV</a:t>
            </a:r>
            <a:endParaRPr lang="es-ES" sz="2000"/>
          </a:p>
        </p:txBody>
      </p:sp>
      <p:sp>
        <p:nvSpPr>
          <p:cNvPr id="18" name="TextBox 17"/>
          <p:cNvSpPr txBox="1"/>
          <p:nvPr/>
        </p:nvSpPr>
        <p:spPr>
          <a:xfrm>
            <a:off x="822959" y="4114800"/>
            <a:ext cx="2926080" cy="274320"/>
          </a:xfrm>
          <a:prstGeom prst="rect">
            <a:avLst/>
          </a:prstGeom>
          <a:noFill/>
        </p:spPr>
        <p:txBody>
          <a:bodyPr wrap="square" lIns="0" rIns="0" tIns="0" bIns="0" anchor="t">
            <a:noAutofit/>
          </a:bodyPr>
          <a:lstStyle/>
          <a:p>
            <a:pPr algn="l"/>
            <a:r>
              <a:rPr sz="1200" b="0" i="0" lang="es-ES">
                <a:solidFill>
                  <a:srgbClr val="5A6577"/>
                </a:solidFill>
                <a:latin typeface="Calibri"/>
              </a:rPr>
              <a:t>Schedule Performance Index</a:t>
            </a:r>
            <a:endParaRPr lang="es-ES" sz="1200"/>
          </a:p>
        </p:txBody>
      </p:sp>
      <p:sp>
        <p:nvSpPr>
          <p:cNvPr id="19" name="TextBox 18"/>
          <p:cNvSpPr txBox="1"/>
          <p:nvPr/>
        </p:nvSpPr>
        <p:spPr>
          <a:xfrm>
            <a:off x="822959" y="4370832"/>
            <a:ext cx="2926080" cy="548640"/>
          </a:xfrm>
          <a:prstGeom prst="rect">
            <a:avLst/>
          </a:prstGeom>
          <a:noFill/>
        </p:spPr>
        <p:txBody>
          <a:bodyPr wrap="square" lIns="0" rIns="0" tIns="0" bIns="0" anchor="t">
            <a:noAutofit/>
          </a:bodyPr>
          <a:lstStyle/>
          <a:p>
            <a:pPr algn="l"/>
            <a:r>
              <a:rPr sz="3000" b="1" i="0" lang="es-ES">
                <a:solidFill>
                  <a:srgbClr val="1B2B48"/>
                </a:solidFill>
                <a:latin typeface="Calibri"/>
              </a:rPr>
              <a:t>0,84</a:t>
            </a:r>
            <a:endParaRPr lang="es-ES" sz="3000"/>
          </a:p>
        </p:txBody>
      </p:sp>
      <p:sp>
        <p:nvSpPr>
          <p:cNvPr id="20" name="TextBox 19"/>
          <p:cNvSpPr txBox="1"/>
          <p:nvPr/>
        </p:nvSpPr>
        <p:spPr>
          <a:xfrm>
            <a:off x="822959" y="4937760"/>
            <a:ext cx="2971800" cy="457200"/>
          </a:xfrm>
          <a:prstGeom prst="rect">
            <a:avLst/>
          </a:prstGeom>
          <a:noFill/>
        </p:spPr>
        <p:txBody>
          <a:bodyPr wrap="square" lIns="0" rIns="0" tIns="0" bIns="0" anchor="t">
            <a:noAutofit/>
          </a:bodyPr>
          <a:lstStyle/>
          <a:p>
            <a:pPr algn="l"/>
            <a:r>
              <a:rPr sz="1300" b="0" i="0" lang="es-ES">
                <a:solidFill>
                  <a:srgbClr val="5A6577"/>
                </a:solidFill>
                <a:latin typeface="Calibri"/>
              </a:rPr>
              <a:t>Se ganaron 0,84 € por cada euro planificado</a:t>
            </a:r>
            <a:endParaRPr lang="es-ES" sz="1300"/>
          </a:p>
        </p:txBody>
      </p:sp>
      <p:sp>
        <p:nvSpPr>
          <p:cNvPr id="21" name="Rounded Rectangle 20"/>
          <p:cNvSpPr/>
          <p:nvPr/>
        </p:nvSpPr>
        <p:spPr>
          <a:xfrm>
            <a:off x="4160520" y="3566160"/>
            <a:ext cx="3429000" cy="1920240"/>
          </a:xfrm>
          <a:prstGeom prst="roundRect">
            <a:avLst>
              <a:gd name="adj" fmla="val 5714"/>
            </a:avLst>
          </a:prstGeom>
          <a:solidFill>
            <a:srgbClr val="FFFFFF"/>
          </a:solidFill>
          <a:ln w="12700">
            <a:solidFill>
              <a:srgbClr val="D5DBE5"/>
            </a:solidFill>
          </a:ln>
        </p:spPr>
        <p:txBody>
          <a:bodyPr rtlCol="0" anchor="ctr" wrap="square" lIns="73152" rIns="73152" tIns="73152" bIns="73152">
            <a:noAutofit/>
          </a:bodyPr>
          <a:lstStyle/>
          <a:p>
            <a:pPr algn="ctr"/>
          </a:p>
        </p:txBody>
      </p:sp>
      <p:sp>
        <p:nvSpPr>
          <p:cNvPr id="22" name="TextBox 21"/>
          <p:cNvSpPr txBox="1"/>
          <p:nvPr/>
        </p:nvSpPr>
        <p:spPr>
          <a:xfrm>
            <a:off x="4434840" y="3730752"/>
            <a:ext cx="2926080" cy="384048"/>
          </a:xfrm>
          <a:prstGeom prst="rect">
            <a:avLst/>
          </a:prstGeom>
          <a:noFill/>
        </p:spPr>
        <p:txBody>
          <a:bodyPr wrap="square" lIns="0" rIns="0" tIns="0" bIns="0" anchor="t">
            <a:noAutofit/>
          </a:bodyPr>
          <a:lstStyle/>
          <a:p>
            <a:pPr algn="l"/>
            <a:r>
              <a:rPr sz="2000" b="1" i="0" lang="es-ES">
                <a:solidFill>
                  <a:srgbClr val="1B2B48"/>
                </a:solidFill>
                <a:latin typeface="Calibri"/>
              </a:rPr>
              <a:t>CPI = EV / AC</a:t>
            </a:r>
            <a:endParaRPr lang="es-ES" sz="2000"/>
          </a:p>
        </p:txBody>
      </p:sp>
      <p:sp>
        <p:nvSpPr>
          <p:cNvPr id="23" name="TextBox 22"/>
          <p:cNvSpPr txBox="1"/>
          <p:nvPr/>
        </p:nvSpPr>
        <p:spPr>
          <a:xfrm>
            <a:off x="4434840" y="4114800"/>
            <a:ext cx="2926080" cy="274320"/>
          </a:xfrm>
          <a:prstGeom prst="rect">
            <a:avLst/>
          </a:prstGeom>
          <a:noFill/>
        </p:spPr>
        <p:txBody>
          <a:bodyPr wrap="square" lIns="0" rIns="0" tIns="0" bIns="0" anchor="t">
            <a:noAutofit/>
          </a:bodyPr>
          <a:lstStyle/>
          <a:p>
            <a:pPr algn="l"/>
            <a:r>
              <a:rPr sz="1200" b="0" i="0" lang="es-ES">
                <a:solidFill>
                  <a:srgbClr val="5A6577"/>
                </a:solidFill>
                <a:latin typeface="Calibri"/>
              </a:rPr>
              <a:t>Cost Performance Index</a:t>
            </a:r>
            <a:endParaRPr lang="es-ES" sz="1200"/>
          </a:p>
        </p:txBody>
      </p:sp>
      <p:sp>
        <p:nvSpPr>
          <p:cNvPr id="24" name="TextBox 23"/>
          <p:cNvSpPr txBox="1"/>
          <p:nvPr/>
        </p:nvSpPr>
        <p:spPr>
          <a:xfrm>
            <a:off x="4434840" y="4370832"/>
            <a:ext cx="2926080" cy="548640"/>
          </a:xfrm>
          <a:prstGeom prst="rect">
            <a:avLst/>
          </a:prstGeom>
          <a:noFill/>
        </p:spPr>
        <p:txBody>
          <a:bodyPr wrap="square" lIns="0" rIns="0" tIns="0" bIns="0" anchor="t">
            <a:noAutofit/>
          </a:bodyPr>
          <a:lstStyle/>
          <a:p>
            <a:pPr algn="l"/>
            <a:r>
              <a:rPr sz="3000" b="1" i="0" lang="es-ES">
                <a:solidFill>
                  <a:srgbClr val="1B2B48"/>
                </a:solidFill>
                <a:latin typeface="Calibri"/>
              </a:rPr>
              <a:t>0,76</a:t>
            </a:r>
            <a:endParaRPr lang="es-ES" sz="3000"/>
          </a:p>
        </p:txBody>
      </p:sp>
      <p:sp>
        <p:nvSpPr>
          <p:cNvPr id="25" name="TextBox 24"/>
          <p:cNvSpPr txBox="1"/>
          <p:nvPr/>
        </p:nvSpPr>
        <p:spPr>
          <a:xfrm>
            <a:off x="4434840" y="4937760"/>
            <a:ext cx="2971800" cy="457200"/>
          </a:xfrm>
          <a:prstGeom prst="rect">
            <a:avLst/>
          </a:prstGeom>
          <a:noFill/>
        </p:spPr>
        <p:txBody>
          <a:bodyPr wrap="square" lIns="0" rIns="0" tIns="0" bIns="0" anchor="t">
            <a:noAutofit/>
          </a:bodyPr>
          <a:lstStyle/>
          <a:p>
            <a:pPr algn="l"/>
            <a:r>
              <a:rPr sz="1300" b="0" i="0" lang="es-ES">
                <a:solidFill>
                  <a:srgbClr val="5A6577"/>
                </a:solidFill>
                <a:latin typeface="Calibri"/>
              </a:rPr>
              <a:t>Se ganaron 0,76 € por cada euro gastado</a:t>
            </a:r>
            <a:endParaRPr lang="es-ES" sz="1300"/>
          </a:p>
        </p:txBody>
      </p:sp>
      <p:sp>
        <p:nvSpPr>
          <p:cNvPr id="26" name="TextBox 25"/>
          <p:cNvSpPr txBox="1"/>
          <p:nvPr/>
        </p:nvSpPr>
        <p:spPr>
          <a:xfrm>
            <a:off x="548640" y="5715000"/>
            <a:ext cx="6949440" cy="457200"/>
          </a:xfrm>
          <a:prstGeom prst="rect">
            <a:avLst/>
          </a:prstGeom>
          <a:noFill/>
        </p:spPr>
        <p:txBody>
          <a:bodyPr wrap="square" lIns="0" rIns="0" tIns="0" bIns="0" anchor="t">
            <a:noAutofit/>
          </a:bodyPr>
          <a:lstStyle/>
          <a:p>
            <a:pPr algn="l"/>
            <a:r>
              <a:rPr sz="1200" b="1" i="0" lang="es-ES">
                <a:solidFill>
                  <a:srgbClr val="5A6577"/>
                </a:solidFill>
                <a:latin typeface="Calibri"/>
              </a:rPr>
              <a:t>Ejemplo a dic-2027.</a:t>
            </a:r>
            <a:endParaRPr lang="es-ES" sz="1200"/>
          </a:p>
        </p:txBody>
      </p:sp>
      <p:sp>
        <p:nvSpPr>
          <p:cNvPr id="27" name="Rounded Rectangle 26"/>
          <p:cNvSpPr/>
          <p:nvPr/>
        </p:nvSpPr>
        <p:spPr>
          <a:xfrm>
            <a:off x="8001000" y="1463040"/>
            <a:ext cx="3611880" cy="2788920"/>
          </a:xfrm>
          <a:prstGeom prst="roundRect">
            <a:avLst>
              <a:gd name="adj" fmla="val 4363"/>
            </a:avLst>
          </a:prstGeom>
          <a:solidFill>
            <a:srgbClr val="F3F5F9"/>
          </a:solidFill>
          <a:ln>
            <a:noFill/>
          </a:ln>
        </p:spPr>
        <p:txBody>
          <a:bodyPr rtlCol="0" anchor="ctr" wrap="square" lIns="73152" rIns="73152" tIns="73152" bIns="73152">
            <a:noAutofit/>
          </a:bodyPr>
          <a:lstStyle/>
          <a:p>
            <a:pPr algn="ctr"/>
          </a:p>
        </p:txBody>
      </p:sp>
      <p:sp>
        <p:nvSpPr>
          <p:cNvPr id="28" name="TextBox 27"/>
          <p:cNvSpPr txBox="1"/>
          <p:nvPr/>
        </p:nvSpPr>
        <p:spPr>
          <a:xfrm>
            <a:off x="8275320" y="1645920"/>
            <a:ext cx="3108960" cy="365760"/>
          </a:xfrm>
          <a:prstGeom prst="rect">
            <a:avLst/>
          </a:prstGeom>
          <a:noFill/>
        </p:spPr>
        <p:txBody>
          <a:bodyPr wrap="square" lIns="0" rIns="0" tIns="0" bIns="0" anchor="t">
            <a:noAutofit/>
          </a:bodyPr>
          <a:lstStyle/>
          <a:p>
            <a:pPr algn="l"/>
            <a:r>
              <a:rPr sz="1600" b="1" i="0" lang="es-ES">
                <a:solidFill>
                  <a:srgbClr val="1B2B48"/>
                </a:solidFill>
                <a:latin typeface="Calibri"/>
              </a:rPr>
              <a:t>Semáforo de CPI y SPI</a:t>
            </a:r>
            <a:endParaRPr lang="es-ES" sz="1600"/>
          </a:p>
        </p:txBody>
      </p:sp>
      <p:sp>
        <p:nvSpPr>
          <p:cNvPr id="29" name="Oval 28"/>
          <p:cNvSpPr/>
          <p:nvPr/>
        </p:nvSpPr>
        <p:spPr>
          <a:xfrm>
            <a:off x="8311896" y="2157984"/>
            <a:ext cx="384048" cy="384048"/>
          </a:xfrm>
          <a:prstGeom prst="ellipse">
            <a:avLst/>
          </a:prstGeom>
          <a:solidFill>
            <a:srgbClr val="70AD47"/>
          </a:solidFill>
          <a:ln>
            <a:noFill/>
          </a:ln>
        </p:spPr>
        <p:txBody>
          <a:bodyPr rtlCol="0" anchor="ctr" wrap="square" lIns="0" rIns="0" tIns="0" bIns="0">
            <a:noAutofit/>
          </a:bodyPr>
          <a:lstStyle/>
          <a:p>
            <a:pPr algn="ctr"/>
            <a:r>
              <a:rPr sz="1400" b="1" i="0" lang="es-ES">
                <a:solidFill>
                  <a:srgbClr val="FFFFFF"/>
                </a:solidFill>
                <a:latin typeface="Calibri"/>
              </a:rPr>
              <a:t/>
            </a:r>
            <a:endParaRPr lang="es-ES" sz="1400"/>
          </a:p>
        </p:txBody>
      </p:sp>
      <p:sp>
        <p:nvSpPr>
          <p:cNvPr id="30" name="TextBox 29"/>
          <p:cNvSpPr txBox="1"/>
          <p:nvPr/>
        </p:nvSpPr>
        <p:spPr>
          <a:xfrm>
            <a:off x="8869680" y="2148840"/>
            <a:ext cx="960120" cy="411480"/>
          </a:xfrm>
          <a:prstGeom prst="rect">
            <a:avLst/>
          </a:prstGeom>
          <a:noFill/>
        </p:spPr>
        <p:txBody>
          <a:bodyPr wrap="square" lIns="0" rIns="0" tIns="0" bIns="0" anchor="ctr">
            <a:noAutofit/>
          </a:bodyPr>
          <a:lstStyle/>
          <a:p>
            <a:pPr algn="l"/>
            <a:r>
              <a:rPr sz="1500" b="1" i="0" lang="es-ES">
                <a:solidFill>
                  <a:srgbClr val="1B2B48"/>
                </a:solidFill>
                <a:latin typeface="Calibri"/>
              </a:rPr>
              <a:t>Verde</a:t>
            </a:r>
            <a:endParaRPr lang="es-ES" sz="1500"/>
          </a:p>
        </p:txBody>
      </p:sp>
      <p:sp>
        <p:nvSpPr>
          <p:cNvPr id="31" name="TextBox 30"/>
          <p:cNvSpPr txBox="1"/>
          <p:nvPr/>
        </p:nvSpPr>
        <p:spPr>
          <a:xfrm>
            <a:off x="9829800" y="2148840"/>
            <a:ext cx="1737360" cy="411480"/>
          </a:xfrm>
          <a:prstGeom prst="rect">
            <a:avLst/>
          </a:prstGeom>
          <a:noFill/>
        </p:spPr>
        <p:txBody>
          <a:bodyPr wrap="square" lIns="0" rIns="0" tIns="0" bIns="0" anchor="ctr">
            <a:noAutofit/>
          </a:bodyPr>
          <a:lstStyle/>
          <a:p>
            <a:pPr algn="l"/>
            <a:r>
              <a:rPr sz="1500" b="0" i="0" lang="es-ES">
                <a:solidFill>
                  <a:srgbClr val="1B2B48"/>
                </a:solidFill>
                <a:latin typeface="Calibri"/>
              </a:rPr>
              <a:t>0,95 – 1,05</a:t>
            </a:r>
            <a:endParaRPr lang="es-ES" sz="1500"/>
          </a:p>
        </p:txBody>
      </p:sp>
      <p:sp>
        <p:nvSpPr>
          <p:cNvPr id="32" name="Oval 31"/>
          <p:cNvSpPr/>
          <p:nvPr/>
        </p:nvSpPr>
        <p:spPr>
          <a:xfrm>
            <a:off x="8311896" y="2743200"/>
            <a:ext cx="384048" cy="384048"/>
          </a:xfrm>
          <a:prstGeom prst="ellipse">
            <a:avLst/>
          </a:prstGeom>
          <a:solidFill>
            <a:srgbClr val="F2C14E"/>
          </a:solidFill>
          <a:ln>
            <a:noFill/>
          </a:ln>
        </p:spPr>
        <p:txBody>
          <a:bodyPr rtlCol="0" anchor="ctr" wrap="square" lIns="0" rIns="0" tIns="0" bIns="0">
            <a:noAutofit/>
          </a:bodyPr>
          <a:lstStyle/>
          <a:p>
            <a:pPr algn="ctr"/>
            <a:r>
              <a:rPr sz="1400" b="1" i="0" lang="es-ES">
                <a:solidFill>
                  <a:srgbClr val="FFFFFF"/>
                </a:solidFill>
                <a:latin typeface="Calibri"/>
              </a:rPr>
              <a:t/>
            </a:r>
            <a:endParaRPr lang="es-ES" sz="1400"/>
          </a:p>
        </p:txBody>
      </p:sp>
      <p:sp>
        <p:nvSpPr>
          <p:cNvPr id="33" name="TextBox 32"/>
          <p:cNvSpPr txBox="1"/>
          <p:nvPr/>
        </p:nvSpPr>
        <p:spPr>
          <a:xfrm>
            <a:off x="8869680" y="2734056"/>
            <a:ext cx="960120" cy="411480"/>
          </a:xfrm>
          <a:prstGeom prst="rect">
            <a:avLst/>
          </a:prstGeom>
          <a:noFill/>
        </p:spPr>
        <p:txBody>
          <a:bodyPr wrap="square" lIns="0" rIns="0" tIns="0" bIns="0" anchor="ctr">
            <a:noAutofit/>
          </a:bodyPr>
          <a:lstStyle/>
          <a:p>
            <a:pPr algn="l"/>
            <a:r>
              <a:rPr sz="1500" b="1" i="0" lang="es-ES">
                <a:solidFill>
                  <a:srgbClr val="1B2B48"/>
                </a:solidFill>
                <a:latin typeface="Calibri"/>
              </a:rPr>
              <a:t>Amarillo</a:t>
            </a:r>
            <a:endParaRPr lang="es-ES" sz="1500"/>
          </a:p>
        </p:txBody>
      </p:sp>
      <p:sp>
        <p:nvSpPr>
          <p:cNvPr id="34" name="TextBox 33"/>
          <p:cNvSpPr txBox="1"/>
          <p:nvPr/>
        </p:nvSpPr>
        <p:spPr>
          <a:xfrm>
            <a:off x="9829800" y="2633472"/>
            <a:ext cx="1737360" cy="603504"/>
          </a:xfrm>
          <a:prstGeom prst="rect">
            <a:avLst/>
          </a:prstGeom>
          <a:noFill/>
        </p:spPr>
        <p:txBody>
          <a:bodyPr wrap="square" lIns="0" rIns="0" tIns="0" bIns="0" anchor="ctr">
            <a:noAutofit/>
          </a:bodyPr>
          <a:lstStyle/>
          <a:p>
            <a:pPr algn="l"/>
            <a:r>
              <a:rPr sz="1400" b="0" i="0" lang="es-ES">
                <a:solidFill>
                  <a:srgbClr val="1B2B48"/>
                </a:solidFill>
                <a:latin typeface="Calibri"/>
              </a:rPr>
              <a:t>0,90 – 0,95</a:t>
            </a:r>
            <a:endParaRPr lang="es-ES" sz="1500"/>
          </a:p>
          <a:p>
            <a:pPr algn="l"/>
            <a:r>
              <a:rPr sz="1400" b="0" i="0" lang="es-ES">
                <a:solidFill>
                  <a:srgbClr val="1B2B48"/>
                </a:solidFill>
                <a:latin typeface="Calibri"/>
              </a:rPr>
              <a:t>1,05 – 1,10</a:t>
            </a:r>
            <a:endParaRPr lang="es-ES" sz="1500"/>
          </a:p>
        </p:txBody>
      </p:sp>
      <p:sp>
        <p:nvSpPr>
          <p:cNvPr id="35" name="Oval 34"/>
          <p:cNvSpPr/>
          <p:nvPr/>
        </p:nvSpPr>
        <p:spPr>
          <a:xfrm>
            <a:off x="8311896" y="3419856"/>
            <a:ext cx="384048" cy="384048"/>
          </a:xfrm>
          <a:prstGeom prst="ellipse">
            <a:avLst/>
          </a:prstGeom>
          <a:solidFill>
            <a:srgbClr val="E06666"/>
          </a:solidFill>
          <a:ln>
            <a:noFill/>
          </a:ln>
        </p:spPr>
        <p:txBody>
          <a:bodyPr rtlCol="0" anchor="ctr" wrap="square" lIns="0" rIns="0" tIns="0" bIns="0">
            <a:noAutofit/>
          </a:bodyPr>
          <a:lstStyle/>
          <a:p>
            <a:pPr algn="ctr"/>
            <a:r>
              <a:rPr sz="1400" b="1" i="0" lang="es-ES">
                <a:solidFill>
                  <a:srgbClr val="FFFFFF"/>
                </a:solidFill>
                <a:latin typeface="Calibri"/>
              </a:rPr>
              <a:t/>
            </a:r>
            <a:endParaRPr lang="es-ES" sz="1400"/>
          </a:p>
        </p:txBody>
      </p:sp>
      <p:sp>
        <p:nvSpPr>
          <p:cNvPr id="36" name="TextBox 35"/>
          <p:cNvSpPr txBox="1"/>
          <p:nvPr/>
        </p:nvSpPr>
        <p:spPr>
          <a:xfrm>
            <a:off x="8869680" y="3410712"/>
            <a:ext cx="960120" cy="411480"/>
          </a:xfrm>
          <a:prstGeom prst="rect">
            <a:avLst/>
          </a:prstGeom>
          <a:noFill/>
        </p:spPr>
        <p:txBody>
          <a:bodyPr wrap="square" lIns="0" rIns="0" tIns="0" bIns="0" anchor="ctr">
            <a:noAutofit/>
          </a:bodyPr>
          <a:lstStyle/>
          <a:p>
            <a:pPr algn="l"/>
            <a:r>
              <a:rPr sz="1500" b="1" i="0" lang="es-ES">
                <a:solidFill>
                  <a:srgbClr val="1B2B48"/>
                </a:solidFill>
                <a:latin typeface="Calibri"/>
              </a:rPr>
              <a:t>Rojo</a:t>
            </a:r>
            <a:endParaRPr lang="es-ES" sz="1500"/>
          </a:p>
        </p:txBody>
      </p:sp>
      <p:sp>
        <p:nvSpPr>
          <p:cNvPr id="37" name="TextBox 36"/>
          <p:cNvSpPr txBox="1"/>
          <p:nvPr/>
        </p:nvSpPr>
        <p:spPr>
          <a:xfrm>
            <a:off x="9829800" y="3310128"/>
            <a:ext cx="1737360" cy="603504"/>
          </a:xfrm>
          <a:prstGeom prst="rect">
            <a:avLst/>
          </a:prstGeom>
          <a:noFill/>
        </p:spPr>
        <p:txBody>
          <a:bodyPr wrap="square" lIns="0" rIns="0" tIns="0" bIns="0" anchor="ctr">
            <a:noAutofit/>
          </a:bodyPr>
          <a:lstStyle/>
          <a:p>
            <a:pPr algn="l"/>
            <a:r>
              <a:rPr sz="1400" b="0" i="0" lang="es-ES">
                <a:solidFill>
                  <a:srgbClr val="1B2B48"/>
                </a:solidFill>
                <a:latin typeface="Calibri"/>
              </a:rPr>
              <a:t>&lt; 0,90</a:t>
            </a:r>
            <a:endParaRPr lang="es-ES" sz="1500"/>
          </a:p>
          <a:p>
            <a:pPr algn="l"/>
            <a:r>
              <a:rPr sz="1400" b="0" i="0" lang="es-ES">
                <a:solidFill>
                  <a:srgbClr val="1B2B48"/>
                </a:solidFill>
                <a:latin typeface="Calibri"/>
              </a:rPr>
              <a:t>&gt; 1,10</a:t>
            </a:r>
            <a:endParaRPr lang="es-ES" sz="1500"/>
          </a:p>
        </p:txBody>
      </p:sp>
      <p:sp>
        <p:nvSpPr>
          <p:cNvPr id="39" name="TextBox 7 copia 39"/>
          <p:cNvSpPr txBox="1"/>
          <p:nvPr/>
        </p:nvSpPr>
        <p:spPr>
          <a:xfrm>
            <a:off x="8275320" y="3913632"/>
            <a:ext cx="3108960" cy="274320"/>
          </a:xfrm>
          <a:prstGeom prst="rect">
            <a:avLst/>
          </a:prstGeom>
          <a:noFill/>
        </p:spPr>
        <p:txBody>
          <a:bodyPr wrap="square" lIns="0" rIns="0" tIns="0" bIns="0" anchor="t">
            <a:noAutofit/>
          </a:bodyPr>
          <a:lstStyle/>
          <a:p>
            <a:pPr algn="l"/>
            <a:r>
              <a:rPr sz="1200" b="0" i="0" lang="es-ES">
                <a:solidFill>
                  <a:srgbClr val="5A6577"/>
                </a:solidFill>
                <a:latin typeface="Calibri"/>
              </a:rPr>
              <a:t>Configurables en config.toml ([semaforo])</a:t>
            </a:r>
            <a:endParaRPr lang="es-ES" sz="1200"/>
          </a:p>
        </p:txBody>
      </p:sp>
      <p:sp>
        <p:nvSpPr>
          <p:cNvPr id="38" name="Rounded Rectangle 37"/>
          <p:cNvSpPr/>
          <p:nvPr/>
        </p:nvSpPr>
        <p:spPr>
          <a:xfrm>
            <a:off x="8001000" y="4389120"/>
            <a:ext cx="3611880" cy="1783080"/>
          </a:xfrm>
          <a:prstGeom prst="roundRect">
            <a:avLst>
              <a:gd name="adj" fmla="val 5454"/>
            </a:avLst>
          </a:prstGeom>
          <a:solidFill>
            <a:srgbClr val="FFF4D9"/>
          </a:solidFill>
          <a:ln>
            <a:noFill/>
          </a:ln>
        </p:spPr>
        <p:txBody>
          <a:bodyPr rtlCol="0" anchor="t" wrap="square" lIns="182880" rIns="182880" tIns="182880" bIns="182880">
            <a:noAutofit/>
          </a:bodyPr>
          <a:lstStyle/>
          <a:p>
            <a:pPr algn="l">
              <a:spcAft>
                <a:spcPts val="400"/>
              </a:spcAft>
            </a:pPr>
            <a:r>
              <a:rPr sz="1500" b="1" i="0" lang="es-ES">
                <a:solidFill>
                  <a:srgbClr val="1B2B48"/>
                </a:solidFill>
                <a:latin typeface="Calibri"/>
              </a:rPr>
              <a:t>Con MS Project en español</a:t>
            </a:r>
            <a:endParaRPr lang="es-ES" sz="1300"/>
          </a:p>
          <a:p>
            <a:pPr algn="l">
              <a:spcAft>
                <a:spcPts val="400"/>
              </a:spcAft>
            </a:pPr>
            <a:r>
              <a:rPr sz="1300" b="0" i="0" lang="es-ES">
                <a:solidFill>
                  <a:srgbClr val="1B2B48"/>
                </a:solidFill>
                <a:latin typeface="Calibri"/>
              </a:rPr>
              <a:t>Otras siglas: SV = VP, CV = VC, SPI = IRP y CPI = IRC.</a:t>
            </a:r>
            <a:endParaRPr lang="es-ES" sz="1300"/>
          </a:p>
          <a:p>
            <a:pPr algn="l"/>
            <a:r>
              <a:rPr sz="1300" b="1" i="0" lang="es-ES">
                <a:solidFill>
                  <a:srgbClr val="C0392B"/>
                </a:solidFill>
                <a:latin typeface="Calibri"/>
              </a:rPr>
              <a:t>Ojo: </a:t>
            </a:r>
            <a:r>
              <a:rPr sz="1300" b="0" i="0" lang="es-ES">
                <a:solidFill>
                  <a:srgbClr val="1B2B48"/>
                </a:solidFill>
                <a:latin typeface="Calibri"/>
              </a:rPr>
              <a:t>VP no es el PV. El PV es el CPTP.</a:t>
            </a:r>
            <a:endParaRPr lang="es-ES" sz="13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EAC: ¿cuánto costará al terminar?</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EVM</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8</a:t>
            </a:fld>
            <a:endParaRPr lang="es-ES" sz="1000"/>
          </a:p>
        </p:txBody>
      </p:sp>
      <p:graphicFrame>
        <p:nvGraphicFramePr>
          <p:cNvPr id="6" name="Chart 5"/>
          <p:cNvGraphicFramePr>
            <a:graphicFrameLocks noGrp="1"/>
          </p:cNvGraphicFramePr>
          <p:nvPr/>
        </p:nvGraphicFramePr>
        <p:xfrm>
          <a:off x="411480" y="1463040"/>
          <a:ext cx="7040880" cy="4206240"/>
        </p:xfrm>
        <a:graphic>
          <a:graphicData uri="http://schemas.openxmlformats.org/drawingml/2006/chart">
            <c:chart xmlns:c="http://schemas.openxmlformats.org/drawingml/2006/chart" r:id="rId2"/>
          </a:graphicData>
        </a:graphic>
      </p:graphicFrame>
      <p:sp>
        <p:nvSpPr>
          <p:cNvPr id="7" name="TextBox 6"/>
          <p:cNvSpPr txBox="1"/>
          <p:nvPr/>
        </p:nvSpPr>
        <p:spPr>
          <a:xfrm>
            <a:off x="548640" y="5715000"/>
            <a:ext cx="6858000" cy="457200"/>
          </a:xfrm>
          <a:prstGeom prst="rect">
            <a:avLst/>
          </a:prstGeom>
          <a:noFill/>
        </p:spPr>
        <p:txBody>
          <a:bodyPr wrap="square" lIns="0" rIns="0" tIns="0" bIns="0" anchor="t">
            <a:noAutofit/>
          </a:bodyPr>
          <a:lstStyle/>
          <a:p>
            <a:pPr algn="l"/>
            <a:r>
              <a:rPr sz="1200" b="0" i="0" lang="es-ES">
                <a:solidFill>
                  <a:srgbClr val="5A6577"/>
                </a:solidFill>
                <a:latin typeface="Calibri"/>
              </a:rPr>
              <a:t>EAC del ejemplo a dic-2027 según el método elegido en el Cuadro de Mando (millones de euros)</a:t>
            </a:r>
            <a:endParaRPr lang="es-ES" sz="1200"/>
          </a:p>
        </p:txBody>
      </p:sp>
      <p:sp>
        <p:nvSpPr>
          <p:cNvPr id="8" name="Rounded Rectangle 7"/>
          <p:cNvSpPr/>
          <p:nvPr/>
        </p:nvSpPr>
        <p:spPr>
          <a:xfrm>
            <a:off x="7818120" y="1463040"/>
            <a:ext cx="3794760" cy="1280160"/>
          </a:xfrm>
          <a:prstGeom prst="roundRect">
            <a:avLst>
              <a:gd name="adj" fmla="val 8571"/>
            </a:avLst>
          </a:prstGeom>
          <a:solidFill>
            <a:srgbClr val="F3F5F9"/>
          </a:solidFill>
          <a:ln>
            <a:noFill/>
          </a:ln>
        </p:spPr>
        <p:txBody>
          <a:bodyPr rtlCol="0" anchor="ctr" wrap="square" lIns="73152" rIns="73152" tIns="73152" bIns="73152">
            <a:noAutofit/>
          </a:bodyPr>
          <a:lstStyle/>
          <a:p>
            <a:pPr algn="ctr"/>
          </a:p>
        </p:txBody>
      </p:sp>
      <p:sp>
        <p:nvSpPr>
          <p:cNvPr id="9" name="TextBox 8"/>
          <p:cNvSpPr txBox="1"/>
          <p:nvPr/>
        </p:nvSpPr>
        <p:spPr>
          <a:xfrm>
            <a:off x="8092440" y="1600200"/>
            <a:ext cx="2194560" cy="365760"/>
          </a:xfrm>
          <a:prstGeom prst="rect">
            <a:avLst/>
          </a:prstGeom>
          <a:noFill/>
        </p:spPr>
        <p:txBody>
          <a:bodyPr wrap="square" lIns="0" rIns="0" tIns="0" bIns="0" anchor="t">
            <a:noAutofit/>
          </a:bodyPr>
          <a:lstStyle/>
          <a:p>
            <a:pPr algn="l"/>
            <a:r>
              <a:rPr sz="1500" b="1" i="0" lang="es-ES">
                <a:solidFill>
                  <a:srgbClr val="1B2B48"/>
                </a:solidFill>
                <a:latin typeface="Calibri"/>
              </a:rPr>
              <a:t>ETC = EAC − AC</a:t>
            </a:r>
            <a:endParaRPr lang="es-ES" sz="1500"/>
          </a:p>
        </p:txBody>
      </p:sp>
      <p:sp>
        <p:nvSpPr>
          <p:cNvPr id="10" name="TextBox 9"/>
          <p:cNvSpPr txBox="1"/>
          <p:nvPr/>
        </p:nvSpPr>
        <p:spPr>
          <a:xfrm>
            <a:off x="9966960" y="1536192"/>
            <a:ext cx="1508760" cy="502920"/>
          </a:xfrm>
          <a:prstGeom prst="rect">
            <a:avLst/>
          </a:prstGeom>
          <a:noFill/>
        </p:spPr>
        <p:txBody>
          <a:bodyPr wrap="square" lIns="0" rIns="0" tIns="0" bIns="0" anchor="t">
            <a:noAutofit/>
          </a:bodyPr>
          <a:lstStyle/>
          <a:p>
            <a:pPr algn="r"/>
            <a:r>
              <a:rPr sz="2400" b="1" i="0" lang="es-ES">
                <a:solidFill>
                  <a:srgbClr val="1B2B48"/>
                </a:solidFill>
                <a:latin typeface="Calibri"/>
              </a:rPr>
              <a:t>45,0 M€</a:t>
            </a:r>
            <a:endParaRPr lang="es-ES" sz="2400"/>
          </a:p>
        </p:txBody>
      </p:sp>
      <p:sp>
        <p:nvSpPr>
          <p:cNvPr id="11" name="TextBox 10"/>
          <p:cNvSpPr txBox="1"/>
          <p:nvPr/>
        </p:nvSpPr>
        <p:spPr>
          <a:xfrm>
            <a:off x="8092440" y="2057400"/>
            <a:ext cx="3337560" cy="594360"/>
          </a:xfrm>
          <a:prstGeom prst="rect">
            <a:avLst/>
          </a:prstGeom>
          <a:noFill/>
        </p:spPr>
        <p:txBody>
          <a:bodyPr wrap="square" lIns="0" rIns="0" tIns="0" bIns="0" anchor="t">
            <a:noAutofit/>
          </a:bodyPr>
          <a:lstStyle/>
          <a:p>
            <a:pPr algn="l"/>
            <a:r>
              <a:rPr sz="1300" b="0" i="0" lang="es-ES">
                <a:solidFill>
                  <a:srgbClr val="5A6577"/>
                </a:solidFill>
                <a:latin typeface="Calibri"/>
              </a:rPr>
              <a:t>Costo para terminar (con BAC / CPI)</a:t>
            </a:r>
            <a:endParaRPr lang="es-ES" sz="1300"/>
          </a:p>
        </p:txBody>
      </p:sp>
      <p:sp>
        <p:nvSpPr>
          <p:cNvPr id="12" name="Rounded Rectangle 11"/>
          <p:cNvSpPr/>
          <p:nvPr/>
        </p:nvSpPr>
        <p:spPr>
          <a:xfrm>
            <a:off x="7818120" y="2880360"/>
            <a:ext cx="3794760" cy="1280160"/>
          </a:xfrm>
          <a:prstGeom prst="roundRect">
            <a:avLst>
              <a:gd name="adj" fmla="val 8571"/>
            </a:avLst>
          </a:prstGeom>
          <a:solidFill>
            <a:srgbClr val="F3F5F9"/>
          </a:solidFill>
          <a:ln>
            <a:noFill/>
          </a:ln>
        </p:spPr>
        <p:txBody>
          <a:bodyPr rtlCol="0" anchor="ctr" wrap="square" lIns="73152" rIns="73152" tIns="73152" bIns="73152">
            <a:noAutofit/>
          </a:bodyPr>
          <a:lstStyle/>
          <a:p>
            <a:pPr algn="ctr"/>
          </a:p>
        </p:txBody>
      </p:sp>
      <p:sp>
        <p:nvSpPr>
          <p:cNvPr id="13" name="TextBox 12"/>
          <p:cNvSpPr txBox="1"/>
          <p:nvPr/>
        </p:nvSpPr>
        <p:spPr>
          <a:xfrm>
            <a:off x="8092440" y="3017520"/>
            <a:ext cx="2194560" cy="365760"/>
          </a:xfrm>
          <a:prstGeom prst="rect">
            <a:avLst/>
          </a:prstGeom>
          <a:noFill/>
        </p:spPr>
        <p:txBody>
          <a:bodyPr wrap="square" lIns="0" rIns="0" tIns="0" bIns="0" anchor="t">
            <a:noAutofit/>
          </a:bodyPr>
          <a:lstStyle/>
          <a:p>
            <a:pPr algn="l"/>
            <a:r>
              <a:rPr sz="1500" b="1" i="0" lang="es-ES">
                <a:solidFill>
                  <a:srgbClr val="1B2B48"/>
                </a:solidFill>
                <a:latin typeface="Calibri"/>
              </a:rPr>
              <a:t>VAC = BAC − EAC</a:t>
            </a:r>
            <a:endParaRPr lang="es-ES" sz="1500"/>
          </a:p>
        </p:txBody>
      </p:sp>
      <p:sp>
        <p:nvSpPr>
          <p:cNvPr id="14" name="TextBox 13"/>
          <p:cNvSpPr txBox="1"/>
          <p:nvPr/>
        </p:nvSpPr>
        <p:spPr>
          <a:xfrm>
            <a:off x="9966960" y="2953512"/>
            <a:ext cx="1508760" cy="502920"/>
          </a:xfrm>
          <a:prstGeom prst="rect">
            <a:avLst/>
          </a:prstGeom>
          <a:noFill/>
        </p:spPr>
        <p:txBody>
          <a:bodyPr wrap="square" lIns="0" rIns="0" tIns="0" bIns="0" anchor="t">
            <a:noAutofit/>
          </a:bodyPr>
          <a:lstStyle/>
          <a:p>
            <a:pPr algn="r"/>
            <a:r>
              <a:rPr sz="2400" b="1" i="0" lang="es-ES">
                <a:solidFill>
                  <a:srgbClr val="C0392B"/>
                </a:solidFill>
                <a:latin typeface="Calibri"/>
              </a:rPr>
              <a:t>−14,3 M€</a:t>
            </a:r>
            <a:endParaRPr lang="es-ES" sz="2400"/>
          </a:p>
        </p:txBody>
      </p:sp>
      <p:sp>
        <p:nvSpPr>
          <p:cNvPr id="15" name="TextBox 14"/>
          <p:cNvSpPr txBox="1"/>
          <p:nvPr/>
        </p:nvSpPr>
        <p:spPr>
          <a:xfrm>
            <a:off x="8092440" y="3474720"/>
            <a:ext cx="3337560" cy="594360"/>
          </a:xfrm>
          <a:prstGeom prst="rect">
            <a:avLst/>
          </a:prstGeom>
          <a:noFill/>
        </p:spPr>
        <p:txBody>
          <a:bodyPr wrap="square" lIns="0" rIns="0" tIns="0" bIns="0" anchor="t">
            <a:noAutofit/>
          </a:bodyPr>
          <a:lstStyle/>
          <a:p>
            <a:pPr algn="l"/>
            <a:r>
              <a:rPr sz="1300" b="0" i="0" lang="es-ES">
                <a:solidFill>
                  <a:srgbClr val="5A6577"/>
                </a:solidFill>
                <a:latin typeface="Calibri"/>
              </a:rPr>
              <a:t>Se espera terminar por encima del BAC</a:t>
            </a:r>
            <a:endParaRPr lang="es-ES" sz="1300"/>
          </a:p>
        </p:txBody>
      </p:sp>
      <p:sp>
        <p:nvSpPr>
          <p:cNvPr id="16" name="Rounded Rectangle 15"/>
          <p:cNvSpPr/>
          <p:nvPr/>
        </p:nvSpPr>
        <p:spPr>
          <a:xfrm>
            <a:off x="7818120" y="4297680"/>
            <a:ext cx="3794760" cy="1280160"/>
          </a:xfrm>
          <a:prstGeom prst="roundRect">
            <a:avLst>
              <a:gd name="adj" fmla="val 8571"/>
            </a:avLst>
          </a:prstGeom>
          <a:solidFill>
            <a:srgbClr val="F3F5F9"/>
          </a:solidFill>
          <a:ln>
            <a:noFill/>
          </a:ln>
        </p:spPr>
        <p:txBody>
          <a:bodyPr rtlCol="0" anchor="ctr" wrap="square" lIns="73152" rIns="73152" tIns="73152" bIns="73152">
            <a:noAutofit/>
          </a:bodyPr>
          <a:lstStyle/>
          <a:p>
            <a:pPr algn="ctr"/>
          </a:p>
        </p:txBody>
      </p:sp>
      <p:sp>
        <p:nvSpPr>
          <p:cNvPr id="17" name="TextBox 16"/>
          <p:cNvSpPr txBox="1"/>
          <p:nvPr/>
        </p:nvSpPr>
        <p:spPr>
          <a:xfrm>
            <a:off x="8092440" y="4434840"/>
            <a:ext cx="2194560" cy="365760"/>
          </a:xfrm>
          <a:prstGeom prst="rect">
            <a:avLst/>
          </a:prstGeom>
          <a:noFill/>
        </p:spPr>
        <p:txBody>
          <a:bodyPr wrap="square" lIns="0" rIns="0" tIns="0" bIns="0" anchor="t">
            <a:noAutofit/>
          </a:bodyPr>
          <a:lstStyle/>
          <a:p>
            <a:pPr algn="l"/>
            <a:r>
              <a:rPr sz="1500" b="1" i="0" lang="es-ES">
                <a:solidFill>
                  <a:srgbClr val="1B2B48"/>
                </a:solidFill>
                <a:latin typeface="Calibri"/>
              </a:rPr>
              <a:t>TCPI (BAC)</a:t>
            </a:r>
            <a:endParaRPr lang="es-ES" sz="1500"/>
          </a:p>
        </p:txBody>
      </p:sp>
      <p:sp>
        <p:nvSpPr>
          <p:cNvPr id="18" name="TextBox 17"/>
          <p:cNvSpPr txBox="1"/>
          <p:nvPr/>
        </p:nvSpPr>
        <p:spPr>
          <a:xfrm>
            <a:off x="9966960" y="4370832"/>
            <a:ext cx="1508760" cy="502920"/>
          </a:xfrm>
          <a:prstGeom prst="rect">
            <a:avLst/>
          </a:prstGeom>
          <a:noFill/>
        </p:spPr>
        <p:txBody>
          <a:bodyPr wrap="square" lIns="0" rIns="0" tIns="0" bIns="0" anchor="t">
            <a:noAutofit/>
          </a:bodyPr>
          <a:lstStyle/>
          <a:p>
            <a:pPr algn="r"/>
            <a:r>
              <a:rPr sz="2400" b="1" i="0" lang="es-ES">
                <a:solidFill>
                  <a:srgbClr val="8A5A00"/>
                </a:solidFill>
                <a:latin typeface="Calibri"/>
              </a:rPr>
              <a:t>1,11</a:t>
            </a:r>
            <a:endParaRPr lang="es-ES" sz="2400"/>
          </a:p>
        </p:txBody>
      </p:sp>
      <p:sp>
        <p:nvSpPr>
          <p:cNvPr id="19" name="TextBox 18"/>
          <p:cNvSpPr txBox="1"/>
          <p:nvPr/>
        </p:nvSpPr>
        <p:spPr>
          <a:xfrm>
            <a:off x="8092440" y="4892040"/>
            <a:ext cx="3337560" cy="594360"/>
          </a:xfrm>
          <a:prstGeom prst="rect">
            <a:avLst/>
          </a:prstGeom>
          <a:noFill/>
        </p:spPr>
        <p:txBody>
          <a:bodyPr wrap="square" lIns="0" rIns="0" tIns="0" bIns="0" anchor="t">
            <a:noAutofit/>
          </a:bodyPr>
          <a:lstStyle/>
          <a:p>
            <a:pPr algn="l"/>
            <a:r>
              <a:rPr sz="1300" b="0" i="0" lang="es-ES">
                <a:solidFill>
                  <a:srgbClr val="5A6577"/>
                </a:solidFill>
                <a:latin typeface="Calibri"/>
              </a:rPr>
              <a:t>Eficiencia necesaria para terminar en el BAC, frente a un CPI de 0,76</a:t>
            </a:r>
            <a:endParaRPr lang="es-ES" sz="1300"/>
          </a:p>
        </p:txBody>
      </p:sp>
      <p:sp>
        <p:nvSpPr>
          <p:cNvPr id="20" name="TextBox 19"/>
          <p:cNvSpPr txBox="1"/>
          <p:nvPr/>
        </p:nvSpPr>
        <p:spPr>
          <a:xfrm>
            <a:off x="7818120" y="5715000"/>
            <a:ext cx="3794760" cy="457200"/>
          </a:xfrm>
          <a:prstGeom prst="rect">
            <a:avLst/>
          </a:prstGeom>
          <a:noFill/>
        </p:spPr>
        <p:txBody>
          <a:bodyPr wrap="square" lIns="0" rIns="0" tIns="0" bIns="0" anchor="t">
            <a:noAutofit/>
          </a:bodyPr>
          <a:lstStyle/>
          <a:p>
            <a:pPr algn="l"/>
            <a:r>
              <a:rPr sz="1200" b="1" i="0" lang="es-ES">
                <a:solidFill>
                  <a:srgbClr val="1B2B48"/>
                </a:solidFill>
                <a:latin typeface="Calibri"/>
              </a:rPr>
              <a:t>Contrastar siempre con un EAC por estimación detallada de los responsables</a:t>
            </a:r>
            <a:endParaRPr lang="es-ES" sz="12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Earned Schedule: el atraso en meses</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EVM</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9</a:t>
            </a:fld>
            <a:endParaRPr lang="es-ES" sz="1000"/>
          </a:p>
        </p:txBody>
      </p:sp>
      <p:graphicFrame>
        <p:nvGraphicFramePr>
          <p:cNvPr id="6" name="Chart 5"/>
          <p:cNvGraphicFramePr>
            <a:graphicFrameLocks noGrp="1"/>
          </p:cNvGraphicFramePr>
          <p:nvPr/>
        </p:nvGraphicFramePr>
        <p:xfrm>
          <a:off x="411480" y="1691640"/>
          <a:ext cx="6949440" cy="4526280"/>
        </p:xfrm>
        <a:graphic>
          <a:graphicData uri="http://schemas.openxmlformats.org/drawingml/2006/chart">
            <c:chart xmlns:c="http://schemas.openxmlformats.org/drawingml/2006/chart" r:id="rId2"/>
          </a:graphicData>
        </a:graphic>
      </p:graphicFrame>
      <p:sp>
        <p:nvSpPr>
          <p:cNvPr id="7" name="TextBox 6"/>
          <p:cNvSpPr txBox="1"/>
          <p:nvPr/>
        </p:nvSpPr>
        <p:spPr>
          <a:xfrm>
            <a:off x="548640" y="1417320"/>
            <a:ext cx="6766560" cy="274320"/>
          </a:xfrm>
          <a:prstGeom prst="rect">
            <a:avLst/>
          </a:prstGeom>
          <a:noFill/>
        </p:spPr>
        <p:txBody>
          <a:bodyPr wrap="square" lIns="0" rIns="0" tIns="0" bIns="0" anchor="t">
            <a:noAutofit/>
          </a:bodyPr>
          <a:lstStyle/>
          <a:p>
            <a:pPr algn="l"/>
            <a:r>
              <a:rPr sz="1200" b="0" i="0" lang="es-ES">
                <a:solidFill>
                  <a:srgbClr val="5A6577"/>
                </a:solidFill>
                <a:latin typeface="Calibri"/>
              </a:rPr>
              <a:t>PV acumulado del plan (millones de euros) por mes del proyecto</a:t>
            </a:r>
            <a:endParaRPr lang="es-ES" sz="1200"/>
          </a:p>
        </p:txBody>
      </p:sp>
      <p:sp>
        <p:nvSpPr>
          <p:cNvPr id="8" name="TextBox 7"/>
          <p:cNvSpPr txBox="1"/>
          <p:nvPr/>
        </p:nvSpPr>
        <p:spPr>
          <a:xfrm>
            <a:off x="7772400" y="1463040"/>
            <a:ext cx="3840480" cy="365760"/>
          </a:xfrm>
          <a:prstGeom prst="rect">
            <a:avLst/>
          </a:prstGeom>
          <a:noFill/>
        </p:spPr>
        <p:txBody>
          <a:bodyPr wrap="square" lIns="0" rIns="0" tIns="0" bIns="0" anchor="t">
            <a:noAutofit/>
          </a:bodyPr>
          <a:lstStyle/>
          <a:p>
            <a:pPr algn="l"/>
            <a:r>
              <a:rPr sz="1500" b="1" i="0" lang="es-ES">
                <a:solidFill>
                  <a:srgbClr val="1B2B48"/>
                </a:solidFill>
                <a:latin typeface="Calibri"/>
              </a:rPr>
              <a:t>AT = 24</a:t>
            </a:r>
            <a:r>
              <a:rPr sz="1500" b="0" i="0" lang="es-ES">
                <a:solidFill>
                  <a:srgbClr val="1B2B48"/>
                </a:solidFill>
                <a:latin typeface="Calibri"/>
              </a:rPr>
              <a:t> meses transcurridos  ·  </a:t>
            </a:r>
            <a:r>
              <a:rPr sz="1500" b="1" i="0" lang="es-ES">
                <a:solidFill>
                  <a:srgbClr val="2F5597"/>
                </a:solidFill>
                <a:latin typeface="Calibri"/>
              </a:rPr>
              <a:t>ES = 22,56</a:t>
            </a:r>
            <a:endParaRPr lang="es-ES" sz="1500"/>
          </a:p>
        </p:txBody>
      </p:sp>
      <p:sp>
        <p:nvSpPr>
          <p:cNvPr id="9" name="TextBox 8"/>
          <p:cNvSpPr txBox="1"/>
          <p:nvPr/>
        </p:nvSpPr>
        <p:spPr>
          <a:xfrm>
            <a:off x="7772400" y="2011680"/>
            <a:ext cx="3840480" cy="320040"/>
          </a:xfrm>
          <a:prstGeom prst="rect">
            <a:avLst/>
          </a:prstGeom>
          <a:noFill/>
        </p:spPr>
        <p:txBody>
          <a:bodyPr wrap="square" lIns="0" rIns="0" tIns="0" bIns="0" anchor="t">
            <a:noAutofit/>
          </a:bodyPr>
          <a:lstStyle/>
          <a:p>
            <a:pPr algn="l"/>
            <a:r>
              <a:rPr sz="1400" b="0" i="0" lang="es-ES">
                <a:solidFill>
                  <a:srgbClr val="5A6577"/>
                </a:solidFill>
                <a:latin typeface="Calibri"/>
              </a:rPr>
              <a:t>SV(t) = ES − AT</a:t>
            </a:r>
            <a:endParaRPr lang="es-ES" sz="1400"/>
          </a:p>
        </p:txBody>
      </p:sp>
      <p:sp>
        <p:nvSpPr>
          <p:cNvPr id="10" name="TextBox 9"/>
          <p:cNvSpPr txBox="1"/>
          <p:nvPr/>
        </p:nvSpPr>
        <p:spPr>
          <a:xfrm>
            <a:off x="7772400" y="2313432"/>
            <a:ext cx="3840480" cy="548640"/>
          </a:xfrm>
          <a:prstGeom prst="rect">
            <a:avLst/>
          </a:prstGeom>
          <a:noFill/>
        </p:spPr>
        <p:txBody>
          <a:bodyPr wrap="square" lIns="0" rIns="0" tIns="0" bIns="0" anchor="t">
            <a:noAutofit/>
          </a:bodyPr>
          <a:lstStyle/>
          <a:p>
            <a:pPr algn="l"/>
            <a:r>
              <a:rPr sz="2600" b="1" i="0" lang="es-ES">
                <a:solidFill>
                  <a:srgbClr val="C0392B"/>
                </a:solidFill>
                <a:latin typeface="Calibri"/>
              </a:rPr>
              <a:t>−1,44 meses</a:t>
            </a:r>
            <a:endParaRPr lang="es-ES" sz="2600"/>
          </a:p>
        </p:txBody>
      </p:sp>
      <p:sp>
        <p:nvSpPr>
          <p:cNvPr id="11" name="TextBox 10"/>
          <p:cNvSpPr txBox="1"/>
          <p:nvPr/>
        </p:nvSpPr>
        <p:spPr>
          <a:xfrm>
            <a:off x="7772400" y="3017520"/>
            <a:ext cx="3840480" cy="320040"/>
          </a:xfrm>
          <a:prstGeom prst="rect">
            <a:avLst/>
          </a:prstGeom>
          <a:noFill/>
        </p:spPr>
        <p:txBody>
          <a:bodyPr wrap="square" lIns="0" rIns="0" tIns="0" bIns="0" anchor="t">
            <a:noAutofit/>
          </a:bodyPr>
          <a:lstStyle/>
          <a:p>
            <a:pPr algn="l"/>
            <a:r>
              <a:rPr sz="1400" b="0" i="0" lang="es-ES">
                <a:solidFill>
                  <a:srgbClr val="5A6577"/>
                </a:solidFill>
                <a:latin typeface="Calibri"/>
              </a:rPr>
              <a:t>SPI(t) = ES / AT</a:t>
            </a:r>
            <a:endParaRPr lang="es-ES" sz="1400"/>
          </a:p>
        </p:txBody>
      </p:sp>
      <p:sp>
        <p:nvSpPr>
          <p:cNvPr id="12" name="TextBox 11"/>
          <p:cNvSpPr txBox="1"/>
          <p:nvPr/>
        </p:nvSpPr>
        <p:spPr>
          <a:xfrm>
            <a:off x="7772400" y="3319272"/>
            <a:ext cx="3840480" cy="548640"/>
          </a:xfrm>
          <a:prstGeom prst="rect">
            <a:avLst/>
          </a:prstGeom>
          <a:noFill/>
        </p:spPr>
        <p:txBody>
          <a:bodyPr wrap="square" lIns="0" rIns="0" tIns="0" bIns="0" anchor="t">
            <a:noAutofit/>
          </a:bodyPr>
          <a:lstStyle/>
          <a:p>
            <a:pPr algn="l"/>
            <a:r>
              <a:rPr sz="2600" b="1" i="0" lang="es-ES">
                <a:solidFill>
                  <a:srgbClr val="1B2B48"/>
                </a:solidFill>
                <a:latin typeface="Calibri"/>
              </a:rPr>
              <a:t>0,94</a:t>
            </a:r>
            <a:endParaRPr lang="es-ES" sz="2600"/>
          </a:p>
        </p:txBody>
      </p:sp>
      <p:sp>
        <p:nvSpPr>
          <p:cNvPr id="13" name="TextBox 12"/>
          <p:cNvSpPr txBox="1"/>
          <p:nvPr/>
        </p:nvSpPr>
        <p:spPr>
          <a:xfrm>
            <a:off x="7772400" y="4023360"/>
            <a:ext cx="3840480" cy="320040"/>
          </a:xfrm>
          <a:prstGeom prst="rect">
            <a:avLst/>
          </a:prstGeom>
          <a:noFill/>
        </p:spPr>
        <p:txBody>
          <a:bodyPr wrap="square" lIns="0" rIns="0" tIns="0" bIns="0" anchor="t">
            <a:noAutofit/>
          </a:bodyPr>
          <a:lstStyle/>
          <a:p>
            <a:pPr algn="l"/>
            <a:r>
              <a:rPr sz="1400" b="0" i="0" lang="es-ES">
                <a:solidFill>
                  <a:srgbClr val="5A6577"/>
                </a:solidFill>
                <a:latin typeface="Calibri"/>
              </a:rPr>
              <a:t>Duración estimada</a:t>
            </a:r>
            <a:endParaRPr lang="es-ES" sz="1400"/>
          </a:p>
        </p:txBody>
      </p:sp>
      <p:sp>
        <p:nvSpPr>
          <p:cNvPr id="14" name="TextBox 13"/>
          <p:cNvSpPr txBox="1"/>
          <p:nvPr/>
        </p:nvSpPr>
        <p:spPr>
          <a:xfrm>
            <a:off x="7772400" y="4325112"/>
            <a:ext cx="3840480" cy="548640"/>
          </a:xfrm>
          <a:prstGeom prst="rect">
            <a:avLst/>
          </a:prstGeom>
          <a:noFill/>
        </p:spPr>
        <p:txBody>
          <a:bodyPr wrap="square" lIns="0" rIns="0" tIns="0" bIns="0" anchor="t">
            <a:noAutofit/>
          </a:bodyPr>
          <a:lstStyle/>
          <a:p>
            <a:pPr algn="l"/>
            <a:r>
              <a:rPr sz="2600" b="1" i="0" lang="es-ES">
                <a:solidFill>
                  <a:srgbClr val="1B2B48"/>
                </a:solidFill>
                <a:latin typeface="Calibri"/>
              </a:rPr>
              <a:t>58 / 0,94 ≈ 62 meses</a:t>
            </a:r>
            <a:endParaRPr lang="es-ES" sz="2600"/>
          </a:p>
        </p:txBody>
      </p:sp>
      <p:sp>
        <p:nvSpPr>
          <p:cNvPr id="15" name="Rounded Rectangle 14"/>
          <p:cNvSpPr/>
          <p:nvPr/>
        </p:nvSpPr>
        <p:spPr>
          <a:xfrm>
            <a:off x="7772400" y="5074920"/>
            <a:ext cx="3840480" cy="1097280"/>
          </a:xfrm>
          <a:prstGeom prst="roundRect">
            <a:avLst>
              <a:gd name="adj" fmla="val 10000"/>
            </a:avLst>
          </a:prstGeom>
          <a:solidFill>
            <a:srgbClr val="FFF4D9"/>
          </a:solidFill>
          <a:ln>
            <a:noFill/>
          </a:ln>
        </p:spPr>
        <p:txBody>
          <a:bodyPr rtlCol="0" anchor="ctr" wrap="square" lIns="182880" rIns="182880" tIns="182880" bIns="182880">
            <a:noAutofit/>
          </a:bodyPr>
          <a:lstStyle/>
          <a:p>
            <a:pPr algn="l"/>
            <a:r>
              <a:rPr sz="1400" b="0" i="0" lang="es-ES">
                <a:solidFill>
                  <a:srgbClr val="1B2B48"/>
                </a:solidFill>
                <a:latin typeface="Calibri"/>
              </a:rPr>
              <a:t>El SPI tiende a 1 al terminar, aunque el proyecto acabe tarde. </a:t>
            </a:r>
            <a:r>
              <a:rPr sz="1400" b="1" i="0" lang="es-ES">
                <a:solidFill>
                  <a:srgbClr val="1B2B48"/>
                </a:solidFill>
                <a:latin typeface="Calibri"/>
              </a:rPr>
              <a:t>El SPI(t) no.</a:t>
            </a:r>
            <a:endParaRPr lang="es-ES" sz="14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2B48"/>
        </a:solidFill>
        <a:effectLst/>
      </p:bgPr>
    </p:bg>
    <p:spTree>
      <p:nvGrpSpPr>
        <p:cNvPr id="1" name=""/>
        <p:cNvGrpSpPr/>
        <p:nvPr/>
      </p:nvGrpSpPr>
      <p:grpSpPr/>
      <p:sp>
        <p:nvSpPr>
          <p:cNvPr id="2" name="Title 1"/>
          <p:cNvSpPr>
            <a:spLocks noGrp="1"/>
          </p:cNvSpPr>
          <p:nvPr>
            <p:ph type="title"/>
          </p:nvPr>
        </p:nvSpPr>
        <p:spPr>
          <a:xfrm>
            <a:off x="548640" y="2743200"/>
            <a:ext cx="11064240" cy="914400"/>
          </a:xfrm>
        </p:spPr>
        <p:txBody>
          <a:bodyPr wrap="square" lIns="0" rIns="0" tIns="0" bIns="0" anchor="t">
            <a:noAutofit/>
          </a:bodyPr>
          <a:lstStyle/>
          <a:p>
            <a:pPr algn="l"/>
            <a:r>
              <a:rPr sz="4000" b="1" i="0" lang="es-ES">
                <a:solidFill>
                  <a:srgbClr val="FFFFFF"/>
                </a:solidFill>
                <a:latin typeface="Calibri"/>
              </a:rPr>
              <a:t>MS Project: la base del informe</a:t>
            </a:r>
            <a:endParaRPr lang="es-ES" sz="4000"/>
          </a:p>
        </p:txBody>
      </p:sp>
      <p:sp>
        <p:nvSpPr>
          <p:cNvPr id="3" name="TextBox 2"/>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C9D3E3"/>
                </a:solidFill>
                <a:latin typeface="Calibri"/>
              </a:rPr>
              <a:t>Exportador EVM · Sesión para equipo de proyecto</a:t>
            </a:r>
            <a:endParaRPr lang="es-ES" sz="1000"/>
          </a:p>
        </p:txBody>
      </p:sp>
      <p:sp>
        <p:nvSpPr>
          <p:cNvPr id="4" name="TextBox 3"/>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C9D3E3"/>
                </a:solidFill>
                <a:latin typeface="Calibri"/>
              </a:rPr>
              <a:t>10</a:t>
            </a:fld>
            <a:endParaRPr lang="es-ES" sz="1000"/>
          </a:p>
        </p:txBody>
      </p:sp>
      <p:sp>
        <p:nvSpPr>
          <p:cNvPr id="5" name="TextBox 4"/>
          <p:cNvSpPr txBox="1"/>
          <p:nvPr/>
        </p:nvSpPr>
        <p:spPr>
          <a:xfrm>
            <a:off x="548640" y="1417320"/>
            <a:ext cx="2743200" cy="1188720"/>
          </a:xfrm>
          <a:prstGeom prst="rect">
            <a:avLst/>
          </a:prstGeom>
          <a:noFill/>
        </p:spPr>
        <p:txBody>
          <a:bodyPr wrap="square" lIns="0" rIns="0" tIns="0" bIns="0" anchor="t">
            <a:noAutofit/>
          </a:bodyPr>
          <a:lstStyle/>
          <a:p>
            <a:pPr algn="l"/>
            <a:r>
              <a:rPr sz="7200" b="1" i="0" lang="es-ES">
                <a:solidFill>
                  <a:srgbClr val="F2B134"/>
                </a:solidFill>
                <a:latin typeface="Calibri"/>
              </a:rPr>
              <a:t>02</a:t>
            </a:r>
            <a:endParaRPr lang="es-ES" sz="7200"/>
          </a:p>
        </p:txBody>
      </p:sp>
      <p:sp>
        <p:nvSpPr>
          <p:cNvPr id="6" name="TextBox 5"/>
          <p:cNvSpPr txBox="1"/>
          <p:nvPr/>
        </p:nvSpPr>
        <p:spPr>
          <a:xfrm>
            <a:off x="548640" y="3703320"/>
            <a:ext cx="10058400" cy="548640"/>
          </a:xfrm>
          <a:prstGeom prst="rect">
            <a:avLst/>
          </a:prstGeom>
          <a:noFill/>
        </p:spPr>
        <p:txBody>
          <a:bodyPr wrap="square" lIns="0" rIns="0" tIns="0" bIns="0" anchor="t">
            <a:noAutofit/>
          </a:bodyPr>
          <a:lstStyle/>
          <a:p>
            <a:pPr algn="l"/>
            <a:r>
              <a:rPr sz="2000" b="0" i="0" lang="es-ES">
                <a:solidFill>
                  <a:srgbClr val="C9D3E3"/>
                </a:solidFill>
                <a:latin typeface="Calibri"/>
              </a:rPr>
              <a:t>Lo que se prepara una vez y lo que se registra cada mes</a:t>
            </a:r>
            <a:endParaRPr lang="es-ES" sz="2000"/>
          </a:p>
        </p:txBody>
      </p:sp>
      <p:sp>
        <p:nvSpPr>
          <p:cNvPr id="7" name="Rounded Rectangle 6"/>
          <p:cNvSpPr/>
          <p:nvPr/>
        </p:nvSpPr>
        <p:spPr>
          <a:xfrm>
            <a:off x="548640" y="4846320"/>
            <a:ext cx="1664208" cy="411480"/>
          </a:xfrm>
          <a:prstGeom prst="roundRect">
            <a:avLst>
              <a:gd name="adj" fmla="val 48888"/>
            </a:avLst>
          </a:prstGeom>
          <a:solidFill>
            <a:srgbClr val="2A3D61"/>
          </a:solidFill>
          <a:ln>
            <a:noFill/>
          </a:ln>
        </p:spPr>
        <p:txBody>
          <a:bodyPr rtlCol="0" anchor="ctr" wrap="square" lIns="0" rIns="0" tIns="0" bIns="0">
            <a:noAutofit/>
          </a:bodyPr>
          <a:lstStyle/>
          <a:p>
            <a:pPr algn="ctr"/>
            <a:r>
              <a:rPr sz="1300" b="0" i="0" lang="es-ES">
                <a:solidFill>
                  <a:srgbClr val="FFFFFF"/>
                </a:solidFill>
                <a:latin typeface="Calibri"/>
              </a:rPr>
              <a:t>EDT y campos</a:t>
            </a:r>
            <a:endParaRPr lang="es-ES" sz="1300"/>
          </a:p>
        </p:txBody>
      </p:sp>
      <p:sp>
        <p:nvSpPr>
          <p:cNvPr id="8" name="Rounded Rectangle 7"/>
          <p:cNvSpPr/>
          <p:nvPr/>
        </p:nvSpPr>
        <p:spPr>
          <a:xfrm>
            <a:off x="2350008" y="4846320"/>
            <a:ext cx="1563624" cy="411480"/>
          </a:xfrm>
          <a:prstGeom prst="roundRect">
            <a:avLst>
              <a:gd name="adj" fmla="val 48888"/>
            </a:avLst>
          </a:prstGeom>
          <a:solidFill>
            <a:srgbClr val="2A3D61"/>
          </a:solidFill>
          <a:ln>
            <a:noFill/>
          </a:ln>
        </p:spPr>
        <p:txBody>
          <a:bodyPr rtlCol="0" anchor="ctr" wrap="square" lIns="0" rIns="0" tIns="0" bIns="0">
            <a:noAutofit/>
          </a:bodyPr>
          <a:lstStyle/>
          <a:p>
            <a:pPr algn="ctr"/>
            <a:r>
              <a:rPr sz="1300" b="0" i="0" lang="es-ES">
                <a:solidFill>
                  <a:srgbClr val="FFFFFF"/>
                </a:solidFill>
                <a:latin typeface="Calibri"/>
              </a:rPr>
              <a:t>Presupuesto</a:t>
            </a:r>
            <a:endParaRPr lang="es-ES" sz="1300"/>
          </a:p>
        </p:txBody>
      </p:sp>
      <p:sp>
        <p:nvSpPr>
          <p:cNvPr id="9" name="Rounded Rectangle 8"/>
          <p:cNvSpPr/>
          <p:nvPr/>
        </p:nvSpPr>
        <p:spPr>
          <a:xfrm>
            <a:off x="4050791" y="4846320"/>
            <a:ext cx="1463040" cy="411480"/>
          </a:xfrm>
          <a:prstGeom prst="roundRect">
            <a:avLst>
              <a:gd name="adj" fmla="val 48888"/>
            </a:avLst>
          </a:prstGeom>
          <a:solidFill>
            <a:srgbClr val="2A3D61"/>
          </a:solidFill>
          <a:ln>
            <a:noFill/>
          </a:ln>
        </p:spPr>
        <p:txBody>
          <a:bodyPr rtlCol="0" anchor="ctr" wrap="square" lIns="0" rIns="0" tIns="0" bIns="0">
            <a:noAutofit/>
          </a:bodyPr>
          <a:lstStyle/>
          <a:p>
            <a:pPr algn="ctr"/>
            <a:r>
              <a:rPr sz="1300" b="0" i="0" lang="es-ES">
                <a:solidFill>
                  <a:srgbClr val="FFFFFF"/>
                </a:solidFill>
                <a:latin typeface="Calibri"/>
              </a:rPr>
              <a:t>Línea base</a:t>
            </a:r>
            <a:endParaRPr lang="es-ES" sz="1300"/>
          </a:p>
        </p:txBody>
      </p:sp>
      <p:sp>
        <p:nvSpPr>
          <p:cNvPr id="10" name="Rounded Rectangle 9"/>
          <p:cNvSpPr/>
          <p:nvPr/>
        </p:nvSpPr>
        <p:spPr>
          <a:xfrm>
            <a:off x="5650992" y="4846320"/>
            <a:ext cx="2368296" cy="411480"/>
          </a:xfrm>
          <a:prstGeom prst="roundRect">
            <a:avLst>
              <a:gd name="adj" fmla="val 48888"/>
            </a:avLst>
          </a:prstGeom>
          <a:solidFill>
            <a:srgbClr val="2A3D61"/>
          </a:solidFill>
          <a:ln>
            <a:noFill/>
          </a:ln>
        </p:spPr>
        <p:txBody>
          <a:bodyPr rtlCol="0" anchor="ctr" wrap="square" lIns="0" rIns="0" tIns="0" bIns="0">
            <a:noAutofit/>
          </a:bodyPr>
          <a:lstStyle/>
          <a:p>
            <a:pPr algn="ctr"/>
            <a:r>
              <a:rPr sz="1300" b="0" i="0" lang="es-ES">
                <a:solidFill>
                  <a:srgbClr val="FFFFFF"/>
                </a:solidFill>
                <a:latin typeface="Calibri"/>
              </a:rPr>
              <a:t>Métodos de medición</a:t>
            </a:r>
            <a:endParaRPr lang="es-ES" sz="1300"/>
          </a:p>
        </p:txBody>
      </p:sp>
      <p:sp>
        <p:nvSpPr>
          <p:cNvPr id="11" name="Rounded Rectangle 10"/>
          <p:cNvSpPr/>
          <p:nvPr/>
        </p:nvSpPr>
        <p:spPr>
          <a:xfrm>
            <a:off x="8156448" y="4846320"/>
            <a:ext cx="1865376" cy="411480"/>
          </a:xfrm>
          <a:prstGeom prst="roundRect">
            <a:avLst>
              <a:gd name="adj" fmla="val 48888"/>
            </a:avLst>
          </a:prstGeom>
          <a:solidFill>
            <a:srgbClr val="2A3D61"/>
          </a:solidFill>
          <a:ln>
            <a:noFill/>
          </a:ln>
        </p:spPr>
        <p:txBody>
          <a:bodyPr rtlCol="0" anchor="ctr" wrap="square" lIns="0" rIns="0" tIns="0" bIns="0">
            <a:noAutofit/>
          </a:bodyPr>
          <a:lstStyle/>
          <a:p>
            <a:pPr algn="ctr"/>
            <a:r>
              <a:rPr sz="1300" b="0" i="0" lang="es-ES">
                <a:solidFill>
                  <a:srgbClr val="FFFFFF"/>
                </a:solidFill>
                <a:latin typeface="Calibri"/>
              </a:rPr>
              <a:t>Avance mensual</a:t>
            </a:r>
            <a:endParaRPr lang="es-ES" sz="13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Seis condiciones para un informe fiable</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MS PROJECT</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11</a:t>
            </a:fld>
            <a:endParaRPr lang="es-ES" sz="1000"/>
          </a:p>
        </p:txBody>
      </p:sp>
      <p:sp>
        <p:nvSpPr>
          <p:cNvPr id="6" name="Rounded Rectangle 5"/>
          <p:cNvSpPr/>
          <p:nvPr/>
        </p:nvSpPr>
        <p:spPr>
          <a:xfrm>
            <a:off x="548640" y="1508760"/>
            <a:ext cx="7278624" cy="411480"/>
          </a:xfrm>
          <a:prstGeom prst="roundRect">
            <a:avLst>
              <a:gd name="adj" fmla="val 22222"/>
            </a:avLst>
          </a:prstGeom>
          <a:solidFill>
            <a:srgbClr val="E5ECF7"/>
          </a:solidFill>
          <a:ln>
            <a:noFill/>
          </a:ln>
        </p:spPr>
        <p:txBody>
          <a:bodyPr rtlCol="0" anchor="ctr" wrap="square" lIns="0" rIns="0" tIns="0" bIns="0">
            <a:noAutofit/>
          </a:bodyPr>
          <a:lstStyle/>
          <a:p>
            <a:pPr algn="ctr"/>
            <a:r>
              <a:rPr sz="1300" b="1" i="0" lang="es-ES">
                <a:solidFill>
                  <a:srgbClr val="2F5597"/>
                </a:solidFill>
                <a:latin typeface="Calibri"/>
              </a:rPr>
              <a:t>UNA VEZ (y con cada cambio aprobado)</a:t>
            </a:r>
            <a:endParaRPr lang="es-ES" sz="1300"/>
          </a:p>
        </p:txBody>
      </p:sp>
      <p:sp>
        <p:nvSpPr>
          <p:cNvPr id="7" name="Rounded Rectangle 6"/>
          <p:cNvSpPr/>
          <p:nvPr/>
        </p:nvSpPr>
        <p:spPr>
          <a:xfrm>
            <a:off x="7936992" y="1508760"/>
            <a:ext cx="3584448" cy="411480"/>
          </a:xfrm>
          <a:prstGeom prst="roundRect">
            <a:avLst>
              <a:gd name="adj" fmla="val 22222"/>
            </a:avLst>
          </a:prstGeom>
          <a:solidFill>
            <a:srgbClr val="FFF4D9"/>
          </a:solidFill>
          <a:ln>
            <a:noFill/>
          </a:ln>
        </p:spPr>
        <p:txBody>
          <a:bodyPr rtlCol="0" anchor="ctr" wrap="square" lIns="0" rIns="0" tIns="0" bIns="0">
            <a:noAutofit/>
          </a:bodyPr>
          <a:lstStyle/>
          <a:p>
            <a:pPr algn="ctr"/>
            <a:r>
              <a:rPr sz="1300" b="1" i="0" lang="es-ES">
                <a:solidFill>
                  <a:srgbClr val="8A5A00"/>
                </a:solidFill>
                <a:latin typeface="Calibri"/>
              </a:rPr>
              <a:t>CADA MES</a:t>
            </a:r>
            <a:endParaRPr lang="es-ES" sz="1300"/>
          </a:p>
        </p:txBody>
      </p:sp>
      <p:sp>
        <p:nvSpPr>
          <p:cNvPr id="8" name="Oval 7"/>
          <p:cNvSpPr/>
          <p:nvPr/>
        </p:nvSpPr>
        <p:spPr>
          <a:xfrm>
            <a:off x="1005839" y="2286000"/>
            <a:ext cx="822960" cy="822960"/>
          </a:xfrm>
          <a:prstGeom prst="ellipse">
            <a:avLst/>
          </a:prstGeom>
          <a:solidFill>
            <a:srgbClr val="2F5597"/>
          </a:solidFill>
          <a:ln>
            <a:noFill/>
          </a:ln>
        </p:spPr>
        <p:txBody>
          <a:bodyPr rtlCol="0" anchor="ctr" wrap="square" lIns="0" rIns="0" tIns="0" bIns="0">
            <a:noAutofit/>
          </a:bodyPr>
          <a:lstStyle/>
          <a:p>
            <a:pPr algn="ctr"/>
            <a:r>
              <a:rPr sz="2600" b="1" i="0" lang="es-ES">
                <a:solidFill>
                  <a:srgbClr val="FFFFFF"/>
                </a:solidFill>
                <a:latin typeface="Calibri"/>
              </a:rPr>
              <a:t>1</a:t>
            </a:r>
            <a:endParaRPr lang="es-ES" sz="2600"/>
          </a:p>
        </p:txBody>
      </p:sp>
      <p:cxnSp>
        <p:nvCxnSpPr>
          <p:cNvPr id="9" name="Connector 8"/>
          <p:cNvCxnSpPr/>
          <p:nvPr/>
        </p:nvCxnSpPr>
        <p:spPr>
          <a:xfrm>
            <a:off x="1920239" y="2697480"/>
            <a:ext cx="841248" cy="0"/>
          </a:xfrm>
          <a:prstGeom prst="line">
            <a:avLst/>
          </a:prstGeom>
          <a:ln w="25400">
            <a:solidFill>
              <a:srgbClr val="D5DBE5"/>
            </a:solidFill>
            <a:tailEnd type="triangle" w="med" len="med"/>
          </a:ln>
        </p:spPr>
      </p:cxnSp>
      <p:sp>
        <p:nvSpPr>
          <p:cNvPr id="10" name="TextBox 9"/>
          <p:cNvSpPr txBox="1"/>
          <p:nvPr/>
        </p:nvSpPr>
        <p:spPr>
          <a:xfrm>
            <a:off x="548640" y="3291840"/>
            <a:ext cx="1737360" cy="685800"/>
          </a:xfrm>
          <a:prstGeom prst="rect">
            <a:avLst/>
          </a:prstGeom>
          <a:noFill/>
        </p:spPr>
        <p:txBody>
          <a:bodyPr wrap="square" lIns="0" rIns="0" tIns="0" bIns="0" anchor="t">
            <a:noAutofit/>
          </a:bodyPr>
          <a:lstStyle/>
          <a:p>
            <a:pPr algn="ctr"/>
            <a:r>
              <a:rPr sz="1600" b="1" i="0" lang="es-ES">
                <a:solidFill>
                  <a:srgbClr val="1B2B48"/>
                </a:solidFill>
                <a:latin typeface="Calibri"/>
              </a:rPr>
              <a:t>EDT con código</a:t>
            </a:r>
            <a:endParaRPr lang="es-ES" sz="1600"/>
          </a:p>
        </p:txBody>
      </p:sp>
      <p:sp>
        <p:nvSpPr>
          <p:cNvPr id="11" name="TextBox 10"/>
          <p:cNvSpPr txBox="1"/>
          <p:nvPr/>
        </p:nvSpPr>
        <p:spPr>
          <a:xfrm>
            <a:off x="548640" y="3977639"/>
            <a:ext cx="1737360" cy="914400"/>
          </a:xfrm>
          <a:prstGeom prst="rect">
            <a:avLst/>
          </a:prstGeom>
          <a:noFill/>
        </p:spPr>
        <p:txBody>
          <a:bodyPr wrap="square" lIns="0" rIns="0" tIns="0" bIns="0" anchor="t">
            <a:noAutofit/>
          </a:bodyPr>
          <a:lstStyle/>
          <a:p>
            <a:pPr algn="ctr"/>
            <a:r>
              <a:rPr sz="1400" b="0" i="0" lang="es-ES">
                <a:solidFill>
                  <a:srgbClr val="5A6577"/>
                </a:solidFill>
                <a:latin typeface="Calibri"/>
              </a:rPr>
              <a:t>Paquetes de trabajo en el nivel 3 del código EDT</a:t>
            </a:r>
            <a:endParaRPr lang="es-ES" sz="1400"/>
          </a:p>
        </p:txBody>
      </p:sp>
      <p:sp>
        <p:nvSpPr>
          <p:cNvPr id="12" name="Oval 11"/>
          <p:cNvSpPr/>
          <p:nvPr/>
        </p:nvSpPr>
        <p:spPr>
          <a:xfrm>
            <a:off x="2852928" y="2286000"/>
            <a:ext cx="822960" cy="822960"/>
          </a:xfrm>
          <a:prstGeom prst="ellipse">
            <a:avLst/>
          </a:prstGeom>
          <a:solidFill>
            <a:srgbClr val="2F5597"/>
          </a:solidFill>
          <a:ln>
            <a:noFill/>
          </a:ln>
        </p:spPr>
        <p:txBody>
          <a:bodyPr rtlCol="0" anchor="ctr" wrap="square" lIns="0" rIns="0" tIns="0" bIns="0">
            <a:noAutofit/>
          </a:bodyPr>
          <a:lstStyle/>
          <a:p>
            <a:pPr algn="ctr"/>
            <a:r>
              <a:rPr sz="2600" b="1" i="0" lang="es-ES">
                <a:solidFill>
                  <a:srgbClr val="FFFFFF"/>
                </a:solidFill>
                <a:latin typeface="Calibri"/>
              </a:rPr>
              <a:t>2</a:t>
            </a:r>
            <a:endParaRPr lang="es-ES" sz="2600"/>
          </a:p>
        </p:txBody>
      </p:sp>
      <p:cxnSp>
        <p:nvCxnSpPr>
          <p:cNvPr id="13" name="Connector 12"/>
          <p:cNvCxnSpPr/>
          <p:nvPr/>
        </p:nvCxnSpPr>
        <p:spPr>
          <a:xfrm>
            <a:off x="3767328" y="2697480"/>
            <a:ext cx="841248" cy="0"/>
          </a:xfrm>
          <a:prstGeom prst="line">
            <a:avLst/>
          </a:prstGeom>
          <a:ln w="25400">
            <a:solidFill>
              <a:srgbClr val="D5DBE5"/>
            </a:solidFill>
            <a:tailEnd type="triangle" w="med" len="med"/>
          </a:ln>
        </p:spPr>
      </p:cxnSp>
      <p:sp>
        <p:nvSpPr>
          <p:cNvPr id="14" name="TextBox 13"/>
          <p:cNvSpPr txBox="1"/>
          <p:nvPr/>
        </p:nvSpPr>
        <p:spPr>
          <a:xfrm>
            <a:off x="2395728" y="3291840"/>
            <a:ext cx="1737360" cy="685800"/>
          </a:xfrm>
          <a:prstGeom prst="rect">
            <a:avLst/>
          </a:prstGeom>
          <a:noFill/>
        </p:spPr>
        <p:txBody>
          <a:bodyPr wrap="square" lIns="0" rIns="0" tIns="0" bIns="0" anchor="t">
            <a:noAutofit/>
          </a:bodyPr>
          <a:lstStyle/>
          <a:p>
            <a:pPr algn="ctr"/>
            <a:r>
              <a:rPr sz="1600" b="1" i="0" lang="es-ES">
                <a:solidFill>
                  <a:srgbClr val="1B2B48"/>
                </a:solidFill>
                <a:latin typeface="Calibri"/>
              </a:rPr>
              <a:t>Duraciones y pesos realistas</a:t>
            </a:r>
            <a:endParaRPr lang="es-ES" sz="1600"/>
          </a:p>
        </p:txBody>
      </p:sp>
      <p:sp>
        <p:nvSpPr>
          <p:cNvPr id="15" name="TextBox 14"/>
          <p:cNvSpPr txBox="1"/>
          <p:nvPr/>
        </p:nvSpPr>
        <p:spPr>
          <a:xfrm>
            <a:off x="2395728" y="3977639"/>
            <a:ext cx="1737360" cy="914400"/>
          </a:xfrm>
          <a:prstGeom prst="rect">
            <a:avLst/>
          </a:prstGeom>
          <a:noFill/>
        </p:spPr>
        <p:txBody>
          <a:bodyPr wrap="square" lIns="0" rIns="0" tIns="0" bIns="0" anchor="t">
            <a:noAutofit/>
          </a:bodyPr>
          <a:lstStyle/>
          <a:p>
            <a:pPr algn="ctr"/>
            <a:r>
              <a:rPr sz="1400" b="0" i="0" lang="es-ES">
                <a:solidFill>
                  <a:srgbClr val="5A6577"/>
                </a:solidFill>
                <a:latin typeface="Calibri"/>
              </a:rPr>
              <a:t>La duración pesa; los hitos, con Peso hito</a:t>
            </a:r>
            <a:endParaRPr lang="es-ES" sz="1400"/>
          </a:p>
        </p:txBody>
      </p:sp>
      <p:sp>
        <p:nvSpPr>
          <p:cNvPr id="16" name="Oval 15"/>
          <p:cNvSpPr/>
          <p:nvPr/>
        </p:nvSpPr>
        <p:spPr>
          <a:xfrm>
            <a:off x="4700016" y="2286000"/>
            <a:ext cx="822960" cy="822960"/>
          </a:xfrm>
          <a:prstGeom prst="ellipse">
            <a:avLst/>
          </a:prstGeom>
          <a:solidFill>
            <a:srgbClr val="2F5597"/>
          </a:solidFill>
          <a:ln>
            <a:noFill/>
          </a:ln>
        </p:spPr>
        <p:txBody>
          <a:bodyPr rtlCol="0" anchor="ctr" wrap="square" lIns="0" rIns="0" tIns="0" bIns="0">
            <a:noAutofit/>
          </a:bodyPr>
          <a:lstStyle/>
          <a:p>
            <a:pPr algn="ctr"/>
            <a:r>
              <a:rPr sz="2600" b="1" i="0" lang="es-ES">
                <a:solidFill>
                  <a:srgbClr val="FFFFFF"/>
                </a:solidFill>
                <a:latin typeface="Calibri"/>
              </a:rPr>
              <a:t>3</a:t>
            </a:r>
            <a:endParaRPr lang="es-ES" sz="2600"/>
          </a:p>
        </p:txBody>
      </p:sp>
      <p:cxnSp>
        <p:nvCxnSpPr>
          <p:cNvPr id="17" name="Connector 16"/>
          <p:cNvCxnSpPr/>
          <p:nvPr/>
        </p:nvCxnSpPr>
        <p:spPr>
          <a:xfrm>
            <a:off x="5614416" y="2697480"/>
            <a:ext cx="841248" cy="0"/>
          </a:xfrm>
          <a:prstGeom prst="line">
            <a:avLst/>
          </a:prstGeom>
          <a:ln w="25400">
            <a:solidFill>
              <a:srgbClr val="D5DBE5"/>
            </a:solidFill>
            <a:tailEnd type="triangle" w="med" len="med"/>
          </a:ln>
        </p:spPr>
      </p:cxnSp>
      <p:sp>
        <p:nvSpPr>
          <p:cNvPr id="18" name="TextBox 17"/>
          <p:cNvSpPr txBox="1"/>
          <p:nvPr/>
        </p:nvSpPr>
        <p:spPr>
          <a:xfrm>
            <a:off x="4242816" y="3291840"/>
            <a:ext cx="1737360" cy="685800"/>
          </a:xfrm>
          <a:prstGeom prst="rect">
            <a:avLst/>
          </a:prstGeom>
          <a:noFill/>
        </p:spPr>
        <p:txBody>
          <a:bodyPr wrap="square" lIns="0" rIns="0" tIns="0" bIns="0" anchor="t">
            <a:noAutofit/>
          </a:bodyPr>
          <a:lstStyle/>
          <a:p>
            <a:pPr algn="ctr"/>
            <a:r>
              <a:rPr sz="1600" b="1" i="0" lang="es-ES">
                <a:solidFill>
                  <a:srgbClr val="1B2B48"/>
                </a:solidFill>
                <a:latin typeface="Calibri"/>
              </a:rPr>
              <a:t>Método de medición</a:t>
            </a:r>
            <a:endParaRPr lang="es-ES" sz="1600"/>
          </a:p>
        </p:txBody>
      </p:sp>
      <p:sp>
        <p:nvSpPr>
          <p:cNvPr id="19" name="TextBox 18"/>
          <p:cNvSpPr txBox="1"/>
          <p:nvPr/>
        </p:nvSpPr>
        <p:spPr>
          <a:xfrm>
            <a:off x="4242816" y="3977639"/>
            <a:ext cx="1737360" cy="914400"/>
          </a:xfrm>
          <a:prstGeom prst="rect">
            <a:avLst/>
          </a:prstGeom>
          <a:noFill/>
        </p:spPr>
        <p:txBody>
          <a:bodyPr wrap="square" lIns="0" rIns="0" tIns="0" bIns="0" anchor="t">
            <a:noAutofit/>
          </a:bodyPr>
          <a:lstStyle/>
          <a:p>
            <a:pPr algn="ctr"/>
            <a:r>
              <a:rPr sz="1400" b="0" i="0" lang="es-ES">
                <a:solidFill>
                  <a:srgbClr val="5A6577"/>
                </a:solidFill>
                <a:latin typeface="Calibri"/>
              </a:rPr>
              <a:t>Uno por paquete, definido antes de empezar</a:t>
            </a:r>
            <a:endParaRPr lang="es-ES" sz="1400"/>
          </a:p>
        </p:txBody>
      </p:sp>
      <p:sp>
        <p:nvSpPr>
          <p:cNvPr id="20" name="Oval 19"/>
          <p:cNvSpPr/>
          <p:nvPr/>
        </p:nvSpPr>
        <p:spPr>
          <a:xfrm>
            <a:off x="6547104" y="2286000"/>
            <a:ext cx="822960" cy="822960"/>
          </a:xfrm>
          <a:prstGeom prst="ellipse">
            <a:avLst/>
          </a:prstGeom>
          <a:solidFill>
            <a:srgbClr val="2F5597"/>
          </a:solidFill>
          <a:ln>
            <a:noFill/>
          </a:ln>
        </p:spPr>
        <p:txBody>
          <a:bodyPr rtlCol="0" anchor="ctr" wrap="square" lIns="0" rIns="0" tIns="0" bIns="0">
            <a:noAutofit/>
          </a:bodyPr>
          <a:lstStyle/>
          <a:p>
            <a:pPr algn="ctr"/>
            <a:r>
              <a:rPr sz="2600" b="1" i="0" lang="es-ES">
                <a:solidFill>
                  <a:srgbClr val="FFFFFF"/>
                </a:solidFill>
                <a:latin typeface="Calibri"/>
              </a:rPr>
              <a:t>4</a:t>
            </a:r>
            <a:endParaRPr lang="es-ES" sz="2600"/>
          </a:p>
        </p:txBody>
      </p:sp>
      <p:cxnSp>
        <p:nvCxnSpPr>
          <p:cNvPr id="21" name="Connector 20"/>
          <p:cNvCxnSpPr/>
          <p:nvPr/>
        </p:nvCxnSpPr>
        <p:spPr>
          <a:xfrm>
            <a:off x="7461504" y="2697480"/>
            <a:ext cx="841248" cy="0"/>
          </a:xfrm>
          <a:prstGeom prst="line">
            <a:avLst/>
          </a:prstGeom>
          <a:ln w="25400">
            <a:solidFill>
              <a:srgbClr val="D5DBE5"/>
            </a:solidFill>
            <a:tailEnd type="triangle" w="med" len="med"/>
          </a:ln>
        </p:spPr>
      </p:cxnSp>
      <p:sp>
        <p:nvSpPr>
          <p:cNvPr id="22" name="TextBox 21"/>
          <p:cNvSpPr txBox="1"/>
          <p:nvPr/>
        </p:nvSpPr>
        <p:spPr>
          <a:xfrm>
            <a:off x="6089904" y="3291840"/>
            <a:ext cx="1737360" cy="685800"/>
          </a:xfrm>
          <a:prstGeom prst="rect">
            <a:avLst/>
          </a:prstGeom>
          <a:noFill/>
        </p:spPr>
        <p:txBody>
          <a:bodyPr wrap="square" lIns="0" rIns="0" tIns="0" bIns="0" anchor="t">
            <a:noAutofit/>
          </a:bodyPr>
          <a:lstStyle/>
          <a:p>
            <a:pPr algn="ctr"/>
            <a:r>
              <a:rPr sz="1600" b="1" i="0" lang="es-ES">
                <a:solidFill>
                  <a:srgbClr val="1B2B48"/>
                </a:solidFill>
                <a:latin typeface="Calibri"/>
              </a:rPr>
              <a:t>Línea base aprobada</a:t>
            </a:r>
            <a:endParaRPr lang="es-ES" sz="1600"/>
          </a:p>
        </p:txBody>
      </p:sp>
      <p:sp>
        <p:nvSpPr>
          <p:cNvPr id="23" name="TextBox 22"/>
          <p:cNvSpPr txBox="1"/>
          <p:nvPr/>
        </p:nvSpPr>
        <p:spPr>
          <a:xfrm>
            <a:off x="6089904" y="3977639"/>
            <a:ext cx="1737360" cy="914400"/>
          </a:xfrm>
          <a:prstGeom prst="rect">
            <a:avLst/>
          </a:prstGeom>
          <a:noFill/>
        </p:spPr>
        <p:txBody>
          <a:bodyPr wrap="square" lIns="0" rIns="0" tIns="0" bIns="0" anchor="t">
            <a:noAutofit/>
          </a:bodyPr>
          <a:lstStyle/>
          <a:p>
            <a:pPr algn="ctr"/>
            <a:r>
              <a:rPr sz="1400" b="0" i="0" lang="es-ES">
                <a:solidFill>
                  <a:srgbClr val="5A6577"/>
                </a:solidFill>
                <a:latin typeface="Calibri"/>
              </a:rPr>
              <a:t>Guardada y resumida en las tareas resumen</a:t>
            </a:r>
            <a:endParaRPr lang="es-ES" sz="1400"/>
          </a:p>
        </p:txBody>
      </p:sp>
      <p:sp>
        <p:nvSpPr>
          <p:cNvPr id="24" name="Oval 23"/>
          <p:cNvSpPr/>
          <p:nvPr/>
        </p:nvSpPr>
        <p:spPr>
          <a:xfrm>
            <a:off x="8394192" y="2286000"/>
            <a:ext cx="822960" cy="822960"/>
          </a:xfrm>
          <a:prstGeom prst="ellipse">
            <a:avLst/>
          </a:prstGeom>
          <a:solidFill>
            <a:srgbClr val="F2B134"/>
          </a:solidFill>
          <a:ln>
            <a:noFill/>
          </a:ln>
        </p:spPr>
        <p:txBody>
          <a:bodyPr rtlCol="0" anchor="ctr" wrap="square" lIns="0" rIns="0" tIns="0" bIns="0">
            <a:noAutofit/>
          </a:bodyPr>
          <a:lstStyle/>
          <a:p>
            <a:pPr algn="ctr"/>
            <a:r>
              <a:rPr sz="2600" b="1" i="0" lang="es-ES">
                <a:solidFill>
                  <a:srgbClr val="1B2B48"/>
                </a:solidFill>
                <a:latin typeface="Calibri"/>
              </a:rPr>
              <a:t>5</a:t>
            </a:r>
            <a:endParaRPr lang="es-ES" sz="2600"/>
          </a:p>
        </p:txBody>
      </p:sp>
      <p:cxnSp>
        <p:nvCxnSpPr>
          <p:cNvPr id="25" name="Connector 24"/>
          <p:cNvCxnSpPr/>
          <p:nvPr/>
        </p:nvCxnSpPr>
        <p:spPr>
          <a:xfrm>
            <a:off x="9308592" y="2697480"/>
            <a:ext cx="841247" cy="0"/>
          </a:xfrm>
          <a:prstGeom prst="line">
            <a:avLst/>
          </a:prstGeom>
          <a:ln w="25400">
            <a:solidFill>
              <a:srgbClr val="D5DBE5"/>
            </a:solidFill>
            <a:tailEnd type="triangle" w="med" len="med"/>
          </a:ln>
        </p:spPr>
      </p:cxnSp>
      <p:sp>
        <p:nvSpPr>
          <p:cNvPr id="26" name="TextBox 25"/>
          <p:cNvSpPr txBox="1"/>
          <p:nvPr/>
        </p:nvSpPr>
        <p:spPr>
          <a:xfrm>
            <a:off x="7936992" y="3291840"/>
            <a:ext cx="1737360" cy="685800"/>
          </a:xfrm>
          <a:prstGeom prst="rect">
            <a:avLst/>
          </a:prstGeom>
          <a:noFill/>
        </p:spPr>
        <p:txBody>
          <a:bodyPr wrap="square" lIns="0" rIns="0" tIns="0" bIns="0" anchor="t">
            <a:noAutofit/>
          </a:bodyPr>
          <a:lstStyle/>
          <a:p>
            <a:pPr algn="ctr"/>
            <a:r>
              <a:rPr sz="1600" b="1" i="0" lang="es-ES">
                <a:solidFill>
                  <a:srgbClr val="1B2B48"/>
                </a:solidFill>
                <a:latin typeface="Calibri"/>
              </a:rPr>
              <a:t>Avance registrado</a:t>
            </a:r>
            <a:endParaRPr lang="es-ES" sz="1600"/>
          </a:p>
        </p:txBody>
      </p:sp>
      <p:sp>
        <p:nvSpPr>
          <p:cNvPr id="27" name="TextBox 26"/>
          <p:cNvSpPr txBox="1"/>
          <p:nvPr/>
        </p:nvSpPr>
        <p:spPr>
          <a:xfrm>
            <a:off x="7936992" y="3977639"/>
            <a:ext cx="1737360" cy="914400"/>
          </a:xfrm>
          <a:prstGeom prst="rect">
            <a:avLst/>
          </a:prstGeom>
          <a:noFill/>
        </p:spPr>
        <p:txBody>
          <a:bodyPr wrap="square" lIns="0" rIns="0" tIns="0" bIns="0" anchor="t">
            <a:noAutofit/>
          </a:bodyPr>
          <a:lstStyle/>
          <a:p>
            <a:pPr algn="ctr"/>
            <a:r>
              <a:rPr sz="1400" b="0" i="0" lang="es-ES">
                <a:solidFill>
                  <a:srgbClr val="5A6577"/>
                </a:solidFill>
                <a:latin typeface="Calibri"/>
              </a:rPr>
              <a:t>% completado, % físico, hitos y fechas reales</a:t>
            </a:r>
            <a:endParaRPr lang="es-ES" sz="1400"/>
          </a:p>
        </p:txBody>
      </p:sp>
      <p:sp>
        <p:nvSpPr>
          <p:cNvPr id="28" name="Oval 27"/>
          <p:cNvSpPr/>
          <p:nvPr/>
        </p:nvSpPr>
        <p:spPr>
          <a:xfrm>
            <a:off x="10241280" y="2286000"/>
            <a:ext cx="822960" cy="822960"/>
          </a:xfrm>
          <a:prstGeom prst="ellipse">
            <a:avLst/>
          </a:prstGeom>
          <a:solidFill>
            <a:srgbClr val="F2B134"/>
          </a:solidFill>
          <a:ln>
            <a:noFill/>
          </a:ln>
        </p:spPr>
        <p:txBody>
          <a:bodyPr rtlCol="0" anchor="ctr" wrap="square" lIns="0" rIns="0" tIns="0" bIns="0">
            <a:noAutofit/>
          </a:bodyPr>
          <a:lstStyle/>
          <a:p>
            <a:pPr algn="ctr"/>
            <a:r>
              <a:rPr sz="2600" b="1" i="0" lang="es-ES">
                <a:solidFill>
                  <a:srgbClr val="1B2B48"/>
                </a:solidFill>
                <a:latin typeface="Calibri"/>
              </a:rPr>
              <a:t>6</a:t>
            </a:r>
            <a:endParaRPr lang="es-ES" sz="2600"/>
          </a:p>
        </p:txBody>
      </p:sp>
      <p:sp>
        <p:nvSpPr>
          <p:cNvPr id="29" name="TextBox 28"/>
          <p:cNvSpPr txBox="1"/>
          <p:nvPr/>
        </p:nvSpPr>
        <p:spPr>
          <a:xfrm>
            <a:off x="9784080" y="3291840"/>
            <a:ext cx="1737360" cy="685800"/>
          </a:xfrm>
          <a:prstGeom prst="rect">
            <a:avLst/>
          </a:prstGeom>
          <a:noFill/>
        </p:spPr>
        <p:txBody>
          <a:bodyPr wrap="square" lIns="0" rIns="0" tIns="0" bIns="0" anchor="t">
            <a:noAutofit/>
          </a:bodyPr>
          <a:lstStyle/>
          <a:p>
            <a:pPr algn="ctr"/>
            <a:r>
              <a:rPr sz="1600" b="1" i="0" lang="es-ES">
                <a:solidFill>
                  <a:srgbClr val="1B2B48"/>
                </a:solidFill>
                <a:latin typeface="Calibri"/>
              </a:rPr>
              <a:t>Fecha de estado</a:t>
            </a:r>
            <a:endParaRPr lang="es-ES" sz="1600"/>
          </a:p>
        </p:txBody>
      </p:sp>
      <p:sp>
        <p:nvSpPr>
          <p:cNvPr id="30" name="TextBox 29"/>
          <p:cNvSpPr txBox="1"/>
          <p:nvPr/>
        </p:nvSpPr>
        <p:spPr>
          <a:xfrm>
            <a:off x="9784080" y="3977639"/>
            <a:ext cx="1737360" cy="914400"/>
          </a:xfrm>
          <a:prstGeom prst="rect">
            <a:avLst/>
          </a:prstGeom>
          <a:noFill/>
        </p:spPr>
        <p:txBody>
          <a:bodyPr wrap="square" lIns="0" rIns="0" tIns="0" bIns="0" anchor="t">
            <a:noAutofit/>
          </a:bodyPr>
          <a:lstStyle/>
          <a:p>
            <a:pPr algn="ctr"/>
            <a:r>
              <a:rPr sz="1400" b="0" i="0" lang="es-ES">
                <a:solidFill>
                  <a:srgbClr val="5A6577"/>
                </a:solidFill>
                <a:latin typeface="Calibri"/>
              </a:rPr>
              <a:t>Último día del mes informado</a:t>
            </a:r>
            <a:endParaRPr lang="es-ES" sz="1400"/>
          </a:p>
        </p:txBody>
      </p:sp>
      <p:sp>
        <p:nvSpPr>
          <p:cNvPr id="31" name="Rounded Rectangle 30"/>
          <p:cNvSpPr/>
          <p:nvPr/>
        </p:nvSpPr>
        <p:spPr>
          <a:xfrm>
            <a:off x="548640" y="5257800"/>
            <a:ext cx="11064240" cy="868680"/>
          </a:xfrm>
          <a:prstGeom prst="roundRect">
            <a:avLst>
              <a:gd name="adj" fmla="val 12631"/>
            </a:avLst>
          </a:prstGeom>
          <a:solidFill>
            <a:srgbClr val="F3F5F9"/>
          </a:solidFill>
          <a:ln>
            <a:noFill/>
          </a:ln>
        </p:spPr>
        <p:txBody>
          <a:bodyPr rtlCol="0" anchor="ctr" wrap="square" lIns="228600" rIns="228600" tIns="228600" bIns="228600">
            <a:noAutofit/>
          </a:bodyPr>
          <a:lstStyle/>
          <a:p>
            <a:pPr algn="l"/>
            <a:r>
              <a:rPr sz="1500" b="1" i="0" lang="es-ES">
                <a:solidFill>
                  <a:srgbClr val="1B2B48"/>
                </a:solidFill>
                <a:latin typeface="Calibri"/>
              </a:rPr>
              <a:t>Ayuda práctica: </a:t>
            </a:r>
            <a:r>
              <a:rPr sz="1500" b="0" i="0" lang="es-ES">
                <a:solidFill>
                  <a:srgbClr val="1B2B48"/>
                </a:solidFill>
                <a:latin typeface="Calibri"/>
              </a:rPr>
              <a:t>validar revisa el archivo de MS Project antes de exportar y generar deja los avisos del libro en la hoja </a:t>
            </a:r>
            <a:r>
              <a:rPr sz="1500" b="1" i="0" lang="es-ES">
                <a:solidFill>
                  <a:srgbClr val="1B2B48"/>
                </a:solidFill>
                <a:latin typeface="Calibri"/>
              </a:rPr>
              <a:t>Validación</a:t>
            </a:r>
            <a:r>
              <a:rPr sz="1500" b="0" i="0" lang="es-ES">
                <a:solidFill>
                  <a:srgbClr val="1B2B48"/>
                </a:solidFill>
                <a:latin typeface="Calibri"/>
              </a:rPr>
              <a:t>, con la tarea afectada.</a:t>
            </a:r>
            <a:endParaRPr lang="es-ES" sz="15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La EDT: el código manda</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MS PROJECT · PLANIFICACIÓN</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12</a:t>
            </a:fld>
            <a:endParaRPr lang="es-ES" sz="1000"/>
          </a:p>
        </p:txBody>
      </p:sp>
      <p:sp>
        <p:nvSpPr>
          <p:cNvPr id="6" name="Rounded Rectangle 5"/>
          <p:cNvSpPr/>
          <p:nvPr/>
        </p:nvSpPr>
        <p:spPr>
          <a:xfrm>
            <a:off x="548640" y="1554480"/>
            <a:ext cx="3291840" cy="749808"/>
          </a:xfrm>
          <a:prstGeom prst="roundRect">
            <a:avLst>
              <a:gd name="adj" fmla="val 9756"/>
            </a:avLst>
          </a:prstGeom>
          <a:solidFill>
            <a:srgbClr val="FFFFFF"/>
          </a:solidFill>
          <a:ln w="15875">
            <a:solidFill>
              <a:srgbClr val="D5DBE5"/>
            </a:solidFill>
          </a:ln>
        </p:spPr>
        <p:txBody>
          <a:bodyPr rtlCol="0" anchor="ctr" wrap="square" lIns="73152" rIns="73152" tIns="73152" bIns="73152">
            <a:noAutofit/>
          </a:bodyPr>
          <a:lstStyle/>
          <a:p>
            <a:pPr algn="ctr"/>
          </a:p>
        </p:txBody>
      </p:sp>
      <p:sp>
        <p:nvSpPr>
          <p:cNvPr id="7" name="TextBox 6"/>
          <p:cNvSpPr txBox="1"/>
          <p:nvPr/>
        </p:nvSpPr>
        <p:spPr>
          <a:xfrm>
            <a:off x="731520" y="1627632"/>
            <a:ext cx="3017520" cy="347472"/>
          </a:xfrm>
          <a:prstGeom prst="rect">
            <a:avLst/>
          </a:prstGeom>
          <a:noFill/>
        </p:spPr>
        <p:txBody>
          <a:bodyPr wrap="square" lIns="0" rIns="0" tIns="0" bIns="0" anchor="t">
            <a:noAutofit/>
          </a:bodyPr>
          <a:lstStyle/>
          <a:p>
            <a:pPr algn="l"/>
            <a:r>
              <a:rPr sz="1600" b="1" i="0" lang="es-ES">
                <a:solidFill>
                  <a:srgbClr val="1B2B48"/>
                </a:solidFill>
                <a:latin typeface="Calibri"/>
              </a:rPr>
              <a:t>2.0.0  Ingeniería</a:t>
            </a:r>
            <a:endParaRPr lang="es-ES" sz="1600"/>
          </a:p>
        </p:txBody>
      </p:sp>
      <p:sp>
        <p:nvSpPr>
          <p:cNvPr id="8" name="TextBox 7"/>
          <p:cNvSpPr txBox="1"/>
          <p:nvPr/>
        </p:nvSpPr>
        <p:spPr>
          <a:xfrm>
            <a:off x="731520" y="1965960"/>
            <a:ext cx="3017520" cy="274320"/>
          </a:xfrm>
          <a:prstGeom prst="rect">
            <a:avLst/>
          </a:prstGeom>
          <a:noFill/>
        </p:spPr>
        <p:txBody>
          <a:bodyPr wrap="square" lIns="0" rIns="0" tIns="0" bIns="0" anchor="t">
            <a:noAutofit/>
          </a:bodyPr>
          <a:lstStyle/>
          <a:p>
            <a:pPr algn="l"/>
            <a:r>
              <a:rPr sz="1200" b="0" i="0" lang="es-ES">
                <a:solidFill>
                  <a:srgbClr val="5A6577"/>
                </a:solidFill>
                <a:latin typeface="Calibri"/>
              </a:rPr>
              <a:t>Nivel 1 · subtotal</a:t>
            </a:r>
            <a:endParaRPr lang="es-ES" sz="1200"/>
          </a:p>
        </p:txBody>
      </p:sp>
      <p:sp>
        <p:nvSpPr>
          <p:cNvPr id="9" name="Rounded Rectangle 8"/>
          <p:cNvSpPr/>
          <p:nvPr/>
        </p:nvSpPr>
        <p:spPr>
          <a:xfrm>
            <a:off x="1051560" y="2514600"/>
            <a:ext cx="3566160" cy="749808"/>
          </a:xfrm>
          <a:prstGeom prst="roundRect">
            <a:avLst>
              <a:gd name="adj" fmla="val 9756"/>
            </a:avLst>
          </a:prstGeom>
          <a:solidFill>
            <a:srgbClr val="FFFFFF"/>
          </a:solidFill>
          <a:ln w="15875">
            <a:solidFill>
              <a:srgbClr val="D5DBE5"/>
            </a:solidFill>
          </a:ln>
        </p:spPr>
        <p:txBody>
          <a:bodyPr rtlCol="0" anchor="ctr" wrap="square" lIns="73152" rIns="73152" tIns="73152" bIns="73152">
            <a:noAutofit/>
          </a:bodyPr>
          <a:lstStyle/>
          <a:p>
            <a:pPr algn="ctr"/>
          </a:p>
        </p:txBody>
      </p:sp>
      <p:sp>
        <p:nvSpPr>
          <p:cNvPr id="10" name="TextBox 9"/>
          <p:cNvSpPr txBox="1"/>
          <p:nvPr/>
        </p:nvSpPr>
        <p:spPr>
          <a:xfrm>
            <a:off x="1234439" y="2587752"/>
            <a:ext cx="3291840" cy="347472"/>
          </a:xfrm>
          <a:prstGeom prst="rect">
            <a:avLst/>
          </a:prstGeom>
          <a:noFill/>
        </p:spPr>
        <p:txBody>
          <a:bodyPr wrap="square" lIns="0" rIns="0" tIns="0" bIns="0" anchor="t">
            <a:noAutofit/>
          </a:bodyPr>
          <a:lstStyle/>
          <a:p>
            <a:pPr algn="l"/>
            <a:r>
              <a:rPr sz="1600" b="1" i="0" lang="es-ES">
                <a:solidFill>
                  <a:srgbClr val="1B2B48"/>
                </a:solidFill>
                <a:latin typeface="Calibri"/>
              </a:rPr>
              <a:t>2.1.0  Ingeniería básica</a:t>
            </a:r>
            <a:endParaRPr lang="es-ES" sz="1600"/>
          </a:p>
        </p:txBody>
      </p:sp>
      <p:sp>
        <p:nvSpPr>
          <p:cNvPr id="11" name="TextBox 10"/>
          <p:cNvSpPr txBox="1"/>
          <p:nvPr/>
        </p:nvSpPr>
        <p:spPr>
          <a:xfrm>
            <a:off x="1234439" y="2926080"/>
            <a:ext cx="3291840" cy="274320"/>
          </a:xfrm>
          <a:prstGeom prst="rect">
            <a:avLst/>
          </a:prstGeom>
          <a:noFill/>
        </p:spPr>
        <p:txBody>
          <a:bodyPr wrap="square" lIns="0" rIns="0" tIns="0" bIns="0" anchor="t">
            <a:noAutofit/>
          </a:bodyPr>
          <a:lstStyle/>
          <a:p>
            <a:pPr algn="l"/>
            <a:r>
              <a:rPr sz="1200" b="0" i="0" lang="es-ES">
                <a:solidFill>
                  <a:srgbClr val="5A6577"/>
                </a:solidFill>
                <a:latin typeface="Calibri"/>
              </a:rPr>
              <a:t>Nivel 2 · subtotal</a:t>
            </a:r>
            <a:endParaRPr lang="es-ES" sz="1200"/>
          </a:p>
        </p:txBody>
      </p:sp>
      <p:sp>
        <p:nvSpPr>
          <p:cNvPr id="12" name="Rounded Rectangle 11"/>
          <p:cNvSpPr/>
          <p:nvPr/>
        </p:nvSpPr>
        <p:spPr>
          <a:xfrm>
            <a:off x="1554480" y="3474720"/>
            <a:ext cx="4206240" cy="749808"/>
          </a:xfrm>
          <a:prstGeom prst="roundRect">
            <a:avLst>
              <a:gd name="adj" fmla="val 9756"/>
            </a:avLst>
          </a:prstGeom>
          <a:solidFill>
            <a:srgbClr val="FFF4D9"/>
          </a:solidFill>
          <a:ln w="15875">
            <a:solidFill>
              <a:srgbClr val="F2B134"/>
            </a:solidFill>
          </a:ln>
        </p:spPr>
        <p:txBody>
          <a:bodyPr rtlCol="0" anchor="ctr" wrap="square" lIns="73152" rIns="73152" tIns="73152" bIns="73152">
            <a:noAutofit/>
          </a:bodyPr>
          <a:lstStyle/>
          <a:p>
            <a:pPr algn="ctr"/>
          </a:p>
        </p:txBody>
      </p:sp>
      <p:sp>
        <p:nvSpPr>
          <p:cNvPr id="13" name="TextBox 12"/>
          <p:cNvSpPr txBox="1"/>
          <p:nvPr/>
        </p:nvSpPr>
        <p:spPr>
          <a:xfrm>
            <a:off x="1737360" y="3547872"/>
            <a:ext cx="3931920" cy="347472"/>
          </a:xfrm>
          <a:prstGeom prst="rect">
            <a:avLst/>
          </a:prstGeom>
          <a:noFill/>
        </p:spPr>
        <p:txBody>
          <a:bodyPr wrap="square" lIns="0" rIns="0" tIns="0" bIns="0" anchor="t">
            <a:noAutofit/>
          </a:bodyPr>
          <a:lstStyle/>
          <a:p>
            <a:pPr algn="l"/>
            <a:r>
              <a:rPr sz="1600" b="1" i="0" lang="es-ES">
                <a:solidFill>
                  <a:srgbClr val="1B2B48"/>
                </a:solidFill>
                <a:latin typeface="Calibri"/>
              </a:rPr>
              <a:t>2.1.2  Diseño conceptual</a:t>
            </a:r>
            <a:endParaRPr lang="es-ES" sz="1600"/>
          </a:p>
        </p:txBody>
      </p:sp>
      <p:sp>
        <p:nvSpPr>
          <p:cNvPr id="14" name="TextBox 13"/>
          <p:cNvSpPr txBox="1"/>
          <p:nvPr/>
        </p:nvSpPr>
        <p:spPr>
          <a:xfrm>
            <a:off x="1737360" y="3886200"/>
            <a:ext cx="3931920" cy="274320"/>
          </a:xfrm>
          <a:prstGeom prst="rect">
            <a:avLst/>
          </a:prstGeom>
          <a:noFill/>
        </p:spPr>
        <p:txBody>
          <a:bodyPr wrap="square" lIns="0" rIns="0" tIns="0" bIns="0" anchor="t">
            <a:noAutofit/>
          </a:bodyPr>
          <a:lstStyle/>
          <a:p>
            <a:pPr algn="l"/>
            <a:r>
              <a:rPr sz="1200" b="0" i="0" lang="es-ES">
                <a:solidFill>
                  <a:srgbClr val="8A5A00"/>
                </a:solidFill>
                <a:latin typeface="Calibri"/>
              </a:rPr>
              <a:t>Nivel 3 · paquete de trabajo: fila de ingreso</a:t>
            </a:r>
            <a:endParaRPr lang="es-ES" sz="1200"/>
          </a:p>
        </p:txBody>
      </p:sp>
      <p:cxnSp>
        <p:nvCxnSpPr>
          <p:cNvPr id="15" name="Connector 14"/>
          <p:cNvCxnSpPr/>
          <p:nvPr/>
        </p:nvCxnSpPr>
        <p:spPr>
          <a:xfrm>
            <a:off x="822959" y="2304288"/>
            <a:ext cx="0" cy="585216"/>
          </a:xfrm>
          <a:prstGeom prst="line">
            <a:avLst/>
          </a:prstGeom>
          <a:ln w="15875">
            <a:solidFill>
              <a:srgbClr val="5A6577"/>
            </a:solidFill>
          </a:ln>
        </p:spPr>
      </p:cxnSp>
      <p:cxnSp>
        <p:nvCxnSpPr>
          <p:cNvPr id="16" name="Connector 15"/>
          <p:cNvCxnSpPr/>
          <p:nvPr/>
        </p:nvCxnSpPr>
        <p:spPr>
          <a:xfrm>
            <a:off x="822959" y="2889504"/>
            <a:ext cx="228601" cy="0"/>
          </a:xfrm>
          <a:prstGeom prst="line">
            <a:avLst/>
          </a:prstGeom>
          <a:ln w="15875">
            <a:solidFill>
              <a:srgbClr val="5A6577"/>
            </a:solidFill>
            <a:tailEnd type="triangle" w="med" len="med"/>
          </a:ln>
        </p:spPr>
      </p:cxnSp>
      <p:cxnSp>
        <p:nvCxnSpPr>
          <p:cNvPr id="17" name="Connector 16"/>
          <p:cNvCxnSpPr/>
          <p:nvPr/>
        </p:nvCxnSpPr>
        <p:spPr>
          <a:xfrm>
            <a:off x="1325880" y="3264408"/>
            <a:ext cx="0" cy="585216"/>
          </a:xfrm>
          <a:prstGeom prst="line">
            <a:avLst/>
          </a:prstGeom>
          <a:ln w="15875">
            <a:solidFill>
              <a:srgbClr val="5A6577"/>
            </a:solidFill>
          </a:ln>
        </p:spPr>
      </p:cxnSp>
      <p:cxnSp>
        <p:nvCxnSpPr>
          <p:cNvPr id="18" name="Connector 17"/>
          <p:cNvCxnSpPr/>
          <p:nvPr/>
        </p:nvCxnSpPr>
        <p:spPr>
          <a:xfrm>
            <a:off x="1325880" y="3849624"/>
            <a:ext cx="228600" cy="0"/>
          </a:xfrm>
          <a:prstGeom prst="line">
            <a:avLst/>
          </a:prstGeom>
          <a:ln w="15875">
            <a:solidFill>
              <a:srgbClr val="5A6577"/>
            </a:solidFill>
            <a:tailEnd type="triangle" w="med" len="med"/>
          </a:ln>
        </p:spPr>
      </p:cxnSp>
      <p:sp>
        <p:nvSpPr>
          <p:cNvPr id="19" name="Rounded Rectangle 18"/>
          <p:cNvSpPr/>
          <p:nvPr/>
        </p:nvSpPr>
        <p:spPr>
          <a:xfrm>
            <a:off x="2331720" y="4526280"/>
            <a:ext cx="2651760" cy="420624"/>
          </a:xfrm>
          <a:prstGeom prst="roundRect">
            <a:avLst>
              <a:gd name="adj" fmla="val 17391"/>
            </a:avLst>
          </a:prstGeom>
          <a:solidFill>
            <a:srgbClr val="FFFFFF"/>
          </a:solidFill>
          <a:ln w="12700">
            <a:solidFill>
              <a:srgbClr val="D5DBE5"/>
            </a:solidFill>
            <a:prstDash val="dash"/>
          </a:ln>
        </p:spPr>
        <p:txBody>
          <a:bodyPr rtlCol="0" anchor="ctr" wrap="square" lIns="109728" rIns="109728" tIns="109728" bIns="109728">
            <a:noAutofit/>
          </a:bodyPr>
          <a:lstStyle/>
          <a:p>
            <a:pPr algn="l"/>
            <a:r>
              <a:rPr sz="1300" b="0" i="0" lang="es-ES">
                <a:solidFill>
                  <a:srgbClr val="1B2B48"/>
                </a:solidFill>
                <a:latin typeface="Calibri"/>
              </a:rPr>
              <a:t>Bases de diseño</a:t>
            </a:r>
            <a:endParaRPr lang="es-ES" sz="1300"/>
          </a:p>
        </p:txBody>
      </p:sp>
      <p:cxnSp>
        <p:nvCxnSpPr>
          <p:cNvPr id="20" name="Connector 19"/>
          <p:cNvCxnSpPr/>
          <p:nvPr/>
        </p:nvCxnSpPr>
        <p:spPr>
          <a:xfrm>
            <a:off x="1828800" y="4736592"/>
            <a:ext cx="502920" cy="0"/>
          </a:xfrm>
          <a:prstGeom prst="line">
            <a:avLst/>
          </a:prstGeom>
          <a:ln w="15875">
            <a:solidFill>
              <a:srgbClr val="5A6577"/>
            </a:solidFill>
            <a:tailEnd type="triangle" w="med" len="med"/>
          </a:ln>
        </p:spPr>
      </p:cxnSp>
      <p:sp>
        <p:nvSpPr>
          <p:cNvPr id="21" name="Rounded Rectangle 20"/>
          <p:cNvSpPr/>
          <p:nvPr/>
        </p:nvSpPr>
        <p:spPr>
          <a:xfrm>
            <a:off x="2331720" y="5074920"/>
            <a:ext cx="2651760" cy="420624"/>
          </a:xfrm>
          <a:prstGeom prst="roundRect">
            <a:avLst>
              <a:gd name="adj" fmla="val 17391"/>
            </a:avLst>
          </a:prstGeom>
          <a:solidFill>
            <a:srgbClr val="FFFFFF"/>
          </a:solidFill>
          <a:ln w="12700">
            <a:solidFill>
              <a:srgbClr val="D5DBE5"/>
            </a:solidFill>
            <a:prstDash val="dash"/>
          </a:ln>
        </p:spPr>
        <p:txBody>
          <a:bodyPr rtlCol="0" anchor="ctr" wrap="square" lIns="109728" rIns="109728" tIns="109728" bIns="109728">
            <a:noAutofit/>
          </a:bodyPr>
          <a:lstStyle/>
          <a:p>
            <a:pPr algn="l"/>
            <a:r>
              <a:rPr sz="1300" b="0" i="0" lang="es-ES">
                <a:solidFill>
                  <a:srgbClr val="1B2B48"/>
                </a:solidFill>
                <a:latin typeface="Calibri"/>
              </a:rPr>
              <a:t>◆  Hito: bases aprobadas</a:t>
            </a:r>
            <a:endParaRPr lang="es-ES" sz="1300"/>
          </a:p>
        </p:txBody>
      </p:sp>
      <p:cxnSp>
        <p:nvCxnSpPr>
          <p:cNvPr id="22" name="Connector 21"/>
          <p:cNvCxnSpPr/>
          <p:nvPr/>
        </p:nvCxnSpPr>
        <p:spPr>
          <a:xfrm>
            <a:off x="1828800" y="5285232"/>
            <a:ext cx="502920" cy="0"/>
          </a:xfrm>
          <a:prstGeom prst="line">
            <a:avLst/>
          </a:prstGeom>
          <a:ln w="15875">
            <a:solidFill>
              <a:srgbClr val="5A6577"/>
            </a:solidFill>
            <a:tailEnd type="triangle" w="med" len="med"/>
          </a:ln>
        </p:spPr>
      </p:cxnSp>
      <p:sp>
        <p:nvSpPr>
          <p:cNvPr id="23" name="Rounded Rectangle 22"/>
          <p:cNvSpPr/>
          <p:nvPr/>
        </p:nvSpPr>
        <p:spPr>
          <a:xfrm>
            <a:off x="2331720" y="5623560"/>
            <a:ext cx="2651760" cy="420624"/>
          </a:xfrm>
          <a:prstGeom prst="roundRect">
            <a:avLst>
              <a:gd name="adj" fmla="val 17391"/>
            </a:avLst>
          </a:prstGeom>
          <a:solidFill>
            <a:srgbClr val="FFFFFF"/>
          </a:solidFill>
          <a:ln w="12700">
            <a:solidFill>
              <a:srgbClr val="D5DBE5"/>
            </a:solidFill>
            <a:prstDash val="dash"/>
          </a:ln>
        </p:spPr>
        <p:txBody>
          <a:bodyPr rtlCol="0" anchor="ctr" wrap="square" lIns="109728" rIns="109728" tIns="109728" bIns="109728">
            <a:noAutofit/>
          </a:bodyPr>
          <a:lstStyle/>
          <a:p>
            <a:pPr algn="l"/>
            <a:r>
              <a:rPr sz="1300" b="0" i="0" lang="es-ES">
                <a:solidFill>
                  <a:srgbClr val="1B2B48"/>
                </a:solidFill>
                <a:latin typeface="Calibri"/>
              </a:rPr>
              <a:t>Alternativas y selección</a:t>
            </a:r>
            <a:endParaRPr lang="es-ES" sz="1300"/>
          </a:p>
        </p:txBody>
      </p:sp>
      <p:cxnSp>
        <p:nvCxnSpPr>
          <p:cNvPr id="24" name="Connector 23"/>
          <p:cNvCxnSpPr/>
          <p:nvPr/>
        </p:nvCxnSpPr>
        <p:spPr>
          <a:xfrm>
            <a:off x="1828800" y="5833872"/>
            <a:ext cx="502920" cy="0"/>
          </a:xfrm>
          <a:prstGeom prst="line">
            <a:avLst/>
          </a:prstGeom>
          <a:ln w="15875">
            <a:solidFill>
              <a:srgbClr val="5A6577"/>
            </a:solidFill>
            <a:tailEnd type="triangle" w="med" len="med"/>
          </a:ln>
        </p:spPr>
      </p:cxnSp>
      <p:cxnSp>
        <p:nvCxnSpPr>
          <p:cNvPr id="25" name="Connector 24"/>
          <p:cNvCxnSpPr/>
          <p:nvPr/>
        </p:nvCxnSpPr>
        <p:spPr>
          <a:xfrm>
            <a:off x="1828800" y="4224528"/>
            <a:ext cx="0" cy="1609344"/>
          </a:xfrm>
          <a:prstGeom prst="line">
            <a:avLst/>
          </a:prstGeom>
          <a:ln w="15875">
            <a:solidFill>
              <a:srgbClr val="5A6577"/>
            </a:solidFill>
          </a:ln>
        </p:spPr>
      </p:cxnSp>
      <p:sp>
        <p:nvSpPr>
          <p:cNvPr id="26" name="TextBox 25"/>
          <p:cNvSpPr txBox="1"/>
          <p:nvPr/>
        </p:nvSpPr>
        <p:spPr>
          <a:xfrm>
            <a:off x="5120640" y="4663440"/>
            <a:ext cx="1737360" cy="1188720"/>
          </a:xfrm>
          <a:prstGeom prst="rect">
            <a:avLst/>
          </a:prstGeom>
          <a:noFill/>
        </p:spPr>
        <p:txBody>
          <a:bodyPr wrap="square" lIns="0" rIns="0" tIns="0" bIns="0" anchor="t">
            <a:noAutofit/>
          </a:bodyPr>
          <a:lstStyle/>
          <a:p>
            <a:pPr algn="l"/>
            <a:r>
              <a:rPr sz="1300" b="0" i="1" lang="es-ES">
                <a:solidFill>
                  <a:srgbClr val="5A6577"/>
                </a:solidFill>
                <a:latin typeface="Calibri"/>
              </a:rPr>
              <a:t>Sin código EDT: se suman en 2.1.2</a:t>
            </a:r>
            <a:endParaRPr lang="es-ES" sz="1300"/>
          </a:p>
        </p:txBody>
      </p:sp>
      <p:sp>
        <p:nvSpPr>
          <p:cNvPr id="27" name="Rounded Rectangle 26"/>
          <p:cNvSpPr/>
          <p:nvPr/>
        </p:nvSpPr>
        <p:spPr>
          <a:xfrm>
            <a:off x="7040880" y="1554480"/>
            <a:ext cx="4572000" cy="2148840"/>
          </a:xfrm>
          <a:prstGeom prst="roundRect">
            <a:avLst>
              <a:gd name="adj" fmla="val 5106"/>
            </a:avLst>
          </a:prstGeom>
          <a:solidFill>
            <a:srgbClr val="F3F5F9"/>
          </a:solidFill>
          <a:ln>
            <a:noFill/>
          </a:ln>
        </p:spPr>
        <p:txBody>
          <a:bodyPr rtlCol="0" anchor="ctr" wrap="square" lIns="73152" rIns="73152" tIns="73152" bIns="73152">
            <a:noAutofit/>
          </a:bodyPr>
          <a:lstStyle/>
          <a:p>
            <a:pPr algn="ctr"/>
          </a:p>
        </p:txBody>
      </p:sp>
      <p:sp>
        <p:nvSpPr>
          <p:cNvPr id="28" name="TextBox 27"/>
          <p:cNvSpPr txBox="1"/>
          <p:nvPr/>
        </p:nvSpPr>
        <p:spPr>
          <a:xfrm>
            <a:off x="7315200" y="1691640"/>
            <a:ext cx="4114800" cy="365760"/>
          </a:xfrm>
          <a:prstGeom prst="rect">
            <a:avLst/>
          </a:prstGeom>
          <a:noFill/>
        </p:spPr>
        <p:txBody>
          <a:bodyPr wrap="square" lIns="0" rIns="0" tIns="0" bIns="0" anchor="t">
            <a:noAutofit/>
          </a:bodyPr>
          <a:lstStyle/>
          <a:p>
            <a:pPr algn="l"/>
            <a:r>
              <a:rPr sz="1500" b="1" i="0" lang="es-ES">
                <a:solidFill>
                  <a:srgbClr val="1B2B48"/>
                </a:solidFill>
                <a:latin typeface="Calibri"/>
              </a:rPr>
              <a:t>El nivel sale del código, no de la sangría</a:t>
            </a:r>
            <a:endParaRPr lang="es-ES" sz="1500"/>
          </a:p>
        </p:txBody>
      </p:sp>
      <p:sp>
        <p:nvSpPr>
          <p:cNvPr id="29" name="TextBox 28"/>
          <p:cNvSpPr txBox="1"/>
          <p:nvPr/>
        </p:nvSpPr>
        <p:spPr>
          <a:xfrm>
            <a:off x="7315200" y="2148840"/>
            <a:ext cx="1097280" cy="320040"/>
          </a:xfrm>
          <a:prstGeom prst="rect">
            <a:avLst/>
          </a:prstGeom>
          <a:noFill/>
        </p:spPr>
        <p:txBody>
          <a:bodyPr wrap="square" lIns="0" rIns="0" tIns="0" bIns="0" anchor="t">
            <a:noAutofit/>
          </a:bodyPr>
          <a:lstStyle/>
          <a:p>
            <a:pPr algn="l"/>
            <a:r>
              <a:rPr sz="1500" b="1" i="0" lang="es-ES">
                <a:solidFill>
                  <a:srgbClr val="2F5597"/>
                </a:solidFill>
                <a:latin typeface="Consolas"/>
              </a:rPr>
              <a:t>2.0.0</a:t>
            </a:r>
            <a:endParaRPr lang="es-ES" sz="1500"/>
          </a:p>
        </p:txBody>
      </p:sp>
      <p:sp>
        <p:nvSpPr>
          <p:cNvPr id="30" name="TextBox 29"/>
          <p:cNvSpPr txBox="1"/>
          <p:nvPr/>
        </p:nvSpPr>
        <p:spPr>
          <a:xfrm>
            <a:off x="8503920" y="2148840"/>
            <a:ext cx="2926080" cy="320040"/>
          </a:xfrm>
          <a:prstGeom prst="rect">
            <a:avLst/>
          </a:prstGeom>
          <a:noFill/>
        </p:spPr>
        <p:txBody>
          <a:bodyPr wrap="square" lIns="0" rIns="0" tIns="0" bIns="0" anchor="t">
            <a:noAutofit/>
          </a:bodyPr>
          <a:lstStyle/>
          <a:p>
            <a:pPr algn="l"/>
            <a:r>
              <a:rPr sz="1500" b="0" i="0" lang="es-ES">
                <a:solidFill>
                  <a:srgbClr val="1B2B48"/>
                </a:solidFill>
                <a:latin typeface="Calibri"/>
              </a:rPr>
              <a:t>nivel 1</a:t>
            </a:r>
            <a:endParaRPr lang="es-ES" sz="1500"/>
          </a:p>
        </p:txBody>
      </p:sp>
      <p:sp>
        <p:nvSpPr>
          <p:cNvPr id="31" name="TextBox 30"/>
          <p:cNvSpPr txBox="1"/>
          <p:nvPr/>
        </p:nvSpPr>
        <p:spPr>
          <a:xfrm>
            <a:off x="7315200" y="2514600"/>
            <a:ext cx="1097280" cy="320040"/>
          </a:xfrm>
          <a:prstGeom prst="rect">
            <a:avLst/>
          </a:prstGeom>
          <a:noFill/>
        </p:spPr>
        <p:txBody>
          <a:bodyPr wrap="square" lIns="0" rIns="0" tIns="0" bIns="0" anchor="t">
            <a:noAutofit/>
          </a:bodyPr>
          <a:lstStyle/>
          <a:p>
            <a:pPr algn="l"/>
            <a:r>
              <a:rPr sz="1500" b="1" i="0" lang="es-ES">
                <a:solidFill>
                  <a:srgbClr val="2F5597"/>
                </a:solidFill>
                <a:latin typeface="Consolas"/>
              </a:rPr>
              <a:t>2.1.0</a:t>
            </a:r>
            <a:endParaRPr lang="es-ES" sz="1500"/>
          </a:p>
        </p:txBody>
      </p:sp>
      <p:sp>
        <p:nvSpPr>
          <p:cNvPr id="32" name="TextBox 31"/>
          <p:cNvSpPr txBox="1"/>
          <p:nvPr/>
        </p:nvSpPr>
        <p:spPr>
          <a:xfrm>
            <a:off x="8503920" y="2514600"/>
            <a:ext cx="2926080" cy="320040"/>
          </a:xfrm>
          <a:prstGeom prst="rect">
            <a:avLst/>
          </a:prstGeom>
          <a:noFill/>
        </p:spPr>
        <p:txBody>
          <a:bodyPr wrap="square" lIns="0" rIns="0" tIns="0" bIns="0" anchor="t">
            <a:noAutofit/>
          </a:bodyPr>
          <a:lstStyle/>
          <a:p>
            <a:pPr algn="l"/>
            <a:r>
              <a:rPr sz="1500" b="0" i="0" lang="es-ES">
                <a:solidFill>
                  <a:srgbClr val="1B2B48"/>
                </a:solidFill>
                <a:latin typeface="Calibri"/>
              </a:rPr>
              <a:t>nivel 2</a:t>
            </a:r>
            <a:endParaRPr lang="es-ES" sz="1500"/>
          </a:p>
        </p:txBody>
      </p:sp>
      <p:sp>
        <p:nvSpPr>
          <p:cNvPr id="33" name="TextBox 32"/>
          <p:cNvSpPr txBox="1"/>
          <p:nvPr/>
        </p:nvSpPr>
        <p:spPr>
          <a:xfrm>
            <a:off x="7315200" y="2880360"/>
            <a:ext cx="1097280" cy="320040"/>
          </a:xfrm>
          <a:prstGeom prst="rect">
            <a:avLst/>
          </a:prstGeom>
          <a:noFill/>
        </p:spPr>
        <p:txBody>
          <a:bodyPr wrap="square" lIns="0" rIns="0" tIns="0" bIns="0" anchor="t">
            <a:noAutofit/>
          </a:bodyPr>
          <a:lstStyle/>
          <a:p>
            <a:pPr algn="l"/>
            <a:r>
              <a:rPr sz="1500" b="1" i="0" lang="es-ES">
                <a:solidFill>
                  <a:srgbClr val="2F5597"/>
                </a:solidFill>
                <a:latin typeface="Consolas"/>
              </a:rPr>
              <a:t>2.1.1</a:t>
            </a:r>
            <a:endParaRPr lang="es-ES" sz="1500"/>
          </a:p>
        </p:txBody>
      </p:sp>
      <p:sp>
        <p:nvSpPr>
          <p:cNvPr id="34" name="TextBox 33"/>
          <p:cNvSpPr txBox="1"/>
          <p:nvPr/>
        </p:nvSpPr>
        <p:spPr>
          <a:xfrm>
            <a:off x="8503920" y="2880360"/>
            <a:ext cx="2926080" cy="320040"/>
          </a:xfrm>
          <a:prstGeom prst="rect">
            <a:avLst/>
          </a:prstGeom>
          <a:noFill/>
        </p:spPr>
        <p:txBody>
          <a:bodyPr wrap="square" lIns="0" rIns="0" tIns="0" bIns="0" anchor="t">
            <a:noAutofit/>
          </a:bodyPr>
          <a:lstStyle/>
          <a:p>
            <a:pPr algn="l"/>
            <a:r>
              <a:rPr sz="1500" b="0" i="0" lang="es-ES">
                <a:solidFill>
                  <a:srgbClr val="1B2B48"/>
                </a:solidFill>
                <a:latin typeface="Calibri"/>
              </a:rPr>
              <a:t>nivel 3: paquete</a:t>
            </a:r>
            <a:endParaRPr lang="es-ES" sz="1500"/>
          </a:p>
        </p:txBody>
      </p:sp>
      <p:sp>
        <p:nvSpPr>
          <p:cNvPr id="35" name="TextBox 34"/>
          <p:cNvSpPr txBox="1"/>
          <p:nvPr/>
        </p:nvSpPr>
        <p:spPr>
          <a:xfrm>
            <a:off x="7315200" y="3246120"/>
            <a:ext cx="1097280" cy="320040"/>
          </a:xfrm>
          <a:prstGeom prst="rect">
            <a:avLst/>
          </a:prstGeom>
          <a:noFill/>
        </p:spPr>
        <p:txBody>
          <a:bodyPr wrap="square" lIns="0" rIns="0" tIns="0" bIns="0" anchor="t">
            <a:noAutofit/>
          </a:bodyPr>
          <a:lstStyle/>
          <a:p>
            <a:pPr algn="l"/>
            <a:r>
              <a:rPr sz="1500" b="1" i="0" lang="es-ES">
                <a:solidFill>
                  <a:srgbClr val="2F5597"/>
                </a:solidFill>
                <a:latin typeface="Consolas"/>
              </a:rPr>
              <a:t>2.1.1.1</a:t>
            </a:r>
            <a:endParaRPr lang="es-ES" sz="1500"/>
          </a:p>
        </p:txBody>
      </p:sp>
      <p:sp>
        <p:nvSpPr>
          <p:cNvPr id="36" name="TextBox 35"/>
          <p:cNvSpPr txBox="1"/>
          <p:nvPr/>
        </p:nvSpPr>
        <p:spPr>
          <a:xfrm>
            <a:off x="8503920" y="3246120"/>
            <a:ext cx="2926080" cy="320040"/>
          </a:xfrm>
          <a:prstGeom prst="rect">
            <a:avLst/>
          </a:prstGeom>
          <a:noFill/>
        </p:spPr>
        <p:txBody>
          <a:bodyPr wrap="square" lIns="0" rIns="0" tIns="0" bIns="0" anchor="t">
            <a:noAutofit/>
          </a:bodyPr>
          <a:lstStyle/>
          <a:p>
            <a:pPr algn="l"/>
            <a:r>
              <a:rPr sz="1500" b="0" i="0" lang="es-ES">
                <a:solidFill>
                  <a:srgbClr val="1B2B48"/>
                </a:solidFill>
                <a:latin typeface="Calibri"/>
              </a:rPr>
              <a:t>se suma en 2.1.1</a:t>
            </a:r>
            <a:endParaRPr lang="es-ES" sz="1500"/>
          </a:p>
        </p:txBody>
      </p:sp>
      <p:sp>
        <p:nvSpPr>
          <p:cNvPr id="37" name="Rounded Rectangle 36"/>
          <p:cNvSpPr/>
          <p:nvPr/>
        </p:nvSpPr>
        <p:spPr>
          <a:xfrm>
            <a:off x="7040880" y="3886200"/>
            <a:ext cx="4572000" cy="2286000"/>
          </a:xfrm>
          <a:prstGeom prst="roundRect">
            <a:avLst>
              <a:gd name="adj" fmla="val 4800"/>
            </a:avLst>
          </a:prstGeom>
          <a:solidFill>
            <a:srgbClr val="F3F5F9"/>
          </a:solidFill>
          <a:ln>
            <a:noFill/>
          </a:ln>
        </p:spPr>
        <p:txBody>
          <a:bodyPr rtlCol="0" anchor="ctr" wrap="square" lIns="73152" rIns="73152" tIns="73152" bIns="73152">
            <a:noAutofit/>
          </a:bodyPr>
          <a:lstStyle/>
          <a:p>
            <a:pPr algn="ctr"/>
          </a:p>
        </p:txBody>
      </p:sp>
      <p:sp>
        <p:nvSpPr>
          <p:cNvPr id="38" name="TextBox 37"/>
          <p:cNvSpPr txBox="1"/>
          <p:nvPr/>
        </p:nvSpPr>
        <p:spPr>
          <a:xfrm>
            <a:off x="7315200" y="4023360"/>
            <a:ext cx="4114800" cy="365760"/>
          </a:xfrm>
          <a:prstGeom prst="rect">
            <a:avLst/>
          </a:prstGeom>
          <a:noFill/>
        </p:spPr>
        <p:txBody>
          <a:bodyPr wrap="square" lIns="0" rIns="0" tIns="0" bIns="0" anchor="t">
            <a:noAutofit/>
          </a:bodyPr>
          <a:lstStyle/>
          <a:p>
            <a:pPr algn="l"/>
            <a:r>
              <a:rPr sz="1500" b="1" i="0" lang="es-ES">
                <a:solidFill>
                  <a:srgbClr val="1B2B48"/>
                </a:solidFill>
                <a:latin typeface="Calibri"/>
              </a:rPr>
              <a:t>¿Dónde se lee el código?</a:t>
            </a:r>
            <a:endParaRPr lang="es-ES" sz="1500"/>
          </a:p>
        </p:txBody>
      </p:sp>
      <p:sp>
        <p:nvSpPr>
          <p:cNvPr id="39" name="TextBox 38"/>
          <p:cNvSpPr txBox="1"/>
          <p:nvPr/>
        </p:nvSpPr>
        <p:spPr>
          <a:xfrm>
            <a:off x="7315200" y="4434840"/>
            <a:ext cx="4114800" cy="1645920"/>
          </a:xfrm>
          <a:prstGeom prst="rect">
            <a:avLst/>
          </a:prstGeom>
          <a:noFill/>
        </p:spPr>
        <p:txBody>
          <a:bodyPr wrap="square" lIns="0" rIns="0" tIns="0" bIns="0" anchor="t">
            <a:noAutofit/>
          </a:bodyPr>
          <a:lstStyle/>
          <a:p>
            <a:pPr algn="l" marL="201168" indent="-201168">
              <a:spcAft>
                <a:spcPts val="500"/>
              </a:spcAft>
              <a:buFont typeface="Arial"/>
              <a:buChar char="•"/>
            </a:pPr>
            <a:r>
              <a:rPr sz="1400" b="1" i="0" lang="es-ES">
                <a:solidFill>
                  <a:srgbClr val="1B2B48"/>
                </a:solidFill>
                <a:latin typeface="Calibri"/>
              </a:rPr>
              <a:t>Campo EDT</a:t>
            </a:r>
            <a:r>
              <a:rPr sz="1400" b="0" i="0" lang="es-ES">
                <a:solidFill>
                  <a:srgbClr val="1B2B48"/>
                </a:solidFill>
                <a:latin typeface="Calibri"/>
              </a:rPr>
              <a:t> de MS Project (por defecto)</a:t>
            </a:r>
            <a:endParaRPr lang="es-ES" sz="1400"/>
          </a:p>
          <a:p>
            <a:pPr algn="l" marL="201168" indent="-201168">
              <a:spcAft>
                <a:spcPts val="500"/>
              </a:spcAft>
              <a:buFont typeface="Arial"/>
              <a:buChar char="•"/>
            </a:pPr>
            <a:r>
              <a:rPr sz="1400" b="1" i="0" lang="es-ES">
                <a:solidFill>
                  <a:srgbClr val="1B2B48"/>
                </a:solidFill>
                <a:latin typeface="Calibri"/>
              </a:rPr>
              <a:t>Número de esquema</a:t>
            </a:r>
            <a:r>
              <a:rPr sz="1400" b="0" i="0" lang="es-ES">
                <a:solidFill>
                  <a:srgbClr val="1B2B48"/>
                </a:solidFill>
                <a:latin typeface="Calibri"/>
              </a:rPr>
              <a:t>: proyectos simples</a:t>
            </a:r>
            <a:endParaRPr lang="es-ES" sz="1400"/>
          </a:p>
          <a:p>
            <a:pPr algn="l" marL="201168" indent="-201168">
              <a:buFont typeface="Arial"/>
              <a:buChar char="•"/>
            </a:pPr>
            <a:r>
              <a:rPr sz="1400" b="1" i="0" lang="es-ES">
                <a:solidFill>
                  <a:srgbClr val="1B2B48"/>
                </a:solidFill>
                <a:latin typeface="Calibri"/>
              </a:rPr>
              <a:t>Campo de texto</a:t>
            </a:r>
            <a:r>
              <a:rPr sz="1400" b="0" i="0" lang="es-ES">
                <a:solidFill>
                  <a:srgbClr val="1B2B48"/>
                </a:solidFill>
                <a:latin typeface="Calibri"/>
              </a:rPr>
              <a:t> (Item EDT): el más flexible; permite planificaciones INTERNO y CLIENTE</a:t>
            </a:r>
            <a:endParaRPr lang="es-ES" sz="14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Campos personalizados para el EVM</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MS PROJECT · PLANIFICACIÓN</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13</a:t>
            </a:fld>
            <a:endParaRPr lang="es-ES" sz="1000"/>
          </a:p>
        </p:txBody>
      </p:sp>
      <p:sp>
        <p:nvSpPr>
          <p:cNvPr id="6" name="Rounded Rectangle 5"/>
          <p:cNvSpPr/>
          <p:nvPr/>
        </p:nvSpPr>
        <p:spPr>
          <a:xfrm>
            <a:off x="548640" y="1463040"/>
            <a:ext cx="2697480" cy="868680"/>
          </a:xfrm>
          <a:prstGeom prst="roundRect">
            <a:avLst>
              <a:gd name="adj" fmla="val 12631"/>
            </a:avLst>
          </a:prstGeom>
          <a:solidFill>
            <a:srgbClr val="F3F5F9"/>
          </a:solidFill>
          <a:ln>
            <a:noFill/>
          </a:ln>
        </p:spPr>
        <p:txBody>
          <a:bodyPr rtlCol="0" anchor="ctr" wrap="square" lIns="73152" rIns="73152" tIns="73152" bIns="73152">
            <a:noAutofit/>
          </a:bodyPr>
          <a:lstStyle/>
          <a:p>
            <a:pPr algn="ctr"/>
          </a:p>
        </p:txBody>
      </p:sp>
      <p:sp>
        <p:nvSpPr>
          <p:cNvPr id="7" name="TextBox 6"/>
          <p:cNvSpPr txBox="1"/>
          <p:nvPr/>
        </p:nvSpPr>
        <p:spPr>
          <a:xfrm>
            <a:off x="749808" y="1536192"/>
            <a:ext cx="1554480" cy="365760"/>
          </a:xfrm>
          <a:prstGeom prst="rect">
            <a:avLst/>
          </a:prstGeom>
          <a:noFill/>
        </p:spPr>
        <p:txBody>
          <a:bodyPr wrap="square" lIns="0" rIns="0" tIns="0" bIns="0" anchor="t">
            <a:noAutofit/>
          </a:bodyPr>
          <a:lstStyle/>
          <a:p>
            <a:pPr algn="l"/>
            <a:r>
              <a:rPr sz="1700" b="1" i="0" lang="es-ES">
                <a:solidFill>
                  <a:srgbClr val="2F5597"/>
                </a:solidFill>
                <a:latin typeface="Calibri"/>
              </a:rPr>
              <a:t>Item EDT</a:t>
            </a:r>
            <a:endParaRPr lang="es-ES" sz="1700"/>
          </a:p>
        </p:txBody>
      </p:sp>
      <p:sp>
        <p:nvSpPr>
          <p:cNvPr id="8" name="Rounded Rectangle 7"/>
          <p:cNvSpPr/>
          <p:nvPr/>
        </p:nvSpPr>
        <p:spPr>
          <a:xfrm>
            <a:off x="2240280" y="1581912"/>
            <a:ext cx="841248" cy="274320"/>
          </a:xfrm>
          <a:prstGeom prst="roundRect">
            <a:avLst>
              <a:gd name="adj" fmla="val 50000"/>
            </a:avLst>
          </a:prstGeom>
          <a:solidFill>
            <a:srgbClr val="FFFFFF"/>
          </a:solidFill>
          <a:ln w="12700">
            <a:solidFill>
              <a:srgbClr val="D5DBE5"/>
            </a:solidFill>
          </a:ln>
        </p:spPr>
        <p:txBody>
          <a:bodyPr rtlCol="0" anchor="ctr" wrap="square" lIns="0" rIns="0" tIns="0" bIns="0">
            <a:noAutofit/>
          </a:bodyPr>
          <a:lstStyle/>
          <a:p>
            <a:pPr algn="ctr"/>
            <a:r>
              <a:rPr sz="1100" b="0" i="0" lang="es-ES">
                <a:solidFill>
                  <a:srgbClr val="5A6577"/>
                </a:solidFill>
                <a:latin typeface="Calibri"/>
              </a:rPr>
              <a:t>Texto2</a:t>
            </a:r>
            <a:endParaRPr lang="es-ES" sz="1100"/>
          </a:p>
        </p:txBody>
      </p:sp>
      <p:sp>
        <p:nvSpPr>
          <p:cNvPr id="9" name="TextBox 8"/>
          <p:cNvSpPr txBox="1"/>
          <p:nvPr/>
        </p:nvSpPr>
        <p:spPr>
          <a:xfrm>
            <a:off x="749808" y="1920240"/>
            <a:ext cx="2377440" cy="365760"/>
          </a:xfrm>
          <a:prstGeom prst="rect">
            <a:avLst/>
          </a:prstGeom>
          <a:noFill/>
        </p:spPr>
        <p:txBody>
          <a:bodyPr wrap="square" lIns="0" rIns="0" tIns="0" bIns="0" anchor="t">
            <a:noAutofit/>
          </a:bodyPr>
          <a:lstStyle/>
          <a:p>
            <a:pPr algn="l"/>
            <a:r>
              <a:rPr sz="1300" b="0" i="0" lang="es-ES">
                <a:solidFill>
                  <a:srgbClr val="5A6577"/>
                </a:solidFill>
                <a:latin typeface="Calibri"/>
              </a:rPr>
              <a:t>Código EDT de las tareas con fila</a:t>
            </a:r>
            <a:endParaRPr lang="es-ES" sz="1300"/>
          </a:p>
        </p:txBody>
      </p:sp>
      <p:sp>
        <p:nvSpPr>
          <p:cNvPr id="10" name="Rounded Rectangle 9"/>
          <p:cNvSpPr/>
          <p:nvPr/>
        </p:nvSpPr>
        <p:spPr>
          <a:xfrm>
            <a:off x="3383280" y="1463040"/>
            <a:ext cx="2697480" cy="868680"/>
          </a:xfrm>
          <a:prstGeom prst="roundRect">
            <a:avLst>
              <a:gd name="adj" fmla="val 12631"/>
            </a:avLst>
          </a:prstGeom>
          <a:solidFill>
            <a:srgbClr val="F3F5F9"/>
          </a:solidFill>
          <a:ln>
            <a:noFill/>
          </a:ln>
        </p:spPr>
        <p:txBody>
          <a:bodyPr rtlCol="0" anchor="ctr" wrap="square" lIns="73152" rIns="73152" tIns="73152" bIns="73152">
            <a:noAutofit/>
          </a:bodyPr>
          <a:lstStyle/>
          <a:p>
            <a:pPr algn="ctr"/>
          </a:p>
        </p:txBody>
      </p:sp>
      <p:sp>
        <p:nvSpPr>
          <p:cNvPr id="11" name="TextBox 10"/>
          <p:cNvSpPr txBox="1"/>
          <p:nvPr/>
        </p:nvSpPr>
        <p:spPr>
          <a:xfrm>
            <a:off x="3584448" y="1536192"/>
            <a:ext cx="1554480" cy="365760"/>
          </a:xfrm>
          <a:prstGeom prst="rect">
            <a:avLst/>
          </a:prstGeom>
          <a:noFill/>
        </p:spPr>
        <p:txBody>
          <a:bodyPr wrap="square" lIns="0" rIns="0" tIns="0" bIns="0" anchor="t">
            <a:noAutofit/>
          </a:bodyPr>
          <a:lstStyle/>
          <a:p>
            <a:pPr algn="l"/>
            <a:r>
              <a:rPr sz="1700" b="1" i="0" lang="es-ES">
                <a:solidFill>
                  <a:srgbClr val="4E8A3E"/>
                </a:solidFill>
                <a:latin typeface="Calibri"/>
              </a:rPr>
              <a:t>Método EVM</a:t>
            </a:r>
            <a:endParaRPr lang="es-ES" sz="1700"/>
          </a:p>
        </p:txBody>
      </p:sp>
      <p:sp>
        <p:nvSpPr>
          <p:cNvPr id="12" name="Rounded Rectangle 11"/>
          <p:cNvSpPr/>
          <p:nvPr/>
        </p:nvSpPr>
        <p:spPr>
          <a:xfrm>
            <a:off x="5074920" y="1581912"/>
            <a:ext cx="841248" cy="274320"/>
          </a:xfrm>
          <a:prstGeom prst="roundRect">
            <a:avLst>
              <a:gd name="adj" fmla="val 50000"/>
            </a:avLst>
          </a:prstGeom>
          <a:solidFill>
            <a:srgbClr val="FFFFFF"/>
          </a:solidFill>
          <a:ln w="12700">
            <a:solidFill>
              <a:srgbClr val="D5DBE5"/>
            </a:solidFill>
          </a:ln>
        </p:spPr>
        <p:txBody>
          <a:bodyPr rtlCol="0" anchor="ctr" wrap="square" lIns="0" rIns="0" tIns="0" bIns="0">
            <a:noAutofit/>
          </a:bodyPr>
          <a:lstStyle/>
          <a:p>
            <a:pPr algn="ctr"/>
            <a:r>
              <a:rPr sz="1100" b="0" i="0" lang="es-ES">
                <a:solidFill>
                  <a:srgbClr val="5A6577"/>
                </a:solidFill>
                <a:latin typeface="Calibri"/>
              </a:rPr>
              <a:t>Texto10</a:t>
            </a:r>
            <a:endParaRPr lang="es-ES" sz="1100"/>
          </a:p>
        </p:txBody>
      </p:sp>
      <p:sp>
        <p:nvSpPr>
          <p:cNvPr id="13" name="TextBox 12"/>
          <p:cNvSpPr txBox="1"/>
          <p:nvPr/>
        </p:nvSpPr>
        <p:spPr>
          <a:xfrm>
            <a:off x="3584448" y="1920240"/>
            <a:ext cx="2377440" cy="365760"/>
          </a:xfrm>
          <a:prstGeom prst="rect">
            <a:avLst/>
          </a:prstGeom>
          <a:noFill/>
        </p:spPr>
        <p:txBody>
          <a:bodyPr wrap="square" lIns="0" rIns="0" tIns="0" bIns="0" anchor="t">
            <a:noAutofit/>
          </a:bodyPr>
          <a:lstStyle/>
          <a:p>
            <a:pPr algn="l"/>
            <a:r>
              <a:rPr sz="1300" b="0" i="0" lang="es-ES">
                <a:solidFill>
                  <a:srgbClr val="5A6577"/>
                </a:solidFill>
                <a:latin typeface="Calibri"/>
              </a:rPr>
              <a:t>Lista de búsqueda con los métodos</a:t>
            </a:r>
            <a:endParaRPr lang="es-ES" sz="1300"/>
          </a:p>
        </p:txBody>
      </p:sp>
      <p:sp>
        <p:nvSpPr>
          <p:cNvPr id="14" name="Rounded Rectangle 13"/>
          <p:cNvSpPr/>
          <p:nvPr/>
        </p:nvSpPr>
        <p:spPr>
          <a:xfrm>
            <a:off x="6217920" y="1463040"/>
            <a:ext cx="2697480" cy="868680"/>
          </a:xfrm>
          <a:prstGeom prst="roundRect">
            <a:avLst>
              <a:gd name="adj" fmla="val 12631"/>
            </a:avLst>
          </a:prstGeom>
          <a:solidFill>
            <a:srgbClr val="F3F5F9"/>
          </a:solidFill>
          <a:ln>
            <a:noFill/>
          </a:ln>
        </p:spPr>
        <p:txBody>
          <a:bodyPr rtlCol="0" anchor="ctr" wrap="square" lIns="73152" rIns="73152" tIns="73152" bIns="73152">
            <a:noAutofit/>
          </a:bodyPr>
          <a:lstStyle/>
          <a:p>
            <a:pPr algn="ctr"/>
          </a:p>
        </p:txBody>
      </p:sp>
      <p:sp>
        <p:nvSpPr>
          <p:cNvPr id="15" name="TextBox 14"/>
          <p:cNvSpPr txBox="1"/>
          <p:nvPr/>
        </p:nvSpPr>
        <p:spPr>
          <a:xfrm>
            <a:off x="6419088" y="1536192"/>
            <a:ext cx="1554480" cy="365760"/>
          </a:xfrm>
          <a:prstGeom prst="rect">
            <a:avLst/>
          </a:prstGeom>
          <a:noFill/>
        </p:spPr>
        <p:txBody>
          <a:bodyPr wrap="square" lIns="0" rIns="0" tIns="0" bIns="0" anchor="t">
            <a:noAutofit/>
          </a:bodyPr>
          <a:lstStyle/>
          <a:p>
            <a:pPr algn="l"/>
            <a:r>
              <a:rPr sz="1700" b="1" i="0" lang="es-ES">
                <a:solidFill>
                  <a:srgbClr val="8A5A00"/>
                </a:solidFill>
                <a:latin typeface="Calibri"/>
              </a:rPr>
              <a:t>Peso hito</a:t>
            </a:r>
            <a:endParaRPr lang="es-ES" sz="1700"/>
          </a:p>
        </p:txBody>
      </p:sp>
      <p:sp>
        <p:nvSpPr>
          <p:cNvPr id="16" name="Rounded Rectangle 15"/>
          <p:cNvSpPr/>
          <p:nvPr/>
        </p:nvSpPr>
        <p:spPr>
          <a:xfrm>
            <a:off x="7909560" y="1581912"/>
            <a:ext cx="841248" cy="274320"/>
          </a:xfrm>
          <a:prstGeom prst="roundRect">
            <a:avLst>
              <a:gd name="adj" fmla="val 50000"/>
            </a:avLst>
          </a:prstGeom>
          <a:solidFill>
            <a:srgbClr val="FFFFFF"/>
          </a:solidFill>
          <a:ln w="12700">
            <a:solidFill>
              <a:srgbClr val="D5DBE5"/>
            </a:solidFill>
          </a:ln>
        </p:spPr>
        <p:txBody>
          <a:bodyPr rtlCol="0" anchor="ctr" wrap="square" lIns="0" rIns="0" tIns="0" bIns="0">
            <a:noAutofit/>
          </a:bodyPr>
          <a:lstStyle/>
          <a:p>
            <a:pPr algn="ctr"/>
            <a:r>
              <a:rPr sz="1100" b="0" i="0" lang="es-ES">
                <a:solidFill>
                  <a:srgbClr val="5A6577"/>
                </a:solidFill>
                <a:latin typeface="Calibri"/>
              </a:rPr>
              <a:t>Número1</a:t>
            </a:r>
            <a:endParaRPr lang="es-ES" sz="1100"/>
          </a:p>
        </p:txBody>
      </p:sp>
      <p:sp>
        <p:nvSpPr>
          <p:cNvPr id="17" name="TextBox 16"/>
          <p:cNvSpPr txBox="1"/>
          <p:nvPr/>
        </p:nvSpPr>
        <p:spPr>
          <a:xfrm>
            <a:off x="6419088" y="1920240"/>
            <a:ext cx="2377440" cy="365760"/>
          </a:xfrm>
          <a:prstGeom prst="rect">
            <a:avLst/>
          </a:prstGeom>
          <a:noFill/>
        </p:spPr>
        <p:txBody>
          <a:bodyPr wrap="square" lIns="0" rIns="0" tIns="0" bIns="0" anchor="t">
            <a:noAutofit/>
          </a:bodyPr>
          <a:lstStyle/>
          <a:p>
            <a:pPr algn="l"/>
            <a:r>
              <a:rPr sz="1300" b="0" i="0" lang="es-ES">
                <a:solidFill>
                  <a:srgbClr val="5A6577"/>
                </a:solidFill>
                <a:latin typeface="Calibri"/>
              </a:rPr>
              <a:t>% del BAC en el mes del hito</a:t>
            </a:r>
            <a:endParaRPr lang="es-ES" sz="1300"/>
          </a:p>
        </p:txBody>
      </p:sp>
      <p:sp>
        <p:nvSpPr>
          <p:cNvPr id="18" name="Rounded Rectangle 17"/>
          <p:cNvSpPr/>
          <p:nvPr/>
        </p:nvSpPr>
        <p:spPr>
          <a:xfrm>
            <a:off x="9052560" y="1463040"/>
            <a:ext cx="2560320" cy="868680"/>
          </a:xfrm>
          <a:prstGeom prst="roundRect">
            <a:avLst>
              <a:gd name="adj" fmla="val 12631"/>
            </a:avLst>
          </a:prstGeom>
          <a:solidFill>
            <a:srgbClr val="FFFFFF"/>
          </a:solidFill>
          <a:ln w="12700">
            <a:solidFill>
              <a:srgbClr val="D5DBE5"/>
            </a:solidFill>
          </a:ln>
        </p:spPr>
        <p:txBody>
          <a:bodyPr rtlCol="0" anchor="ctr" wrap="square" lIns="137160" rIns="137160" tIns="137160" bIns="137160">
            <a:noAutofit/>
          </a:bodyPr>
          <a:lstStyle/>
          <a:p>
            <a:pPr algn="l"/>
            <a:r>
              <a:rPr sz="1300" b="1" i="0" lang="es-ES">
                <a:solidFill>
                  <a:srgbClr val="1B2B48"/>
                </a:solidFill>
                <a:latin typeface="Calibri"/>
              </a:rPr>
              <a:t>Opcional: </a:t>
            </a:r>
            <a:r>
              <a:rPr sz="1300" b="0" i="0" lang="es-ES">
                <a:solidFill>
                  <a:srgbClr val="5A6577"/>
                </a:solidFill>
                <a:latin typeface="Calibri"/>
              </a:rPr>
              <a:t>Empresa y % Reparto (dos empresas); Visible (más o menos detalle por rama)</a:t>
            </a:r>
            <a:endParaRPr lang="es-ES" sz="1300"/>
          </a:p>
        </p:txBody>
      </p:sp>
      <p:pic>
        <p:nvPicPr>
          <p:cNvPr id="19" name="Picture 18" descr="Esquema de la vista de MS Project con las columnas Item EDT, Método EVM, Peso hito y % físico completado"/>
          <p:cNvPicPr>
            <a:picLocks noChangeAspect="1"/>
          </p:cNvPicPr>
          <p:nvPr/>
        </p:nvPicPr>
        <p:blipFill>
          <a:blip r:embed="rId2"/>
          <a:stretch>
            <a:fillRect/>
          </a:stretch>
        </p:blipFill>
        <p:spPr>
          <a:xfrm>
            <a:off x="1161288" y="2542032"/>
            <a:ext cx="9875520" cy="3238205"/>
          </a:xfrm>
          <a:prstGeom prst="rect">
            <a:avLst/>
          </a:prstGeom>
          <a:ln w="9525">
            <a:solidFill>
              <a:srgbClr val="D5DBE5"/>
            </a:solidFill>
          </a:ln>
        </p:spPr>
      </p:pic>
      <p:sp>
        <p:nvSpPr>
          <p:cNvPr id="20" name="TextBox 19"/>
          <p:cNvSpPr txBox="1"/>
          <p:nvPr/>
        </p:nvSpPr>
        <p:spPr>
          <a:xfrm>
            <a:off x="7040880" y="5943600"/>
            <a:ext cx="4572000" cy="274320"/>
          </a:xfrm>
          <a:prstGeom prst="rect">
            <a:avLst/>
          </a:prstGeom>
          <a:noFill/>
        </p:spPr>
        <p:txBody>
          <a:bodyPr wrap="square" lIns="0" rIns="0" tIns="0" bIns="0" anchor="t">
            <a:noAutofit/>
          </a:bodyPr>
          <a:lstStyle/>
          <a:p>
            <a:pPr algn="r"/>
            <a:r>
              <a:rPr sz="1100" b="0" i="1" lang="es-ES">
                <a:solidFill>
                  <a:srgbClr val="5A6577"/>
                </a:solidFill>
                <a:latin typeface="Calibri"/>
              </a:rPr>
              <a:t>Esquema ilustrativo, no es una captura de MS Project</a:t>
            </a:r>
            <a:endParaRPr lang="es-ES" sz="1100"/>
          </a:p>
        </p:txBody>
      </p:sp>
      <p:sp>
        <p:nvSpPr>
          <p:cNvPr id="21" name="TextBox 20"/>
          <p:cNvSpPr txBox="1"/>
          <p:nvPr/>
        </p:nvSpPr>
        <p:spPr>
          <a:xfrm>
            <a:off x="548640" y="5897880"/>
            <a:ext cx="6400800" cy="365760"/>
          </a:xfrm>
          <a:prstGeom prst="rect">
            <a:avLst/>
          </a:prstGeom>
          <a:noFill/>
        </p:spPr>
        <p:txBody>
          <a:bodyPr wrap="square" lIns="0" rIns="0" tIns="0" bIns="0" anchor="t">
            <a:noAutofit/>
          </a:bodyPr>
          <a:lstStyle/>
          <a:p>
            <a:pPr algn="l"/>
            <a:r>
              <a:rPr sz="1300" b="1" i="0" lang="es-ES">
                <a:solidFill>
                  <a:srgbClr val="1B2B48"/>
                </a:solidFill>
                <a:latin typeface="Calibri"/>
              </a:rPr>
              <a:t>Crear: </a:t>
            </a:r>
            <a:r>
              <a:rPr sz="1300" b="0" i="0" lang="es-ES">
                <a:solidFill>
                  <a:srgbClr val="1B2B48"/>
                </a:solidFill>
                <a:latin typeface="Calibri"/>
              </a:rPr>
              <a:t>clic derecho en un encabezado &gt; Campos personalizados &gt; Cambiar nombre &gt; Búsqueda</a:t>
            </a:r>
            <a:endParaRPr lang="es-ES" sz="13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El presupuesto: BAC en el libro, % desde MS Project</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MS PROJECT · PRESUPUESTO</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14</a:t>
            </a:fld>
            <a:endParaRPr lang="es-ES" sz="1000"/>
          </a:p>
        </p:txBody>
      </p:sp>
      <p:sp>
        <p:nvSpPr>
          <p:cNvPr id="6" name="Rounded Rectangle 5"/>
          <p:cNvSpPr/>
          <p:nvPr/>
        </p:nvSpPr>
        <p:spPr>
          <a:xfrm>
            <a:off x="548640" y="1463040"/>
            <a:ext cx="5440680" cy="1828800"/>
          </a:xfrm>
          <a:prstGeom prst="roundRect">
            <a:avLst>
              <a:gd name="adj" fmla="val 6000"/>
            </a:avLst>
          </a:prstGeom>
          <a:solidFill>
            <a:srgbClr val="F3F5F9"/>
          </a:solidFill>
          <a:ln>
            <a:noFill/>
          </a:ln>
        </p:spPr>
        <p:txBody>
          <a:bodyPr rtlCol="0" anchor="ctr" wrap="square" lIns="73152" rIns="73152" tIns="73152" bIns="73152">
            <a:noAutofit/>
          </a:bodyPr>
          <a:lstStyle/>
          <a:p>
            <a:pPr algn="ctr"/>
          </a:p>
        </p:txBody>
      </p:sp>
      <p:sp>
        <p:nvSpPr>
          <p:cNvPr id="7" name="Oval 6"/>
          <p:cNvSpPr/>
          <p:nvPr/>
        </p:nvSpPr>
        <p:spPr>
          <a:xfrm>
            <a:off x="768096" y="1682496"/>
            <a:ext cx="658368" cy="658368"/>
          </a:xfrm>
          <a:prstGeom prst="ellipse">
            <a:avLst/>
          </a:prstGeom>
          <a:solidFill>
            <a:srgbClr val="2F5597"/>
          </a:solidFill>
          <a:ln>
            <a:noFill/>
          </a:ln>
        </p:spPr>
        <p:txBody>
          <a:bodyPr rtlCol="0" anchor="ctr" wrap="square" lIns="0" rIns="0" tIns="0" bIns="0">
            <a:noAutofit/>
          </a:bodyPr>
          <a:lstStyle/>
          <a:p>
            <a:pPr algn="ctr"/>
            <a:r>
              <a:rPr sz="2200" b="1" i="0" lang="es-ES">
                <a:solidFill>
                  <a:srgbClr val="FFFFFF"/>
                </a:solidFill>
                <a:latin typeface="Calibri"/>
              </a:rPr>
              <a:t>A</a:t>
            </a:r>
            <a:endParaRPr lang="es-ES" sz="2200"/>
          </a:p>
        </p:txBody>
      </p:sp>
      <p:sp>
        <p:nvSpPr>
          <p:cNvPr id="8" name="TextBox 7"/>
          <p:cNvSpPr txBox="1"/>
          <p:nvPr/>
        </p:nvSpPr>
        <p:spPr>
          <a:xfrm>
            <a:off x="1645919" y="1737360"/>
            <a:ext cx="4114800" cy="457200"/>
          </a:xfrm>
          <a:prstGeom prst="rect">
            <a:avLst/>
          </a:prstGeom>
          <a:noFill/>
        </p:spPr>
        <p:txBody>
          <a:bodyPr wrap="square" lIns="0" rIns="0" tIns="0" bIns="0" anchor="ctr">
            <a:noAutofit/>
          </a:bodyPr>
          <a:lstStyle/>
          <a:p>
            <a:pPr algn="l"/>
            <a:r>
              <a:rPr sz="1900" b="1" i="0" lang="es-ES">
                <a:solidFill>
                  <a:srgbClr val="1B2B48"/>
                </a:solidFill>
                <a:latin typeface="Calibri"/>
              </a:rPr>
              <a:t>Duración de las tareas</a:t>
            </a:r>
            <a:endParaRPr lang="es-ES" sz="1900"/>
          </a:p>
        </p:txBody>
      </p:sp>
      <p:sp>
        <p:nvSpPr>
          <p:cNvPr id="9" name="TextBox 8"/>
          <p:cNvSpPr txBox="1"/>
          <p:nvPr/>
        </p:nvSpPr>
        <p:spPr>
          <a:xfrm>
            <a:off x="1645919" y="2267712"/>
            <a:ext cx="4206240" cy="960120"/>
          </a:xfrm>
          <a:prstGeom prst="rect">
            <a:avLst/>
          </a:prstGeom>
          <a:noFill/>
        </p:spPr>
        <p:txBody>
          <a:bodyPr wrap="square" lIns="0" rIns="0" tIns="0" bIns="0" anchor="t">
            <a:noAutofit/>
          </a:bodyPr>
          <a:lstStyle/>
          <a:p>
            <a:pPr algn="l">
              <a:spcAft>
                <a:spcPts val="300"/>
              </a:spcAft>
            </a:pPr>
            <a:r>
              <a:rPr sz="1400" b="1" i="0" lang="es-ES">
                <a:solidFill>
                  <a:srgbClr val="5A6577"/>
                </a:solidFill>
                <a:latin typeface="Calibri"/>
              </a:rPr>
              <a:t>Peso: </a:t>
            </a:r>
            <a:r>
              <a:rPr sz="1400" b="0" i="0" lang="es-ES">
                <a:solidFill>
                  <a:srgbClr val="1B2B48"/>
                </a:solidFill>
                <a:latin typeface="Calibri"/>
              </a:rPr>
              <a:t>Duración de la línea base</a:t>
            </a:r>
            <a:endParaRPr lang="es-ES" sz="1400"/>
          </a:p>
          <a:p>
            <a:pPr algn="l">
              <a:spcAft>
                <a:spcPts val="300"/>
              </a:spcAft>
            </a:pPr>
            <a:r>
              <a:rPr sz="1400" b="1" i="0" lang="es-ES">
                <a:solidFill>
                  <a:srgbClr val="5A6577"/>
                </a:solidFill>
                <a:latin typeface="Calibri"/>
              </a:rPr>
              <a:t>Curva PV: </a:t>
            </a:r>
            <a:r>
              <a:rPr sz="1400" b="0" i="0" lang="es-ES">
                <a:solidFill>
                  <a:srgbClr val="1B2B48"/>
                </a:solidFill>
                <a:latin typeface="Calibri"/>
              </a:rPr>
              <a:t>Sigue a las fechas de cada tarea</a:t>
            </a:r>
            <a:endParaRPr lang="es-ES" sz="1400"/>
          </a:p>
          <a:p>
            <a:pPr algn="l">
              <a:spcAft>
                <a:spcPts val="300"/>
              </a:spcAft>
            </a:pPr>
            <a:r>
              <a:rPr sz="1400" b="1" i="0" lang="es-ES">
                <a:solidFill>
                  <a:srgbClr val="5A6577"/>
                </a:solidFill>
                <a:latin typeface="Calibri"/>
              </a:rPr>
              <a:t>Para: </a:t>
            </a:r>
            <a:r>
              <a:rPr sz="1400" b="0" i="0" lang="es-ES">
                <a:solidFill>
                  <a:srgbClr val="1B2B48"/>
                </a:solidFill>
                <a:latin typeface="Calibri"/>
              </a:rPr>
              <a:t>Todas las tareas de detalle</a:t>
            </a:r>
            <a:endParaRPr lang="es-ES" sz="1400"/>
          </a:p>
        </p:txBody>
      </p:sp>
      <p:sp>
        <p:nvSpPr>
          <p:cNvPr id="10" name="Rounded Rectangle 9"/>
          <p:cNvSpPr/>
          <p:nvPr/>
        </p:nvSpPr>
        <p:spPr>
          <a:xfrm>
            <a:off x="6172200" y="1463040"/>
            <a:ext cx="5440680" cy="1828800"/>
          </a:xfrm>
          <a:prstGeom prst="roundRect">
            <a:avLst>
              <a:gd name="adj" fmla="val 6000"/>
            </a:avLst>
          </a:prstGeom>
          <a:solidFill>
            <a:srgbClr val="F3F5F9"/>
          </a:solidFill>
          <a:ln>
            <a:noFill/>
          </a:ln>
        </p:spPr>
        <p:txBody>
          <a:bodyPr rtlCol="0" anchor="ctr" wrap="square" lIns="73152" rIns="73152" tIns="73152" bIns="73152">
            <a:noAutofit/>
          </a:bodyPr>
          <a:lstStyle/>
          <a:p>
            <a:pPr algn="ctr"/>
          </a:p>
        </p:txBody>
      </p:sp>
      <p:sp>
        <p:nvSpPr>
          <p:cNvPr id="11" name="Oval 10"/>
          <p:cNvSpPr/>
          <p:nvPr/>
        </p:nvSpPr>
        <p:spPr>
          <a:xfrm>
            <a:off x="6391655" y="1682496"/>
            <a:ext cx="658368" cy="658368"/>
          </a:xfrm>
          <a:prstGeom prst="ellipse">
            <a:avLst/>
          </a:prstGeom>
          <a:solidFill>
            <a:srgbClr val="2F5597"/>
          </a:solidFill>
          <a:ln>
            <a:noFill/>
          </a:ln>
        </p:spPr>
        <p:txBody>
          <a:bodyPr rtlCol="0" anchor="ctr" wrap="square" lIns="0" rIns="0" tIns="0" bIns="0">
            <a:noAutofit/>
          </a:bodyPr>
          <a:lstStyle/>
          <a:p>
            <a:pPr algn="ctr"/>
            <a:r>
              <a:rPr sz="2200" b="1" i="0" lang="es-ES">
                <a:solidFill>
                  <a:srgbClr val="FFFFFF"/>
                </a:solidFill>
                <a:latin typeface="Calibri"/>
              </a:rPr>
              <a:t>B</a:t>
            </a:r>
            <a:endParaRPr lang="es-ES" sz="2200"/>
          </a:p>
        </p:txBody>
      </p:sp>
      <p:sp>
        <p:nvSpPr>
          <p:cNvPr id="12" name="TextBox 11"/>
          <p:cNvSpPr txBox="1"/>
          <p:nvPr/>
        </p:nvSpPr>
        <p:spPr>
          <a:xfrm>
            <a:off x="7269480" y="1737360"/>
            <a:ext cx="4114800" cy="457200"/>
          </a:xfrm>
          <a:prstGeom prst="rect">
            <a:avLst/>
          </a:prstGeom>
          <a:noFill/>
        </p:spPr>
        <p:txBody>
          <a:bodyPr wrap="square" lIns="0" rIns="0" tIns="0" bIns="0" anchor="ctr">
            <a:noAutofit/>
          </a:bodyPr>
          <a:lstStyle/>
          <a:p>
            <a:pPr algn="l"/>
            <a:r>
              <a:rPr sz="1900" b="1" i="0" lang="es-ES">
                <a:solidFill>
                  <a:srgbClr val="1B2B48"/>
                </a:solidFill>
                <a:latin typeface="Calibri"/>
              </a:rPr>
              <a:t>Peso de los hitos</a:t>
            </a:r>
            <a:endParaRPr lang="es-ES" sz="1900"/>
          </a:p>
        </p:txBody>
      </p:sp>
      <p:sp>
        <p:nvSpPr>
          <p:cNvPr id="13" name="TextBox 12"/>
          <p:cNvSpPr txBox="1"/>
          <p:nvPr/>
        </p:nvSpPr>
        <p:spPr>
          <a:xfrm>
            <a:off x="7269480" y="2267712"/>
            <a:ext cx="4206240" cy="960120"/>
          </a:xfrm>
          <a:prstGeom prst="rect">
            <a:avLst/>
          </a:prstGeom>
          <a:noFill/>
        </p:spPr>
        <p:txBody>
          <a:bodyPr wrap="square" lIns="0" rIns="0" tIns="0" bIns="0" anchor="t">
            <a:noAutofit/>
          </a:bodyPr>
          <a:lstStyle/>
          <a:p>
            <a:pPr algn="l">
              <a:spcAft>
                <a:spcPts val="300"/>
              </a:spcAft>
            </a:pPr>
            <a:r>
              <a:rPr sz="1400" b="1" i="0" lang="es-ES">
                <a:solidFill>
                  <a:srgbClr val="5A6577"/>
                </a:solidFill>
                <a:latin typeface="Calibri"/>
              </a:rPr>
              <a:t>Peso: </a:t>
            </a:r>
            <a:r>
              <a:rPr sz="1400" b="0" i="0" lang="es-ES">
                <a:solidFill>
                  <a:srgbClr val="1B2B48"/>
                </a:solidFill>
                <a:latin typeface="Calibri"/>
              </a:rPr>
              <a:t>Peso hito = % del BAC</a:t>
            </a:r>
            <a:endParaRPr lang="es-ES" sz="1400"/>
          </a:p>
          <a:p>
            <a:pPr algn="l">
              <a:spcAft>
                <a:spcPts val="300"/>
              </a:spcAft>
            </a:pPr>
            <a:r>
              <a:rPr sz="1400" b="1" i="0" lang="es-ES">
                <a:solidFill>
                  <a:srgbClr val="5A6577"/>
                </a:solidFill>
                <a:latin typeface="Calibri"/>
              </a:rPr>
              <a:t>Curva PV: </a:t>
            </a:r>
            <a:r>
              <a:rPr sz="1400" b="0" i="0" lang="es-ES">
                <a:solidFill>
                  <a:srgbClr val="1B2B48"/>
                </a:solidFill>
                <a:latin typeface="Calibri"/>
              </a:rPr>
              <a:t>Entero en el mes del hito</a:t>
            </a:r>
            <a:endParaRPr lang="es-ES" sz="1400"/>
          </a:p>
          <a:p>
            <a:pPr algn="l">
              <a:spcAft>
                <a:spcPts val="300"/>
              </a:spcAft>
            </a:pPr>
            <a:r>
              <a:rPr sz="1400" b="1" i="0" lang="es-ES">
                <a:solidFill>
                  <a:srgbClr val="5A6577"/>
                </a:solidFill>
                <a:latin typeface="Calibri"/>
              </a:rPr>
              <a:t>Para: </a:t>
            </a:r>
            <a:r>
              <a:rPr sz="1400" b="0" i="0" lang="es-ES">
                <a:solidFill>
                  <a:srgbClr val="1B2B48"/>
                </a:solidFill>
                <a:latin typeface="Calibri"/>
              </a:rPr>
              <a:t>Entregas, pruebas, certificaciones</a:t>
            </a:r>
            <a:endParaRPr lang="es-ES" sz="1400"/>
          </a:p>
        </p:txBody>
      </p:sp>
      <p:sp>
        <p:nvSpPr>
          <p:cNvPr id="14" name="Rounded Rectangle 13"/>
          <p:cNvSpPr/>
          <p:nvPr/>
        </p:nvSpPr>
        <p:spPr>
          <a:xfrm>
            <a:off x="548640" y="3474720"/>
            <a:ext cx="5440680" cy="1828800"/>
          </a:xfrm>
          <a:prstGeom prst="roundRect">
            <a:avLst>
              <a:gd name="adj" fmla="val 6000"/>
            </a:avLst>
          </a:prstGeom>
          <a:solidFill>
            <a:srgbClr val="F3F5F9"/>
          </a:solidFill>
          <a:ln>
            <a:noFill/>
          </a:ln>
        </p:spPr>
        <p:txBody>
          <a:bodyPr rtlCol="0" anchor="ctr" wrap="square" lIns="73152" rIns="73152" tIns="73152" bIns="73152">
            <a:noAutofit/>
          </a:bodyPr>
          <a:lstStyle/>
          <a:p>
            <a:pPr algn="ctr"/>
          </a:p>
        </p:txBody>
      </p:sp>
      <p:sp>
        <p:nvSpPr>
          <p:cNvPr id="15" name="Oval 14"/>
          <p:cNvSpPr/>
          <p:nvPr/>
        </p:nvSpPr>
        <p:spPr>
          <a:xfrm>
            <a:off x="768096" y="3694176"/>
            <a:ext cx="658368" cy="658368"/>
          </a:xfrm>
          <a:prstGeom prst="ellipse">
            <a:avLst/>
          </a:prstGeom>
          <a:solidFill>
            <a:srgbClr val="2F5597"/>
          </a:solidFill>
          <a:ln>
            <a:noFill/>
          </a:ln>
        </p:spPr>
        <p:txBody>
          <a:bodyPr rtlCol="0" anchor="ctr" wrap="square" lIns="0" rIns="0" tIns="0" bIns="0">
            <a:noAutofit/>
          </a:bodyPr>
          <a:lstStyle/>
          <a:p>
            <a:pPr algn="ctr"/>
            <a:r>
              <a:rPr sz="2200" b="1" i="0" lang="es-ES">
                <a:solidFill>
                  <a:srgbClr val="FFFFFF"/>
                </a:solidFill>
                <a:latin typeface="Calibri"/>
              </a:rPr>
              <a:t>C</a:t>
            </a:r>
            <a:endParaRPr lang="es-ES" sz="2200"/>
          </a:p>
        </p:txBody>
      </p:sp>
      <p:sp>
        <p:nvSpPr>
          <p:cNvPr id="16" name="TextBox 15"/>
          <p:cNvSpPr txBox="1"/>
          <p:nvPr/>
        </p:nvSpPr>
        <p:spPr>
          <a:xfrm>
            <a:off x="1645919" y="3749040"/>
            <a:ext cx="4114800" cy="457200"/>
          </a:xfrm>
          <a:prstGeom prst="rect">
            <a:avLst/>
          </a:prstGeom>
          <a:noFill/>
        </p:spPr>
        <p:txBody>
          <a:bodyPr wrap="square" lIns="0" rIns="0" tIns="0" bIns="0" anchor="ctr">
            <a:noAutofit/>
          </a:bodyPr>
          <a:lstStyle/>
          <a:p>
            <a:pPr algn="l"/>
            <a:r>
              <a:rPr sz="1900" b="1" i="0" lang="es-ES">
                <a:solidFill>
                  <a:srgbClr val="1B2B48"/>
                </a:solidFill>
                <a:latin typeface="Calibri"/>
              </a:rPr>
              <a:t>BAC en el libro</a:t>
            </a:r>
            <a:endParaRPr lang="es-ES" sz="1900"/>
          </a:p>
        </p:txBody>
      </p:sp>
      <p:sp>
        <p:nvSpPr>
          <p:cNvPr id="17" name="TextBox 16"/>
          <p:cNvSpPr txBox="1"/>
          <p:nvPr/>
        </p:nvSpPr>
        <p:spPr>
          <a:xfrm>
            <a:off x="1645919" y="4279392"/>
            <a:ext cx="4206240" cy="960120"/>
          </a:xfrm>
          <a:prstGeom prst="rect">
            <a:avLst/>
          </a:prstGeom>
          <a:noFill/>
        </p:spPr>
        <p:txBody>
          <a:bodyPr wrap="square" lIns="0" rIns="0" tIns="0" bIns="0" anchor="t">
            <a:noAutofit/>
          </a:bodyPr>
          <a:lstStyle/>
          <a:p>
            <a:pPr algn="l">
              <a:spcAft>
                <a:spcPts val="300"/>
              </a:spcAft>
            </a:pPr>
            <a:r>
              <a:rPr sz="1400" b="1" i="0" lang="es-ES">
                <a:solidFill>
                  <a:srgbClr val="5A6577"/>
                </a:solidFill>
                <a:latin typeface="Calibri"/>
              </a:rPr>
              <a:t>Monto: </a:t>
            </a:r>
            <a:r>
              <a:rPr sz="1400" b="0" i="0" lang="es-ES">
                <a:solidFill>
                  <a:srgbClr val="1B2B48"/>
                </a:solidFill>
                <a:latin typeface="Calibri"/>
              </a:rPr>
              <a:t>Presupuesto de cada paquete</a:t>
            </a:r>
            <a:endParaRPr lang="es-ES" sz="1400"/>
          </a:p>
          <a:p>
            <a:pPr algn="l">
              <a:spcAft>
                <a:spcPts val="300"/>
              </a:spcAft>
            </a:pPr>
            <a:r>
              <a:rPr sz="1400" b="1" i="0" lang="es-ES">
                <a:solidFill>
                  <a:srgbClr val="5A6577"/>
                </a:solidFill>
                <a:latin typeface="Calibri"/>
              </a:rPr>
              <a:t>Dónde: </a:t>
            </a:r>
            <a:r>
              <a:rPr sz="1400" b="0" i="0" lang="es-ES">
                <a:solidFill>
                  <a:srgbClr val="1B2B48"/>
                </a:solidFill>
                <a:latin typeface="Calibri"/>
              </a:rPr>
              <a:t>Columna D de la hoja PV</a:t>
            </a:r>
            <a:endParaRPr lang="es-ES" sz="1400"/>
          </a:p>
          <a:p>
            <a:pPr algn="l">
              <a:spcAft>
                <a:spcPts val="300"/>
              </a:spcAft>
            </a:pPr>
            <a:r>
              <a:rPr sz="1400" b="1" i="0" lang="es-ES">
                <a:solidFill>
                  <a:srgbClr val="5A6577"/>
                </a:solidFill>
                <a:latin typeface="Calibri"/>
              </a:rPr>
              <a:t>Dos empresas: </a:t>
            </a:r>
            <a:r>
              <a:rPr sz="1400" b="0" i="0" lang="es-ES">
                <a:solidFill>
                  <a:srgbClr val="1B2B48"/>
                </a:solidFill>
                <a:latin typeface="Calibri"/>
              </a:rPr>
              <a:t>Un BAC por empresa</a:t>
            </a:r>
            <a:endParaRPr lang="es-ES" sz="1400"/>
          </a:p>
        </p:txBody>
      </p:sp>
      <p:sp>
        <p:nvSpPr>
          <p:cNvPr id="18" name="Rounded Rectangle 17"/>
          <p:cNvSpPr/>
          <p:nvPr/>
        </p:nvSpPr>
        <p:spPr>
          <a:xfrm>
            <a:off x="6172200" y="3474720"/>
            <a:ext cx="5440680" cy="1828800"/>
          </a:xfrm>
          <a:prstGeom prst="roundRect">
            <a:avLst>
              <a:gd name="adj" fmla="val 6000"/>
            </a:avLst>
          </a:prstGeom>
          <a:solidFill>
            <a:srgbClr val="F3F5F9"/>
          </a:solidFill>
          <a:ln>
            <a:noFill/>
          </a:ln>
        </p:spPr>
        <p:txBody>
          <a:bodyPr rtlCol="0" anchor="ctr" wrap="square" lIns="73152" rIns="73152" tIns="73152" bIns="73152">
            <a:noAutofit/>
          </a:bodyPr>
          <a:lstStyle/>
          <a:p>
            <a:pPr algn="ctr"/>
          </a:p>
        </p:txBody>
      </p:sp>
      <p:sp>
        <p:nvSpPr>
          <p:cNvPr id="19" name="Oval 18"/>
          <p:cNvSpPr/>
          <p:nvPr/>
        </p:nvSpPr>
        <p:spPr>
          <a:xfrm>
            <a:off x="6391655" y="3694176"/>
            <a:ext cx="658368" cy="658368"/>
          </a:xfrm>
          <a:prstGeom prst="ellipse">
            <a:avLst/>
          </a:prstGeom>
          <a:solidFill>
            <a:srgbClr val="2F5597"/>
          </a:solidFill>
          <a:ln>
            <a:noFill/>
          </a:ln>
        </p:spPr>
        <p:txBody>
          <a:bodyPr rtlCol="0" anchor="ctr" wrap="square" lIns="0" rIns="0" tIns="0" bIns="0">
            <a:noAutofit/>
          </a:bodyPr>
          <a:lstStyle/>
          <a:p>
            <a:pPr algn="ctr"/>
            <a:r>
              <a:rPr sz="2200" b="1" i="0" lang="es-ES">
                <a:solidFill>
                  <a:srgbClr val="FFFFFF"/>
                </a:solidFill>
                <a:latin typeface="Calibri"/>
              </a:rPr>
              <a:t>D</a:t>
            </a:r>
            <a:endParaRPr lang="es-ES" sz="2200"/>
          </a:p>
        </p:txBody>
      </p:sp>
      <p:sp>
        <p:nvSpPr>
          <p:cNvPr id="20" name="TextBox 19"/>
          <p:cNvSpPr txBox="1"/>
          <p:nvPr/>
        </p:nvSpPr>
        <p:spPr>
          <a:xfrm>
            <a:off x="7269480" y="3749040"/>
            <a:ext cx="4114800" cy="457200"/>
          </a:xfrm>
          <a:prstGeom prst="rect">
            <a:avLst/>
          </a:prstGeom>
          <a:noFill/>
        </p:spPr>
        <p:txBody>
          <a:bodyPr wrap="square" lIns="0" rIns="0" tIns="0" bIns="0" anchor="ctr">
            <a:noAutofit/>
          </a:bodyPr>
          <a:lstStyle/>
          <a:p>
            <a:pPr algn="l"/>
            <a:r>
              <a:rPr sz="1900" b="1" i="0" lang="es-ES">
                <a:solidFill>
                  <a:srgbClr val="1B2B48"/>
                </a:solidFill>
                <a:latin typeface="Calibri"/>
              </a:rPr>
              <a:t>Cronograma sin importes</a:t>
            </a:r>
            <a:endParaRPr lang="es-ES" sz="1900"/>
          </a:p>
        </p:txBody>
      </p:sp>
      <p:sp>
        <p:nvSpPr>
          <p:cNvPr id="21" name="TextBox 20"/>
          <p:cNvSpPr txBox="1"/>
          <p:nvPr/>
        </p:nvSpPr>
        <p:spPr>
          <a:xfrm>
            <a:off x="7269480" y="4279392"/>
            <a:ext cx="4206240" cy="960120"/>
          </a:xfrm>
          <a:prstGeom prst="rect">
            <a:avLst/>
          </a:prstGeom>
          <a:noFill/>
        </p:spPr>
        <p:txBody>
          <a:bodyPr wrap="square" lIns="0" rIns="0" tIns="0" bIns="0" anchor="t">
            <a:noAutofit/>
          </a:bodyPr>
          <a:lstStyle/>
          <a:p>
            <a:pPr algn="l">
              <a:spcAft>
                <a:spcPts val="300"/>
              </a:spcAft>
            </a:pPr>
            <a:r>
              <a:rPr sz="1400" b="1" i="0" lang="es-ES">
                <a:solidFill>
                  <a:srgbClr val="5A6577"/>
                </a:solidFill>
                <a:latin typeface="Calibri"/>
              </a:rPr>
              <a:t>En MS Project: </a:t>
            </a:r>
            <a:r>
              <a:rPr sz="1400" b="0" i="0" lang="es-ES">
                <a:solidFill>
                  <a:srgbClr val="1B2B48"/>
                </a:solidFill>
                <a:latin typeface="Calibri"/>
              </a:rPr>
              <a:t>Sin recursos ni costos</a:t>
            </a:r>
            <a:endParaRPr lang="es-ES" sz="1400"/>
          </a:p>
          <a:p>
            <a:pPr algn="l">
              <a:spcAft>
                <a:spcPts val="300"/>
              </a:spcAft>
            </a:pPr>
            <a:r>
              <a:rPr sz="1400" b="1" i="0" lang="es-ES">
                <a:solidFill>
                  <a:srgbClr val="5A6577"/>
                </a:solidFill>
                <a:latin typeface="Calibri"/>
              </a:rPr>
              <a:t>Se comparte: </a:t>
            </a:r>
            <a:r>
              <a:rPr sz="1400" b="0" i="0" lang="es-ES">
                <a:solidFill>
                  <a:srgbClr val="1B2B48"/>
                </a:solidFill>
                <a:latin typeface="Calibri"/>
              </a:rPr>
              <a:t>Con el cliente y entre empresas</a:t>
            </a:r>
            <a:endParaRPr lang="es-ES" sz="1400"/>
          </a:p>
          <a:p>
            <a:pPr algn="l">
              <a:spcAft>
                <a:spcPts val="300"/>
              </a:spcAft>
            </a:pPr>
            <a:r>
              <a:rPr sz="1400" b="1" i="0" lang="es-ES">
                <a:solidFill>
                  <a:srgbClr val="5A6577"/>
                </a:solidFill>
                <a:latin typeface="Calibri"/>
              </a:rPr>
              <a:t>Si tiene costos: </a:t>
            </a:r>
            <a:r>
              <a:rPr sz="1400" b="0" i="0" lang="es-ES">
                <a:solidFill>
                  <a:srgbClr val="1B2B48"/>
                </a:solidFill>
                <a:latin typeface="Calibri"/>
              </a:rPr>
              <a:t>No se usan</a:t>
            </a:r>
            <a:endParaRPr lang="es-ES" sz="1400"/>
          </a:p>
        </p:txBody>
      </p:sp>
      <p:sp>
        <p:nvSpPr>
          <p:cNvPr id="22" name="Rounded Rectangle 21"/>
          <p:cNvSpPr/>
          <p:nvPr/>
        </p:nvSpPr>
        <p:spPr>
          <a:xfrm>
            <a:off x="548640" y="5596128"/>
            <a:ext cx="11064240" cy="566928"/>
          </a:xfrm>
          <a:prstGeom prst="roundRect">
            <a:avLst>
              <a:gd name="adj" fmla="val 19354"/>
            </a:avLst>
          </a:prstGeom>
          <a:solidFill>
            <a:srgbClr val="1B2B48"/>
          </a:solidFill>
          <a:ln>
            <a:noFill/>
          </a:ln>
        </p:spPr>
        <p:txBody>
          <a:bodyPr rtlCol="0" anchor="ctr" wrap="square" lIns="228600" rIns="228600" tIns="228600" bIns="228600">
            <a:noAutofit/>
          </a:bodyPr>
          <a:lstStyle/>
          <a:p>
            <a:pPr algn="ctr"/>
            <a:r>
              <a:rPr sz="1600" b="1" i="0" lang="es-ES">
                <a:solidFill>
                  <a:srgbClr val="F2B134"/>
                </a:solidFill>
                <a:latin typeface="Calibri"/>
              </a:rPr>
              <a:t>Regla de oro: </a:t>
            </a:r>
            <a:r>
              <a:rPr sz="1600" b="0" i="0" lang="es-ES">
                <a:solidFill>
                  <a:srgbClr val="FFFFFF"/>
                </a:solidFill>
                <a:latin typeface="Calibri"/>
              </a:rPr>
              <a:t>el cronograma no lleva importes; la duración de cada tarea debe reflejar su trabajo</a:t>
            </a:r>
            <a:endParaRPr lang="es-ES" sz="16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La duración y los hitos deciden la forma de la curva PV</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MS PROJECT · PRESUPUESTO</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15</a:t>
            </a:fld>
            <a:endParaRPr lang="es-ES" sz="1000"/>
          </a:p>
        </p:txBody>
      </p:sp>
      <p:sp>
        <p:nvSpPr>
          <p:cNvPr id="6" name="TextBox 5"/>
          <p:cNvSpPr txBox="1"/>
          <p:nvPr/>
        </p:nvSpPr>
        <p:spPr>
          <a:xfrm>
            <a:off x="548640" y="1417320"/>
            <a:ext cx="11064240" cy="365760"/>
          </a:xfrm>
          <a:prstGeom prst="rect">
            <a:avLst/>
          </a:prstGeom>
          <a:noFill/>
        </p:spPr>
        <p:txBody>
          <a:bodyPr wrap="square" lIns="0" rIns="0" tIns="0" bIns="0" anchor="t">
            <a:noAutofit/>
          </a:bodyPr>
          <a:lstStyle/>
          <a:p>
            <a:pPr algn="l"/>
            <a:r>
              <a:rPr sz="1600" b="1" i="0" lang="es-ES">
                <a:solidFill>
                  <a:srgbClr val="1B2B48"/>
                </a:solidFill>
                <a:latin typeface="Calibri"/>
              </a:rPr>
              <a:t>Ejemplo: </a:t>
            </a:r>
            <a:r>
              <a:rPr sz="1600" b="0" i="0" lang="es-ES">
                <a:solidFill>
                  <a:srgbClr val="1B2B48"/>
                </a:solidFill>
                <a:latin typeface="Calibri"/>
              </a:rPr>
              <a:t>paquete de 300.000 € y 3 meses (miles de euros por mes)</a:t>
            </a:r>
            <a:endParaRPr lang="es-ES" sz="1600"/>
          </a:p>
        </p:txBody>
      </p:sp>
      <p:sp>
        <p:nvSpPr>
          <p:cNvPr id="7" name="Rounded Rectangle 6"/>
          <p:cNvSpPr/>
          <p:nvPr/>
        </p:nvSpPr>
        <p:spPr>
          <a:xfrm>
            <a:off x="548640" y="1920240"/>
            <a:ext cx="3566160" cy="3429000"/>
          </a:xfrm>
          <a:prstGeom prst="roundRect">
            <a:avLst>
              <a:gd name="adj" fmla="val 3200"/>
            </a:avLst>
          </a:prstGeom>
          <a:solidFill>
            <a:srgbClr val="FFFFFF"/>
          </a:solidFill>
          <a:ln w="12700">
            <a:solidFill>
              <a:srgbClr val="D5DBE5"/>
            </a:solidFill>
          </a:ln>
        </p:spPr>
        <p:txBody>
          <a:bodyPr rtlCol="0" anchor="ctr" wrap="square" lIns="73152" rIns="73152" tIns="73152" bIns="73152">
            <a:noAutofit/>
          </a:bodyPr>
          <a:lstStyle/>
          <a:p>
            <a:pPr algn="ctr"/>
          </a:p>
        </p:txBody>
      </p:sp>
      <p:sp>
        <p:nvSpPr>
          <p:cNvPr id="8" name="TextBox 7"/>
          <p:cNvSpPr txBox="1"/>
          <p:nvPr/>
        </p:nvSpPr>
        <p:spPr>
          <a:xfrm>
            <a:off x="822959" y="2057400"/>
            <a:ext cx="3017520" cy="365760"/>
          </a:xfrm>
          <a:prstGeom prst="rect">
            <a:avLst/>
          </a:prstGeom>
          <a:noFill/>
        </p:spPr>
        <p:txBody>
          <a:bodyPr wrap="square" lIns="0" rIns="0" tIns="0" bIns="0" anchor="t">
            <a:noAutofit/>
          </a:bodyPr>
          <a:lstStyle/>
          <a:p>
            <a:pPr algn="l"/>
            <a:r>
              <a:rPr sz="1900" b="1" i="0" lang="es-ES">
                <a:solidFill>
                  <a:srgbClr val="1B2B48"/>
                </a:solidFill>
                <a:latin typeface="Calibri"/>
              </a:rPr>
              <a:t>Una tarea de 3 meses</a:t>
            </a:r>
            <a:endParaRPr lang="es-ES" sz="1900"/>
          </a:p>
        </p:txBody>
      </p:sp>
      <p:sp>
        <p:nvSpPr>
          <p:cNvPr id="9" name="TextBox 8"/>
          <p:cNvSpPr txBox="1"/>
          <p:nvPr/>
        </p:nvSpPr>
        <p:spPr>
          <a:xfrm>
            <a:off x="822959" y="2423160"/>
            <a:ext cx="3017520" cy="274320"/>
          </a:xfrm>
          <a:prstGeom prst="rect">
            <a:avLst/>
          </a:prstGeom>
          <a:noFill/>
        </p:spPr>
        <p:txBody>
          <a:bodyPr wrap="square" lIns="0" rIns="0" tIns="0" bIns="0" anchor="t">
            <a:noAutofit/>
          </a:bodyPr>
          <a:lstStyle/>
          <a:p>
            <a:pPr algn="l"/>
            <a:r>
              <a:rPr sz="1300" b="0" i="0" lang="es-ES">
                <a:solidFill>
                  <a:srgbClr val="5A6577"/>
                </a:solidFill>
                <a:latin typeface="Calibri"/>
              </a:rPr>
              <a:t>Peso por duración</a:t>
            </a:r>
            <a:endParaRPr lang="es-ES" sz="1300"/>
          </a:p>
        </p:txBody>
      </p:sp>
      <p:graphicFrame>
        <p:nvGraphicFramePr>
          <p:cNvPr id="10" name="Chart 9"/>
          <p:cNvGraphicFramePr>
            <a:graphicFrameLocks noGrp="1"/>
          </p:cNvGraphicFramePr>
          <p:nvPr/>
        </p:nvGraphicFramePr>
        <p:xfrm>
          <a:off x="685800" y="2743200"/>
          <a:ext cx="3291840" cy="2514600"/>
        </p:xfrm>
        <a:graphic>
          <a:graphicData uri="http://schemas.openxmlformats.org/drawingml/2006/chart">
            <c:chart xmlns:c="http://schemas.openxmlformats.org/drawingml/2006/chart" r:id="rId2"/>
          </a:graphicData>
        </a:graphic>
      </p:graphicFrame>
      <p:sp>
        <p:nvSpPr>
          <p:cNvPr id="11" name="Rounded Rectangle 10"/>
          <p:cNvSpPr/>
          <p:nvPr/>
        </p:nvSpPr>
        <p:spPr>
          <a:xfrm>
            <a:off x="4297679" y="1920240"/>
            <a:ext cx="3566160" cy="3429000"/>
          </a:xfrm>
          <a:prstGeom prst="roundRect">
            <a:avLst>
              <a:gd name="adj" fmla="val 3200"/>
            </a:avLst>
          </a:prstGeom>
          <a:solidFill>
            <a:srgbClr val="FFFFFF"/>
          </a:solidFill>
          <a:ln w="12700">
            <a:solidFill>
              <a:srgbClr val="D5DBE5"/>
            </a:solidFill>
          </a:ln>
        </p:spPr>
        <p:txBody>
          <a:bodyPr rtlCol="0" anchor="ctr" wrap="square" lIns="73152" rIns="73152" tIns="73152" bIns="73152">
            <a:noAutofit/>
          </a:bodyPr>
          <a:lstStyle/>
          <a:p>
            <a:pPr algn="ctr"/>
          </a:p>
        </p:txBody>
      </p:sp>
      <p:sp>
        <p:nvSpPr>
          <p:cNvPr id="12" name="TextBox 11"/>
          <p:cNvSpPr txBox="1"/>
          <p:nvPr/>
        </p:nvSpPr>
        <p:spPr>
          <a:xfrm>
            <a:off x="4571999" y="2057400"/>
            <a:ext cx="3017520" cy="365760"/>
          </a:xfrm>
          <a:prstGeom prst="rect">
            <a:avLst/>
          </a:prstGeom>
          <a:noFill/>
        </p:spPr>
        <p:txBody>
          <a:bodyPr wrap="square" lIns="0" rIns="0" tIns="0" bIns="0" anchor="t">
            <a:noAutofit/>
          </a:bodyPr>
          <a:lstStyle/>
          <a:p>
            <a:pPr algn="l"/>
            <a:r>
              <a:rPr sz="1900" b="1" i="0" lang="es-ES">
                <a:solidFill>
                  <a:srgbClr val="1B2B48"/>
                </a:solidFill>
                <a:latin typeface="Calibri"/>
              </a:rPr>
              <a:t>Hito al comienzo</a:t>
            </a:r>
            <a:endParaRPr lang="es-ES" sz="1900"/>
          </a:p>
        </p:txBody>
      </p:sp>
      <p:sp>
        <p:nvSpPr>
          <p:cNvPr id="13" name="TextBox 12"/>
          <p:cNvSpPr txBox="1"/>
          <p:nvPr/>
        </p:nvSpPr>
        <p:spPr>
          <a:xfrm>
            <a:off x="4571999" y="2423160"/>
            <a:ext cx="3017520" cy="274320"/>
          </a:xfrm>
          <a:prstGeom prst="rect">
            <a:avLst/>
          </a:prstGeom>
          <a:noFill/>
        </p:spPr>
        <p:txBody>
          <a:bodyPr wrap="square" lIns="0" rIns="0" tIns="0" bIns="0" anchor="t">
            <a:noAutofit/>
          </a:bodyPr>
          <a:lstStyle/>
          <a:p>
            <a:pPr algn="l"/>
            <a:r>
              <a:rPr sz="1300" b="0" i="0" lang="es-ES">
                <a:solidFill>
                  <a:srgbClr val="5A6577"/>
                </a:solidFill>
                <a:latin typeface="Calibri"/>
              </a:rPr>
              <a:t>Peso hito 100 en el mes 1</a:t>
            </a:r>
            <a:endParaRPr lang="es-ES" sz="1300"/>
          </a:p>
        </p:txBody>
      </p:sp>
      <p:graphicFrame>
        <p:nvGraphicFramePr>
          <p:cNvPr id="14" name="Chart 13"/>
          <p:cNvGraphicFramePr>
            <a:graphicFrameLocks noGrp="1"/>
          </p:cNvGraphicFramePr>
          <p:nvPr/>
        </p:nvGraphicFramePr>
        <p:xfrm>
          <a:off x="4434840" y="2743200"/>
          <a:ext cx="3291840" cy="2514600"/>
        </p:xfrm>
        <a:graphic>
          <a:graphicData uri="http://schemas.openxmlformats.org/drawingml/2006/chart">
            <c:chart xmlns:c="http://schemas.openxmlformats.org/drawingml/2006/chart" r:id="rId3"/>
          </a:graphicData>
        </a:graphic>
      </p:graphicFrame>
      <p:sp>
        <p:nvSpPr>
          <p:cNvPr id="15" name="Rounded Rectangle 14"/>
          <p:cNvSpPr/>
          <p:nvPr/>
        </p:nvSpPr>
        <p:spPr>
          <a:xfrm>
            <a:off x="8046719" y="1920240"/>
            <a:ext cx="3566160" cy="3429000"/>
          </a:xfrm>
          <a:prstGeom prst="roundRect">
            <a:avLst>
              <a:gd name="adj" fmla="val 3200"/>
            </a:avLst>
          </a:prstGeom>
          <a:solidFill>
            <a:srgbClr val="FFFFFF"/>
          </a:solidFill>
          <a:ln w="12700">
            <a:solidFill>
              <a:srgbClr val="D5DBE5"/>
            </a:solidFill>
          </a:ln>
        </p:spPr>
        <p:txBody>
          <a:bodyPr rtlCol="0" anchor="ctr" wrap="square" lIns="73152" rIns="73152" tIns="73152" bIns="73152">
            <a:noAutofit/>
          </a:bodyPr>
          <a:lstStyle/>
          <a:p>
            <a:pPr algn="ctr"/>
          </a:p>
        </p:txBody>
      </p:sp>
      <p:sp>
        <p:nvSpPr>
          <p:cNvPr id="16" name="TextBox 15"/>
          <p:cNvSpPr txBox="1"/>
          <p:nvPr/>
        </p:nvSpPr>
        <p:spPr>
          <a:xfrm>
            <a:off x="8321040" y="2057400"/>
            <a:ext cx="3017520" cy="365760"/>
          </a:xfrm>
          <a:prstGeom prst="rect">
            <a:avLst/>
          </a:prstGeom>
          <a:noFill/>
        </p:spPr>
        <p:txBody>
          <a:bodyPr wrap="square" lIns="0" rIns="0" tIns="0" bIns="0" anchor="t">
            <a:noAutofit/>
          </a:bodyPr>
          <a:lstStyle/>
          <a:p>
            <a:pPr algn="l"/>
            <a:r>
              <a:rPr sz="1900" b="1" i="0" lang="es-ES">
                <a:solidFill>
                  <a:srgbClr val="1B2B48"/>
                </a:solidFill>
                <a:latin typeface="Calibri"/>
              </a:rPr>
              <a:t>Hito al final</a:t>
            </a:r>
            <a:endParaRPr lang="es-ES" sz="1900"/>
          </a:p>
        </p:txBody>
      </p:sp>
      <p:sp>
        <p:nvSpPr>
          <p:cNvPr id="17" name="TextBox 16"/>
          <p:cNvSpPr txBox="1"/>
          <p:nvPr/>
        </p:nvSpPr>
        <p:spPr>
          <a:xfrm>
            <a:off x="8321040" y="2423160"/>
            <a:ext cx="3017520" cy="274320"/>
          </a:xfrm>
          <a:prstGeom prst="rect">
            <a:avLst/>
          </a:prstGeom>
          <a:noFill/>
        </p:spPr>
        <p:txBody>
          <a:bodyPr wrap="square" lIns="0" rIns="0" tIns="0" bIns="0" anchor="t">
            <a:noAutofit/>
          </a:bodyPr>
          <a:lstStyle/>
          <a:p>
            <a:pPr algn="l"/>
            <a:r>
              <a:rPr sz="1300" b="0" i="0" lang="es-ES">
                <a:solidFill>
                  <a:srgbClr val="5A6577"/>
                </a:solidFill>
                <a:latin typeface="Calibri"/>
              </a:rPr>
              <a:t>Peso hito 100 en el mes 3</a:t>
            </a:r>
            <a:endParaRPr lang="es-ES" sz="1300"/>
          </a:p>
        </p:txBody>
      </p:sp>
      <p:graphicFrame>
        <p:nvGraphicFramePr>
          <p:cNvPr id="18" name="Chart 17"/>
          <p:cNvGraphicFramePr>
            <a:graphicFrameLocks noGrp="1"/>
          </p:cNvGraphicFramePr>
          <p:nvPr/>
        </p:nvGraphicFramePr>
        <p:xfrm>
          <a:off x="8183879" y="2743200"/>
          <a:ext cx="3291840" cy="2514600"/>
        </p:xfrm>
        <a:graphic>
          <a:graphicData uri="http://schemas.openxmlformats.org/drawingml/2006/chart">
            <c:chart xmlns:c="http://schemas.openxmlformats.org/drawingml/2006/chart" r:id="rId4"/>
          </a:graphicData>
        </a:graphic>
      </p:graphicFrame>
      <p:sp>
        <p:nvSpPr>
          <p:cNvPr id="19" name="Rounded Rectangle 18"/>
          <p:cNvSpPr/>
          <p:nvPr/>
        </p:nvSpPr>
        <p:spPr>
          <a:xfrm>
            <a:off x="548640" y="5532120"/>
            <a:ext cx="11064240" cy="640080"/>
          </a:xfrm>
          <a:prstGeom prst="roundRect">
            <a:avLst>
              <a:gd name="adj" fmla="val 17142"/>
            </a:avLst>
          </a:prstGeom>
          <a:solidFill>
            <a:srgbClr val="FFF4D9"/>
          </a:solidFill>
          <a:ln>
            <a:noFill/>
          </a:ln>
        </p:spPr>
        <p:txBody>
          <a:bodyPr rtlCol="0" anchor="ctr" wrap="square" lIns="228600" rIns="228600" tIns="228600" bIns="228600">
            <a:noAutofit/>
          </a:bodyPr>
          <a:lstStyle/>
          <a:p>
            <a:pPr algn="l"/>
            <a:r>
              <a:rPr sz="1500" b="1" i="0" lang="es-ES">
                <a:solidFill>
                  <a:srgbClr val="1B2B48"/>
                </a:solidFill>
                <a:latin typeface="Calibri"/>
              </a:rPr>
              <a:t>Para la forma real: </a:t>
            </a:r>
            <a:r>
              <a:rPr sz="1500" b="0" i="0" lang="es-ES">
                <a:solidFill>
                  <a:srgbClr val="1B2B48"/>
                </a:solidFill>
                <a:latin typeface="Calibri"/>
              </a:rPr>
              <a:t>dividir el paquete en tareas con sus fechas o usar hitos con peso (anticipos, entregas, certificaciones).</a:t>
            </a:r>
            <a:endParaRPr lang="es-ES" sz="150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Línea base: qué es y por qué se define</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MS PROJECT · LÍNEA BASE</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16</a:t>
            </a:fld>
            <a:endParaRPr lang="es-ES" sz="1000"/>
          </a:p>
        </p:txBody>
      </p:sp>
      <p:sp>
        <p:nvSpPr>
          <p:cNvPr id="6" name="TextBox 5"/>
          <p:cNvSpPr txBox="1"/>
          <p:nvPr/>
        </p:nvSpPr>
        <p:spPr>
          <a:xfrm>
            <a:off x="2011680" y="1508760"/>
            <a:ext cx="603504" cy="274320"/>
          </a:xfrm>
          <a:prstGeom prst="rect">
            <a:avLst/>
          </a:prstGeom>
          <a:noFill/>
        </p:spPr>
        <p:txBody>
          <a:bodyPr wrap="square" lIns="0" rIns="0" tIns="0" bIns="0" anchor="t">
            <a:noAutofit/>
          </a:bodyPr>
          <a:lstStyle/>
          <a:p>
            <a:pPr algn="ctr"/>
            <a:r>
              <a:rPr sz="1200" b="0" i="0" lang="es-ES">
                <a:solidFill>
                  <a:srgbClr val="5A6577"/>
                </a:solidFill>
                <a:latin typeface="Calibri"/>
              </a:rPr>
              <a:t>ene</a:t>
            </a:r>
            <a:endParaRPr lang="es-ES" sz="1200"/>
          </a:p>
        </p:txBody>
      </p:sp>
      <p:cxnSp>
        <p:nvCxnSpPr>
          <p:cNvPr id="7" name="Connector 6"/>
          <p:cNvCxnSpPr/>
          <p:nvPr/>
        </p:nvCxnSpPr>
        <p:spPr>
          <a:xfrm>
            <a:off x="2011680" y="1828800"/>
            <a:ext cx="0" cy="2057400"/>
          </a:xfrm>
          <a:prstGeom prst="line">
            <a:avLst/>
          </a:prstGeom>
          <a:ln w="12700">
            <a:solidFill>
              <a:srgbClr val="E8ECF2"/>
            </a:solidFill>
          </a:ln>
        </p:spPr>
      </p:cxnSp>
      <p:sp>
        <p:nvSpPr>
          <p:cNvPr id="8" name="TextBox 7"/>
          <p:cNvSpPr txBox="1"/>
          <p:nvPr/>
        </p:nvSpPr>
        <p:spPr>
          <a:xfrm>
            <a:off x="2615184" y="1508760"/>
            <a:ext cx="603504" cy="274320"/>
          </a:xfrm>
          <a:prstGeom prst="rect">
            <a:avLst/>
          </a:prstGeom>
          <a:noFill/>
        </p:spPr>
        <p:txBody>
          <a:bodyPr wrap="square" lIns="0" rIns="0" tIns="0" bIns="0" anchor="t">
            <a:noAutofit/>
          </a:bodyPr>
          <a:lstStyle/>
          <a:p>
            <a:pPr algn="ctr"/>
            <a:r>
              <a:rPr sz="1200" b="0" i="0" lang="es-ES">
                <a:solidFill>
                  <a:srgbClr val="5A6577"/>
                </a:solidFill>
                <a:latin typeface="Calibri"/>
              </a:rPr>
              <a:t>feb</a:t>
            </a:r>
            <a:endParaRPr lang="es-ES" sz="1200"/>
          </a:p>
        </p:txBody>
      </p:sp>
      <p:cxnSp>
        <p:nvCxnSpPr>
          <p:cNvPr id="9" name="Connector 8"/>
          <p:cNvCxnSpPr/>
          <p:nvPr/>
        </p:nvCxnSpPr>
        <p:spPr>
          <a:xfrm>
            <a:off x="2615184" y="1828800"/>
            <a:ext cx="0" cy="2057400"/>
          </a:xfrm>
          <a:prstGeom prst="line">
            <a:avLst/>
          </a:prstGeom>
          <a:ln w="12700">
            <a:solidFill>
              <a:srgbClr val="E8ECF2"/>
            </a:solidFill>
          </a:ln>
        </p:spPr>
      </p:cxnSp>
      <p:sp>
        <p:nvSpPr>
          <p:cNvPr id="10" name="TextBox 9"/>
          <p:cNvSpPr txBox="1"/>
          <p:nvPr/>
        </p:nvSpPr>
        <p:spPr>
          <a:xfrm>
            <a:off x="3218688" y="1508760"/>
            <a:ext cx="603504" cy="274320"/>
          </a:xfrm>
          <a:prstGeom prst="rect">
            <a:avLst/>
          </a:prstGeom>
          <a:noFill/>
        </p:spPr>
        <p:txBody>
          <a:bodyPr wrap="square" lIns="0" rIns="0" tIns="0" bIns="0" anchor="t">
            <a:noAutofit/>
          </a:bodyPr>
          <a:lstStyle/>
          <a:p>
            <a:pPr algn="ctr"/>
            <a:r>
              <a:rPr sz="1200" b="0" i="0" lang="es-ES">
                <a:solidFill>
                  <a:srgbClr val="5A6577"/>
                </a:solidFill>
                <a:latin typeface="Calibri"/>
              </a:rPr>
              <a:t>mar</a:t>
            </a:r>
            <a:endParaRPr lang="es-ES" sz="1200"/>
          </a:p>
        </p:txBody>
      </p:sp>
      <p:cxnSp>
        <p:nvCxnSpPr>
          <p:cNvPr id="11" name="Connector 10"/>
          <p:cNvCxnSpPr/>
          <p:nvPr/>
        </p:nvCxnSpPr>
        <p:spPr>
          <a:xfrm>
            <a:off x="3218688" y="1828800"/>
            <a:ext cx="0" cy="2057400"/>
          </a:xfrm>
          <a:prstGeom prst="line">
            <a:avLst/>
          </a:prstGeom>
          <a:ln w="12700">
            <a:solidFill>
              <a:srgbClr val="E8ECF2"/>
            </a:solidFill>
          </a:ln>
        </p:spPr>
      </p:cxnSp>
      <p:sp>
        <p:nvSpPr>
          <p:cNvPr id="12" name="TextBox 11"/>
          <p:cNvSpPr txBox="1"/>
          <p:nvPr/>
        </p:nvSpPr>
        <p:spPr>
          <a:xfrm>
            <a:off x="3822191" y="1508760"/>
            <a:ext cx="603504" cy="274320"/>
          </a:xfrm>
          <a:prstGeom prst="rect">
            <a:avLst/>
          </a:prstGeom>
          <a:noFill/>
        </p:spPr>
        <p:txBody>
          <a:bodyPr wrap="square" lIns="0" rIns="0" tIns="0" bIns="0" anchor="t">
            <a:noAutofit/>
          </a:bodyPr>
          <a:lstStyle/>
          <a:p>
            <a:pPr algn="ctr"/>
            <a:r>
              <a:rPr sz="1200" b="0" i="0" lang="es-ES">
                <a:solidFill>
                  <a:srgbClr val="5A6577"/>
                </a:solidFill>
                <a:latin typeface="Calibri"/>
              </a:rPr>
              <a:t>abr</a:t>
            </a:r>
            <a:endParaRPr lang="es-ES" sz="1200"/>
          </a:p>
        </p:txBody>
      </p:sp>
      <p:cxnSp>
        <p:nvCxnSpPr>
          <p:cNvPr id="13" name="Connector 12"/>
          <p:cNvCxnSpPr/>
          <p:nvPr/>
        </p:nvCxnSpPr>
        <p:spPr>
          <a:xfrm>
            <a:off x="3822191" y="1828800"/>
            <a:ext cx="0" cy="2057400"/>
          </a:xfrm>
          <a:prstGeom prst="line">
            <a:avLst/>
          </a:prstGeom>
          <a:ln w="12700">
            <a:solidFill>
              <a:srgbClr val="E8ECF2"/>
            </a:solidFill>
          </a:ln>
        </p:spPr>
      </p:cxnSp>
      <p:sp>
        <p:nvSpPr>
          <p:cNvPr id="14" name="TextBox 13"/>
          <p:cNvSpPr txBox="1"/>
          <p:nvPr/>
        </p:nvSpPr>
        <p:spPr>
          <a:xfrm>
            <a:off x="4425696" y="1508760"/>
            <a:ext cx="603504" cy="274320"/>
          </a:xfrm>
          <a:prstGeom prst="rect">
            <a:avLst/>
          </a:prstGeom>
          <a:noFill/>
        </p:spPr>
        <p:txBody>
          <a:bodyPr wrap="square" lIns="0" rIns="0" tIns="0" bIns="0" anchor="t">
            <a:noAutofit/>
          </a:bodyPr>
          <a:lstStyle/>
          <a:p>
            <a:pPr algn="ctr"/>
            <a:r>
              <a:rPr sz="1200" b="0" i="0" lang="es-ES">
                <a:solidFill>
                  <a:srgbClr val="5A6577"/>
                </a:solidFill>
                <a:latin typeface="Calibri"/>
              </a:rPr>
              <a:t>may</a:t>
            </a:r>
            <a:endParaRPr lang="es-ES" sz="1200"/>
          </a:p>
        </p:txBody>
      </p:sp>
      <p:cxnSp>
        <p:nvCxnSpPr>
          <p:cNvPr id="15" name="Connector 14"/>
          <p:cNvCxnSpPr/>
          <p:nvPr/>
        </p:nvCxnSpPr>
        <p:spPr>
          <a:xfrm>
            <a:off x="4425696" y="1828800"/>
            <a:ext cx="0" cy="2057400"/>
          </a:xfrm>
          <a:prstGeom prst="line">
            <a:avLst/>
          </a:prstGeom>
          <a:ln w="12700">
            <a:solidFill>
              <a:srgbClr val="E8ECF2"/>
            </a:solidFill>
          </a:ln>
        </p:spPr>
      </p:cxnSp>
      <p:sp>
        <p:nvSpPr>
          <p:cNvPr id="16" name="TextBox 15"/>
          <p:cNvSpPr txBox="1"/>
          <p:nvPr/>
        </p:nvSpPr>
        <p:spPr>
          <a:xfrm>
            <a:off x="5029200" y="1508760"/>
            <a:ext cx="603504" cy="274320"/>
          </a:xfrm>
          <a:prstGeom prst="rect">
            <a:avLst/>
          </a:prstGeom>
          <a:noFill/>
        </p:spPr>
        <p:txBody>
          <a:bodyPr wrap="square" lIns="0" rIns="0" tIns="0" bIns="0" anchor="t">
            <a:noAutofit/>
          </a:bodyPr>
          <a:lstStyle/>
          <a:p>
            <a:pPr algn="ctr"/>
            <a:r>
              <a:rPr sz="1200" b="0" i="0" lang="es-ES">
                <a:solidFill>
                  <a:srgbClr val="5A6577"/>
                </a:solidFill>
                <a:latin typeface="Calibri"/>
              </a:rPr>
              <a:t>jun</a:t>
            </a:r>
            <a:endParaRPr lang="es-ES" sz="1200"/>
          </a:p>
        </p:txBody>
      </p:sp>
      <p:cxnSp>
        <p:nvCxnSpPr>
          <p:cNvPr id="17" name="Connector 16"/>
          <p:cNvCxnSpPr/>
          <p:nvPr/>
        </p:nvCxnSpPr>
        <p:spPr>
          <a:xfrm>
            <a:off x="5029200" y="1828800"/>
            <a:ext cx="0" cy="2057400"/>
          </a:xfrm>
          <a:prstGeom prst="line">
            <a:avLst/>
          </a:prstGeom>
          <a:ln w="12700">
            <a:solidFill>
              <a:srgbClr val="E8ECF2"/>
            </a:solidFill>
          </a:ln>
        </p:spPr>
      </p:cxnSp>
      <p:sp>
        <p:nvSpPr>
          <p:cNvPr id="18" name="TextBox 17"/>
          <p:cNvSpPr txBox="1"/>
          <p:nvPr/>
        </p:nvSpPr>
        <p:spPr>
          <a:xfrm>
            <a:off x="5632704" y="1508760"/>
            <a:ext cx="603504" cy="274320"/>
          </a:xfrm>
          <a:prstGeom prst="rect">
            <a:avLst/>
          </a:prstGeom>
          <a:noFill/>
        </p:spPr>
        <p:txBody>
          <a:bodyPr wrap="square" lIns="0" rIns="0" tIns="0" bIns="0" anchor="t">
            <a:noAutofit/>
          </a:bodyPr>
          <a:lstStyle/>
          <a:p>
            <a:pPr algn="ctr"/>
            <a:r>
              <a:rPr sz="1200" b="0" i="0" lang="es-ES">
                <a:solidFill>
                  <a:srgbClr val="5A6577"/>
                </a:solidFill>
                <a:latin typeface="Calibri"/>
              </a:rPr>
              <a:t>jul</a:t>
            </a:r>
            <a:endParaRPr lang="es-ES" sz="1200"/>
          </a:p>
        </p:txBody>
      </p:sp>
      <p:cxnSp>
        <p:nvCxnSpPr>
          <p:cNvPr id="19" name="Connector 18"/>
          <p:cNvCxnSpPr/>
          <p:nvPr/>
        </p:nvCxnSpPr>
        <p:spPr>
          <a:xfrm>
            <a:off x="5632704" y="1828800"/>
            <a:ext cx="0" cy="2057400"/>
          </a:xfrm>
          <a:prstGeom prst="line">
            <a:avLst/>
          </a:prstGeom>
          <a:ln w="12700">
            <a:solidFill>
              <a:srgbClr val="E8ECF2"/>
            </a:solidFill>
          </a:ln>
        </p:spPr>
      </p:cxnSp>
      <p:sp>
        <p:nvSpPr>
          <p:cNvPr id="20" name="TextBox 19"/>
          <p:cNvSpPr txBox="1"/>
          <p:nvPr/>
        </p:nvSpPr>
        <p:spPr>
          <a:xfrm>
            <a:off x="6236208" y="1508760"/>
            <a:ext cx="603504" cy="274320"/>
          </a:xfrm>
          <a:prstGeom prst="rect">
            <a:avLst/>
          </a:prstGeom>
          <a:noFill/>
        </p:spPr>
        <p:txBody>
          <a:bodyPr wrap="square" lIns="0" rIns="0" tIns="0" bIns="0" anchor="t">
            <a:noAutofit/>
          </a:bodyPr>
          <a:lstStyle/>
          <a:p>
            <a:pPr algn="ctr"/>
            <a:r>
              <a:rPr sz="1200" b="0" i="0" lang="es-ES">
                <a:solidFill>
                  <a:srgbClr val="5A6577"/>
                </a:solidFill>
                <a:latin typeface="Calibri"/>
              </a:rPr>
              <a:t>ago</a:t>
            </a:r>
            <a:endParaRPr lang="es-ES" sz="1200"/>
          </a:p>
        </p:txBody>
      </p:sp>
      <p:cxnSp>
        <p:nvCxnSpPr>
          <p:cNvPr id="21" name="Connector 20"/>
          <p:cNvCxnSpPr/>
          <p:nvPr/>
        </p:nvCxnSpPr>
        <p:spPr>
          <a:xfrm>
            <a:off x="6236208" y="1828800"/>
            <a:ext cx="0" cy="2057400"/>
          </a:xfrm>
          <a:prstGeom prst="line">
            <a:avLst/>
          </a:prstGeom>
          <a:ln w="12700">
            <a:solidFill>
              <a:srgbClr val="E8ECF2"/>
            </a:solidFill>
          </a:ln>
        </p:spPr>
      </p:cxnSp>
      <p:cxnSp>
        <p:nvCxnSpPr>
          <p:cNvPr id="22" name="Connector 21"/>
          <p:cNvCxnSpPr/>
          <p:nvPr/>
        </p:nvCxnSpPr>
        <p:spPr>
          <a:xfrm>
            <a:off x="6839712" y="1828800"/>
            <a:ext cx="0" cy="2057400"/>
          </a:xfrm>
          <a:prstGeom prst="line">
            <a:avLst/>
          </a:prstGeom>
          <a:ln w="12700">
            <a:solidFill>
              <a:srgbClr val="E8ECF2"/>
            </a:solidFill>
          </a:ln>
        </p:spPr>
      </p:cxnSp>
      <p:sp>
        <p:nvSpPr>
          <p:cNvPr id="23" name="TextBox 22"/>
          <p:cNvSpPr txBox="1"/>
          <p:nvPr/>
        </p:nvSpPr>
        <p:spPr>
          <a:xfrm>
            <a:off x="548640" y="1965960"/>
            <a:ext cx="1371600" cy="457200"/>
          </a:xfrm>
          <a:prstGeom prst="rect">
            <a:avLst/>
          </a:prstGeom>
          <a:noFill/>
        </p:spPr>
        <p:txBody>
          <a:bodyPr wrap="square" lIns="0" rIns="0" tIns="0" bIns="0" anchor="ctr">
            <a:noAutofit/>
          </a:bodyPr>
          <a:lstStyle/>
          <a:p>
            <a:pPr algn="l"/>
            <a:r>
              <a:rPr sz="1500" b="1" i="0" lang="es-ES">
                <a:solidFill>
                  <a:srgbClr val="1B2B48"/>
                </a:solidFill>
                <a:latin typeface="Calibri"/>
              </a:rPr>
              <a:t>Diseño</a:t>
            </a:r>
            <a:endParaRPr lang="es-ES" sz="1500"/>
          </a:p>
        </p:txBody>
      </p:sp>
      <p:sp>
        <p:nvSpPr>
          <p:cNvPr id="24" name="Rounded Rectangle 23"/>
          <p:cNvSpPr/>
          <p:nvPr/>
        </p:nvSpPr>
        <p:spPr>
          <a:xfrm>
            <a:off x="2011680" y="2011679"/>
            <a:ext cx="1508760" cy="219456"/>
          </a:xfrm>
          <a:prstGeom prst="roundRect">
            <a:avLst>
              <a:gd name="adj" fmla="val 20833"/>
            </a:avLst>
          </a:prstGeom>
          <a:solidFill>
            <a:srgbClr val="2F5597"/>
          </a:solidFill>
          <a:ln>
            <a:noFill/>
          </a:ln>
        </p:spPr>
        <p:txBody>
          <a:bodyPr rtlCol="0" anchor="ctr" wrap="square" lIns="73152" rIns="73152" tIns="73152" bIns="73152">
            <a:noAutofit/>
          </a:bodyPr>
          <a:lstStyle/>
          <a:p>
            <a:pPr algn="ctr"/>
          </a:p>
        </p:txBody>
      </p:sp>
      <p:sp>
        <p:nvSpPr>
          <p:cNvPr id="25" name="Rectangle 24"/>
          <p:cNvSpPr/>
          <p:nvPr/>
        </p:nvSpPr>
        <p:spPr>
          <a:xfrm>
            <a:off x="2011680" y="2267712"/>
            <a:ext cx="1207008" cy="128016"/>
          </a:xfrm>
          <a:prstGeom prst="rect">
            <a:avLst/>
          </a:prstGeom>
          <a:solidFill>
            <a:srgbClr val="AEB7C6"/>
          </a:solidFill>
          <a:ln>
            <a:noFill/>
          </a:ln>
        </p:spPr>
        <p:txBody>
          <a:bodyPr rtlCol="0" anchor="ctr" wrap="square" lIns="73152" rIns="73152" tIns="73152" bIns="73152">
            <a:noAutofit/>
          </a:bodyPr>
          <a:lstStyle/>
          <a:p>
            <a:pPr algn="ctr"/>
          </a:p>
        </p:txBody>
      </p:sp>
      <p:sp>
        <p:nvSpPr>
          <p:cNvPr id="26" name="TextBox 25"/>
          <p:cNvSpPr txBox="1"/>
          <p:nvPr/>
        </p:nvSpPr>
        <p:spPr>
          <a:xfrm>
            <a:off x="548640" y="2606039"/>
            <a:ext cx="1371600" cy="457200"/>
          </a:xfrm>
          <a:prstGeom prst="rect">
            <a:avLst/>
          </a:prstGeom>
          <a:noFill/>
        </p:spPr>
        <p:txBody>
          <a:bodyPr wrap="square" lIns="0" rIns="0" tIns="0" bIns="0" anchor="ctr">
            <a:noAutofit/>
          </a:bodyPr>
          <a:lstStyle/>
          <a:p>
            <a:pPr algn="l"/>
            <a:r>
              <a:rPr sz="1500" b="1" i="0" lang="es-ES">
                <a:solidFill>
                  <a:srgbClr val="1B2B48"/>
                </a:solidFill>
                <a:latin typeface="Calibri"/>
              </a:rPr>
              <a:t>Fabricación</a:t>
            </a:r>
            <a:endParaRPr lang="es-ES" sz="1500"/>
          </a:p>
        </p:txBody>
      </p:sp>
      <p:sp>
        <p:nvSpPr>
          <p:cNvPr id="27" name="Rounded Rectangle 26"/>
          <p:cNvSpPr/>
          <p:nvPr/>
        </p:nvSpPr>
        <p:spPr>
          <a:xfrm>
            <a:off x="3520440" y="2651759"/>
            <a:ext cx="2112264" cy="219456"/>
          </a:xfrm>
          <a:prstGeom prst="roundRect">
            <a:avLst>
              <a:gd name="adj" fmla="val 20833"/>
            </a:avLst>
          </a:prstGeom>
          <a:solidFill>
            <a:srgbClr val="2F5597"/>
          </a:solidFill>
          <a:ln>
            <a:noFill/>
          </a:ln>
        </p:spPr>
        <p:txBody>
          <a:bodyPr rtlCol="0" anchor="ctr" wrap="square" lIns="73152" rIns="73152" tIns="73152" bIns="73152">
            <a:noAutofit/>
          </a:bodyPr>
          <a:lstStyle/>
          <a:p>
            <a:pPr algn="ctr"/>
          </a:p>
        </p:txBody>
      </p:sp>
      <p:sp>
        <p:nvSpPr>
          <p:cNvPr id="28" name="Rectangle 27"/>
          <p:cNvSpPr/>
          <p:nvPr/>
        </p:nvSpPr>
        <p:spPr>
          <a:xfrm>
            <a:off x="3218688" y="2907791"/>
            <a:ext cx="1810512" cy="128016"/>
          </a:xfrm>
          <a:prstGeom prst="rect">
            <a:avLst/>
          </a:prstGeom>
          <a:solidFill>
            <a:srgbClr val="AEB7C6"/>
          </a:solidFill>
          <a:ln>
            <a:noFill/>
          </a:ln>
        </p:spPr>
        <p:txBody>
          <a:bodyPr rtlCol="0" anchor="ctr" wrap="square" lIns="73152" rIns="73152" tIns="73152" bIns="73152">
            <a:noAutofit/>
          </a:bodyPr>
          <a:lstStyle/>
          <a:p>
            <a:pPr algn="ctr"/>
          </a:p>
        </p:txBody>
      </p:sp>
      <p:sp>
        <p:nvSpPr>
          <p:cNvPr id="29" name="TextBox 28"/>
          <p:cNvSpPr txBox="1"/>
          <p:nvPr/>
        </p:nvSpPr>
        <p:spPr>
          <a:xfrm>
            <a:off x="548640" y="3246120"/>
            <a:ext cx="1371600" cy="457200"/>
          </a:xfrm>
          <a:prstGeom prst="rect">
            <a:avLst/>
          </a:prstGeom>
          <a:noFill/>
        </p:spPr>
        <p:txBody>
          <a:bodyPr wrap="square" lIns="0" rIns="0" tIns="0" bIns="0" anchor="ctr">
            <a:noAutofit/>
          </a:bodyPr>
          <a:lstStyle/>
          <a:p>
            <a:pPr algn="l"/>
            <a:r>
              <a:rPr sz="1500" b="1" i="0" lang="es-ES">
                <a:solidFill>
                  <a:srgbClr val="1B2B48"/>
                </a:solidFill>
                <a:latin typeface="Calibri"/>
              </a:rPr>
              <a:t>Montaje</a:t>
            </a:r>
            <a:endParaRPr lang="es-ES" sz="1500"/>
          </a:p>
        </p:txBody>
      </p:sp>
      <p:sp>
        <p:nvSpPr>
          <p:cNvPr id="30" name="Rounded Rectangle 29"/>
          <p:cNvSpPr/>
          <p:nvPr/>
        </p:nvSpPr>
        <p:spPr>
          <a:xfrm>
            <a:off x="5632704" y="3291839"/>
            <a:ext cx="1207008" cy="219456"/>
          </a:xfrm>
          <a:prstGeom prst="roundRect">
            <a:avLst>
              <a:gd name="adj" fmla="val 20833"/>
            </a:avLst>
          </a:prstGeom>
          <a:solidFill>
            <a:srgbClr val="2F5597"/>
          </a:solidFill>
          <a:ln>
            <a:noFill/>
          </a:ln>
        </p:spPr>
        <p:txBody>
          <a:bodyPr rtlCol="0" anchor="ctr" wrap="square" lIns="73152" rIns="73152" tIns="73152" bIns="73152">
            <a:noAutofit/>
          </a:bodyPr>
          <a:lstStyle/>
          <a:p>
            <a:pPr algn="ctr"/>
          </a:p>
        </p:txBody>
      </p:sp>
      <p:sp>
        <p:nvSpPr>
          <p:cNvPr id="31" name="Rectangle 30"/>
          <p:cNvSpPr/>
          <p:nvPr/>
        </p:nvSpPr>
        <p:spPr>
          <a:xfrm>
            <a:off x="5029200" y="3547872"/>
            <a:ext cx="1207008" cy="128016"/>
          </a:xfrm>
          <a:prstGeom prst="rect">
            <a:avLst/>
          </a:prstGeom>
          <a:solidFill>
            <a:srgbClr val="AEB7C6"/>
          </a:solidFill>
          <a:ln>
            <a:noFill/>
          </a:ln>
        </p:spPr>
        <p:txBody>
          <a:bodyPr rtlCol="0" anchor="ctr" wrap="square" lIns="73152" rIns="73152" tIns="73152" bIns="73152">
            <a:noAutofit/>
          </a:bodyPr>
          <a:lstStyle/>
          <a:p>
            <a:pPr algn="ctr"/>
          </a:p>
        </p:txBody>
      </p:sp>
      <p:cxnSp>
        <p:nvCxnSpPr>
          <p:cNvPr id="32" name="Connector 31"/>
          <p:cNvCxnSpPr/>
          <p:nvPr/>
        </p:nvCxnSpPr>
        <p:spPr>
          <a:xfrm>
            <a:off x="4425696" y="1783080"/>
            <a:ext cx="0" cy="2103120"/>
          </a:xfrm>
          <a:prstGeom prst="line">
            <a:avLst/>
          </a:prstGeom>
          <a:ln w="22225">
            <a:solidFill>
              <a:srgbClr val="8A5A00"/>
            </a:solidFill>
            <a:prstDash val="dash"/>
          </a:ln>
        </p:spPr>
      </p:cxnSp>
      <p:sp>
        <p:nvSpPr>
          <p:cNvPr id="33" name="TextBox 32"/>
          <p:cNvSpPr txBox="1"/>
          <p:nvPr/>
        </p:nvSpPr>
        <p:spPr>
          <a:xfrm>
            <a:off x="3328415" y="3904487"/>
            <a:ext cx="2194560" cy="274320"/>
          </a:xfrm>
          <a:prstGeom prst="rect">
            <a:avLst/>
          </a:prstGeom>
          <a:noFill/>
        </p:spPr>
        <p:txBody>
          <a:bodyPr wrap="square" lIns="0" rIns="0" tIns="0" bIns="0" anchor="t">
            <a:noAutofit/>
          </a:bodyPr>
          <a:lstStyle/>
          <a:p>
            <a:pPr algn="ctr"/>
            <a:r>
              <a:rPr sz="1100" b="1" i="0" lang="es-ES">
                <a:solidFill>
                  <a:srgbClr val="8A5A00"/>
                </a:solidFill>
                <a:latin typeface="Calibri"/>
              </a:rPr>
              <a:t>Fecha de estado</a:t>
            </a:r>
            <a:endParaRPr lang="es-ES" sz="1100"/>
          </a:p>
        </p:txBody>
      </p:sp>
      <p:sp>
        <p:nvSpPr>
          <p:cNvPr id="34" name="Rectangle 33"/>
          <p:cNvSpPr/>
          <p:nvPr/>
        </p:nvSpPr>
        <p:spPr>
          <a:xfrm>
            <a:off x="548640" y="4297680"/>
            <a:ext cx="411480" cy="128016"/>
          </a:xfrm>
          <a:prstGeom prst="rect">
            <a:avLst/>
          </a:prstGeom>
          <a:solidFill>
            <a:srgbClr val="AEB7C6"/>
          </a:solidFill>
          <a:ln>
            <a:noFill/>
          </a:ln>
        </p:spPr>
        <p:txBody>
          <a:bodyPr rtlCol="0" anchor="ctr" wrap="square" lIns="73152" rIns="73152" tIns="73152" bIns="73152">
            <a:noAutofit/>
          </a:bodyPr>
          <a:lstStyle/>
          <a:p>
            <a:pPr algn="ctr"/>
          </a:p>
        </p:txBody>
      </p:sp>
      <p:sp>
        <p:nvSpPr>
          <p:cNvPr id="35" name="TextBox 34"/>
          <p:cNvSpPr txBox="1"/>
          <p:nvPr/>
        </p:nvSpPr>
        <p:spPr>
          <a:xfrm>
            <a:off x="1051560" y="4206240"/>
            <a:ext cx="2468880" cy="320040"/>
          </a:xfrm>
          <a:prstGeom prst="rect">
            <a:avLst/>
          </a:prstGeom>
          <a:noFill/>
        </p:spPr>
        <p:txBody>
          <a:bodyPr wrap="square" lIns="0" rIns="0" tIns="0" bIns="0" anchor="ctr">
            <a:noAutofit/>
          </a:bodyPr>
          <a:lstStyle/>
          <a:p>
            <a:pPr algn="l"/>
            <a:r>
              <a:rPr sz="1300" b="0" i="0" lang="es-ES">
                <a:solidFill>
                  <a:srgbClr val="1B2B48"/>
                </a:solidFill>
                <a:latin typeface="Calibri"/>
              </a:rPr>
              <a:t>Línea base: congelada</a:t>
            </a:r>
            <a:endParaRPr lang="es-ES" sz="1300"/>
          </a:p>
        </p:txBody>
      </p:sp>
      <p:sp>
        <p:nvSpPr>
          <p:cNvPr id="36" name="Rounded Rectangle 35"/>
          <p:cNvSpPr/>
          <p:nvPr/>
        </p:nvSpPr>
        <p:spPr>
          <a:xfrm>
            <a:off x="3611880" y="4251960"/>
            <a:ext cx="411480" cy="219456"/>
          </a:xfrm>
          <a:prstGeom prst="roundRect">
            <a:avLst>
              <a:gd name="adj" fmla="val 20833"/>
            </a:avLst>
          </a:prstGeom>
          <a:solidFill>
            <a:srgbClr val="2F5597"/>
          </a:solidFill>
          <a:ln>
            <a:noFill/>
          </a:ln>
        </p:spPr>
        <p:txBody>
          <a:bodyPr rtlCol="0" anchor="ctr" wrap="square" lIns="73152" rIns="73152" tIns="73152" bIns="73152">
            <a:noAutofit/>
          </a:bodyPr>
          <a:lstStyle/>
          <a:p>
            <a:pPr algn="ctr"/>
          </a:p>
        </p:txBody>
      </p:sp>
      <p:sp>
        <p:nvSpPr>
          <p:cNvPr id="37" name="TextBox 36"/>
          <p:cNvSpPr txBox="1"/>
          <p:nvPr/>
        </p:nvSpPr>
        <p:spPr>
          <a:xfrm>
            <a:off x="4114800" y="4206240"/>
            <a:ext cx="2926080" cy="320040"/>
          </a:xfrm>
          <a:prstGeom prst="rect">
            <a:avLst/>
          </a:prstGeom>
          <a:noFill/>
        </p:spPr>
        <p:txBody>
          <a:bodyPr wrap="square" lIns="0" rIns="0" tIns="0" bIns="0" anchor="ctr">
            <a:noAutofit/>
          </a:bodyPr>
          <a:lstStyle/>
          <a:p>
            <a:pPr algn="l"/>
            <a:r>
              <a:rPr sz="1300" b="0" i="0" lang="es-ES">
                <a:solidFill>
                  <a:srgbClr val="1B2B48"/>
                </a:solidFill>
                <a:latin typeface="Calibri"/>
              </a:rPr>
              <a:t>Plan actual: se actualiza cada mes</a:t>
            </a:r>
            <a:endParaRPr lang="es-ES" sz="1300"/>
          </a:p>
        </p:txBody>
      </p:sp>
      <p:sp>
        <p:nvSpPr>
          <p:cNvPr id="38" name="Rounded Rectangle 37"/>
          <p:cNvSpPr/>
          <p:nvPr/>
        </p:nvSpPr>
        <p:spPr>
          <a:xfrm>
            <a:off x="548640" y="4754880"/>
            <a:ext cx="2011680" cy="502920"/>
          </a:xfrm>
          <a:prstGeom prst="roundRect">
            <a:avLst>
              <a:gd name="adj" fmla="val 14545"/>
            </a:avLst>
          </a:prstGeom>
          <a:solidFill>
            <a:srgbClr val="F3F5F9"/>
          </a:solidFill>
          <a:ln>
            <a:noFill/>
          </a:ln>
        </p:spPr>
        <p:txBody>
          <a:bodyPr rtlCol="0" anchor="ctr" wrap="square" lIns="45720" rIns="45720">
            <a:noAutofit/>
          </a:bodyPr>
          <a:lstStyle/>
          <a:p>
            <a:pPr algn="ctr"/>
            <a:r>
              <a:rPr sz="1300" b="0" i="0" lang="es-ES">
                <a:solidFill>
                  <a:srgbClr val="1B2B48"/>
                </a:solidFill>
                <a:latin typeface="Calibri"/>
              </a:rPr>
              <a:t>Comienzo y Fin previstos</a:t>
            </a:r>
            <a:endParaRPr lang="es-ES" sz="1300"/>
          </a:p>
        </p:txBody>
      </p:sp>
      <p:cxnSp>
        <p:nvCxnSpPr>
          <p:cNvPr id="39" name="Connector 38"/>
          <p:cNvCxnSpPr/>
          <p:nvPr/>
        </p:nvCxnSpPr>
        <p:spPr>
          <a:xfrm>
            <a:off x="1554480" y="5285232"/>
            <a:ext cx="0" cy="274320"/>
          </a:xfrm>
          <a:prstGeom prst="line">
            <a:avLst/>
          </a:prstGeom>
          <a:ln w="19050">
            <a:solidFill>
              <a:srgbClr val="5A6577"/>
            </a:solidFill>
            <a:tailEnd type="triangle" w="med" len="med"/>
          </a:ln>
        </p:spPr>
      </p:cxnSp>
      <p:sp>
        <p:nvSpPr>
          <p:cNvPr id="40" name="TextBox 39"/>
          <p:cNvSpPr txBox="1"/>
          <p:nvPr/>
        </p:nvSpPr>
        <p:spPr>
          <a:xfrm>
            <a:off x="548640" y="5577840"/>
            <a:ext cx="2011680" cy="502920"/>
          </a:xfrm>
          <a:prstGeom prst="rect">
            <a:avLst/>
          </a:prstGeom>
          <a:noFill/>
        </p:spPr>
        <p:txBody>
          <a:bodyPr wrap="square" lIns="0" rIns="0" tIns="0" bIns="0" anchor="ctr">
            <a:noAutofit/>
          </a:bodyPr>
          <a:lstStyle/>
          <a:p>
            <a:pPr algn="ctr"/>
            <a:r>
              <a:rPr sz="1500" b="1" i="0" lang="es-ES">
                <a:solidFill>
                  <a:srgbClr val="1B2B48"/>
                </a:solidFill>
                <a:latin typeface="Calibri"/>
              </a:rPr>
              <a:t>Fechas de referencia</a:t>
            </a:r>
            <a:endParaRPr lang="es-ES" sz="1500"/>
          </a:p>
        </p:txBody>
      </p:sp>
      <p:sp>
        <p:nvSpPr>
          <p:cNvPr id="41" name="Rounded Rectangle 40"/>
          <p:cNvSpPr/>
          <p:nvPr/>
        </p:nvSpPr>
        <p:spPr>
          <a:xfrm>
            <a:off x="2715768" y="4754880"/>
            <a:ext cx="2011680" cy="502920"/>
          </a:xfrm>
          <a:prstGeom prst="roundRect">
            <a:avLst>
              <a:gd name="adj" fmla="val 14545"/>
            </a:avLst>
          </a:prstGeom>
          <a:solidFill>
            <a:srgbClr val="F3F5F9"/>
          </a:solidFill>
          <a:ln>
            <a:noFill/>
          </a:ln>
        </p:spPr>
        <p:txBody>
          <a:bodyPr rtlCol="0" anchor="ctr" wrap="square" lIns="45720" rIns="45720">
            <a:noAutofit/>
          </a:bodyPr>
          <a:lstStyle/>
          <a:p>
            <a:pPr algn="ctr"/>
            <a:r>
              <a:rPr sz="1300" b="0" i="0" lang="es-ES">
                <a:solidFill>
                  <a:srgbClr val="1B2B48"/>
                </a:solidFill>
                <a:latin typeface="Calibri"/>
              </a:rPr>
              <a:t>% planificado × BAC</a:t>
            </a:r>
            <a:endParaRPr lang="es-ES" sz="1300"/>
          </a:p>
        </p:txBody>
      </p:sp>
      <p:cxnSp>
        <p:nvCxnSpPr>
          <p:cNvPr id="42" name="Connector 41"/>
          <p:cNvCxnSpPr/>
          <p:nvPr/>
        </p:nvCxnSpPr>
        <p:spPr>
          <a:xfrm>
            <a:off x="3721608" y="5285232"/>
            <a:ext cx="0" cy="274320"/>
          </a:xfrm>
          <a:prstGeom prst="line">
            <a:avLst/>
          </a:prstGeom>
          <a:ln w="19050">
            <a:solidFill>
              <a:srgbClr val="5A6577"/>
            </a:solidFill>
            <a:tailEnd type="triangle" w="med" len="med"/>
          </a:ln>
        </p:spPr>
      </p:cxnSp>
      <p:sp>
        <p:nvSpPr>
          <p:cNvPr id="43" name="TextBox 42"/>
          <p:cNvSpPr txBox="1"/>
          <p:nvPr/>
        </p:nvSpPr>
        <p:spPr>
          <a:xfrm>
            <a:off x="2715768" y="5577840"/>
            <a:ext cx="2011680" cy="502920"/>
          </a:xfrm>
          <a:prstGeom prst="rect">
            <a:avLst/>
          </a:prstGeom>
          <a:noFill/>
        </p:spPr>
        <p:txBody>
          <a:bodyPr wrap="square" lIns="0" rIns="0" tIns="0" bIns="0" anchor="ctr">
            <a:noAutofit/>
          </a:bodyPr>
          <a:lstStyle/>
          <a:p>
            <a:pPr algn="ctr"/>
            <a:r>
              <a:rPr sz="2200" b="1" i="0" lang="es-ES">
                <a:solidFill>
                  <a:srgbClr val="2F5597"/>
                </a:solidFill>
                <a:latin typeface="Calibri"/>
              </a:rPr>
              <a:t>PV</a:t>
            </a:r>
            <a:endParaRPr lang="es-ES" sz="2200"/>
          </a:p>
        </p:txBody>
      </p:sp>
      <p:sp>
        <p:nvSpPr>
          <p:cNvPr id="44" name="Rounded Rectangle 43"/>
          <p:cNvSpPr/>
          <p:nvPr/>
        </p:nvSpPr>
        <p:spPr>
          <a:xfrm>
            <a:off x="4882896" y="4754880"/>
            <a:ext cx="2011680" cy="502920"/>
          </a:xfrm>
          <a:prstGeom prst="roundRect">
            <a:avLst>
              <a:gd name="adj" fmla="val 14545"/>
            </a:avLst>
          </a:prstGeom>
          <a:solidFill>
            <a:srgbClr val="F3F5F9"/>
          </a:solidFill>
          <a:ln>
            <a:noFill/>
          </a:ln>
        </p:spPr>
        <p:txBody>
          <a:bodyPr rtlCol="0" anchor="ctr" wrap="square" lIns="45720" rIns="45720">
            <a:noAutofit/>
          </a:bodyPr>
          <a:lstStyle/>
          <a:p>
            <a:pPr algn="ctr"/>
            <a:r>
              <a:rPr sz="1300" b="0" i="0" lang="es-ES">
                <a:solidFill>
                  <a:srgbClr val="1B2B48"/>
                </a:solidFill>
                <a:latin typeface="Calibri"/>
              </a:rPr>
              <a:t>BAC ingresado en el libro</a:t>
            </a:r>
            <a:endParaRPr lang="es-ES" sz="1300"/>
          </a:p>
        </p:txBody>
      </p:sp>
      <p:cxnSp>
        <p:nvCxnSpPr>
          <p:cNvPr id="45" name="Connector 44"/>
          <p:cNvCxnSpPr/>
          <p:nvPr/>
        </p:nvCxnSpPr>
        <p:spPr>
          <a:xfrm>
            <a:off x="5888736" y="5285232"/>
            <a:ext cx="0" cy="274320"/>
          </a:xfrm>
          <a:prstGeom prst="line">
            <a:avLst/>
          </a:prstGeom>
          <a:ln w="19050">
            <a:solidFill>
              <a:srgbClr val="5A6577"/>
            </a:solidFill>
            <a:tailEnd type="triangle" w="med" len="med"/>
          </a:ln>
        </p:spPr>
      </p:cxnSp>
      <p:sp>
        <p:nvSpPr>
          <p:cNvPr id="46" name="TextBox 45"/>
          <p:cNvSpPr txBox="1"/>
          <p:nvPr/>
        </p:nvSpPr>
        <p:spPr>
          <a:xfrm>
            <a:off x="4882896" y="5577840"/>
            <a:ext cx="2011680" cy="502920"/>
          </a:xfrm>
          <a:prstGeom prst="rect">
            <a:avLst/>
          </a:prstGeom>
          <a:noFill/>
        </p:spPr>
        <p:txBody>
          <a:bodyPr wrap="square" lIns="0" rIns="0" tIns="0" bIns="0" anchor="ctr">
            <a:noAutofit/>
          </a:bodyPr>
          <a:lstStyle/>
          <a:p>
            <a:pPr algn="ctr"/>
            <a:r>
              <a:rPr sz="2200" b="1" i="0" lang="es-ES">
                <a:solidFill>
                  <a:srgbClr val="8A5A00"/>
                </a:solidFill>
                <a:latin typeface="Calibri"/>
              </a:rPr>
              <a:t>BAC</a:t>
            </a:r>
            <a:endParaRPr lang="es-ES" sz="2200"/>
          </a:p>
        </p:txBody>
      </p:sp>
      <p:sp>
        <p:nvSpPr>
          <p:cNvPr id="47" name="Rounded Rectangle 46"/>
          <p:cNvSpPr/>
          <p:nvPr/>
        </p:nvSpPr>
        <p:spPr>
          <a:xfrm>
            <a:off x="7223760" y="1463040"/>
            <a:ext cx="4389120" cy="1874519"/>
          </a:xfrm>
          <a:prstGeom prst="roundRect">
            <a:avLst>
              <a:gd name="adj" fmla="val 5853"/>
            </a:avLst>
          </a:prstGeom>
          <a:solidFill>
            <a:srgbClr val="F3F5F9"/>
          </a:solidFill>
          <a:ln>
            <a:noFill/>
          </a:ln>
        </p:spPr>
        <p:txBody>
          <a:bodyPr rtlCol="0" anchor="t" wrap="square" lIns="228600" rIns="228600" tIns="228600" bIns="228600">
            <a:noAutofit/>
          </a:bodyPr>
          <a:lstStyle/>
          <a:p>
            <a:pPr algn="l">
              <a:spcAft>
                <a:spcPts val="600"/>
              </a:spcAft>
            </a:pPr>
            <a:r>
              <a:rPr sz="1700" b="1" i="0" lang="es-ES">
                <a:solidFill>
                  <a:srgbClr val="1B2B48"/>
                </a:solidFill>
                <a:latin typeface="Calibri"/>
              </a:rPr>
              <a:t>¿Qué es?</a:t>
            </a:r>
            <a:endParaRPr lang="es-ES" sz="1400"/>
          </a:p>
          <a:p>
            <a:pPr algn="l">
              <a:spcAft>
                <a:spcPts val="600"/>
              </a:spcAft>
            </a:pPr>
            <a:r>
              <a:rPr sz="1400" b="0" i="0" lang="es-ES">
                <a:solidFill>
                  <a:srgbClr val="1B2B48"/>
                </a:solidFill>
                <a:latin typeface="Calibri"/>
              </a:rPr>
              <a:t>Copia aprobada y congelada del plan: tareas de la EDT y sus fechas.</a:t>
            </a:r>
            <a:endParaRPr lang="es-ES" sz="1400"/>
          </a:p>
          <a:p>
            <a:pPr algn="l"/>
            <a:r>
              <a:rPr sz="1400" b="0" i="0" lang="es-ES">
                <a:solidFill>
                  <a:srgbClr val="1B2B48"/>
                </a:solidFill>
                <a:latin typeface="Calibri"/>
              </a:rPr>
              <a:t>En MS Project: campos </a:t>
            </a:r>
            <a:r>
              <a:rPr sz="1400" b="1" i="0" lang="es-ES">
                <a:solidFill>
                  <a:srgbClr val="1B2B48"/>
                </a:solidFill>
                <a:latin typeface="Calibri"/>
              </a:rPr>
              <a:t>Comienzo y Fin previstos</a:t>
            </a:r>
            <a:r>
              <a:rPr sz="1400" b="0" i="0" lang="es-ES">
                <a:solidFill>
                  <a:srgbClr val="1B2B48"/>
                </a:solidFill>
                <a:latin typeface="Calibri"/>
              </a:rPr>
              <a:t>.</a:t>
            </a:r>
            <a:endParaRPr lang="es-ES" sz="1400"/>
          </a:p>
        </p:txBody>
      </p:sp>
      <p:sp>
        <p:nvSpPr>
          <p:cNvPr id="48" name="Rounded Rectangle 47"/>
          <p:cNvSpPr/>
          <p:nvPr/>
        </p:nvSpPr>
        <p:spPr>
          <a:xfrm>
            <a:off x="7223760" y="3520440"/>
            <a:ext cx="4389120" cy="2651760"/>
          </a:xfrm>
          <a:prstGeom prst="roundRect">
            <a:avLst>
              <a:gd name="adj" fmla="val 4137"/>
            </a:avLst>
          </a:prstGeom>
          <a:solidFill>
            <a:srgbClr val="E5ECF7"/>
          </a:solidFill>
          <a:ln>
            <a:noFill/>
          </a:ln>
        </p:spPr>
        <p:txBody>
          <a:bodyPr rtlCol="0" anchor="t" wrap="square" lIns="228600" rIns="228600" tIns="228600" bIns="228600">
            <a:noAutofit/>
          </a:bodyPr>
          <a:lstStyle/>
          <a:p>
            <a:pPr algn="l">
              <a:spcAft>
                <a:spcPts val="600"/>
              </a:spcAft>
            </a:pPr>
            <a:r>
              <a:rPr sz="1700" b="1" i="0" lang="es-ES">
                <a:solidFill>
                  <a:srgbClr val="2F5597"/>
                </a:solidFill>
                <a:latin typeface="Calibri"/>
              </a:rPr>
              <a:t>¿Por qué se define?</a:t>
            </a:r>
            <a:endParaRPr lang="es-ES" sz="1400"/>
          </a:p>
          <a:p>
            <a:pPr algn="l" marL="201168" indent="-201168">
              <a:spcAft>
                <a:spcPts val="600"/>
              </a:spcAft>
              <a:buClr>
                <a:srgbClr val="2F5597"/>
              </a:buClr>
              <a:buFont typeface="Arial"/>
              <a:buChar char="•"/>
            </a:pPr>
            <a:r>
              <a:rPr sz="1400" b="0" i="0" lang="es-ES">
                <a:solidFill>
                  <a:srgbClr val="1B2B48"/>
                </a:solidFill>
                <a:latin typeface="Calibri"/>
              </a:rPr>
              <a:t>Es la referencia para medir: sin ella no hay PV, SV ni SPI</a:t>
            </a:r>
            <a:endParaRPr lang="es-ES" sz="1400"/>
          </a:p>
          <a:p>
            <a:pPr algn="l" marL="201168" indent="-201168">
              <a:spcAft>
                <a:spcPts val="600"/>
              </a:spcAft>
              <a:buClr>
                <a:srgbClr val="2F5597"/>
              </a:buClr>
              <a:buFont typeface="Arial"/>
              <a:buChar char="•"/>
            </a:pPr>
            <a:r>
              <a:rPr sz="1400" b="0" i="0" lang="es-ES">
                <a:solidFill>
                  <a:srgbClr val="1B2B48"/>
                </a:solidFill>
                <a:latin typeface="Calibri"/>
              </a:rPr>
              <a:t>Es el compromiso aprobado con la dirección o el cliente</a:t>
            </a:r>
            <a:endParaRPr lang="es-ES" sz="1400"/>
          </a:p>
          <a:p>
            <a:pPr algn="l" marL="201168" indent="-201168">
              <a:buClr>
                <a:srgbClr val="2F5597"/>
              </a:buClr>
              <a:buFont typeface="Arial"/>
              <a:buChar char="•"/>
            </a:pPr>
            <a:r>
              <a:rPr sz="1400" b="0" i="0" lang="es-ES">
                <a:solidFill>
                  <a:srgbClr val="1B2B48"/>
                </a:solidFill>
                <a:latin typeface="Calibri"/>
              </a:rPr>
              <a:t>Separa las desviaciones de desempeño de los cambios aprobados</a:t>
            </a:r>
            <a:endParaRPr lang="es-ES" sz="140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Cómo definir y guardar la línea base</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MS PROJECT · LÍNEA BASE</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17</a:t>
            </a:fld>
            <a:endParaRPr lang="es-ES" sz="1000"/>
          </a:p>
        </p:txBody>
      </p:sp>
      <p:sp>
        <p:nvSpPr>
          <p:cNvPr id="6" name="Oval 5"/>
          <p:cNvSpPr/>
          <p:nvPr/>
        </p:nvSpPr>
        <p:spPr>
          <a:xfrm>
            <a:off x="566928" y="1481328"/>
            <a:ext cx="512064" cy="512064"/>
          </a:xfrm>
          <a:prstGeom prst="ellipse">
            <a:avLst/>
          </a:prstGeom>
          <a:solidFill>
            <a:srgbClr val="2F5597"/>
          </a:solidFill>
          <a:ln>
            <a:noFill/>
          </a:ln>
        </p:spPr>
        <p:txBody>
          <a:bodyPr rtlCol="0" anchor="ctr" wrap="square" lIns="0" rIns="0" tIns="0" bIns="0">
            <a:noAutofit/>
          </a:bodyPr>
          <a:lstStyle/>
          <a:p>
            <a:pPr algn="ctr"/>
            <a:r>
              <a:rPr sz="1700" b="1" i="0" lang="es-ES">
                <a:solidFill>
                  <a:srgbClr val="FFFFFF"/>
                </a:solidFill>
                <a:latin typeface="Calibri"/>
              </a:rPr>
              <a:t>1</a:t>
            </a:r>
            <a:endParaRPr lang="es-ES" sz="1700"/>
          </a:p>
        </p:txBody>
      </p:sp>
      <p:sp>
        <p:nvSpPr>
          <p:cNvPr id="7" name="TextBox 6"/>
          <p:cNvSpPr txBox="1"/>
          <p:nvPr/>
        </p:nvSpPr>
        <p:spPr>
          <a:xfrm>
            <a:off x="1280160" y="1463040"/>
            <a:ext cx="4480560" cy="347472"/>
          </a:xfrm>
          <a:prstGeom prst="rect">
            <a:avLst/>
          </a:prstGeom>
          <a:noFill/>
        </p:spPr>
        <p:txBody>
          <a:bodyPr wrap="square" lIns="0" rIns="0" tIns="0" bIns="0" anchor="t">
            <a:noAutofit/>
          </a:bodyPr>
          <a:lstStyle/>
          <a:p>
            <a:pPr algn="l"/>
            <a:r>
              <a:rPr sz="1600" b="1" i="0" lang="es-ES">
                <a:solidFill>
                  <a:srgbClr val="1B2B48"/>
                </a:solidFill>
                <a:latin typeface="Calibri"/>
              </a:rPr>
              <a:t>Completar el plan</a:t>
            </a:r>
            <a:endParaRPr lang="es-ES" sz="1600"/>
          </a:p>
        </p:txBody>
      </p:sp>
      <p:sp>
        <p:nvSpPr>
          <p:cNvPr id="8" name="TextBox 7"/>
          <p:cNvSpPr txBox="1"/>
          <p:nvPr/>
        </p:nvSpPr>
        <p:spPr>
          <a:xfrm>
            <a:off x="1280160" y="1810512"/>
            <a:ext cx="4480560" cy="548640"/>
          </a:xfrm>
          <a:prstGeom prst="rect">
            <a:avLst/>
          </a:prstGeom>
          <a:noFill/>
        </p:spPr>
        <p:txBody>
          <a:bodyPr wrap="square" lIns="0" rIns="0" tIns="0" bIns="0" anchor="t">
            <a:noAutofit/>
          </a:bodyPr>
          <a:lstStyle/>
          <a:p>
            <a:pPr algn="l"/>
            <a:r>
              <a:rPr sz="1300" b="0" i="0" lang="es-ES">
                <a:solidFill>
                  <a:srgbClr val="5A6577"/>
                </a:solidFill>
                <a:latin typeface="Calibri"/>
              </a:rPr>
              <a:t>EDT con código, lógica entre tareas, duraciones realistas, hitos con peso y método por paquete</a:t>
            </a:r>
            <a:endParaRPr lang="es-ES" sz="1300"/>
          </a:p>
        </p:txBody>
      </p:sp>
      <p:sp>
        <p:nvSpPr>
          <p:cNvPr id="9" name="Oval 8"/>
          <p:cNvSpPr/>
          <p:nvPr/>
        </p:nvSpPr>
        <p:spPr>
          <a:xfrm>
            <a:off x="566928" y="2423159"/>
            <a:ext cx="512064" cy="512064"/>
          </a:xfrm>
          <a:prstGeom prst="ellipse">
            <a:avLst/>
          </a:prstGeom>
          <a:solidFill>
            <a:srgbClr val="2F5597"/>
          </a:solidFill>
          <a:ln>
            <a:noFill/>
          </a:ln>
        </p:spPr>
        <p:txBody>
          <a:bodyPr rtlCol="0" anchor="ctr" wrap="square" lIns="0" rIns="0" tIns="0" bIns="0">
            <a:noAutofit/>
          </a:bodyPr>
          <a:lstStyle/>
          <a:p>
            <a:pPr algn="ctr"/>
            <a:r>
              <a:rPr sz="1700" b="1" i="0" lang="es-ES">
                <a:solidFill>
                  <a:srgbClr val="FFFFFF"/>
                </a:solidFill>
                <a:latin typeface="Calibri"/>
              </a:rPr>
              <a:t>2</a:t>
            </a:r>
            <a:endParaRPr lang="es-ES" sz="1700"/>
          </a:p>
        </p:txBody>
      </p:sp>
      <p:sp>
        <p:nvSpPr>
          <p:cNvPr id="10" name="TextBox 9"/>
          <p:cNvSpPr txBox="1"/>
          <p:nvPr/>
        </p:nvSpPr>
        <p:spPr>
          <a:xfrm>
            <a:off x="1280160" y="2404872"/>
            <a:ext cx="4480560" cy="347472"/>
          </a:xfrm>
          <a:prstGeom prst="rect">
            <a:avLst/>
          </a:prstGeom>
          <a:noFill/>
        </p:spPr>
        <p:txBody>
          <a:bodyPr wrap="square" lIns="0" rIns="0" tIns="0" bIns="0" anchor="t">
            <a:noAutofit/>
          </a:bodyPr>
          <a:lstStyle/>
          <a:p>
            <a:pPr algn="l"/>
            <a:r>
              <a:rPr sz="1600" b="1" i="0" lang="es-ES">
                <a:solidFill>
                  <a:srgbClr val="1B2B48"/>
                </a:solidFill>
                <a:latin typeface="Calibri"/>
              </a:rPr>
              <a:t>Revisar y aprobar</a:t>
            </a:r>
            <a:endParaRPr lang="es-ES" sz="1600"/>
          </a:p>
        </p:txBody>
      </p:sp>
      <p:sp>
        <p:nvSpPr>
          <p:cNvPr id="11" name="TextBox 10"/>
          <p:cNvSpPr txBox="1"/>
          <p:nvPr/>
        </p:nvSpPr>
        <p:spPr>
          <a:xfrm>
            <a:off x="1280160" y="2752344"/>
            <a:ext cx="4480560" cy="548640"/>
          </a:xfrm>
          <a:prstGeom prst="rect">
            <a:avLst/>
          </a:prstGeom>
          <a:noFill/>
        </p:spPr>
        <p:txBody>
          <a:bodyPr wrap="square" lIns="0" rIns="0" tIns="0" bIns="0" anchor="t">
            <a:noAutofit/>
          </a:bodyPr>
          <a:lstStyle/>
          <a:p>
            <a:pPr algn="l"/>
            <a:r>
              <a:rPr sz="1300" b="0" i="0" lang="es-ES">
                <a:solidFill>
                  <a:srgbClr val="5A6577"/>
                </a:solidFill>
                <a:latin typeface="Calibri"/>
              </a:rPr>
              <a:t>Con los responsables de paquete; aprobación formal de la dirección o del cliente</a:t>
            </a:r>
            <a:endParaRPr lang="es-ES" sz="1300"/>
          </a:p>
        </p:txBody>
      </p:sp>
      <p:sp>
        <p:nvSpPr>
          <p:cNvPr id="12" name="Oval 11"/>
          <p:cNvSpPr/>
          <p:nvPr/>
        </p:nvSpPr>
        <p:spPr>
          <a:xfrm>
            <a:off x="566928" y="3364991"/>
            <a:ext cx="512064" cy="512064"/>
          </a:xfrm>
          <a:prstGeom prst="ellipse">
            <a:avLst/>
          </a:prstGeom>
          <a:solidFill>
            <a:srgbClr val="2F5597"/>
          </a:solidFill>
          <a:ln>
            <a:noFill/>
          </a:ln>
        </p:spPr>
        <p:txBody>
          <a:bodyPr rtlCol="0" anchor="ctr" wrap="square" lIns="0" rIns="0" tIns="0" bIns="0">
            <a:noAutofit/>
          </a:bodyPr>
          <a:lstStyle/>
          <a:p>
            <a:pPr algn="ctr"/>
            <a:r>
              <a:rPr sz="1700" b="1" i="0" lang="es-ES">
                <a:solidFill>
                  <a:srgbClr val="FFFFFF"/>
                </a:solidFill>
                <a:latin typeface="Calibri"/>
              </a:rPr>
              <a:t>3</a:t>
            </a:r>
            <a:endParaRPr lang="es-ES" sz="1700"/>
          </a:p>
        </p:txBody>
      </p:sp>
      <p:sp>
        <p:nvSpPr>
          <p:cNvPr id="13" name="TextBox 12"/>
          <p:cNvSpPr txBox="1"/>
          <p:nvPr/>
        </p:nvSpPr>
        <p:spPr>
          <a:xfrm>
            <a:off x="1280160" y="3346704"/>
            <a:ext cx="4480560" cy="347472"/>
          </a:xfrm>
          <a:prstGeom prst="rect">
            <a:avLst/>
          </a:prstGeom>
          <a:noFill/>
        </p:spPr>
        <p:txBody>
          <a:bodyPr wrap="square" lIns="0" rIns="0" tIns="0" bIns="0" anchor="t">
            <a:noAutofit/>
          </a:bodyPr>
          <a:lstStyle/>
          <a:p>
            <a:pPr algn="l"/>
            <a:r>
              <a:rPr sz="1600" b="1" i="0" lang="es-ES">
                <a:solidFill>
                  <a:srgbClr val="1B2B48"/>
                </a:solidFill>
                <a:latin typeface="Calibri"/>
              </a:rPr>
              <a:t>Guardar</a:t>
            </a:r>
            <a:endParaRPr lang="es-ES" sz="1600"/>
          </a:p>
        </p:txBody>
      </p:sp>
      <p:sp>
        <p:nvSpPr>
          <p:cNvPr id="14" name="TextBox 13"/>
          <p:cNvSpPr txBox="1"/>
          <p:nvPr/>
        </p:nvSpPr>
        <p:spPr>
          <a:xfrm>
            <a:off x="1280160" y="3694176"/>
            <a:ext cx="4480560" cy="548640"/>
          </a:xfrm>
          <a:prstGeom prst="rect">
            <a:avLst/>
          </a:prstGeom>
          <a:noFill/>
        </p:spPr>
        <p:txBody>
          <a:bodyPr wrap="square" lIns="0" rIns="0" tIns="0" bIns="0" anchor="t">
            <a:noAutofit/>
          </a:bodyPr>
          <a:lstStyle/>
          <a:p>
            <a:pPr algn="l"/>
            <a:r>
              <a:rPr sz="1300" b="0" i="0" lang="es-ES">
                <a:solidFill>
                  <a:srgbClr val="5A6577"/>
                </a:solidFill>
                <a:latin typeface="Calibri"/>
              </a:rPr>
              <a:t>Proyecto &gt; Establecer línea base &gt; Para: Proyecto completo</a:t>
            </a:r>
            <a:endParaRPr lang="es-ES" sz="1300"/>
          </a:p>
        </p:txBody>
      </p:sp>
      <p:sp>
        <p:nvSpPr>
          <p:cNvPr id="15" name="Oval 14"/>
          <p:cNvSpPr/>
          <p:nvPr/>
        </p:nvSpPr>
        <p:spPr>
          <a:xfrm>
            <a:off x="566928" y="4306823"/>
            <a:ext cx="512064" cy="512064"/>
          </a:xfrm>
          <a:prstGeom prst="ellipse">
            <a:avLst/>
          </a:prstGeom>
          <a:solidFill>
            <a:srgbClr val="2F5597"/>
          </a:solidFill>
          <a:ln>
            <a:noFill/>
          </a:ln>
        </p:spPr>
        <p:txBody>
          <a:bodyPr rtlCol="0" anchor="ctr" wrap="square" lIns="0" rIns="0" tIns="0" bIns="0">
            <a:noAutofit/>
          </a:bodyPr>
          <a:lstStyle/>
          <a:p>
            <a:pPr algn="ctr"/>
            <a:r>
              <a:rPr sz="1700" b="1" i="0" lang="es-ES">
                <a:solidFill>
                  <a:srgbClr val="FFFFFF"/>
                </a:solidFill>
                <a:latin typeface="Calibri"/>
              </a:rPr>
              <a:t>4</a:t>
            </a:r>
            <a:endParaRPr lang="es-ES" sz="1700"/>
          </a:p>
        </p:txBody>
      </p:sp>
      <p:sp>
        <p:nvSpPr>
          <p:cNvPr id="16" name="TextBox 15"/>
          <p:cNvSpPr txBox="1"/>
          <p:nvPr/>
        </p:nvSpPr>
        <p:spPr>
          <a:xfrm>
            <a:off x="1280160" y="4288536"/>
            <a:ext cx="4480560" cy="347472"/>
          </a:xfrm>
          <a:prstGeom prst="rect">
            <a:avLst/>
          </a:prstGeom>
          <a:noFill/>
        </p:spPr>
        <p:txBody>
          <a:bodyPr wrap="square" lIns="0" rIns="0" tIns="0" bIns="0" anchor="t">
            <a:noAutofit/>
          </a:bodyPr>
          <a:lstStyle/>
          <a:p>
            <a:pPr algn="l"/>
            <a:r>
              <a:rPr sz="1600" b="1" i="0" lang="es-ES">
                <a:solidFill>
                  <a:srgbClr val="1B2B48"/>
                </a:solidFill>
                <a:latin typeface="Calibri"/>
              </a:rPr>
              <a:t>Verificar</a:t>
            </a:r>
            <a:endParaRPr lang="es-ES" sz="1600"/>
          </a:p>
        </p:txBody>
      </p:sp>
      <p:sp>
        <p:nvSpPr>
          <p:cNvPr id="17" name="TextBox 16"/>
          <p:cNvSpPr txBox="1"/>
          <p:nvPr/>
        </p:nvSpPr>
        <p:spPr>
          <a:xfrm>
            <a:off x="1280160" y="4636007"/>
            <a:ext cx="4480560" cy="548640"/>
          </a:xfrm>
          <a:prstGeom prst="rect">
            <a:avLst/>
          </a:prstGeom>
          <a:noFill/>
        </p:spPr>
        <p:txBody>
          <a:bodyPr wrap="square" lIns="0" rIns="0" tIns="0" bIns="0" anchor="t">
            <a:noAutofit/>
          </a:bodyPr>
          <a:lstStyle/>
          <a:p>
            <a:pPr algn="l"/>
            <a:r>
              <a:rPr sz="1300" b="0" i="0" lang="es-ES">
                <a:solidFill>
                  <a:srgbClr val="5A6577"/>
                </a:solidFill>
                <a:latin typeface="Calibri"/>
              </a:rPr>
              <a:t>validar, generar, ingresar el BAC y revisar las hojas Validación y % PV</a:t>
            </a:r>
            <a:endParaRPr lang="es-ES" sz="1300"/>
          </a:p>
        </p:txBody>
      </p:sp>
      <p:sp>
        <p:nvSpPr>
          <p:cNvPr id="18" name="Oval 17"/>
          <p:cNvSpPr/>
          <p:nvPr/>
        </p:nvSpPr>
        <p:spPr>
          <a:xfrm>
            <a:off x="566928" y="5248656"/>
            <a:ext cx="512064" cy="512064"/>
          </a:xfrm>
          <a:prstGeom prst="ellipse">
            <a:avLst/>
          </a:prstGeom>
          <a:solidFill>
            <a:srgbClr val="2F5597"/>
          </a:solidFill>
          <a:ln>
            <a:noFill/>
          </a:ln>
        </p:spPr>
        <p:txBody>
          <a:bodyPr rtlCol="0" anchor="ctr" wrap="square" lIns="0" rIns="0" tIns="0" bIns="0">
            <a:noAutofit/>
          </a:bodyPr>
          <a:lstStyle/>
          <a:p>
            <a:pPr algn="ctr"/>
            <a:r>
              <a:rPr sz="1700" b="1" i="0" lang="es-ES">
                <a:solidFill>
                  <a:srgbClr val="FFFFFF"/>
                </a:solidFill>
                <a:latin typeface="Calibri"/>
              </a:rPr>
              <a:t>5</a:t>
            </a:r>
            <a:endParaRPr lang="es-ES" sz="1700"/>
          </a:p>
        </p:txBody>
      </p:sp>
      <p:sp>
        <p:nvSpPr>
          <p:cNvPr id="19" name="TextBox 18"/>
          <p:cNvSpPr txBox="1"/>
          <p:nvPr/>
        </p:nvSpPr>
        <p:spPr>
          <a:xfrm>
            <a:off x="1280160" y="5230368"/>
            <a:ext cx="4480560" cy="347472"/>
          </a:xfrm>
          <a:prstGeom prst="rect">
            <a:avLst/>
          </a:prstGeom>
          <a:noFill/>
        </p:spPr>
        <p:txBody>
          <a:bodyPr wrap="square" lIns="0" rIns="0" tIns="0" bIns="0" anchor="t">
            <a:noAutofit/>
          </a:bodyPr>
          <a:lstStyle/>
          <a:p>
            <a:pPr algn="l"/>
            <a:r>
              <a:rPr sz="1600" b="1" i="0" lang="es-ES">
                <a:solidFill>
                  <a:srgbClr val="1B2B48"/>
                </a:solidFill>
                <a:latin typeface="Calibri"/>
              </a:rPr>
              <a:t>Registrar</a:t>
            </a:r>
            <a:endParaRPr lang="es-ES" sz="1600"/>
          </a:p>
        </p:txBody>
      </p:sp>
      <p:sp>
        <p:nvSpPr>
          <p:cNvPr id="20" name="TextBox 19"/>
          <p:cNvSpPr txBox="1"/>
          <p:nvPr/>
        </p:nvSpPr>
        <p:spPr>
          <a:xfrm>
            <a:off x="1280160" y="5577840"/>
            <a:ext cx="4480560" cy="548640"/>
          </a:xfrm>
          <a:prstGeom prst="rect">
            <a:avLst/>
          </a:prstGeom>
          <a:noFill/>
        </p:spPr>
        <p:txBody>
          <a:bodyPr wrap="square" lIns="0" rIns="0" tIns="0" bIns="0" anchor="t">
            <a:noAutofit/>
          </a:bodyPr>
          <a:lstStyle/>
          <a:p>
            <a:pPr algn="l"/>
            <a:r>
              <a:rPr sz="1300" b="0" i="0" lang="es-ES">
                <a:solidFill>
                  <a:srgbClr val="5A6577"/>
                </a:solidFill>
                <a:latin typeface="Calibri"/>
              </a:rPr>
              <a:t>Copia en Línea base 1 como historial, con fecha y versión</a:t>
            </a:r>
            <a:endParaRPr lang="es-ES" sz="1300"/>
          </a:p>
        </p:txBody>
      </p:sp>
      <p:pic>
        <p:nvPicPr>
          <p:cNvPr id="21" name="Picture 20" descr="Esquema del cuadro Establecer línea base: proyecto completo, y tareas seleccionadas con resumen"/>
          <p:cNvPicPr>
            <a:picLocks noChangeAspect="1"/>
          </p:cNvPicPr>
          <p:nvPr/>
        </p:nvPicPr>
        <p:blipFill>
          <a:blip r:embed="rId2"/>
          <a:stretch>
            <a:fillRect/>
          </a:stretch>
        </p:blipFill>
        <p:spPr>
          <a:xfrm>
            <a:off x="6035040" y="1463040"/>
            <a:ext cx="5577840" cy="2741449"/>
          </a:xfrm>
          <a:prstGeom prst="rect">
            <a:avLst/>
          </a:prstGeom>
          <a:ln w="9525">
            <a:solidFill>
              <a:srgbClr val="D5DBE5"/>
            </a:solidFill>
          </a:ln>
        </p:spPr>
      </p:pic>
      <p:sp>
        <p:nvSpPr>
          <p:cNvPr id="22" name="Oval 21"/>
          <p:cNvSpPr/>
          <p:nvPr/>
        </p:nvSpPr>
        <p:spPr>
          <a:xfrm>
            <a:off x="6080760" y="4352544"/>
            <a:ext cx="310896" cy="310896"/>
          </a:xfrm>
          <a:prstGeom prst="ellipse">
            <a:avLst/>
          </a:prstGeom>
          <a:solidFill>
            <a:srgbClr val="C00000"/>
          </a:solidFill>
          <a:ln>
            <a:noFill/>
          </a:ln>
        </p:spPr>
        <p:txBody>
          <a:bodyPr rtlCol="0" anchor="ctr" wrap="square" lIns="0" rIns="0" tIns="0" bIns="0">
            <a:noAutofit/>
          </a:bodyPr>
          <a:lstStyle/>
          <a:p>
            <a:pPr algn="ctr"/>
            <a:r>
              <a:rPr sz="1200" b="1" i="0" lang="es-ES">
                <a:solidFill>
                  <a:srgbClr val="FFFFFF"/>
                </a:solidFill>
                <a:latin typeface="Calibri"/>
              </a:rPr>
              <a:t>1</a:t>
            </a:r>
            <a:endParaRPr lang="es-ES" sz="1200"/>
          </a:p>
        </p:txBody>
      </p:sp>
      <p:sp>
        <p:nvSpPr>
          <p:cNvPr id="23" name="TextBox 22"/>
          <p:cNvSpPr txBox="1"/>
          <p:nvPr/>
        </p:nvSpPr>
        <p:spPr>
          <a:xfrm>
            <a:off x="6537960" y="4343400"/>
            <a:ext cx="5029200" cy="329184"/>
          </a:xfrm>
          <a:prstGeom prst="rect">
            <a:avLst/>
          </a:prstGeom>
          <a:noFill/>
        </p:spPr>
        <p:txBody>
          <a:bodyPr wrap="square" lIns="0" rIns="0" tIns="0" bIns="0" anchor="ctr">
            <a:noAutofit/>
          </a:bodyPr>
          <a:lstStyle/>
          <a:p>
            <a:pPr algn="l"/>
            <a:r>
              <a:rPr sz="1400" b="0" i="0" lang="es-ES">
                <a:solidFill>
                  <a:srgbClr val="1B2B48"/>
                </a:solidFill>
                <a:latin typeface="Calibri"/>
              </a:rPr>
              <a:t>Línea base inicial: Proyecto completo</a:t>
            </a:r>
            <a:endParaRPr lang="es-ES" sz="1400"/>
          </a:p>
        </p:txBody>
      </p:sp>
      <p:sp>
        <p:nvSpPr>
          <p:cNvPr id="24" name="Oval 23"/>
          <p:cNvSpPr/>
          <p:nvPr/>
        </p:nvSpPr>
        <p:spPr>
          <a:xfrm>
            <a:off x="6080760" y="4736592"/>
            <a:ext cx="310896" cy="310896"/>
          </a:xfrm>
          <a:prstGeom prst="ellipse">
            <a:avLst/>
          </a:prstGeom>
          <a:solidFill>
            <a:srgbClr val="C00000"/>
          </a:solidFill>
          <a:ln>
            <a:noFill/>
          </a:ln>
        </p:spPr>
        <p:txBody>
          <a:bodyPr rtlCol="0" anchor="ctr" wrap="square" lIns="0" rIns="0" tIns="0" bIns="0">
            <a:noAutofit/>
          </a:bodyPr>
          <a:lstStyle/>
          <a:p>
            <a:pPr algn="ctr"/>
            <a:r>
              <a:rPr sz="1200" b="1" i="0" lang="es-ES">
                <a:solidFill>
                  <a:srgbClr val="FFFFFF"/>
                </a:solidFill>
                <a:latin typeface="Calibri"/>
              </a:rPr>
              <a:t>2</a:t>
            </a:r>
            <a:endParaRPr lang="es-ES" sz="1200"/>
          </a:p>
        </p:txBody>
      </p:sp>
      <p:sp>
        <p:nvSpPr>
          <p:cNvPr id="25" name="TextBox 24"/>
          <p:cNvSpPr txBox="1"/>
          <p:nvPr/>
        </p:nvSpPr>
        <p:spPr>
          <a:xfrm>
            <a:off x="6537960" y="4727448"/>
            <a:ext cx="5029200" cy="329184"/>
          </a:xfrm>
          <a:prstGeom prst="rect">
            <a:avLst/>
          </a:prstGeom>
          <a:noFill/>
        </p:spPr>
        <p:txBody>
          <a:bodyPr wrap="square" lIns="0" rIns="0" tIns="0" bIns="0" anchor="ctr">
            <a:noAutofit/>
          </a:bodyPr>
          <a:lstStyle/>
          <a:p>
            <a:pPr algn="l"/>
            <a:r>
              <a:rPr sz="1400" b="0" i="0" lang="es-ES">
                <a:solidFill>
                  <a:srgbClr val="1B2B48"/>
                </a:solidFill>
                <a:latin typeface="Calibri"/>
              </a:rPr>
              <a:t>Cambio aprobado: Tareas seleccionadas</a:t>
            </a:r>
            <a:endParaRPr lang="es-ES" sz="1400"/>
          </a:p>
        </p:txBody>
      </p:sp>
      <p:sp>
        <p:nvSpPr>
          <p:cNvPr id="26" name="Oval 25"/>
          <p:cNvSpPr/>
          <p:nvPr/>
        </p:nvSpPr>
        <p:spPr>
          <a:xfrm>
            <a:off x="6080760" y="5120640"/>
            <a:ext cx="310896" cy="310896"/>
          </a:xfrm>
          <a:prstGeom prst="ellipse">
            <a:avLst/>
          </a:prstGeom>
          <a:solidFill>
            <a:srgbClr val="C00000"/>
          </a:solidFill>
          <a:ln>
            <a:noFill/>
          </a:ln>
        </p:spPr>
        <p:txBody>
          <a:bodyPr rtlCol="0" anchor="ctr" wrap="square" lIns="0" rIns="0" tIns="0" bIns="0">
            <a:noAutofit/>
          </a:bodyPr>
          <a:lstStyle/>
          <a:p>
            <a:pPr algn="ctr"/>
            <a:r>
              <a:rPr sz="1200" b="1" i="0" lang="es-ES">
                <a:solidFill>
                  <a:srgbClr val="FFFFFF"/>
                </a:solidFill>
                <a:latin typeface="Calibri"/>
              </a:rPr>
              <a:t>3</a:t>
            </a:r>
            <a:endParaRPr lang="es-ES" sz="1200"/>
          </a:p>
        </p:txBody>
      </p:sp>
      <p:sp>
        <p:nvSpPr>
          <p:cNvPr id="27" name="TextBox 26"/>
          <p:cNvSpPr txBox="1"/>
          <p:nvPr/>
        </p:nvSpPr>
        <p:spPr>
          <a:xfrm>
            <a:off x="6537960" y="5111496"/>
            <a:ext cx="5029200" cy="329184"/>
          </a:xfrm>
          <a:prstGeom prst="rect">
            <a:avLst/>
          </a:prstGeom>
          <a:noFill/>
        </p:spPr>
        <p:txBody>
          <a:bodyPr wrap="square" lIns="0" rIns="0" tIns="0" bIns="0" anchor="ctr">
            <a:noAutofit/>
          </a:bodyPr>
          <a:lstStyle/>
          <a:p>
            <a:pPr algn="l"/>
            <a:r>
              <a:rPr sz="1400" b="0" i="0" lang="es-ES">
                <a:solidFill>
                  <a:srgbClr val="1B2B48"/>
                </a:solidFill>
                <a:latin typeface="Calibri"/>
              </a:rPr>
              <a:t>Resumir: Para todas las tareas de resumen</a:t>
            </a:r>
            <a:endParaRPr lang="es-ES" sz="1400"/>
          </a:p>
        </p:txBody>
      </p:sp>
      <p:sp>
        <p:nvSpPr>
          <p:cNvPr id="28" name="Rounded Rectangle 27"/>
          <p:cNvSpPr/>
          <p:nvPr/>
        </p:nvSpPr>
        <p:spPr>
          <a:xfrm>
            <a:off x="6035040" y="5577840"/>
            <a:ext cx="5577840" cy="594360"/>
          </a:xfrm>
          <a:prstGeom prst="roundRect">
            <a:avLst>
              <a:gd name="adj" fmla="val 18461"/>
            </a:avLst>
          </a:prstGeom>
          <a:solidFill>
            <a:srgbClr val="FFF4D9"/>
          </a:solidFill>
          <a:ln>
            <a:noFill/>
          </a:ln>
        </p:spPr>
        <p:txBody>
          <a:bodyPr rtlCol="0" anchor="ctr" wrap="square" lIns="182880" rIns="182880" tIns="182880" bIns="182880">
            <a:noAutofit/>
          </a:bodyPr>
          <a:lstStyle/>
          <a:p>
            <a:pPr algn="l"/>
            <a:r>
              <a:rPr sz="1400" b="1" i="0" lang="es-ES">
                <a:solidFill>
                  <a:srgbClr val="1B2B48"/>
                </a:solidFill>
                <a:latin typeface="Calibri"/>
              </a:rPr>
              <a:t>Solo se guarda cuando el plan está aprobado: </a:t>
            </a:r>
            <a:r>
              <a:rPr sz="1400" b="0" i="0" lang="es-ES">
                <a:solidFill>
                  <a:srgbClr val="1B2B48"/>
                </a:solidFill>
                <a:latin typeface="Calibri"/>
              </a:rPr>
              <a:t>antes, el PV no es un compromiso.</a:t>
            </a:r>
            <a:endParaRPr lang="es-ES" sz="140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Cambios: ¿se modifica la línea base?</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MS PROJECT · LÍNEA BASE</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18</a:t>
            </a:fld>
            <a:endParaRPr lang="es-ES" sz="1000"/>
          </a:p>
        </p:txBody>
      </p:sp>
      <p:sp>
        <p:nvSpPr>
          <p:cNvPr id="6" name="Rounded Rectangle 5"/>
          <p:cNvSpPr/>
          <p:nvPr/>
        </p:nvSpPr>
        <p:spPr>
          <a:xfrm>
            <a:off x="548640" y="1463040"/>
            <a:ext cx="5349240" cy="4709160"/>
          </a:xfrm>
          <a:prstGeom prst="roundRect">
            <a:avLst>
              <a:gd name="adj" fmla="val 2330"/>
            </a:avLst>
          </a:prstGeom>
          <a:solidFill>
            <a:srgbClr val="F3F5F9"/>
          </a:solidFill>
          <a:ln>
            <a:noFill/>
          </a:ln>
        </p:spPr>
        <p:txBody>
          <a:bodyPr rtlCol="0" anchor="ctr" wrap="square" lIns="73152" rIns="73152" tIns="73152" bIns="73152">
            <a:noAutofit/>
          </a:bodyPr>
          <a:lstStyle/>
          <a:p>
            <a:pPr algn="ctr"/>
          </a:p>
        </p:txBody>
      </p:sp>
      <p:sp>
        <p:nvSpPr>
          <p:cNvPr id="7" name="Rounded Rectangle 6"/>
          <p:cNvSpPr/>
          <p:nvPr/>
        </p:nvSpPr>
        <p:spPr>
          <a:xfrm>
            <a:off x="822960" y="1664208"/>
            <a:ext cx="2514600" cy="329184"/>
          </a:xfrm>
          <a:prstGeom prst="roundRect">
            <a:avLst>
              <a:gd name="adj" fmla="val 50000"/>
            </a:avLst>
          </a:prstGeom>
          <a:solidFill>
            <a:srgbClr val="FFFFFF"/>
          </a:solidFill>
          <a:ln>
            <a:noFill/>
          </a:ln>
        </p:spPr>
        <p:txBody>
          <a:bodyPr rtlCol="0" anchor="ctr" wrap="square" lIns="0" rIns="0" tIns="0" bIns="0">
            <a:noAutofit/>
          </a:bodyPr>
          <a:lstStyle/>
          <a:p>
            <a:pPr algn="ctr"/>
            <a:r>
              <a:rPr sz="1200" b="1" i="0" lang="es-ES">
                <a:solidFill>
                  <a:srgbClr val="5A6577"/>
                </a:solidFill>
                <a:latin typeface="Calibri"/>
              </a:rPr>
              <a:t>Desviación de desempeño</a:t>
            </a:r>
            <a:endParaRPr lang="es-ES" sz="1200"/>
          </a:p>
        </p:txBody>
      </p:sp>
      <p:sp>
        <p:nvSpPr>
          <p:cNvPr id="8" name="TextBox 7"/>
          <p:cNvSpPr txBox="1"/>
          <p:nvPr/>
        </p:nvSpPr>
        <p:spPr>
          <a:xfrm>
            <a:off x="822960" y="2103120"/>
            <a:ext cx="4846320" cy="457200"/>
          </a:xfrm>
          <a:prstGeom prst="rect">
            <a:avLst/>
          </a:prstGeom>
          <a:noFill/>
        </p:spPr>
        <p:txBody>
          <a:bodyPr wrap="square" lIns="0" rIns="0" tIns="0" bIns="0" anchor="t">
            <a:noAutofit/>
          </a:bodyPr>
          <a:lstStyle/>
          <a:p>
            <a:pPr algn="l"/>
            <a:r>
              <a:rPr sz="2200" b="1" i="0" lang="es-ES">
                <a:solidFill>
                  <a:srgbClr val="C0392B"/>
                </a:solidFill>
                <a:latin typeface="Calibri"/>
              </a:rPr>
              <a:t>La línea base NO se toca</a:t>
            </a:r>
            <a:endParaRPr lang="es-ES" sz="2200"/>
          </a:p>
        </p:txBody>
      </p:sp>
      <p:sp>
        <p:nvSpPr>
          <p:cNvPr id="9" name="TextBox 8"/>
          <p:cNvSpPr txBox="1"/>
          <p:nvPr/>
        </p:nvSpPr>
        <p:spPr>
          <a:xfrm>
            <a:off x="822960" y="2606040"/>
            <a:ext cx="4846320" cy="502920"/>
          </a:xfrm>
          <a:prstGeom prst="rect">
            <a:avLst/>
          </a:prstGeom>
          <a:noFill/>
        </p:spPr>
        <p:txBody>
          <a:bodyPr wrap="square" lIns="0" rIns="0" tIns="0" bIns="0" anchor="t">
            <a:noAutofit/>
          </a:bodyPr>
          <a:lstStyle/>
          <a:p>
            <a:pPr algn="l"/>
            <a:r>
              <a:rPr sz="1400" b="0" i="1" lang="es-ES">
                <a:solidFill>
                  <a:srgbClr val="5A6577"/>
                </a:solidFill>
                <a:latin typeface="Calibri"/>
              </a:rPr>
              <a:t>Una tarea se retrasa, dura más o cuesta más de lo previsto</a:t>
            </a:r>
            <a:endParaRPr lang="es-ES" sz="1400"/>
          </a:p>
        </p:txBody>
      </p:sp>
      <p:sp>
        <p:nvSpPr>
          <p:cNvPr id="10" name="TextBox 9"/>
          <p:cNvSpPr txBox="1"/>
          <p:nvPr/>
        </p:nvSpPr>
        <p:spPr>
          <a:xfrm>
            <a:off x="822960" y="3200400"/>
            <a:ext cx="4846320" cy="2194560"/>
          </a:xfrm>
          <a:prstGeom prst="rect">
            <a:avLst/>
          </a:prstGeom>
          <a:noFill/>
        </p:spPr>
        <p:txBody>
          <a:bodyPr wrap="square" lIns="0" rIns="0" tIns="0" bIns="0" anchor="t">
            <a:noAutofit/>
          </a:bodyPr>
          <a:lstStyle/>
          <a:p>
            <a:pPr algn="l" marL="201168" indent="-201168">
              <a:spcAft>
                <a:spcPts val="700"/>
              </a:spcAft>
              <a:buClr>
                <a:srgbClr val="C0392B"/>
              </a:buClr>
              <a:buFont typeface="Arial"/>
              <a:buChar char="•"/>
            </a:pPr>
            <a:r>
              <a:rPr sz="1500" b="0" i="0" lang="es-ES">
                <a:solidFill>
                  <a:srgbClr val="1B2B48"/>
                </a:solidFill>
                <a:latin typeface="Calibri"/>
              </a:rPr>
              <a:t>Registrar el avance y las fechas reales</a:t>
            </a:r>
            <a:endParaRPr lang="es-ES" sz="1500"/>
          </a:p>
          <a:p>
            <a:pPr algn="l" marL="201168" indent="-201168">
              <a:spcAft>
                <a:spcPts val="700"/>
              </a:spcAft>
              <a:buClr>
                <a:srgbClr val="C0392B"/>
              </a:buClr>
              <a:buFont typeface="Arial"/>
              <a:buChar char="•"/>
            </a:pPr>
            <a:r>
              <a:rPr sz="1500" b="0" i="0" lang="es-ES">
                <a:solidFill>
                  <a:srgbClr val="1B2B48"/>
                </a:solidFill>
                <a:latin typeface="Calibri"/>
              </a:rPr>
              <a:t>Reprogramar el trabajo pendiente en el plan actual</a:t>
            </a:r>
            <a:endParaRPr lang="es-ES" sz="1500"/>
          </a:p>
          <a:p>
            <a:pPr algn="l" marL="201168" indent="-201168">
              <a:spcAft>
                <a:spcPts val="700"/>
              </a:spcAft>
              <a:buClr>
                <a:srgbClr val="C0392B"/>
              </a:buClr>
              <a:buFont typeface="Arial"/>
              <a:buChar char="•"/>
            </a:pPr>
            <a:r>
              <a:rPr sz="1500" b="0" i="0" lang="es-ES">
                <a:solidFill>
                  <a:srgbClr val="1B2B48"/>
                </a:solidFill>
                <a:latin typeface="Calibri"/>
              </a:rPr>
              <a:t>Informar la desviación (SV, SPI(t), CV, CPI) y su causa</a:t>
            </a:r>
            <a:endParaRPr lang="es-ES" sz="1500"/>
          </a:p>
          <a:p>
            <a:pPr algn="l" marL="201168" indent="-201168">
              <a:buClr>
                <a:srgbClr val="C0392B"/>
              </a:buClr>
              <a:buFont typeface="Arial"/>
              <a:buChar char="•"/>
            </a:pPr>
            <a:r>
              <a:rPr sz="1500" b="0" i="0" lang="es-ES">
                <a:solidFill>
                  <a:srgbClr val="1B2B48"/>
                </a:solidFill>
                <a:latin typeface="Calibri"/>
              </a:rPr>
              <a:t>Actualizar el EAC y la fecha prevista de fin</a:t>
            </a:r>
            <a:endParaRPr lang="es-ES" sz="1500"/>
          </a:p>
        </p:txBody>
      </p:sp>
      <p:sp>
        <p:nvSpPr>
          <p:cNvPr id="11" name="TextBox 10"/>
          <p:cNvSpPr txBox="1"/>
          <p:nvPr/>
        </p:nvSpPr>
        <p:spPr>
          <a:xfrm>
            <a:off x="822960" y="4617720"/>
            <a:ext cx="4846320" cy="594360"/>
          </a:xfrm>
          <a:prstGeom prst="rect">
            <a:avLst/>
          </a:prstGeom>
          <a:noFill/>
        </p:spPr>
        <p:txBody>
          <a:bodyPr wrap="square" lIns="0" rIns="0" tIns="0" bIns="0" anchor="t">
            <a:noAutofit/>
          </a:bodyPr>
          <a:lstStyle/>
          <a:p>
            <a:pPr algn="l"/>
            <a:r>
              <a:rPr sz="1300" b="1" i="0" lang="es-ES">
                <a:solidFill>
                  <a:srgbClr val="5A6577"/>
                </a:solidFill>
                <a:latin typeface="Calibri"/>
              </a:rPr>
              <a:t>En MS Project: </a:t>
            </a:r>
            <a:r>
              <a:rPr sz="1300" b="0" i="0" lang="es-ES">
                <a:solidFill>
                  <a:srgbClr val="5A6577"/>
                </a:solidFill>
                <a:latin typeface="Calibri"/>
              </a:rPr>
              <a:t>Proyecto &gt; Actualizar proyecto &gt; reprogramar el trabajo restante después de la fecha de estado</a:t>
            </a:r>
            <a:endParaRPr lang="es-ES" sz="1300"/>
          </a:p>
        </p:txBody>
      </p:sp>
      <p:sp>
        <p:nvSpPr>
          <p:cNvPr id="12" name="Rounded Rectangle 11"/>
          <p:cNvSpPr/>
          <p:nvPr/>
        </p:nvSpPr>
        <p:spPr>
          <a:xfrm>
            <a:off x="822960" y="5349240"/>
            <a:ext cx="4800600" cy="594360"/>
          </a:xfrm>
          <a:prstGeom prst="roundRect">
            <a:avLst>
              <a:gd name="adj" fmla="val 12307"/>
            </a:avLst>
          </a:prstGeom>
          <a:solidFill>
            <a:srgbClr val="FFFFFF"/>
          </a:solidFill>
          <a:ln>
            <a:noFill/>
          </a:ln>
        </p:spPr>
        <p:txBody>
          <a:bodyPr rtlCol="0" anchor="ctr" wrap="square" lIns="137160" rIns="137160" tIns="137160" bIns="137160">
            <a:noAutofit/>
          </a:bodyPr>
          <a:lstStyle/>
          <a:p>
            <a:pPr algn="l"/>
            <a:r>
              <a:rPr sz="1500" b="1" i="0" lang="es-ES">
                <a:solidFill>
                  <a:srgbClr val="1B2B48"/>
                </a:solidFill>
                <a:latin typeface="Calibri"/>
              </a:rPr>
              <a:t>La desviación se explica, </a:t>
            </a:r>
            <a:r>
              <a:rPr sz="1500" b="1" i="0" lang="es-ES">
                <a:solidFill>
                  <a:srgbClr val="C0392B"/>
                </a:solidFill>
                <a:latin typeface="Calibri"/>
              </a:rPr>
              <a:t>no se borra.</a:t>
            </a:r>
            <a:endParaRPr lang="es-ES" sz="1500"/>
          </a:p>
        </p:txBody>
      </p:sp>
      <p:sp>
        <p:nvSpPr>
          <p:cNvPr id="13" name="Rounded Rectangle 12"/>
          <p:cNvSpPr/>
          <p:nvPr/>
        </p:nvSpPr>
        <p:spPr>
          <a:xfrm>
            <a:off x="6263640" y="1463040"/>
            <a:ext cx="5349240" cy="4709160"/>
          </a:xfrm>
          <a:prstGeom prst="roundRect">
            <a:avLst>
              <a:gd name="adj" fmla="val 2330"/>
            </a:avLst>
          </a:prstGeom>
          <a:solidFill>
            <a:srgbClr val="E5ECF7"/>
          </a:solidFill>
          <a:ln>
            <a:noFill/>
          </a:ln>
        </p:spPr>
        <p:txBody>
          <a:bodyPr rtlCol="0" anchor="ctr" wrap="square" lIns="73152" rIns="73152" tIns="73152" bIns="73152">
            <a:noAutofit/>
          </a:bodyPr>
          <a:lstStyle/>
          <a:p>
            <a:pPr algn="ctr"/>
          </a:p>
        </p:txBody>
      </p:sp>
      <p:sp>
        <p:nvSpPr>
          <p:cNvPr id="14" name="Rounded Rectangle 13"/>
          <p:cNvSpPr/>
          <p:nvPr/>
        </p:nvSpPr>
        <p:spPr>
          <a:xfrm>
            <a:off x="6537960" y="1664208"/>
            <a:ext cx="3566160" cy="329184"/>
          </a:xfrm>
          <a:prstGeom prst="roundRect">
            <a:avLst>
              <a:gd name="adj" fmla="val 50000"/>
            </a:avLst>
          </a:prstGeom>
          <a:solidFill>
            <a:srgbClr val="FFFFFF"/>
          </a:solidFill>
          <a:ln>
            <a:noFill/>
          </a:ln>
        </p:spPr>
        <p:txBody>
          <a:bodyPr rtlCol="0" anchor="ctr" wrap="square" lIns="0" rIns="0" tIns="0" bIns="0">
            <a:noAutofit/>
          </a:bodyPr>
          <a:lstStyle/>
          <a:p>
            <a:pPr algn="ctr"/>
            <a:r>
              <a:rPr sz="1200" b="1" i="0" lang="es-ES">
                <a:solidFill>
                  <a:srgbClr val="5A6577"/>
                </a:solidFill>
                <a:latin typeface="Calibri"/>
              </a:rPr>
              <a:t>Cambio aprobado: alcance, plazo o BAC</a:t>
            </a:r>
            <a:endParaRPr lang="es-ES" sz="1200"/>
          </a:p>
        </p:txBody>
      </p:sp>
      <p:sp>
        <p:nvSpPr>
          <p:cNvPr id="15" name="TextBox 14"/>
          <p:cNvSpPr txBox="1"/>
          <p:nvPr/>
        </p:nvSpPr>
        <p:spPr>
          <a:xfrm>
            <a:off x="6537960" y="2103120"/>
            <a:ext cx="4846320" cy="457200"/>
          </a:xfrm>
          <a:prstGeom prst="rect">
            <a:avLst/>
          </a:prstGeom>
          <a:noFill/>
        </p:spPr>
        <p:txBody>
          <a:bodyPr wrap="square" lIns="0" rIns="0" tIns="0" bIns="0" anchor="t">
            <a:noAutofit/>
          </a:bodyPr>
          <a:lstStyle/>
          <a:p>
            <a:pPr algn="l"/>
            <a:r>
              <a:rPr sz="2200" b="1" i="0" lang="es-ES">
                <a:solidFill>
                  <a:srgbClr val="2F5597"/>
                </a:solidFill>
                <a:latin typeface="Calibri"/>
              </a:rPr>
              <a:t>La línea base SÍ se actualiza</a:t>
            </a:r>
            <a:endParaRPr lang="es-ES" sz="2200"/>
          </a:p>
        </p:txBody>
      </p:sp>
      <p:sp>
        <p:nvSpPr>
          <p:cNvPr id="16" name="TextBox 15"/>
          <p:cNvSpPr txBox="1"/>
          <p:nvPr/>
        </p:nvSpPr>
        <p:spPr>
          <a:xfrm>
            <a:off x="6537960" y="2606040"/>
            <a:ext cx="4846320" cy="502920"/>
          </a:xfrm>
          <a:prstGeom prst="rect">
            <a:avLst/>
          </a:prstGeom>
          <a:noFill/>
        </p:spPr>
        <p:txBody>
          <a:bodyPr wrap="square" lIns="0" rIns="0" tIns="0" bIns="0" anchor="t">
            <a:noAutofit/>
          </a:bodyPr>
          <a:lstStyle/>
          <a:p>
            <a:pPr algn="l"/>
            <a:r>
              <a:rPr sz="1400" b="0" i="1" lang="es-ES">
                <a:solidFill>
                  <a:srgbClr val="5A6577"/>
                </a:solidFill>
                <a:latin typeface="Calibri"/>
              </a:rPr>
              <a:t>Ampliación de alcance, prórroga de plazo o aumento de presupuesto aprobados</a:t>
            </a:r>
            <a:endParaRPr lang="es-ES" sz="1400"/>
          </a:p>
        </p:txBody>
      </p:sp>
      <p:sp>
        <p:nvSpPr>
          <p:cNvPr id="17" name="Oval 16"/>
          <p:cNvSpPr/>
          <p:nvPr/>
        </p:nvSpPr>
        <p:spPr>
          <a:xfrm>
            <a:off x="6574536" y="3218688"/>
            <a:ext cx="329184" cy="329184"/>
          </a:xfrm>
          <a:prstGeom prst="ellipse">
            <a:avLst/>
          </a:prstGeom>
          <a:solidFill>
            <a:srgbClr val="2F5597"/>
          </a:solidFill>
          <a:ln>
            <a:noFill/>
          </a:ln>
        </p:spPr>
        <p:txBody>
          <a:bodyPr rtlCol="0" anchor="ctr" wrap="square" lIns="0" rIns="0" tIns="0" bIns="0">
            <a:noAutofit/>
          </a:bodyPr>
          <a:lstStyle/>
          <a:p>
            <a:pPr algn="ctr"/>
            <a:r>
              <a:rPr sz="1200" b="1" i="0" lang="es-ES">
                <a:solidFill>
                  <a:srgbClr val="FFFFFF"/>
                </a:solidFill>
                <a:latin typeface="Calibri"/>
              </a:rPr>
              <a:t>1</a:t>
            </a:r>
            <a:endParaRPr lang="es-ES" sz="1200"/>
          </a:p>
        </p:txBody>
      </p:sp>
      <p:sp>
        <p:nvSpPr>
          <p:cNvPr id="18" name="TextBox 17"/>
          <p:cNvSpPr txBox="1"/>
          <p:nvPr/>
        </p:nvSpPr>
        <p:spPr>
          <a:xfrm>
            <a:off x="7040880" y="3200400"/>
            <a:ext cx="4434840" cy="384048"/>
          </a:xfrm>
          <a:prstGeom prst="rect">
            <a:avLst/>
          </a:prstGeom>
          <a:noFill/>
        </p:spPr>
        <p:txBody>
          <a:bodyPr wrap="square" lIns="0" rIns="0" tIns="0" bIns="0" anchor="ctr">
            <a:noAutofit/>
          </a:bodyPr>
          <a:lstStyle/>
          <a:p>
            <a:pPr algn="l"/>
            <a:r>
              <a:rPr sz="1400" b="0" i="0" lang="es-ES">
                <a:solidFill>
                  <a:srgbClr val="1B2B48"/>
                </a:solidFill>
                <a:latin typeface="Calibri"/>
              </a:rPr>
              <a:t>Solicitud de cambio y análisis de impacto</a:t>
            </a:r>
            <a:endParaRPr lang="es-ES" sz="1400"/>
          </a:p>
        </p:txBody>
      </p:sp>
      <p:sp>
        <p:nvSpPr>
          <p:cNvPr id="19" name="Oval 18"/>
          <p:cNvSpPr/>
          <p:nvPr/>
        </p:nvSpPr>
        <p:spPr>
          <a:xfrm>
            <a:off x="6574536" y="3694176"/>
            <a:ext cx="329184" cy="329184"/>
          </a:xfrm>
          <a:prstGeom prst="ellipse">
            <a:avLst/>
          </a:prstGeom>
          <a:solidFill>
            <a:srgbClr val="2F5597"/>
          </a:solidFill>
          <a:ln>
            <a:noFill/>
          </a:ln>
        </p:spPr>
        <p:txBody>
          <a:bodyPr rtlCol="0" anchor="ctr" wrap="square" lIns="0" rIns="0" tIns="0" bIns="0">
            <a:noAutofit/>
          </a:bodyPr>
          <a:lstStyle/>
          <a:p>
            <a:pPr algn="ctr"/>
            <a:r>
              <a:rPr sz="1200" b="1" i="0" lang="es-ES">
                <a:solidFill>
                  <a:srgbClr val="FFFFFF"/>
                </a:solidFill>
                <a:latin typeface="Calibri"/>
              </a:rPr>
              <a:t>2</a:t>
            </a:r>
            <a:endParaRPr lang="es-ES" sz="1200"/>
          </a:p>
        </p:txBody>
      </p:sp>
      <p:sp>
        <p:nvSpPr>
          <p:cNvPr id="20" name="TextBox 19"/>
          <p:cNvSpPr txBox="1"/>
          <p:nvPr/>
        </p:nvSpPr>
        <p:spPr>
          <a:xfrm>
            <a:off x="7040880" y="3675887"/>
            <a:ext cx="4434840" cy="384048"/>
          </a:xfrm>
          <a:prstGeom prst="rect">
            <a:avLst/>
          </a:prstGeom>
          <a:noFill/>
        </p:spPr>
        <p:txBody>
          <a:bodyPr wrap="square" lIns="0" rIns="0" tIns="0" bIns="0" anchor="ctr">
            <a:noAutofit/>
          </a:bodyPr>
          <a:lstStyle/>
          <a:p>
            <a:pPr algn="l"/>
            <a:r>
              <a:rPr sz="1400" b="0" i="0" lang="es-ES">
                <a:solidFill>
                  <a:srgbClr val="1B2B48"/>
                </a:solidFill>
                <a:latin typeface="Calibri"/>
              </a:rPr>
              <a:t>Aprobación formal</a:t>
            </a:r>
            <a:endParaRPr lang="es-ES" sz="1400"/>
          </a:p>
        </p:txBody>
      </p:sp>
      <p:sp>
        <p:nvSpPr>
          <p:cNvPr id="21" name="Oval 20"/>
          <p:cNvSpPr/>
          <p:nvPr/>
        </p:nvSpPr>
        <p:spPr>
          <a:xfrm>
            <a:off x="6574536" y="4169664"/>
            <a:ext cx="329184" cy="329184"/>
          </a:xfrm>
          <a:prstGeom prst="ellipse">
            <a:avLst/>
          </a:prstGeom>
          <a:solidFill>
            <a:srgbClr val="2F5597"/>
          </a:solidFill>
          <a:ln>
            <a:noFill/>
          </a:ln>
        </p:spPr>
        <p:txBody>
          <a:bodyPr rtlCol="0" anchor="ctr" wrap="square" lIns="0" rIns="0" tIns="0" bIns="0">
            <a:noAutofit/>
          </a:bodyPr>
          <a:lstStyle/>
          <a:p>
            <a:pPr algn="ctr"/>
            <a:r>
              <a:rPr sz="1200" b="1" i="0" lang="es-ES">
                <a:solidFill>
                  <a:srgbClr val="FFFFFF"/>
                </a:solidFill>
                <a:latin typeface="Calibri"/>
              </a:rPr>
              <a:t>3</a:t>
            </a:r>
            <a:endParaRPr lang="es-ES" sz="1200"/>
          </a:p>
        </p:txBody>
      </p:sp>
      <p:sp>
        <p:nvSpPr>
          <p:cNvPr id="22" name="TextBox 21"/>
          <p:cNvSpPr txBox="1"/>
          <p:nvPr/>
        </p:nvSpPr>
        <p:spPr>
          <a:xfrm>
            <a:off x="7040880" y="4151376"/>
            <a:ext cx="4434840" cy="384048"/>
          </a:xfrm>
          <a:prstGeom prst="rect">
            <a:avLst/>
          </a:prstGeom>
          <a:noFill/>
        </p:spPr>
        <p:txBody>
          <a:bodyPr wrap="square" lIns="0" rIns="0" tIns="0" bIns="0" anchor="ctr">
            <a:noAutofit/>
          </a:bodyPr>
          <a:lstStyle/>
          <a:p>
            <a:pPr algn="l"/>
            <a:r>
              <a:rPr sz="1400" b="0" i="0" lang="es-ES">
                <a:solidFill>
                  <a:srgbClr val="1B2B48"/>
                </a:solidFill>
                <a:latin typeface="Calibri"/>
              </a:rPr>
              <a:t>Copiar la línea base vigente en Línea base N</a:t>
            </a:r>
            <a:endParaRPr lang="es-ES" sz="1400"/>
          </a:p>
        </p:txBody>
      </p:sp>
      <p:sp>
        <p:nvSpPr>
          <p:cNvPr id="23" name="Oval 22"/>
          <p:cNvSpPr/>
          <p:nvPr/>
        </p:nvSpPr>
        <p:spPr>
          <a:xfrm>
            <a:off x="6574536" y="4645152"/>
            <a:ext cx="329184" cy="329184"/>
          </a:xfrm>
          <a:prstGeom prst="ellipse">
            <a:avLst/>
          </a:prstGeom>
          <a:solidFill>
            <a:srgbClr val="2F5597"/>
          </a:solidFill>
          <a:ln>
            <a:noFill/>
          </a:ln>
        </p:spPr>
        <p:txBody>
          <a:bodyPr rtlCol="0" anchor="ctr" wrap="square" lIns="0" rIns="0" tIns="0" bIns="0">
            <a:noAutofit/>
          </a:bodyPr>
          <a:lstStyle/>
          <a:p>
            <a:pPr algn="ctr"/>
            <a:r>
              <a:rPr sz="1200" b="1" i="0" lang="es-ES">
                <a:solidFill>
                  <a:srgbClr val="FFFFFF"/>
                </a:solidFill>
                <a:latin typeface="Calibri"/>
              </a:rPr>
              <a:t>4</a:t>
            </a:r>
            <a:endParaRPr lang="es-ES" sz="1200"/>
          </a:p>
        </p:txBody>
      </p:sp>
      <p:sp>
        <p:nvSpPr>
          <p:cNvPr id="24" name="TextBox 23"/>
          <p:cNvSpPr txBox="1"/>
          <p:nvPr/>
        </p:nvSpPr>
        <p:spPr>
          <a:xfrm>
            <a:off x="7040880" y="4626864"/>
            <a:ext cx="4434840" cy="384048"/>
          </a:xfrm>
          <a:prstGeom prst="rect">
            <a:avLst/>
          </a:prstGeom>
          <a:noFill/>
        </p:spPr>
        <p:txBody>
          <a:bodyPr wrap="square" lIns="0" rIns="0" tIns="0" bIns="0" anchor="ctr">
            <a:noAutofit/>
          </a:bodyPr>
          <a:lstStyle/>
          <a:p>
            <a:pPr algn="l"/>
            <a:r>
              <a:rPr sz="1400" b="0" i="0" lang="es-ES">
                <a:solidFill>
                  <a:srgbClr val="1B2B48"/>
                </a:solidFill>
                <a:latin typeface="Calibri"/>
              </a:rPr>
              <a:t>Modificar tareas, duraciones o pesos de hitos</a:t>
            </a:r>
            <a:endParaRPr lang="es-ES" sz="1400"/>
          </a:p>
        </p:txBody>
      </p:sp>
      <p:sp>
        <p:nvSpPr>
          <p:cNvPr id="25" name="Oval 24"/>
          <p:cNvSpPr/>
          <p:nvPr/>
        </p:nvSpPr>
        <p:spPr>
          <a:xfrm>
            <a:off x="6574536" y="5120640"/>
            <a:ext cx="329184" cy="329184"/>
          </a:xfrm>
          <a:prstGeom prst="ellipse">
            <a:avLst/>
          </a:prstGeom>
          <a:solidFill>
            <a:srgbClr val="2F5597"/>
          </a:solidFill>
          <a:ln>
            <a:noFill/>
          </a:ln>
        </p:spPr>
        <p:txBody>
          <a:bodyPr rtlCol="0" anchor="ctr" wrap="square" lIns="0" rIns="0" tIns="0" bIns="0">
            <a:noAutofit/>
          </a:bodyPr>
          <a:lstStyle/>
          <a:p>
            <a:pPr algn="ctr"/>
            <a:r>
              <a:rPr sz="1200" b="1" i="0" lang="es-ES">
                <a:solidFill>
                  <a:srgbClr val="FFFFFF"/>
                </a:solidFill>
                <a:latin typeface="Calibri"/>
              </a:rPr>
              <a:t>5</a:t>
            </a:r>
            <a:endParaRPr lang="es-ES" sz="1200"/>
          </a:p>
        </p:txBody>
      </p:sp>
      <p:sp>
        <p:nvSpPr>
          <p:cNvPr id="26" name="TextBox 25"/>
          <p:cNvSpPr txBox="1"/>
          <p:nvPr/>
        </p:nvSpPr>
        <p:spPr>
          <a:xfrm>
            <a:off x="7040880" y="5102352"/>
            <a:ext cx="4434840" cy="384048"/>
          </a:xfrm>
          <a:prstGeom prst="rect">
            <a:avLst/>
          </a:prstGeom>
          <a:noFill/>
        </p:spPr>
        <p:txBody>
          <a:bodyPr wrap="square" lIns="0" rIns="0" tIns="0" bIns="0" anchor="ctr">
            <a:noAutofit/>
          </a:bodyPr>
          <a:lstStyle/>
          <a:p>
            <a:pPr algn="l"/>
            <a:r>
              <a:rPr sz="1400" b="0" i="0" lang="es-ES">
                <a:solidFill>
                  <a:srgbClr val="1B2B48"/>
                </a:solidFill>
                <a:latin typeface="Calibri"/>
              </a:rPr>
              <a:t>Guardar línea base: Tareas seleccionadas + Resumir</a:t>
            </a:r>
            <a:endParaRPr lang="es-ES" sz="1400"/>
          </a:p>
        </p:txBody>
      </p:sp>
      <p:sp>
        <p:nvSpPr>
          <p:cNvPr id="27" name="Oval 26"/>
          <p:cNvSpPr/>
          <p:nvPr/>
        </p:nvSpPr>
        <p:spPr>
          <a:xfrm>
            <a:off x="6574536" y="5596128"/>
            <a:ext cx="329184" cy="329184"/>
          </a:xfrm>
          <a:prstGeom prst="ellipse">
            <a:avLst/>
          </a:prstGeom>
          <a:solidFill>
            <a:srgbClr val="2F5597"/>
          </a:solidFill>
          <a:ln>
            <a:noFill/>
          </a:ln>
        </p:spPr>
        <p:txBody>
          <a:bodyPr rtlCol="0" anchor="ctr" wrap="square" lIns="0" rIns="0" tIns="0" bIns="0">
            <a:noAutofit/>
          </a:bodyPr>
          <a:lstStyle/>
          <a:p>
            <a:pPr algn="ctr"/>
            <a:r>
              <a:rPr sz="1200" b="1" i="0" lang="es-ES">
                <a:solidFill>
                  <a:srgbClr val="FFFFFF"/>
                </a:solidFill>
                <a:latin typeface="Calibri"/>
              </a:rPr>
              <a:t>6</a:t>
            </a:r>
            <a:endParaRPr lang="es-ES" sz="1200"/>
          </a:p>
        </p:txBody>
      </p:sp>
      <p:sp>
        <p:nvSpPr>
          <p:cNvPr id="28" name="TextBox 27"/>
          <p:cNvSpPr txBox="1"/>
          <p:nvPr/>
        </p:nvSpPr>
        <p:spPr>
          <a:xfrm>
            <a:off x="7040880" y="5577840"/>
            <a:ext cx="4434840" cy="384048"/>
          </a:xfrm>
          <a:prstGeom prst="rect">
            <a:avLst/>
          </a:prstGeom>
          <a:noFill/>
        </p:spPr>
        <p:txBody>
          <a:bodyPr wrap="square" lIns="0" rIns="0" tIns="0" bIns="0" anchor="ctr">
            <a:noAutofit/>
          </a:bodyPr>
          <a:lstStyle/>
          <a:p>
            <a:pPr algn="l"/>
            <a:r>
              <a:rPr sz="1400" b="0" i="0" lang="es-ES">
                <a:solidFill>
                  <a:srgbClr val="1B2B48"/>
                </a:solidFill>
                <a:latin typeface="Calibri"/>
              </a:rPr>
              <a:t>Libro nuevo con generar --migrar-desde</a:t>
            </a:r>
            <a:endParaRPr lang="es-ES" sz="140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¿Por qué no guardar la línea base cada mes?</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MS PROJECT · LÍNEA BASE</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19</a:t>
            </a:fld>
            <a:endParaRPr lang="es-ES" sz="1000"/>
          </a:p>
        </p:txBody>
      </p:sp>
      <p:sp>
        <p:nvSpPr>
          <p:cNvPr id="6" name="Rounded Rectangle 5"/>
          <p:cNvSpPr/>
          <p:nvPr/>
        </p:nvSpPr>
        <p:spPr>
          <a:xfrm>
            <a:off x="548640" y="1463040"/>
            <a:ext cx="3794760" cy="3931920"/>
          </a:xfrm>
          <a:prstGeom prst="roundRect">
            <a:avLst>
              <a:gd name="adj" fmla="val 2891"/>
            </a:avLst>
          </a:prstGeom>
          <a:solidFill>
            <a:srgbClr val="FFFFFF"/>
          </a:solidFill>
          <a:ln w="12700">
            <a:solidFill>
              <a:srgbClr val="D5DBE5"/>
            </a:solidFill>
          </a:ln>
        </p:spPr>
        <p:txBody>
          <a:bodyPr rtlCol="0" anchor="ctr" wrap="square" lIns="73152" rIns="73152" tIns="73152" bIns="73152">
            <a:noAutofit/>
          </a:bodyPr>
          <a:lstStyle/>
          <a:p>
            <a:pPr algn="ctr"/>
          </a:p>
        </p:txBody>
      </p:sp>
      <p:sp>
        <p:nvSpPr>
          <p:cNvPr id="7" name="TextBox 6"/>
          <p:cNvSpPr txBox="1"/>
          <p:nvPr/>
        </p:nvSpPr>
        <p:spPr>
          <a:xfrm>
            <a:off x="777240" y="1572768"/>
            <a:ext cx="3383280" cy="365760"/>
          </a:xfrm>
          <a:prstGeom prst="rect">
            <a:avLst/>
          </a:prstGeom>
          <a:noFill/>
        </p:spPr>
        <p:txBody>
          <a:bodyPr wrap="square" lIns="0" rIns="0" tIns="0" bIns="0" anchor="t">
            <a:noAutofit/>
          </a:bodyPr>
          <a:lstStyle/>
          <a:p>
            <a:pPr algn="l"/>
            <a:r>
              <a:rPr sz="1700" b="1" i="0" lang="es-ES">
                <a:solidFill>
                  <a:srgbClr val="1B2B48"/>
                </a:solidFill>
                <a:latin typeface="Calibri"/>
              </a:rPr>
              <a:t>Línea base fija</a:t>
            </a:r>
            <a:endParaRPr lang="es-ES" sz="1700"/>
          </a:p>
        </p:txBody>
      </p:sp>
      <p:sp>
        <p:nvSpPr>
          <p:cNvPr id="8" name="TextBox 7"/>
          <p:cNvSpPr txBox="1"/>
          <p:nvPr/>
        </p:nvSpPr>
        <p:spPr>
          <a:xfrm>
            <a:off x="777240" y="1920240"/>
            <a:ext cx="3383280" cy="274320"/>
          </a:xfrm>
          <a:prstGeom prst="rect">
            <a:avLst/>
          </a:prstGeom>
          <a:noFill/>
        </p:spPr>
        <p:txBody>
          <a:bodyPr wrap="square" lIns="0" rIns="0" tIns="0" bIns="0" anchor="t">
            <a:noAutofit/>
          </a:bodyPr>
          <a:lstStyle/>
          <a:p>
            <a:pPr algn="l"/>
            <a:r>
              <a:rPr sz="1200" b="0" i="0" lang="es-ES">
                <a:solidFill>
                  <a:srgbClr val="5A6577"/>
                </a:solidFill>
                <a:latin typeface="Calibri"/>
              </a:rPr>
              <a:t>PV (azul) y EV (verde), millones de euros</a:t>
            </a:r>
            <a:endParaRPr lang="es-ES" sz="1200"/>
          </a:p>
        </p:txBody>
      </p:sp>
      <p:graphicFrame>
        <p:nvGraphicFramePr>
          <p:cNvPr id="9" name="Chart 8"/>
          <p:cNvGraphicFramePr>
            <a:graphicFrameLocks noGrp="1"/>
          </p:cNvGraphicFramePr>
          <p:nvPr/>
        </p:nvGraphicFramePr>
        <p:xfrm>
          <a:off x="640080" y="2194560"/>
          <a:ext cx="3611880" cy="2514600"/>
        </p:xfrm>
        <a:graphic>
          <a:graphicData uri="http://schemas.openxmlformats.org/drawingml/2006/chart">
            <c:chart xmlns:c="http://schemas.openxmlformats.org/drawingml/2006/chart" r:id="rId2"/>
          </a:graphicData>
        </a:graphic>
      </p:graphicFrame>
      <p:sp>
        <p:nvSpPr>
          <p:cNvPr id="10" name="TextBox 9"/>
          <p:cNvSpPr txBox="1"/>
          <p:nvPr/>
        </p:nvSpPr>
        <p:spPr>
          <a:xfrm>
            <a:off x="777240" y="4754880"/>
            <a:ext cx="3383280" cy="548640"/>
          </a:xfrm>
          <a:prstGeom prst="rect">
            <a:avLst/>
          </a:prstGeom>
          <a:noFill/>
        </p:spPr>
        <p:txBody>
          <a:bodyPr wrap="square" lIns="0" rIns="0" tIns="0" bIns="0" anchor="ctr">
            <a:noAutofit/>
          </a:bodyPr>
          <a:lstStyle/>
          <a:p>
            <a:pPr algn="l"/>
            <a:r>
              <a:rPr sz="1400" b="1" i="0" lang="es-ES">
                <a:solidFill>
                  <a:srgbClr val="1B2B48"/>
                </a:solidFill>
                <a:latin typeface="Calibri"/>
              </a:rPr>
              <a:t>SV = −1,9 M€ · SPI 0,84: el atraso se ve</a:t>
            </a:r>
            <a:endParaRPr lang="es-ES" sz="1400"/>
          </a:p>
        </p:txBody>
      </p:sp>
      <p:sp>
        <p:nvSpPr>
          <p:cNvPr id="11" name="Rounded Rectangle 10"/>
          <p:cNvSpPr/>
          <p:nvPr/>
        </p:nvSpPr>
        <p:spPr>
          <a:xfrm>
            <a:off x="4526280" y="1463040"/>
            <a:ext cx="3794760" cy="3931920"/>
          </a:xfrm>
          <a:prstGeom prst="roundRect">
            <a:avLst>
              <a:gd name="adj" fmla="val 2891"/>
            </a:avLst>
          </a:prstGeom>
          <a:solidFill>
            <a:srgbClr val="FFFFFF"/>
          </a:solidFill>
          <a:ln w="12700">
            <a:solidFill>
              <a:srgbClr val="D5DBE5"/>
            </a:solidFill>
          </a:ln>
        </p:spPr>
        <p:txBody>
          <a:bodyPr rtlCol="0" anchor="ctr" wrap="square" lIns="73152" rIns="73152" tIns="73152" bIns="73152">
            <a:noAutofit/>
          </a:bodyPr>
          <a:lstStyle/>
          <a:p>
            <a:pPr algn="ctr"/>
          </a:p>
        </p:txBody>
      </p:sp>
      <p:sp>
        <p:nvSpPr>
          <p:cNvPr id="12" name="TextBox 11"/>
          <p:cNvSpPr txBox="1"/>
          <p:nvPr/>
        </p:nvSpPr>
        <p:spPr>
          <a:xfrm>
            <a:off x="4754880" y="1572768"/>
            <a:ext cx="3383280" cy="365760"/>
          </a:xfrm>
          <a:prstGeom prst="rect">
            <a:avLst/>
          </a:prstGeom>
          <a:noFill/>
        </p:spPr>
        <p:txBody>
          <a:bodyPr wrap="square" lIns="0" rIns="0" tIns="0" bIns="0" anchor="t">
            <a:noAutofit/>
          </a:bodyPr>
          <a:lstStyle/>
          <a:p>
            <a:pPr algn="l"/>
            <a:r>
              <a:rPr sz="1700" b="1" i="0" lang="es-ES">
                <a:solidFill>
                  <a:srgbClr val="1B2B48"/>
                </a:solidFill>
                <a:latin typeface="Calibri"/>
              </a:rPr>
              <a:t>Guardada cada mes</a:t>
            </a:r>
            <a:endParaRPr lang="es-ES" sz="1700"/>
          </a:p>
        </p:txBody>
      </p:sp>
      <p:sp>
        <p:nvSpPr>
          <p:cNvPr id="13" name="TextBox 12"/>
          <p:cNvSpPr txBox="1"/>
          <p:nvPr/>
        </p:nvSpPr>
        <p:spPr>
          <a:xfrm>
            <a:off x="4754880" y="1920240"/>
            <a:ext cx="3383280" cy="274320"/>
          </a:xfrm>
          <a:prstGeom prst="rect">
            <a:avLst/>
          </a:prstGeom>
          <a:noFill/>
        </p:spPr>
        <p:txBody>
          <a:bodyPr wrap="square" lIns="0" rIns="0" tIns="0" bIns="0" anchor="t">
            <a:noAutofit/>
          </a:bodyPr>
          <a:lstStyle/>
          <a:p>
            <a:pPr algn="l"/>
            <a:r>
              <a:rPr sz="1200" b="0" i="0" lang="es-ES">
                <a:solidFill>
                  <a:srgbClr val="5A6577"/>
                </a:solidFill>
                <a:latin typeface="Calibri"/>
              </a:rPr>
              <a:t>Ilustrativo: el PV (azul) se pega al EV</a:t>
            </a:r>
            <a:endParaRPr lang="es-ES" sz="1200"/>
          </a:p>
        </p:txBody>
      </p:sp>
      <p:graphicFrame>
        <p:nvGraphicFramePr>
          <p:cNvPr id="14" name="Chart 13"/>
          <p:cNvGraphicFramePr>
            <a:graphicFrameLocks noGrp="1"/>
          </p:cNvGraphicFramePr>
          <p:nvPr/>
        </p:nvGraphicFramePr>
        <p:xfrm>
          <a:off x="4617720" y="2194560"/>
          <a:ext cx="3611880" cy="2514600"/>
        </p:xfrm>
        <a:graphic>
          <a:graphicData uri="http://schemas.openxmlformats.org/drawingml/2006/chart">
            <c:chart xmlns:c="http://schemas.openxmlformats.org/drawingml/2006/chart" r:id="rId3"/>
          </a:graphicData>
        </a:graphic>
      </p:graphicFrame>
      <p:sp>
        <p:nvSpPr>
          <p:cNvPr id="15" name="TextBox 14"/>
          <p:cNvSpPr txBox="1"/>
          <p:nvPr/>
        </p:nvSpPr>
        <p:spPr>
          <a:xfrm>
            <a:off x="4754880" y="4754880"/>
            <a:ext cx="3383280" cy="548640"/>
          </a:xfrm>
          <a:prstGeom prst="rect">
            <a:avLst/>
          </a:prstGeom>
          <a:noFill/>
        </p:spPr>
        <p:txBody>
          <a:bodyPr wrap="square" lIns="0" rIns="0" tIns="0" bIns="0" anchor="ctr">
            <a:noAutofit/>
          </a:bodyPr>
          <a:lstStyle/>
          <a:p>
            <a:pPr algn="l"/>
            <a:r>
              <a:rPr sz="1400" b="1" i="0" lang="es-ES">
                <a:solidFill>
                  <a:srgbClr val="C0392B"/>
                </a:solidFill>
                <a:latin typeface="Calibri"/>
              </a:rPr>
              <a:t>SV ≈ 0 · SPI ≈ 1: el atraso desaparece</a:t>
            </a:r>
            <a:endParaRPr lang="es-ES" sz="1400"/>
          </a:p>
        </p:txBody>
      </p:sp>
      <p:sp>
        <p:nvSpPr>
          <p:cNvPr id="16" name="Rounded Rectangle 15"/>
          <p:cNvSpPr/>
          <p:nvPr/>
        </p:nvSpPr>
        <p:spPr>
          <a:xfrm>
            <a:off x="8503920" y="1463040"/>
            <a:ext cx="3108960" cy="3931920"/>
          </a:xfrm>
          <a:prstGeom prst="roundRect">
            <a:avLst>
              <a:gd name="adj" fmla="val 3529"/>
            </a:avLst>
          </a:prstGeom>
          <a:solidFill>
            <a:srgbClr val="F3F5F9"/>
          </a:solidFill>
          <a:ln>
            <a:noFill/>
          </a:ln>
        </p:spPr>
        <p:txBody>
          <a:bodyPr rtlCol="0" anchor="t" wrap="square" lIns="201168" rIns="201168" tIns="201168" bIns="201168">
            <a:noAutofit/>
          </a:bodyPr>
          <a:lstStyle/>
          <a:p>
            <a:pPr algn="l">
              <a:spcAft>
                <a:spcPts val="800"/>
              </a:spcAft>
            </a:pPr>
            <a:r>
              <a:rPr sz="1700" b="1" i="0" lang="es-ES">
                <a:solidFill>
                  <a:srgbClr val="1B2B48"/>
                </a:solidFill>
                <a:latin typeface="Calibri"/>
              </a:rPr>
              <a:t>Además</a:t>
            </a:r>
            <a:endParaRPr lang="es-ES" sz="1500"/>
          </a:p>
          <a:p>
            <a:pPr algn="l" marL="201168" indent="-201168">
              <a:spcAft>
                <a:spcPts val="800"/>
              </a:spcAft>
              <a:buClr>
                <a:srgbClr val="C0392B"/>
              </a:buClr>
              <a:buFont typeface="Arial"/>
              <a:buChar char="•"/>
            </a:pPr>
            <a:r>
              <a:rPr sz="1500" b="0" i="0" lang="es-ES">
                <a:solidFill>
                  <a:srgbClr val="1B2B48"/>
                </a:solidFill>
                <a:latin typeface="Calibri"/>
              </a:rPr>
              <a:t>Cambia el PV de meses ya informados</a:t>
            </a:r>
            <a:endParaRPr lang="es-ES" sz="1500"/>
          </a:p>
          <a:p>
            <a:pPr algn="l" marL="201168" indent="-201168">
              <a:spcAft>
                <a:spcPts val="800"/>
              </a:spcAft>
              <a:buClr>
                <a:srgbClr val="C0392B"/>
              </a:buClr>
              <a:buFont typeface="Arial"/>
              <a:buChar char="•"/>
            </a:pPr>
            <a:r>
              <a:rPr sz="1500" b="0" i="0" lang="es-ES">
                <a:solidFill>
                  <a:srgbClr val="1B2B48"/>
                </a:solidFill>
                <a:latin typeface="Calibri"/>
              </a:rPr>
              <a:t>Se pierde la referencia aprobada</a:t>
            </a:r>
            <a:endParaRPr lang="es-ES" sz="1500"/>
          </a:p>
          <a:p>
            <a:pPr algn="l" marL="201168" indent="-201168">
              <a:spcAft>
                <a:spcPts val="800"/>
              </a:spcAft>
              <a:buClr>
                <a:srgbClr val="C0392B"/>
              </a:buClr>
              <a:buFont typeface="Arial"/>
              <a:buChar char="•"/>
            </a:pPr>
            <a:r>
              <a:rPr sz="1500" b="0" i="0" lang="es-ES">
                <a:solidFill>
                  <a:srgbClr val="1B2B48"/>
                </a:solidFill>
                <a:latin typeface="Calibri"/>
              </a:rPr>
              <a:t>El informe deja de ser comparable mes a mes</a:t>
            </a:r>
            <a:endParaRPr lang="es-ES" sz="1500"/>
          </a:p>
          <a:p>
            <a:pPr algn="l" marL="201168" indent="-201168">
              <a:buClr>
                <a:srgbClr val="C0392B"/>
              </a:buClr>
              <a:buFont typeface="Arial"/>
              <a:buChar char="•"/>
            </a:pPr>
            <a:r>
              <a:rPr sz="1500" b="0" i="0" lang="es-ES">
                <a:solidFill>
                  <a:srgbClr val="1B2B48"/>
                </a:solidFill>
                <a:latin typeface="Calibri"/>
              </a:rPr>
              <a:t>Los problemas aparecen tarde</a:t>
            </a:r>
            <a:endParaRPr lang="es-ES" sz="1500"/>
          </a:p>
        </p:txBody>
      </p:sp>
      <p:sp>
        <p:nvSpPr>
          <p:cNvPr id="17" name="Rounded Rectangle 16"/>
          <p:cNvSpPr/>
          <p:nvPr/>
        </p:nvSpPr>
        <p:spPr>
          <a:xfrm>
            <a:off x="548640" y="5577840"/>
            <a:ext cx="11064240" cy="594360"/>
          </a:xfrm>
          <a:prstGeom prst="roundRect">
            <a:avLst>
              <a:gd name="adj" fmla="val 18461"/>
            </a:avLst>
          </a:prstGeom>
          <a:solidFill>
            <a:srgbClr val="1B2B48"/>
          </a:solidFill>
          <a:ln>
            <a:noFill/>
          </a:ln>
        </p:spPr>
        <p:txBody>
          <a:bodyPr rtlCol="0" anchor="ctr" wrap="square" lIns="228600" rIns="228600" tIns="228600" bIns="228600">
            <a:noAutofit/>
          </a:bodyPr>
          <a:lstStyle/>
          <a:p>
            <a:pPr algn="ctr"/>
            <a:r>
              <a:rPr sz="1600" b="1" i="0" lang="es-ES">
                <a:solidFill>
                  <a:srgbClr val="F2B134"/>
                </a:solidFill>
                <a:latin typeface="Calibri"/>
              </a:rPr>
              <a:t>Regla: </a:t>
            </a:r>
            <a:r>
              <a:rPr sz="1600" b="0" i="0" lang="es-ES">
                <a:solidFill>
                  <a:srgbClr val="FFFFFF"/>
                </a:solidFill>
                <a:latin typeface="Calibri"/>
              </a:rPr>
              <a:t>una sola línea base vigente, que solo cambia con un cambio aprobado</a:t>
            </a:r>
            <a:endParaRPr lang="es-ES" sz="160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Errores frecuentes al preparar el cronograma</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MS PROJECT · PREPARACIÓN</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20</a:t>
            </a:fld>
            <a:endParaRPr lang="es-ES" sz="1000"/>
          </a:p>
        </p:txBody>
      </p:sp>
      <p:sp>
        <p:nvSpPr>
          <p:cNvPr id="6" name="TextBox 5"/>
          <p:cNvSpPr txBox="1"/>
          <p:nvPr/>
        </p:nvSpPr>
        <p:spPr>
          <a:xfrm>
            <a:off x="1234440" y="1463040"/>
            <a:ext cx="3200400" cy="320040"/>
          </a:xfrm>
          <a:prstGeom prst="rect">
            <a:avLst/>
          </a:prstGeom>
          <a:noFill/>
        </p:spPr>
        <p:txBody>
          <a:bodyPr wrap="square" lIns="0" rIns="0" tIns="0" bIns="0" anchor="t">
            <a:noAutofit/>
          </a:bodyPr>
          <a:lstStyle/>
          <a:p>
            <a:pPr algn="l"/>
            <a:r>
              <a:rPr sz="1200" b="1" i="0" lang="es-ES">
                <a:solidFill>
                  <a:srgbClr val="5A6577"/>
                </a:solidFill>
                <a:latin typeface="Calibri"/>
              </a:rPr>
              <a:t>ERROR</a:t>
            </a:r>
            <a:endParaRPr lang="es-ES" sz="1200"/>
          </a:p>
        </p:txBody>
      </p:sp>
      <p:sp>
        <p:nvSpPr>
          <p:cNvPr id="7" name="TextBox 6"/>
          <p:cNvSpPr txBox="1"/>
          <p:nvPr/>
        </p:nvSpPr>
        <p:spPr>
          <a:xfrm>
            <a:off x="4617720" y="1463040"/>
            <a:ext cx="3383280" cy="320040"/>
          </a:xfrm>
          <a:prstGeom prst="rect">
            <a:avLst/>
          </a:prstGeom>
          <a:noFill/>
        </p:spPr>
        <p:txBody>
          <a:bodyPr wrap="square" lIns="0" rIns="0" tIns="0" bIns="0" anchor="t">
            <a:noAutofit/>
          </a:bodyPr>
          <a:lstStyle/>
          <a:p>
            <a:pPr algn="l"/>
            <a:r>
              <a:rPr sz="1200" b="1" i="0" lang="es-ES">
                <a:solidFill>
                  <a:srgbClr val="5A6577"/>
                </a:solidFill>
                <a:latin typeface="Calibri"/>
              </a:rPr>
              <a:t>EFECTO EN EL LIBRO</a:t>
            </a:r>
            <a:endParaRPr lang="es-ES" sz="1200"/>
          </a:p>
        </p:txBody>
      </p:sp>
      <p:sp>
        <p:nvSpPr>
          <p:cNvPr id="8" name="TextBox 7"/>
          <p:cNvSpPr txBox="1"/>
          <p:nvPr/>
        </p:nvSpPr>
        <p:spPr>
          <a:xfrm>
            <a:off x="8778240" y="1463040"/>
            <a:ext cx="2743200" cy="320040"/>
          </a:xfrm>
          <a:prstGeom prst="rect">
            <a:avLst/>
          </a:prstGeom>
          <a:noFill/>
        </p:spPr>
        <p:txBody>
          <a:bodyPr wrap="square" lIns="0" rIns="0" tIns="0" bIns="0" anchor="t">
            <a:noAutofit/>
          </a:bodyPr>
          <a:lstStyle/>
          <a:p>
            <a:pPr algn="l"/>
            <a:r>
              <a:rPr sz="1200" b="1" i="0" lang="es-ES">
                <a:solidFill>
                  <a:srgbClr val="5A6577"/>
                </a:solidFill>
                <a:latin typeface="Calibri"/>
              </a:rPr>
              <a:t>CORRECCIÓN</a:t>
            </a:r>
            <a:endParaRPr lang="es-ES" sz="1200"/>
          </a:p>
        </p:txBody>
      </p:sp>
      <p:sp>
        <p:nvSpPr>
          <p:cNvPr id="9" name="Rounded Rectangle 8"/>
          <p:cNvSpPr/>
          <p:nvPr/>
        </p:nvSpPr>
        <p:spPr>
          <a:xfrm>
            <a:off x="548640" y="1828800"/>
            <a:ext cx="11064240" cy="777240"/>
          </a:xfrm>
          <a:prstGeom prst="roundRect">
            <a:avLst>
              <a:gd name="adj" fmla="val 9411"/>
            </a:avLst>
          </a:prstGeom>
          <a:solidFill>
            <a:srgbClr val="F3F5F9"/>
          </a:solidFill>
          <a:ln>
            <a:noFill/>
          </a:ln>
        </p:spPr>
        <p:txBody>
          <a:bodyPr rtlCol="0" anchor="ctr" wrap="square" lIns="73152" rIns="73152" tIns="73152" bIns="73152">
            <a:noAutofit/>
          </a:bodyPr>
          <a:lstStyle/>
          <a:p>
            <a:pPr algn="ctr"/>
          </a:p>
        </p:txBody>
      </p:sp>
      <p:sp>
        <p:nvSpPr>
          <p:cNvPr id="10" name="Oval 9"/>
          <p:cNvSpPr/>
          <p:nvPr/>
        </p:nvSpPr>
        <p:spPr>
          <a:xfrm>
            <a:off x="676656" y="2025395"/>
            <a:ext cx="384048" cy="384048"/>
          </a:xfrm>
          <a:prstGeom prst="ellipse">
            <a:avLst/>
          </a:prstGeom>
          <a:solidFill>
            <a:srgbClr val="C0392B"/>
          </a:solidFill>
          <a:ln>
            <a:noFill/>
          </a:ln>
        </p:spPr>
        <p:txBody>
          <a:bodyPr rtlCol="0" anchor="ctr" wrap="square" lIns="0" rIns="0" tIns="0" bIns="0">
            <a:noAutofit/>
          </a:bodyPr>
          <a:lstStyle/>
          <a:p>
            <a:pPr algn="ctr"/>
            <a:r>
              <a:rPr sz="1400" b="1" i="0" lang="es-ES">
                <a:solidFill>
                  <a:srgbClr val="FFFFFF"/>
                </a:solidFill>
                <a:latin typeface="Calibri"/>
              </a:rPr>
              <a:t>✗</a:t>
            </a:r>
            <a:endParaRPr lang="es-ES" sz="1400"/>
          </a:p>
        </p:txBody>
      </p:sp>
      <p:sp>
        <p:nvSpPr>
          <p:cNvPr id="11" name="TextBox 10"/>
          <p:cNvSpPr txBox="1"/>
          <p:nvPr/>
        </p:nvSpPr>
        <p:spPr>
          <a:xfrm>
            <a:off x="1234440" y="1828800"/>
            <a:ext cx="3246120" cy="777240"/>
          </a:xfrm>
          <a:prstGeom prst="rect">
            <a:avLst/>
          </a:prstGeom>
          <a:noFill/>
        </p:spPr>
        <p:txBody>
          <a:bodyPr wrap="square" lIns="0" rIns="0" tIns="0" bIns="0" anchor="ctr">
            <a:noAutofit/>
          </a:bodyPr>
          <a:lstStyle/>
          <a:p>
            <a:pPr algn="l"/>
            <a:r>
              <a:rPr sz="1400" b="1" i="0" lang="es-ES">
                <a:solidFill>
                  <a:srgbClr val="1B2B48"/>
                </a:solidFill>
                <a:latin typeface="Calibri"/>
              </a:rPr>
              <a:t>Hitos con pesos que suman más de 100</a:t>
            </a:r>
            <a:endParaRPr lang="es-ES" sz="1400"/>
          </a:p>
        </p:txBody>
      </p:sp>
      <p:sp>
        <p:nvSpPr>
          <p:cNvPr id="12" name="TextBox 11"/>
          <p:cNvSpPr txBox="1"/>
          <p:nvPr/>
        </p:nvSpPr>
        <p:spPr>
          <a:xfrm>
            <a:off x="4617720" y="1828800"/>
            <a:ext cx="3429000" cy="777240"/>
          </a:xfrm>
          <a:prstGeom prst="rect">
            <a:avLst/>
          </a:prstGeom>
          <a:noFill/>
        </p:spPr>
        <p:txBody>
          <a:bodyPr wrap="square" lIns="0" rIns="0" tIns="0" bIns="0" anchor="ctr">
            <a:noAutofit/>
          </a:bodyPr>
          <a:lstStyle/>
          <a:p>
            <a:pPr algn="l"/>
            <a:r>
              <a:rPr sz="1400" b="0" i="0" lang="es-ES">
                <a:solidFill>
                  <a:srgbClr val="5A6577"/>
                </a:solidFill>
                <a:latin typeface="Calibri"/>
              </a:rPr>
              <a:t>Se escalan a 100 %; las tareas quedan sin PV</a:t>
            </a:r>
            <a:endParaRPr lang="es-ES" sz="1400"/>
          </a:p>
        </p:txBody>
      </p:sp>
      <p:sp>
        <p:nvSpPr>
          <p:cNvPr id="13" name="Oval 12"/>
          <p:cNvSpPr/>
          <p:nvPr/>
        </p:nvSpPr>
        <p:spPr>
          <a:xfrm>
            <a:off x="8220455" y="2025395"/>
            <a:ext cx="384048" cy="384048"/>
          </a:xfrm>
          <a:prstGeom prst="ellipse">
            <a:avLst/>
          </a:prstGeom>
          <a:solidFill>
            <a:srgbClr val="4E8A3E"/>
          </a:solidFill>
          <a:ln>
            <a:noFill/>
          </a:ln>
        </p:spPr>
        <p:txBody>
          <a:bodyPr rtlCol="0" anchor="ctr" wrap="square" lIns="0" rIns="0" tIns="0" bIns="0">
            <a:noAutofit/>
          </a:bodyPr>
          <a:lstStyle/>
          <a:p>
            <a:pPr algn="ctr"/>
            <a:r>
              <a:rPr sz="1400" b="1" i="0" lang="es-ES">
                <a:solidFill>
                  <a:srgbClr val="FFFFFF"/>
                </a:solidFill>
                <a:latin typeface="Calibri"/>
              </a:rPr>
              <a:t>✓</a:t>
            </a:r>
            <a:endParaRPr lang="es-ES" sz="1400"/>
          </a:p>
        </p:txBody>
      </p:sp>
      <p:sp>
        <p:nvSpPr>
          <p:cNvPr id="14" name="TextBox 13"/>
          <p:cNvSpPr txBox="1"/>
          <p:nvPr/>
        </p:nvSpPr>
        <p:spPr>
          <a:xfrm>
            <a:off x="8778240" y="1828800"/>
            <a:ext cx="2743200" cy="777240"/>
          </a:xfrm>
          <a:prstGeom prst="rect">
            <a:avLst/>
          </a:prstGeom>
          <a:noFill/>
        </p:spPr>
        <p:txBody>
          <a:bodyPr wrap="square" lIns="0" rIns="0" tIns="0" bIns="0" anchor="ctr">
            <a:noAutofit/>
          </a:bodyPr>
          <a:lstStyle/>
          <a:p>
            <a:pPr algn="l"/>
            <a:r>
              <a:rPr sz="1400" b="0" i="0" lang="es-ES">
                <a:solidFill>
                  <a:srgbClr val="1B2B48"/>
                </a:solidFill>
                <a:latin typeface="Calibri"/>
              </a:rPr>
              <a:t>Revisar los pesos: que sumen 100 o menos</a:t>
            </a:r>
            <a:endParaRPr lang="es-ES" sz="1400"/>
          </a:p>
        </p:txBody>
      </p:sp>
      <p:sp>
        <p:nvSpPr>
          <p:cNvPr id="15" name="Rounded Rectangle 14"/>
          <p:cNvSpPr/>
          <p:nvPr/>
        </p:nvSpPr>
        <p:spPr>
          <a:xfrm>
            <a:off x="548640" y="2697480"/>
            <a:ext cx="11064240" cy="777240"/>
          </a:xfrm>
          <a:prstGeom prst="roundRect">
            <a:avLst>
              <a:gd name="adj" fmla="val 9411"/>
            </a:avLst>
          </a:prstGeom>
          <a:solidFill>
            <a:srgbClr val="FFFFFF"/>
          </a:solidFill>
          <a:ln w="12700">
            <a:solidFill>
              <a:srgbClr val="D5DBE5"/>
            </a:solidFill>
          </a:ln>
        </p:spPr>
        <p:txBody>
          <a:bodyPr rtlCol="0" anchor="ctr" wrap="square" lIns="73152" rIns="73152" tIns="73152" bIns="73152">
            <a:noAutofit/>
          </a:bodyPr>
          <a:lstStyle/>
          <a:p>
            <a:pPr algn="ctr"/>
          </a:p>
        </p:txBody>
      </p:sp>
      <p:sp>
        <p:nvSpPr>
          <p:cNvPr id="16" name="Oval 15"/>
          <p:cNvSpPr/>
          <p:nvPr/>
        </p:nvSpPr>
        <p:spPr>
          <a:xfrm>
            <a:off x="676656" y="2894076"/>
            <a:ext cx="384048" cy="384048"/>
          </a:xfrm>
          <a:prstGeom prst="ellipse">
            <a:avLst/>
          </a:prstGeom>
          <a:solidFill>
            <a:srgbClr val="C0392B"/>
          </a:solidFill>
          <a:ln>
            <a:noFill/>
          </a:ln>
        </p:spPr>
        <p:txBody>
          <a:bodyPr rtlCol="0" anchor="ctr" wrap="square" lIns="0" rIns="0" tIns="0" bIns="0">
            <a:noAutofit/>
          </a:bodyPr>
          <a:lstStyle/>
          <a:p>
            <a:pPr algn="ctr"/>
            <a:r>
              <a:rPr sz="1400" b="1" i="0" lang="es-ES">
                <a:solidFill>
                  <a:srgbClr val="FFFFFF"/>
                </a:solidFill>
                <a:latin typeface="Calibri"/>
              </a:rPr>
              <a:t>✗</a:t>
            </a:r>
            <a:endParaRPr lang="es-ES" sz="1400"/>
          </a:p>
        </p:txBody>
      </p:sp>
      <p:sp>
        <p:nvSpPr>
          <p:cNvPr id="17" name="TextBox 16"/>
          <p:cNvSpPr txBox="1"/>
          <p:nvPr/>
        </p:nvSpPr>
        <p:spPr>
          <a:xfrm>
            <a:off x="1234440" y="2697480"/>
            <a:ext cx="3246120" cy="777240"/>
          </a:xfrm>
          <a:prstGeom prst="rect">
            <a:avLst/>
          </a:prstGeom>
          <a:noFill/>
        </p:spPr>
        <p:txBody>
          <a:bodyPr wrap="square" lIns="0" rIns="0" tIns="0" bIns="0" anchor="ctr">
            <a:noAutofit/>
          </a:bodyPr>
          <a:lstStyle/>
          <a:p>
            <a:pPr algn="l"/>
            <a:r>
              <a:rPr sz="1400" b="1" i="0" lang="es-ES">
                <a:solidFill>
                  <a:srgbClr val="1B2B48"/>
                </a:solidFill>
                <a:latin typeface="Calibri"/>
              </a:rPr>
              <a:t>Tareas agregadas después de la línea base</a:t>
            </a:r>
            <a:endParaRPr lang="es-ES" sz="1400"/>
          </a:p>
        </p:txBody>
      </p:sp>
      <p:sp>
        <p:nvSpPr>
          <p:cNvPr id="18" name="TextBox 17"/>
          <p:cNvSpPr txBox="1"/>
          <p:nvPr/>
        </p:nvSpPr>
        <p:spPr>
          <a:xfrm>
            <a:off x="4617720" y="2697480"/>
            <a:ext cx="3429000" cy="777240"/>
          </a:xfrm>
          <a:prstGeom prst="rect">
            <a:avLst/>
          </a:prstGeom>
          <a:noFill/>
        </p:spPr>
        <p:txBody>
          <a:bodyPr wrap="square" lIns="0" rIns="0" tIns="0" bIns="0" anchor="ctr">
            <a:noAutofit/>
          </a:bodyPr>
          <a:lstStyle/>
          <a:p>
            <a:pPr algn="l"/>
            <a:r>
              <a:rPr sz="1400" b="0" i="0" lang="es-ES">
                <a:solidFill>
                  <a:srgbClr val="5A6577"/>
                </a:solidFill>
                <a:latin typeface="Calibri"/>
              </a:rPr>
              <a:t>Se usan sus fechas actuales (aviso)</a:t>
            </a:r>
            <a:endParaRPr lang="es-ES" sz="1400"/>
          </a:p>
        </p:txBody>
      </p:sp>
      <p:sp>
        <p:nvSpPr>
          <p:cNvPr id="19" name="Oval 18"/>
          <p:cNvSpPr/>
          <p:nvPr/>
        </p:nvSpPr>
        <p:spPr>
          <a:xfrm>
            <a:off x="8220455" y="2894076"/>
            <a:ext cx="384048" cy="384048"/>
          </a:xfrm>
          <a:prstGeom prst="ellipse">
            <a:avLst/>
          </a:prstGeom>
          <a:solidFill>
            <a:srgbClr val="4E8A3E"/>
          </a:solidFill>
          <a:ln>
            <a:noFill/>
          </a:ln>
        </p:spPr>
        <p:txBody>
          <a:bodyPr rtlCol="0" anchor="ctr" wrap="square" lIns="0" rIns="0" tIns="0" bIns="0">
            <a:noAutofit/>
          </a:bodyPr>
          <a:lstStyle/>
          <a:p>
            <a:pPr algn="ctr"/>
            <a:r>
              <a:rPr sz="1400" b="1" i="0" lang="es-ES">
                <a:solidFill>
                  <a:srgbClr val="FFFFFF"/>
                </a:solidFill>
                <a:latin typeface="Calibri"/>
              </a:rPr>
              <a:t>✓</a:t>
            </a:r>
            <a:endParaRPr lang="es-ES" sz="1400"/>
          </a:p>
        </p:txBody>
      </p:sp>
      <p:sp>
        <p:nvSpPr>
          <p:cNvPr id="20" name="TextBox 19"/>
          <p:cNvSpPr txBox="1"/>
          <p:nvPr/>
        </p:nvSpPr>
        <p:spPr>
          <a:xfrm>
            <a:off x="8778240" y="2697480"/>
            <a:ext cx="2743200" cy="777240"/>
          </a:xfrm>
          <a:prstGeom prst="rect">
            <a:avLst/>
          </a:prstGeom>
          <a:noFill/>
        </p:spPr>
        <p:txBody>
          <a:bodyPr wrap="square" lIns="0" rIns="0" tIns="0" bIns="0" anchor="ctr">
            <a:noAutofit/>
          </a:bodyPr>
          <a:lstStyle/>
          <a:p>
            <a:pPr algn="l"/>
            <a:r>
              <a:rPr sz="1400" b="0" i="0" lang="es-ES">
                <a:solidFill>
                  <a:srgbClr val="1B2B48"/>
                </a:solidFill>
                <a:latin typeface="Calibri"/>
              </a:rPr>
              <a:t>Si están aprobadas: línea base de tareas seleccionadas</a:t>
            </a:r>
            <a:endParaRPr lang="es-ES" sz="1400"/>
          </a:p>
        </p:txBody>
      </p:sp>
      <p:sp>
        <p:nvSpPr>
          <p:cNvPr id="21" name="Rounded Rectangle 20"/>
          <p:cNvSpPr/>
          <p:nvPr/>
        </p:nvSpPr>
        <p:spPr>
          <a:xfrm>
            <a:off x="548640" y="3566160"/>
            <a:ext cx="11064240" cy="777240"/>
          </a:xfrm>
          <a:prstGeom prst="roundRect">
            <a:avLst>
              <a:gd name="adj" fmla="val 9411"/>
            </a:avLst>
          </a:prstGeom>
          <a:solidFill>
            <a:srgbClr val="F3F5F9"/>
          </a:solidFill>
          <a:ln>
            <a:noFill/>
          </a:ln>
        </p:spPr>
        <p:txBody>
          <a:bodyPr rtlCol="0" anchor="ctr" wrap="square" lIns="73152" rIns="73152" tIns="73152" bIns="73152">
            <a:noAutofit/>
          </a:bodyPr>
          <a:lstStyle/>
          <a:p>
            <a:pPr algn="ctr"/>
          </a:p>
        </p:txBody>
      </p:sp>
      <p:sp>
        <p:nvSpPr>
          <p:cNvPr id="22" name="Oval 21"/>
          <p:cNvSpPr/>
          <p:nvPr/>
        </p:nvSpPr>
        <p:spPr>
          <a:xfrm>
            <a:off x="676656" y="3762756"/>
            <a:ext cx="384048" cy="384048"/>
          </a:xfrm>
          <a:prstGeom prst="ellipse">
            <a:avLst/>
          </a:prstGeom>
          <a:solidFill>
            <a:srgbClr val="C0392B"/>
          </a:solidFill>
          <a:ln>
            <a:noFill/>
          </a:ln>
        </p:spPr>
        <p:txBody>
          <a:bodyPr rtlCol="0" anchor="ctr" wrap="square" lIns="0" rIns="0" tIns="0" bIns="0">
            <a:noAutofit/>
          </a:bodyPr>
          <a:lstStyle/>
          <a:p>
            <a:pPr algn="ctr"/>
            <a:r>
              <a:rPr sz="1400" b="1" i="0" lang="es-ES">
                <a:solidFill>
                  <a:srgbClr val="FFFFFF"/>
                </a:solidFill>
                <a:latin typeface="Calibri"/>
              </a:rPr>
              <a:t>✗</a:t>
            </a:r>
            <a:endParaRPr lang="es-ES" sz="1400"/>
          </a:p>
        </p:txBody>
      </p:sp>
      <p:sp>
        <p:nvSpPr>
          <p:cNvPr id="23" name="TextBox 22"/>
          <p:cNvSpPr txBox="1"/>
          <p:nvPr/>
        </p:nvSpPr>
        <p:spPr>
          <a:xfrm>
            <a:off x="1234440" y="3566160"/>
            <a:ext cx="3246120" cy="777240"/>
          </a:xfrm>
          <a:prstGeom prst="rect">
            <a:avLst/>
          </a:prstGeom>
          <a:noFill/>
        </p:spPr>
        <p:txBody>
          <a:bodyPr wrap="square" lIns="0" rIns="0" tIns="0" bIns="0" anchor="ctr">
            <a:noAutofit/>
          </a:bodyPr>
          <a:lstStyle/>
          <a:p>
            <a:pPr algn="l"/>
            <a:r>
              <a:rPr sz="1400" b="1" i="0" lang="es-ES">
                <a:solidFill>
                  <a:srgbClr val="1B2B48"/>
                </a:solidFill>
                <a:latin typeface="Calibri"/>
              </a:rPr>
              <a:t>Tareas largas de poco valor</a:t>
            </a:r>
            <a:endParaRPr lang="es-ES" sz="1400"/>
          </a:p>
        </p:txBody>
      </p:sp>
      <p:sp>
        <p:nvSpPr>
          <p:cNvPr id="24" name="TextBox 23"/>
          <p:cNvSpPr txBox="1"/>
          <p:nvPr/>
        </p:nvSpPr>
        <p:spPr>
          <a:xfrm>
            <a:off x="4617720" y="3566160"/>
            <a:ext cx="3429000" cy="777240"/>
          </a:xfrm>
          <a:prstGeom prst="rect">
            <a:avLst/>
          </a:prstGeom>
          <a:noFill/>
        </p:spPr>
        <p:txBody>
          <a:bodyPr wrap="square" lIns="0" rIns="0" tIns="0" bIns="0" anchor="ctr">
            <a:noAutofit/>
          </a:bodyPr>
          <a:lstStyle/>
          <a:p>
            <a:pPr algn="l"/>
            <a:r>
              <a:rPr sz="1400" b="0" i="0" lang="es-ES">
                <a:solidFill>
                  <a:srgbClr val="5A6577"/>
                </a:solidFill>
                <a:latin typeface="Calibri"/>
              </a:rPr>
              <a:t>La curva PV pesa la duración, no el valor</a:t>
            </a:r>
            <a:endParaRPr lang="es-ES" sz="1400"/>
          </a:p>
        </p:txBody>
      </p:sp>
      <p:sp>
        <p:nvSpPr>
          <p:cNvPr id="25" name="Oval 24"/>
          <p:cNvSpPr/>
          <p:nvPr/>
        </p:nvSpPr>
        <p:spPr>
          <a:xfrm>
            <a:off x="8220455" y="3762756"/>
            <a:ext cx="384048" cy="384048"/>
          </a:xfrm>
          <a:prstGeom prst="ellipse">
            <a:avLst/>
          </a:prstGeom>
          <a:solidFill>
            <a:srgbClr val="4E8A3E"/>
          </a:solidFill>
          <a:ln>
            <a:noFill/>
          </a:ln>
        </p:spPr>
        <p:txBody>
          <a:bodyPr rtlCol="0" anchor="ctr" wrap="square" lIns="0" rIns="0" tIns="0" bIns="0">
            <a:noAutofit/>
          </a:bodyPr>
          <a:lstStyle/>
          <a:p>
            <a:pPr algn="ctr"/>
            <a:r>
              <a:rPr sz="1400" b="1" i="0" lang="es-ES">
                <a:solidFill>
                  <a:srgbClr val="FFFFFF"/>
                </a:solidFill>
                <a:latin typeface="Calibri"/>
              </a:rPr>
              <a:t>✓</a:t>
            </a:r>
            <a:endParaRPr lang="es-ES" sz="1400"/>
          </a:p>
        </p:txBody>
      </p:sp>
      <p:sp>
        <p:nvSpPr>
          <p:cNvPr id="26" name="TextBox 25"/>
          <p:cNvSpPr txBox="1"/>
          <p:nvPr/>
        </p:nvSpPr>
        <p:spPr>
          <a:xfrm>
            <a:off x="8778240" y="3566160"/>
            <a:ext cx="2743200" cy="777240"/>
          </a:xfrm>
          <a:prstGeom prst="rect">
            <a:avLst/>
          </a:prstGeom>
          <a:noFill/>
        </p:spPr>
        <p:txBody>
          <a:bodyPr wrap="square" lIns="0" rIns="0" tIns="0" bIns="0" anchor="ctr">
            <a:noAutofit/>
          </a:bodyPr>
          <a:lstStyle/>
          <a:p>
            <a:pPr algn="l"/>
            <a:r>
              <a:rPr sz="1400" b="0" i="0" lang="es-ES">
                <a:solidFill>
                  <a:srgbClr val="1B2B48"/>
                </a:solidFill>
                <a:latin typeface="Calibri"/>
              </a:rPr>
              <a:t>Dividir el paquete o usar hitos con peso</a:t>
            </a:r>
            <a:endParaRPr lang="es-ES" sz="1400"/>
          </a:p>
        </p:txBody>
      </p:sp>
      <p:sp>
        <p:nvSpPr>
          <p:cNvPr id="27" name="Rounded Rectangle 26"/>
          <p:cNvSpPr/>
          <p:nvPr/>
        </p:nvSpPr>
        <p:spPr>
          <a:xfrm>
            <a:off x="548640" y="4434840"/>
            <a:ext cx="11064240" cy="777240"/>
          </a:xfrm>
          <a:prstGeom prst="roundRect">
            <a:avLst>
              <a:gd name="adj" fmla="val 9411"/>
            </a:avLst>
          </a:prstGeom>
          <a:solidFill>
            <a:srgbClr val="FFFFFF"/>
          </a:solidFill>
          <a:ln w="12700">
            <a:solidFill>
              <a:srgbClr val="D5DBE5"/>
            </a:solidFill>
          </a:ln>
        </p:spPr>
        <p:txBody>
          <a:bodyPr rtlCol="0" anchor="ctr" wrap="square" lIns="73152" rIns="73152" tIns="73152" bIns="73152">
            <a:noAutofit/>
          </a:bodyPr>
          <a:lstStyle/>
          <a:p>
            <a:pPr algn="ctr"/>
          </a:p>
        </p:txBody>
      </p:sp>
      <p:sp>
        <p:nvSpPr>
          <p:cNvPr id="28" name="Oval 27"/>
          <p:cNvSpPr/>
          <p:nvPr/>
        </p:nvSpPr>
        <p:spPr>
          <a:xfrm>
            <a:off x="676656" y="4631436"/>
            <a:ext cx="384048" cy="384048"/>
          </a:xfrm>
          <a:prstGeom prst="ellipse">
            <a:avLst/>
          </a:prstGeom>
          <a:solidFill>
            <a:srgbClr val="C0392B"/>
          </a:solidFill>
          <a:ln>
            <a:noFill/>
          </a:ln>
        </p:spPr>
        <p:txBody>
          <a:bodyPr rtlCol="0" anchor="ctr" wrap="square" lIns="0" rIns="0" tIns="0" bIns="0">
            <a:noAutofit/>
          </a:bodyPr>
          <a:lstStyle/>
          <a:p>
            <a:pPr algn="ctr"/>
            <a:r>
              <a:rPr sz="1400" b="1" i="0" lang="es-ES">
                <a:solidFill>
                  <a:srgbClr val="FFFFFF"/>
                </a:solidFill>
                <a:latin typeface="Calibri"/>
              </a:rPr>
              <a:t>✗</a:t>
            </a:r>
            <a:endParaRPr lang="es-ES" sz="1400"/>
          </a:p>
        </p:txBody>
      </p:sp>
      <p:sp>
        <p:nvSpPr>
          <p:cNvPr id="29" name="TextBox 28"/>
          <p:cNvSpPr txBox="1"/>
          <p:nvPr/>
        </p:nvSpPr>
        <p:spPr>
          <a:xfrm>
            <a:off x="1234440" y="4434840"/>
            <a:ext cx="3246120" cy="777240"/>
          </a:xfrm>
          <a:prstGeom prst="rect">
            <a:avLst/>
          </a:prstGeom>
          <a:noFill/>
        </p:spPr>
        <p:txBody>
          <a:bodyPr wrap="square" lIns="0" rIns="0" tIns="0" bIns="0" anchor="ctr">
            <a:noAutofit/>
          </a:bodyPr>
          <a:lstStyle/>
          <a:p>
            <a:pPr algn="l"/>
            <a:r>
              <a:rPr sz="1400" b="1" i="0" lang="es-ES">
                <a:solidFill>
                  <a:srgbClr val="1B2B48"/>
                </a:solidFill>
                <a:latin typeface="Calibri"/>
              </a:rPr>
              <a:t>BAC sin ingresar en el libro</a:t>
            </a:r>
            <a:endParaRPr lang="es-ES" sz="1400"/>
          </a:p>
        </p:txBody>
      </p:sp>
      <p:sp>
        <p:nvSpPr>
          <p:cNvPr id="30" name="TextBox 29"/>
          <p:cNvSpPr txBox="1"/>
          <p:nvPr/>
        </p:nvSpPr>
        <p:spPr>
          <a:xfrm>
            <a:off x="4617720" y="4434840"/>
            <a:ext cx="3429000" cy="777240"/>
          </a:xfrm>
          <a:prstGeom prst="rect">
            <a:avLst/>
          </a:prstGeom>
          <a:noFill/>
        </p:spPr>
        <p:txBody>
          <a:bodyPr wrap="square" lIns="0" rIns="0" tIns="0" bIns="0" anchor="ctr">
            <a:noAutofit/>
          </a:bodyPr>
          <a:lstStyle/>
          <a:p>
            <a:pPr algn="l"/>
            <a:r>
              <a:rPr sz="1400" b="0" i="0" lang="es-ES">
                <a:solidFill>
                  <a:srgbClr val="5A6577"/>
                </a:solidFill>
                <a:latin typeface="Calibri"/>
              </a:rPr>
              <a:t>PV y EV en 0; actualizar avisa</a:t>
            </a:r>
            <a:endParaRPr lang="es-ES" sz="1400"/>
          </a:p>
        </p:txBody>
      </p:sp>
      <p:sp>
        <p:nvSpPr>
          <p:cNvPr id="31" name="Oval 30"/>
          <p:cNvSpPr/>
          <p:nvPr/>
        </p:nvSpPr>
        <p:spPr>
          <a:xfrm>
            <a:off x="8220455" y="4631436"/>
            <a:ext cx="384048" cy="384048"/>
          </a:xfrm>
          <a:prstGeom prst="ellipse">
            <a:avLst/>
          </a:prstGeom>
          <a:solidFill>
            <a:srgbClr val="4E8A3E"/>
          </a:solidFill>
          <a:ln>
            <a:noFill/>
          </a:ln>
        </p:spPr>
        <p:txBody>
          <a:bodyPr rtlCol="0" anchor="ctr" wrap="square" lIns="0" rIns="0" tIns="0" bIns="0">
            <a:noAutofit/>
          </a:bodyPr>
          <a:lstStyle/>
          <a:p>
            <a:pPr algn="ctr"/>
            <a:r>
              <a:rPr sz="1400" b="1" i="0" lang="es-ES">
                <a:solidFill>
                  <a:srgbClr val="FFFFFF"/>
                </a:solidFill>
                <a:latin typeface="Calibri"/>
              </a:rPr>
              <a:t>✓</a:t>
            </a:r>
            <a:endParaRPr lang="es-ES" sz="1400"/>
          </a:p>
        </p:txBody>
      </p:sp>
      <p:sp>
        <p:nvSpPr>
          <p:cNvPr id="32" name="TextBox 31"/>
          <p:cNvSpPr txBox="1"/>
          <p:nvPr/>
        </p:nvSpPr>
        <p:spPr>
          <a:xfrm>
            <a:off x="8778240" y="4434840"/>
            <a:ext cx="2743200" cy="777240"/>
          </a:xfrm>
          <a:prstGeom prst="rect">
            <a:avLst/>
          </a:prstGeom>
          <a:noFill/>
        </p:spPr>
        <p:txBody>
          <a:bodyPr wrap="square" lIns="0" rIns="0" tIns="0" bIns="0" anchor="ctr">
            <a:noAutofit/>
          </a:bodyPr>
          <a:lstStyle/>
          <a:p>
            <a:pPr algn="l"/>
            <a:r>
              <a:rPr sz="1400" b="0" i="0" lang="es-ES">
                <a:solidFill>
                  <a:srgbClr val="1B2B48"/>
                </a:solidFill>
                <a:latin typeface="Calibri"/>
              </a:rPr>
              <a:t>Ingresarlo en la columna D (celdas amarillas)</a:t>
            </a:r>
            <a:endParaRPr lang="es-ES" sz="1400"/>
          </a:p>
        </p:txBody>
      </p:sp>
      <p:sp>
        <p:nvSpPr>
          <p:cNvPr id="33" name="Rounded Rectangle 32"/>
          <p:cNvSpPr/>
          <p:nvPr/>
        </p:nvSpPr>
        <p:spPr>
          <a:xfrm>
            <a:off x="548640" y="5303520"/>
            <a:ext cx="11064240" cy="777240"/>
          </a:xfrm>
          <a:prstGeom prst="roundRect">
            <a:avLst>
              <a:gd name="adj" fmla="val 9411"/>
            </a:avLst>
          </a:prstGeom>
          <a:solidFill>
            <a:srgbClr val="F3F5F9"/>
          </a:solidFill>
          <a:ln>
            <a:noFill/>
          </a:ln>
        </p:spPr>
        <p:txBody>
          <a:bodyPr rtlCol="0" anchor="ctr" wrap="square" lIns="73152" rIns="73152" tIns="73152" bIns="73152">
            <a:noAutofit/>
          </a:bodyPr>
          <a:lstStyle/>
          <a:p>
            <a:pPr algn="ctr"/>
          </a:p>
        </p:txBody>
      </p:sp>
      <p:sp>
        <p:nvSpPr>
          <p:cNvPr id="34" name="Oval 33"/>
          <p:cNvSpPr/>
          <p:nvPr/>
        </p:nvSpPr>
        <p:spPr>
          <a:xfrm>
            <a:off x="676656" y="5500116"/>
            <a:ext cx="384048" cy="384048"/>
          </a:xfrm>
          <a:prstGeom prst="ellipse">
            <a:avLst/>
          </a:prstGeom>
          <a:solidFill>
            <a:srgbClr val="C0392B"/>
          </a:solidFill>
          <a:ln>
            <a:noFill/>
          </a:ln>
        </p:spPr>
        <p:txBody>
          <a:bodyPr rtlCol="0" anchor="ctr" wrap="square" lIns="0" rIns="0" tIns="0" bIns="0">
            <a:noAutofit/>
          </a:bodyPr>
          <a:lstStyle/>
          <a:p>
            <a:pPr algn="ctr"/>
            <a:r>
              <a:rPr sz="1400" b="1" i="0" lang="es-ES">
                <a:solidFill>
                  <a:srgbClr val="FFFFFF"/>
                </a:solidFill>
                <a:latin typeface="Calibri"/>
              </a:rPr>
              <a:t>✗</a:t>
            </a:r>
            <a:endParaRPr lang="es-ES" sz="1400"/>
          </a:p>
        </p:txBody>
      </p:sp>
      <p:sp>
        <p:nvSpPr>
          <p:cNvPr id="35" name="TextBox 34"/>
          <p:cNvSpPr txBox="1"/>
          <p:nvPr/>
        </p:nvSpPr>
        <p:spPr>
          <a:xfrm>
            <a:off x="1234440" y="5303520"/>
            <a:ext cx="3246120" cy="777240"/>
          </a:xfrm>
          <a:prstGeom prst="rect">
            <a:avLst/>
          </a:prstGeom>
          <a:noFill/>
        </p:spPr>
        <p:txBody>
          <a:bodyPr wrap="square" lIns="0" rIns="0" tIns="0" bIns="0" anchor="ctr">
            <a:noAutofit/>
          </a:bodyPr>
          <a:lstStyle/>
          <a:p>
            <a:pPr algn="l"/>
            <a:r>
              <a:rPr sz="1400" b="1" i="0" lang="es-ES">
                <a:solidFill>
                  <a:srgbClr val="1B2B48"/>
                </a:solidFill>
                <a:latin typeface="Calibri"/>
              </a:rPr>
              <a:t>Tareas sin código EDT ni elemento superior</a:t>
            </a:r>
            <a:endParaRPr lang="es-ES" sz="1400"/>
          </a:p>
        </p:txBody>
      </p:sp>
      <p:sp>
        <p:nvSpPr>
          <p:cNvPr id="36" name="TextBox 35"/>
          <p:cNvSpPr txBox="1"/>
          <p:nvPr/>
        </p:nvSpPr>
        <p:spPr>
          <a:xfrm>
            <a:off x="4617720" y="5303520"/>
            <a:ext cx="3429000" cy="777240"/>
          </a:xfrm>
          <a:prstGeom prst="rect">
            <a:avLst/>
          </a:prstGeom>
          <a:noFill/>
        </p:spPr>
        <p:txBody>
          <a:bodyPr wrap="square" lIns="0" rIns="0" tIns="0" bIns="0" anchor="ctr">
            <a:noAutofit/>
          </a:bodyPr>
          <a:lstStyle/>
          <a:p>
            <a:pPr algn="l"/>
            <a:r>
              <a:rPr sz="1400" b="0" i="0" lang="es-ES">
                <a:solidFill>
                  <a:srgbClr val="5A6577"/>
                </a:solidFill>
                <a:latin typeface="Calibri"/>
              </a:rPr>
              <a:t>Se omiten (aviso)</a:t>
            </a:r>
            <a:endParaRPr lang="es-ES" sz="1400"/>
          </a:p>
        </p:txBody>
      </p:sp>
      <p:sp>
        <p:nvSpPr>
          <p:cNvPr id="37" name="Oval 36"/>
          <p:cNvSpPr/>
          <p:nvPr/>
        </p:nvSpPr>
        <p:spPr>
          <a:xfrm>
            <a:off x="8220455" y="5500116"/>
            <a:ext cx="384048" cy="384048"/>
          </a:xfrm>
          <a:prstGeom prst="ellipse">
            <a:avLst/>
          </a:prstGeom>
          <a:solidFill>
            <a:srgbClr val="4E8A3E"/>
          </a:solidFill>
          <a:ln>
            <a:noFill/>
          </a:ln>
        </p:spPr>
        <p:txBody>
          <a:bodyPr rtlCol="0" anchor="ctr" wrap="square" lIns="0" rIns="0" tIns="0" bIns="0">
            <a:noAutofit/>
          </a:bodyPr>
          <a:lstStyle/>
          <a:p>
            <a:pPr algn="ctr"/>
            <a:r>
              <a:rPr sz="1400" b="1" i="0" lang="es-ES">
                <a:solidFill>
                  <a:srgbClr val="FFFFFF"/>
                </a:solidFill>
                <a:latin typeface="Calibri"/>
              </a:rPr>
              <a:t>✓</a:t>
            </a:r>
            <a:endParaRPr lang="es-ES" sz="1400"/>
          </a:p>
        </p:txBody>
      </p:sp>
      <p:sp>
        <p:nvSpPr>
          <p:cNvPr id="38" name="TextBox 37"/>
          <p:cNvSpPr txBox="1"/>
          <p:nvPr/>
        </p:nvSpPr>
        <p:spPr>
          <a:xfrm>
            <a:off x="8778240" y="5303520"/>
            <a:ext cx="2743200" cy="777240"/>
          </a:xfrm>
          <a:prstGeom prst="rect">
            <a:avLst/>
          </a:prstGeom>
          <a:noFill/>
        </p:spPr>
        <p:txBody>
          <a:bodyPr wrap="square" lIns="0" rIns="0" tIns="0" bIns="0" anchor="ctr">
            <a:noAutofit/>
          </a:bodyPr>
          <a:lstStyle/>
          <a:p>
            <a:pPr algn="l"/>
            <a:r>
              <a:rPr sz="1400" b="0" i="0" lang="es-ES">
                <a:solidFill>
                  <a:srgbClr val="1B2B48"/>
                </a:solidFill>
                <a:latin typeface="Calibri"/>
              </a:rPr>
              <a:t>Moverlas bajo un elemento o darles código</a:t>
            </a:r>
            <a:endParaRPr lang="es-ES" sz="140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Método de medición: mismo avance, distinto EV</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MS PROJECT · AVANCE</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21</a:t>
            </a:fld>
            <a:endParaRPr lang="es-ES" sz="1000"/>
          </a:p>
        </p:txBody>
      </p:sp>
      <p:sp>
        <p:nvSpPr>
          <p:cNvPr id="6" name="Rounded Rectangle 5"/>
          <p:cNvSpPr/>
          <p:nvPr/>
        </p:nvSpPr>
        <p:spPr>
          <a:xfrm>
            <a:off x="548640" y="1417320"/>
            <a:ext cx="11064240" cy="1234440"/>
          </a:xfrm>
          <a:prstGeom prst="roundRect">
            <a:avLst>
              <a:gd name="adj" fmla="val 8888"/>
            </a:avLst>
          </a:prstGeom>
          <a:solidFill>
            <a:srgbClr val="F3F5F9"/>
          </a:solidFill>
          <a:ln>
            <a:noFill/>
          </a:ln>
        </p:spPr>
        <p:txBody>
          <a:bodyPr rtlCol="0" anchor="ctr" wrap="square" lIns="73152" rIns="73152" tIns="73152" bIns="73152">
            <a:noAutofit/>
          </a:bodyPr>
          <a:lstStyle/>
          <a:p>
            <a:pPr algn="ctr"/>
          </a:p>
        </p:txBody>
      </p:sp>
      <p:sp>
        <p:nvSpPr>
          <p:cNvPr id="7" name="TextBox 6"/>
          <p:cNvSpPr txBox="1"/>
          <p:nvPr/>
        </p:nvSpPr>
        <p:spPr>
          <a:xfrm>
            <a:off x="777240" y="1508760"/>
            <a:ext cx="3291840" cy="365760"/>
          </a:xfrm>
          <a:prstGeom prst="rect">
            <a:avLst/>
          </a:prstGeom>
          <a:noFill/>
        </p:spPr>
        <p:txBody>
          <a:bodyPr wrap="square" lIns="0" rIns="0" tIns="0" bIns="0" anchor="t">
            <a:noAutofit/>
          </a:bodyPr>
          <a:lstStyle/>
          <a:p>
            <a:pPr algn="l"/>
            <a:r>
              <a:rPr sz="1800" b="1" i="0" lang="es-ES">
                <a:solidFill>
                  <a:srgbClr val="1B2B48"/>
                </a:solidFill>
                <a:latin typeface="Calibri"/>
              </a:rPr>
              <a:t>Paquete: BAC 900.000 €</a:t>
            </a:r>
            <a:endParaRPr lang="es-ES" sz="1800"/>
          </a:p>
        </p:txBody>
      </p:sp>
      <p:sp>
        <p:nvSpPr>
          <p:cNvPr id="8" name="TextBox 7"/>
          <p:cNvSpPr txBox="1"/>
          <p:nvPr/>
        </p:nvSpPr>
        <p:spPr>
          <a:xfrm>
            <a:off x="777240" y="1892807"/>
            <a:ext cx="3291840" cy="685800"/>
          </a:xfrm>
          <a:prstGeom prst="rect">
            <a:avLst/>
          </a:prstGeom>
          <a:noFill/>
        </p:spPr>
        <p:txBody>
          <a:bodyPr wrap="square" lIns="0" rIns="0" tIns="0" bIns="0" anchor="t">
            <a:noAutofit/>
          </a:bodyPr>
          <a:lstStyle/>
          <a:p>
            <a:pPr algn="l"/>
            <a:r>
              <a:rPr sz="1300" b="0" i="0" lang="es-ES">
                <a:solidFill>
                  <a:srgbClr val="5A6577"/>
                </a:solidFill>
                <a:latin typeface="Calibri"/>
              </a:rPr>
              <a:t>Comenzó y no terminó</a:t>
            </a:r>
            <a:endParaRPr lang="es-ES" sz="1300"/>
          </a:p>
          <a:p>
            <a:pPr algn="l"/>
            <a:r>
              <a:rPr sz="1300" b="0" i="0" lang="es-ES">
                <a:solidFill>
                  <a:srgbClr val="5A6577"/>
                </a:solidFill>
                <a:latin typeface="Calibri"/>
              </a:rPr>
              <a:t>Hitos: 2 de 3 cumplidos (pesos 30 / 30 / 40)</a:t>
            </a:r>
            <a:endParaRPr lang="es-ES" sz="1300"/>
          </a:p>
        </p:txBody>
      </p:sp>
      <p:sp>
        <p:nvSpPr>
          <p:cNvPr id="9" name="TextBox 8"/>
          <p:cNvSpPr txBox="1"/>
          <p:nvPr/>
        </p:nvSpPr>
        <p:spPr>
          <a:xfrm>
            <a:off x="4251960" y="1536192"/>
            <a:ext cx="2240280" cy="320040"/>
          </a:xfrm>
          <a:prstGeom prst="rect">
            <a:avLst/>
          </a:prstGeom>
          <a:noFill/>
        </p:spPr>
        <p:txBody>
          <a:bodyPr wrap="square" lIns="0" rIns="0" tIns="0" bIns="0" anchor="t">
            <a:noAutofit/>
          </a:bodyPr>
          <a:lstStyle/>
          <a:p>
            <a:pPr algn="l"/>
            <a:r>
              <a:rPr sz="1400" b="1" i="0" lang="es-ES">
                <a:solidFill>
                  <a:srgbClr val="1B2B48"/>
                </a:solidFill>
                <a:latin typeface="Calibri"/>
              </a:rPr>
              <a:t>Memoria de cálculo</a:t>
            </a:r>
            <a:endParaRPr lang="es-ES" sz="1400"/>
          </a:p>
        </p:txBody>
      </p:sp>
      <p:sp>
        <p:nvSpPr>
          <p:cNvPr id="10" name="TextBox 9"/>
          <p:cNvSpPr txBox="1"/>
          <p:nvPr/>
        </p:nvSpPr>
        <p:spPr>
          <a:xfrm>
            <a:off x="4251960" y="1847088"/>
            <a:ext cx="2240280" cy="292608"/>
          </a:xfrm>
          <a:prstGeom prst="rect">
            <a:avLst/>
          </a:prstGeom>
          <a:noFill/>
        </p:spPr>
        <p:txBody>
          <a:bodyPr wrap="square" lIns="0" rIns="0" tIns="0" bIns="0" anchor="t">
            <a:noAutofit/>
          </a:bodyPr>
          <a:lstStyle/>
          <a:p>
            <a:pPr algn="l"/>
            <a:r>
              <a:rPr sz="1300" b="0" i="0" lang="es-ES">
                <a:solidFill>
                  <a:srgbClr val="5A6577"/>
                </a:solidFill>
                <a:latin typeface="Calibri"/>
              </a:rPr>
              <a:t>30 días</a:t>
            </a:r>
            <a:r>
              <a:rPr sz="1300" b="1" i="0" lang="es-ES">
                <a:solidFill>
                  <a:srgbClr val="5A6577"/>
                </a:solidFill>
                <a:latin typeface="Calibri"/>
              </a:rPr>
              <a:t>  ·  100 % hecho</a:t>
            </a:r>
            <a:endParaRPr lang="es-ES" sz="1300"/>
          </a:p>
        </p:txBody>
      </p:sp>
      <p:sp>
        <p:nvSpPr>
          <p:cNvPr id="11" name="Rectangle 10"/>
          <p:cNvSpPr/>
          <p:nvPr/>
        </p:nvSpPr>
        <p:spPr>
          <a:xfrm>
            <a:off x="4251960" y="2240280"/>
            <a:ext cx="2103120" cy="182880"/>
          </a:xfrm>
          <a:prstGeom prst="rect">
            <a:avLst/>
          </a:prstGeom>
          <a:solidFill>
            <a:srgbClr val="FFFFFF"/>
          </a:solidFill>
          <a:ln w="9525">
            <a:solidFill>
              <a:srgbClr val="D5DBE5"/>
            </a:solidFill>
          </a:ln>
        </p:spPr>
        <p:txBody>
          <a:bodyPr rtlCol="0" anchor="ctr" wrap="square" lIns="73152" rIns="73152" tIns="73152" bIns="73152">
            <a:noAutofit/>
          </a:bodyPr>
          <a:lstStyle/>
          <a:p>
            <a:pPr algn="ctr"/>
          </a:p>
        </p:txBody>
      </p:sp>
      <p:sp>
        <p:nvSpPr>
          <p:cNvPr id="12" name="Rectangle 11"/>
          <p:cNvSpPr/>
          <p:nvPr/>
        </p:nvSpPr>
        <p:spPr>
          <a:xfrm>
            <a:off x="4251960" y="2240280"/>
            <a:ext cx="2103120" cy="182880"/>
          </a:xfrm>
          <a:prstGeom prst="rect">
            <a:avLst/>
          </a:prstGeom>
          <a:solidFill>
            <a:srgbClr val="4E8A3E"/>
          </a:solidFill>
          <a:ln>
            <a:noFill/>
          </a:ln>
        </p:spPr>
        <p:txBody>
          <a:bodyPr rtlCol="0" anchor="ctr" wrap="square" lIns="73152" rIns="73152" tIns="73152" bIns="73152">
            <a:noAutofit/>
          </a:bodyPr>
          <a:lstStyle/>
          <a:p>
            <a:pPr algn="ctr"/>
          </a:p>
        </p:txBody>
      </p:sp>
      <p:sp>
        <p:nvSpPr>
          <p:cNvPr id="13" name="TextBox 12"/>
          <p:cNvSpPr txBox="1"/>
          <p:nvPr/>
        </p:nvSpPr>
        <p:spPr>
          <a:xfrm>
            <a:off x="6720840" y="1536192"/>
            <a:ext cx="2240280" cy="320040"/>
          </a:xfrm>
          <a:prstGeom prst="rect">
            <a:avLst/>
          </a:prstGeom>
          <a:noFill/>
        </p:spPr>
        <p:txBody>
          <a:bodyPr wrap="square" lIns="0" rIns="0" tIns="0" bIns="0" anchor="t">
            <a:noAutofit/>
          </a:bodyPr>
          <a:lstStyle/>
          <a:p>
            <a:pPr algn="l"/>
            <a:r>
              <a:rPr sz="1400" b="1" i="0" lang="es-ES">
                <a:solidFill>
                  <a:srgbClr val="1B2B48"/>
                </a:solidFill>
                <a:latin typeface="Calibri"/>
              </a:rPr>
              <a:t>Planos generales</a:t>
            </a:r>
            <a:endParaRPr lang="es-ES" sz="1400"/>
          </a:p>
        </p:txBody>
      </p:sp>
      <p:sp>
        <p:nvSpPr>
          <p:cNvPr id="14" name="TextBox 13"/>
          <p:cNvSpPr txBox="1"/>
          <p:nvPr/>
        </p:nvSpPr>
        <p:spPr>
          <a:xfrm>
            <a:off x="6720840" y="1847088"/>
            <a:ext cx="2240280" cy="292608"/>
          </a:xfrm>
          <a:prstGeom prst="rect">
            <a:avLst/>
          </a:prstGeom>
          <a:noFill/>
        </p:spPr>
        <p:txBody>
          <a:bodyPr wrap="square" lIns="0" rIns="0" tIns="0" bIns="0" anchor="t">
            <a:noAutofit/>
          </a:bodyPr>
          <a:lstStyle/>
          <a:p>
            <a:pPr algn="l"/>
            <a:r>
              <a:rPr sz="1300" b="0" i="0" lang="es-ES">
                <a:solidFill>
                  <a:srgbClr val="5A6577"/>
                </a:solidFill>
                <a:latin typeface="Calibri"/>
              </a:rPr>
              <a:t>40 días</a:t>
            </a:r>
            <a:r>
              <a:rPr sz="1300" b="1" i="0" lang="es-ES">
                <a:solidFill>
                  <a:srgbClr val="5A6577"/>
                </a:solidFill>
                <a:latin typeface="Calibri"/>
              </a:rPr>
              <a:t>  ·  50 % hecho</a:t>
            </a:r>
            <a:endParaRPr lang="es-ES" sz="1300"/>
          </a:p>
        </p:txBody>
      </p:sp>
      <p:sp>
        <p:nvSpPr>
          <p:cNvPr id="15" name="Rectangle 14"/>
          <p:cNvSpPr/>
          <p:nvPr/>
        </p:nvSpPr>
        <p:spPr>
          <a:xfrm>
            <a:off x="6720840" y="2240280"/>
            <a:ext cx="2103120" cy="182880"/>
          </a:xfrm>
          <a:prstGeom prst="rect">
            <a:avLst/>
          </a:prstGeom>
          <a:solidFill>
            <a:srgbClr val="FFFFFF"/>
          </a:solidFill>
          <a:ln w="9525">
            <a:solidFill>
              <a:srgbClr val="D5DBE5"/>
            </a:solidFill>
          </a:ln>
        </p:spPr>
        <p:txBody>
          <a:bodyPr rtlCol="0" anchor="ctr" wrap="square" lIns="73152" rIns="73152" tIns="73152" bIns="73152">
            <a:noAutofit/>
          </a:bodyPr>
          <a:lstStyle/>
          <a:p>
            <a:pPr algn="ctr"/>
          </a:p>
        </p:txBody>
      </p:sp>
      <p:sp>
        <p:nvSpPr>
          <p:cNvPr id="16" name="Rectangle 15"/>
          <p:cNvSpPr/>
          <p:nvPr/>
        </p:nvSpPr>
        <p:spPr>
          <a:xfrm>
            <a:off x="6720840" y="2240280"/>
            <a:ext cx="1051560" cy="182880"/>
          </a:xfrm>
          <a:prstGeom prst="rect">
            <a:avLst/>
          </a:prstGeom>
          <a:solidFill>
            <a:srgbClr val="4E8A3E"/>
          </a:solidFill>
          <a:ln>
            <a:noFill/>
          </a:ln>
        </p:spPr>
        <p:txBody>
          <a:bodyPr rtlCol="0" anchor="ctr" wrap="square" lIns="73152" rIns="73152" tIns="73152" bIns="73152">
            <a:noAutofit/>
          </a:bodyPr>
          <a:lstStyle/>
          <a:p>
            <a:pPr algn="ctr"/>
          </a:p>
        </p:txBody>
      </p:sp>
      <p:sp>
        <p:nvSpPr>
          <p:cNvPr id="17" name="TextBox 16"/>
          <p:cNvSpPr txBox="1"/>
          <p:nvPr/>
        </p:nvSpPr>
        <p:spPr>
          <a:xfrm>
            <a:off x="9189720" y="1536192"/>
            <a:ext cx="2240280" cy="320040"/>
          </a:xfrm>
          <a:prstGeom prst="rect">
            <a:avLst/>
          </a:prstGeom>
          <a:noFill/>
        </p:spPr>
        <p:txBody>
          <a:bodyPr wrap="square" lIns="0" rIns="0" tIns="0" bIns="0" anchor="t">
            <a:noAutofit/>
          </a:bodyPr>
          <a:lstStyle/>
          <a:p>
            <a:pPr algn="l"/>
            <a:r>
              <a:rPr sz="1400" b="1" i="0" lang="es-ES">
                <a:solidFill>
                  <a:srgbClr val="1B2B48"/>
                </a:solidFill>
                <a:latin typeface="Calibri"/>
              </a:rPr>
              <a:t>Especificaciones</a:t>
            </a:r>
            <a:endParaRPr lang="es-ES" sz="1400"/>
          </a:p>
        </p:txBody>
      </p:sp>
      <p:sp>
        <p:nvSpPr>
          <p:cNvPr id="18" name="TextBox 17"/>
          <p:cNvSpPr txBox="1"/>
          <p:nvPr/>
        </p:nvSpPr>
        <p:spPr>
          <a:xfrm>
            <a:off x="9189720" y="1847088"/>
            <a:ext cx="2240280" cy="292608"/>
          </a:xfrm>
          <a:prstGeom prst="rect">
            <a:avLst/>
          </a:prstGeom>
          <a:noFill/>
        </p:spPr>
        <p:txBody>
          <a:bodyPr wrap="square" lIns="0" rIns="0" tIns="0" bIns="0" anchor="t">
            <a:noAutofit/>
          </a:bodyPr>
          <a:lstStyle/>
          <a:p>
            <a:pPr algn="l"/>
            <a:r>
              <a:rPr sz="1300" b="0" i="0" lang="es-ES">
                <a:solidFill>
                  <a:srgbClr val="5A6577"/>
                </a:solidFill>
                <a:latin typeface="Calibri"/>
              </a:rPr>
              <a:t>20 días</a:t>
            </a:r>
            <a:r>
              <a:rPr sz="1300" b="1" i="0" lang="es-ES">
                <a:solidFill>
                  <a:srgbClr val="5A6577"/>
                </a:solidFill>
                <a:latin typeface="Calibri"/>
              </a:rPr>
              <a:t>  ·  0 % hecho</a:t>
            </a:r>
            <a:endParaRPr lang="es-ES" sz="1300"/>
          </a:p>
        </p:txBody>
      </p:sp>
      <p:sp>
        <p:nvSpPr>
          <p:cNvPr id="19" name="Rectangle 18"/>
          <p:cNvSpPr/>
          <p:nvPr/>
        </p:nvSpPr>
        <p:spPr>
          <a:xfrm>
            <a:off x="9189720" y="2240280"/>
            <a:ext cx="2103120" cy="182880"/>
          </a:xfrm>
          <a:prstGeom prst="rect">
            <a:avLst/>
          </a:prstGeom>
          <a:solidFill>
            <a:srgbClr val="FFFFFF"/>
          </a:solidFill>
          <a:ln w="9525">
            <a:solidFill>
              <a:srgbClr val="D5DBE5"/>
            </a:solidFill>
          </a:ln>
        </p:spPr>
        <p:txBody>
          <a:bodyPr rtlCol="0" anchor="ctr" wrap="square" lIns="73152" rIns="73152" tIns="73152" bIns="73152">
            <a:noAutofit/>
          </a:bodyPr>
          <a:lstStyle/>
          <a:p>
            <a:pPr algn="ctr"/>
          </a:p>
        </p:txBody>
      </p:sp>
      <p:sp>
        <p:nvSpPr>
          <p:cNvPr id="20" name="TextBox 19"/>
          <p:cNvSpPr txBox="1"/>
          <p:nvPr/>
        </p:nvSpPr>
        <p:spPr>
          <a:xfrm>
            <a:off x="777240" y="2770632"/>
            <a:ext cx="2011680" cy="274320"/>
          </a:xfrm>
          <a:prstGeom prst="rect">
            <a:avLst/>
          </a:prstGeom>
          <a:noFill/>
        </p:spPr>
        <p:txBody>
          <a:bodyPr wrap="square" lIns="0" rIns="0" tIns="0" bIns="0" anchor="t">
            <a:noAutofit/>
          </a:bodyPr>
          <a:lstStyle/>
          <a:p>
            <a:pPr algn="l"/>
            <a:r>
              <a:rPr sz="1100" b="1" i="0" lang="es-ES">
                <a:solidFill>
                  <a:srgbClr val="5A6577"/>
                </a:solidFill>
                <a:latin typeface="Calibri"/>
              </a:rPr>
              <a:t>MÉTODO</a:t>
            </a:r>
            <a:endParaRPr lang="es-ES" sz="1100"/>
          </a:p>
        </p:txBody>
      </p:sp>
      <p:sp>
        <p:nvSpPr>
          <p:cNvPr id="21" name="TextBox 20"/>
          <p:cNvSpPr txBox="1"/>
          <p:nvPr/>
        </p:nvSpPr>
        <p:spPr>
          <a:xfrm>
            <a:off x="2834640" y="2770632"/>
            <a:ext cx="5029200" cy="274320"/>
          </a:xfrm>
          <a:prstGeom prst="rect">
            <a:avLst/>
          </a:prstGeom>
          <a:noFill/>
        </p:spPr>
        <p:txBody>
          <a:bodyPr wrap="square" lIns="0" rIns="0" tIns="0" bIns="0" anchor="t">
            <a:noAutofit/>
          </a:bodyPr>
          <a:lstStyle/>
          <a:p>
            <a:pPr algn="l"/>
            <a:r>
              <a:rPr sz="1100" b="1" i="0" lang="es-ES">
                <a:solidFill>
                  <a:srgbClr val="5A6577"/>
                </a:solidFill>
                <a:latin typeface="Calibri"/>
              </a:rPr>
              <a:t>CÓMO SE CALCULA</a:t>
            </a:r>
            <a:endParaRPr lang="es-ES" sz="1100"/>
          </a:p>
        </p:txBody>
      </p:sp>
      <p:sp>
        <p:nvSpPr>
          <p:cNvPr id="22" name="TextBox 21"/>
          <p:cNvSpPr txBox="1"/>
          <p:nvPr/>
        </p:nvSpPr>
        <p:spPr>
          <a:xfrm>
            <a:off x="10332720" y="2770632"/>
            <a:ext cx="1097280" cy="274320"/>
          </a:xfrm>
          <a:prstGeom prst="rect">
            <a:avLst/>
          </a:prstGeom>
          <a:noFill/>
        </p:spPr>
        <p:txBody>
          <a:bodyPr wrap="square" lIns="0" rIns="0" tIns="0" bIns="0" anchor="t">
            <a:noAutofit/>
          </a:bodyPr>
          <a:lstStyle/>
          <a:p>
            <a:pPr algn="r"/>
            <a:r>
              <a:rPr sz="1100" b="1" i="0" lang="es-ES">
                <a:solidFill>
                  <a:srgbClr val="5A6577"/>
                </a:solidFill>
                <a:latin typeface="Calibri"/>
              </a:rPr>
              <a:t>EV</a:t>
            </a:r>
            <a:endParaRPr lang="es-ES" sz="1100"/>
          </a:p>
        </p:txBody>
      </p:sp>
      <p:sp>
        <p:nvSpPr>
          <p:cNvPr id="23" name="Rounded Rectangle 22"/>
          <p:cNvSpPr/>
          <p:nvPr/>
        </p:nvSpPr>
        <p:spPr>
          <a:xfrm>
            <a:off x="548640" y="3090672"/>
            <a:ext cx="11064240" cy="548640"/>
          </a:xfrm>
          <a:prstGeom prst="roundRect">
            <a:avLst>
              <a:gd name="adj" fmla="val 13333"/>
            </a:avLst>
          </a:prstGeom>
          <a:solidFill>
            <a:srgbClr val="F3F5F9"/>
          </a:solidFill>
          <a:ln>
            <a:noFill/>
          </a:ln>
        </p:spPr>
        <p:txBody>
          <a:bodyPr rtlCol="0" anchor="ctr" wrap="square" lIns="73152" rIns="73152" tIns="73152" bIns="73152">
            <a:noAutofit/>
          </a:bodyPr>
          <a:lstStyle/>
          <a:p>
            <a:pPr algn="ctr"/>
          </a:p>
        </p:txBody>
      </p:sp>
      <p:sp>
        <p:nvSpPr>
          <p:cNvPr id="24" name="TextBox 23"/>
          <p:cNvSpPr txBox="1"/>
          <p:nvPr/>
        </p:nvSpPr>
        <p:spPr>
          <a:xfrm>
            <a:off x="777240" y="3090672"/>
            <a:ext cx="2011680" cy="548640"/>
          </a:xfrm>
          <a:prstGeom prst="rect">
            <a:avLst/>
          </a:prstGeom>
          <a:noFill/>
        </p:spPr>
        <p:txBody>
          <a:bodyPr wrap="square" lIns="0" rIns="0" tIns="0" bIns="0" anchor="ctr">
            <a:noAutofit/>
          </a:bodyPr>
          <a:lstStyle/>
          <a:p>
            <a:pPr algn="l"/>
            <a:r>
              <a:rPr sz="1500" b="1" i="0" lang="es-ES">
                <a:solidFill>
                  <a:srgbClr val="1B2B48"/>
                </a:solidFill>
                <a:latin typeface="Calibri"/>
              </a:rPr>
              <a:t>0/100</a:t>
            </a:r>
            <a:endParaRPr lang="es-ES" sz="1500"/>
          </a:p>
        </p:txBody>
      </p:sp>
      <p:sp>
        <p:nvSpPr>
          <p:cNvPr id="25" name="TextBox 24"/>
          <p:cNvSpPr txBox="1"/>
          <p:nvPr/>
        </p:nvSpPr>
        <p:spPr>
          <a:xfrm>
            <a:off x="2834640" y="3090672"/>
            <a:ext cx="5120640" cy="548640"/>
          </a:xfrm>
          <a:prstGeom prst="rect">
            <a:avLst/>
          </a:prstGeom>
          <a:noFill/>
        </p:spPr>
        <p:txBody>
          <a:bodyPr wrap="square" lIns="0" rIns="0" tIns="0" bIns="0" anchor="ctr">
            <a:noAutofit/>
          </a:bodyPr>
          <a:lstStyle/>
          <a:p>
            <a:pPr algn="l"/>
            <a:r>
              <a:rPr sz="1400" b="0" i="0" lang="es-ES">
                <a:solidFill>
                  <a:srgbClr val="1B2B48"/>
                </a:solidFill>
                <a:latin typeface="Calibri"/>
              </a:rPr>
              <a:t>Solo gana valor al terminar; no terminó</a:t>
            </a:r>
            <a:endParaRPr lang="es-ES" sz="1400"/>
          </a:p>
        </p:txBody>
      </p:sp>
      <p:sp>
        <p:nvSpPr>
          <p:cNvPr id="26" name="Rectangle 25"/>
          <p:cNvSpPr/>
          <p:nvPr/>
        </p:nvSpPr>
        <p:spPr>
          <a:xfrm>
            <a:off x="8092440" y="3246120"/>
            <a:ext cx="2103120" cy="237744"/>
          </a:xfrm>
          <a:prstGeom prst="rect">
            <a:avLst/>
          </a:prstGeom>
          <a:solidFill>
            <a:srgbClr val="E8ECF2"/>
          </a:solidFill>
          <a:ln>
            <a:noFill/>
          </a:ln>
        </p:spPr>
        <p:txBody>
          <a:bodyPr rtlCol="0" anchor="ctr" wrap="square" lIns="73152" rIns="73152" tIns="73152" bIns="73152">
            <a:noAutofit/>
          </a:bodyPr>
          <a:lstStyle/>
          <a:p>
            <a:pPr algn="ctr"/>
          </a:p>
        </p:txBody>
      </p:sp>
      <p:sp>
        <p:nvSpPr>
          <p:cNvPr id="27" name="TextBox 26"/>
          <p:cNvSpPr txBox="1"/>
          <p:nvPr/>
        </p:nvSpPr>
        <p:spPr>
          <a:xfrm>
            <a:off x="10287000" y="3090672"/>
            <a:ext cx="1188720" cy="548640"/>
          </a:xfrm>
          <a:prstGeom prst="rect">
            <a:avLst/>
          </a:prstGeom>
          <a:noFill/>
        </p:spPr>
        <p:txBody>
          <a:bodyPr wrap="square" lIns="0" rIns="0" tIns="0" bIns="0" anchor="ctr">
            <a:noAutofit/>
          </a:bodyPr>
          <a:lstStyle/>
          <a:p>
            <a:pPr algn="r"/>
            <a:r>
              <a:rPr sz="1500" b="1" i="0" lang="es-ES">
                <a:solidFill>
                  <a:srgbClr val="C0392B"/>
                </a:solidFill>
                <a:latin typeface="Calibri"/>
              </a:rPr>
              <a:t>0 €</a:t>
            </a:r>
            <a:endParaRPr lang="es-ES" sz="1500"/>
          </a:p>
        </p:txBody>
      </p:sp>
      <p:sp>
        <p:nvSpPr>
          <p:cNvPr id="28" name="Rounded Rectangle 27"/>
          <p:cNvSpPr/>
          <p:nvPr/>
        </p:nvSpPr>
        <p:spPr>
          <a:xfrm>
            <a:off x="548640" y="3712463"/>
            <a:ext cx="11064240" cy="548640"/>
          </a:xfrm>
          <a:prstGeom prst="roundRect">
            <a:avLst>
              <a:gd name="adj" fmla="val 13333"/>
            </a:avLst>
          </a:prstGeom>
          <a:solidFill>
            <a:srgbClr val="FFFFFF"/>
          </a:solidFill>
          <a:ln w="12700">
            <a:solidFill>
              <a:srgbClr val="D5DBE5"/>
            </a:solidFill>
          </a:ln>
        </p:spPr>
        <p:txBody>
          <a:bodyPr rtlCol="0" anchor="ctr" wrap="square" lIns="73152" rIns="73152" tIns="73152" bIns="73152">
            <a:noAutofit/>
          </a:bodyPr>
          <a:lstStyle/>
          <a:p>
            <a:pPr algn="ctr"/>
          </a:p>
        </p:txBody>
      </p:sp>
      <p:sp>
        <p:nvSpPr>
          <p:cNvPr id="29" name="TextBox 28"/>
          <p:cNvSpPr txBox="1"/>
          <p:nvPr/>
        </p:nvSpPr>
        <p:spPr>
          <a:xfrm>
            <a:off x="777240" y="3712463"/>
            <a:ext cx="2011680" cy="548640"/>
          </a:xfrm>
          <a:prstGeom prst="rect">
            <a:avLst/>
          </a:prstGeom>
          <a:noFill/>
        </p:spPr>
        <p:txBody>
          <a:bodyPr wrap="square" lIns="0" rIns="0" tIns="0" bIns="0" anchor="ctr">
            <a:noAutofit/>
          </a:bodyPr>
          <a:lstStyle/>
          <a:p>
            <a:pPr algn="l"/>
            <a:r>
              <a:rPr sz="1500" b="1" i="0" lang="es-ES">
                <a:solidFill>
                  <a:srgbClr val="1B2B48"/>
                </a:solidFill>
                <a:latin typeface="Calibri"/>
              </a:rPr>
              <a:t>50/50</a:t>
            </a:r>
            <a:endParaRPr lang="es-ES" sz="1500"/>
          </a:p>
        </p:txBody>
      </p:sp>
      <p:sp>
        <p:nvSpPr>
          <p:cNvPr id="30" name="TextBox 29"/>
          <p:cNvSpPr txBox="1"/>
          <p:nvPr/>
        </p:nvSpPr>
        <p:spPr>
          <a:xfrm>
            <a:off x="2834640" y="3712463"/>
            <a:ext cx="5120640" cy="548640"/>
          </a:xfrm>
          <a:prstGeom prst="rect">
            <a:avLst/>
          </a:prstGeom>
          <a:noFill/>
        </p:spPr>
        <p:txBody>
          <a:bodyPr wrap="square" lIns="0" rIns="0" tIns="0" bIns="0" anchor="ctr">
            <a:noAutofit/>
          </a:bodyPr>
          <a:lstStyle/>
          <a:p>
            <a:pPr algn="l"/>
            <a:r>
              <a:rPr sz="1400" b="0" i="0" lang="es-ES">
                <a:solidFill>
                  <a:srgbClr val="1B2B48"/>
                </a:solidFill>
                <a:latin typeface="Calibri"/>
              </a:rPr>
              <a:t>Comenzó: 50 % × 900.000</a:t>
            </a:r>
            <a:endParaRPr lang="es-ES" sz="1400"/>
          </a:p>
        </p:txBody>
      </p:sp>
      <p:sp>
        <p:nvSpPr>
          <p:cNvPr id="31" name="Rectangle 30"/>
          <p:cNvSpPr/>
          <p:nvPr/>
        </p:nvSpPr>
        <p:spPr>
          <a:xfrm>
            <a:off x="8092440" y="3867911"/>
            <a:ext cx="2103120" cy="237744"/>
          </a:xfrm>
          <a:prstGeom prst="rect">
            <a:avLst/>
          </a:prstGeom>
          <a:solidFill>
            <a:srgbClr val="E8ECF2"/>
          </a:solidFill>
          <a:ln>
            <a:noFill/>
          </a:ln>
        </p:spPr>
        <p:txBody>
          <a:bodyPr rtlCol="0" anchor="ctr" wrap="square" lIns="73152" rIns="73152" tIns="73152" bIns="73152">
            <a:noAutofit/>
          </a:bodyPr>
          <a:lstStyle/>
          <a:p>
            <a:pPr algn="ctr"/>
          </a:p>
        </p:txBody>
      </p:sp>
      <p:sp>
        <p:nvSpPr>
          <p:cNvPr id="32" name="Rectangle 31"/>
          <p:cNvSpPr/>
          <p:nvPr/>
        </p:nvSpPr>
        <p:spPr>
          <a:xfrm>
            <a:off x="8092440" y="3867911"/>
            <a:ext cx="1051560" cy="237744"/>
          </a:xfrm>
          <a:prstGeom prst="rect">
            <a:avLst/>
          </a:prstGeom>
          <a:solidFill>
            <a:srgbClr val="4E8A3E"/>
          </a:solidFill>
          <a:ln>
            <a:noFill/>
          </a:ln>
        </p:spPr>
        <p:txBody>
          <a:bodyPr rtlCol="0" anchor="ctr" wrap="square" lIns="73152" rIns="73152" tIns="73152" bIns="73152">
            <a:noAutofit/>
          </a:bodyPr>
          <a:lstStyle/>
          <a:p>
            <a:pPr algn="ctr"/>
          </a:p>
        </p:txBody>
      </p:sp>
      <p:sp>
        <p:nvSpPr>
          <p:cNvPr id="33" name="TextBox 32"/>
          <p:cNvSpPr txBox="1"/>
          <p:nvPr/>
        </p:nvSpPr>
        <p:spPr>
          <a:xfrm>
            <a:off x="10287000" y="3712463"/>
            <a:ext cx="1188720" cy="548640"/>
          </a:xfrm>
          <a:prstGeom prst="rect">
            <a:avLst/>
          </a:prstGeom>
          <a:noFill/>
        </p:spPr>
        <p:txBody>
          <a:bodyPr wrap="square" lIns="0" rIns="0" tIns="0" bIns="0" anchor="ctr">
            <a:noAutofit/>
          </a:bodyPr>
          <a:lstStyle/>
          <a:p>
            <a:pPr algn="r"/>
            <a:r>
              <a:rPr sz="1500" b="1" i="0" lang="es-ES">
                <a:solidFill>
                  <a:srgbClr val="4E8A3E"/>
                </a:solidFill>
                <a:latin typeface="Calibri"/>
              </a:rPr>
              <a:t>450.000 €</a:t>
            </a:r>
            <a:endParaRPr lang="es-ES" sz="1500"/>
          </a:p>
        </p:txBody>
      </p:sp>
      <p:sp>
        <p:nvSpPr>
          <p:cNvPr id="34" name="Rounded Rectangle 33"/>
          <p:cNvSpPr/>
          <p:nvPr/>
        </p:nvSpPr>
        <p:spPr>
          <a:xfrm>
            <a:off x="548640" y="4334256"/>
            <a:ext cx="11064240" cy="548640"/>
          </a:xfrm>
          <a:prstGeom prst="roundRect">
            <a:avLst>
              <a:gd name="adj" fmla="val 13333"/>
            </a:avLst>
          </a:prstGeom>
          <a:solidFill>
            <a:srgbClr val="F3F5F9"/>
          </a:solidFill>
          <a:ln>
            <a:noFill/>
          </a:ln>
        </p:spPr>
        <p:txBody>
          <a:bodyPr rtlCol="0" anchor="ctr" wrap="square" lIns="73152" rIns="73152" tIns="73152" bIns="73152">
            <a:noAutofit/>
          </a:bodyPr>
          <a:lstStyle/>
          <a:p>
            <a:pPr algn="ctr"/>
          </a:p>
        </p:txBody>
      </p:sp>
      <p:sp>
        <p:nvSpPr>
          <p:cNvPr id="35" name="TextBox 34"/>
          <p:cNvSpPr txBox="1"/>
          <p:nvPr/>
        </p:nvSpPr>
        <p:spPr>
          <a:xfrm>
            <a:off x="777240" y="4334256"/>
            <a:ext cx="2011680" cy="548640"/>
          </a:xfrm>
          <a:prstGeom prst="rect">
            <a:avLst/>
          </a:prstGeom>
          <a:noFill/>
        </p:spPr>
        <p:txBody>
          <a:bodyPr wrap="square" lIns="0" rIns="0" tIns="0" bIns="0" anchor="ctr">
            <a:noAutofit/>
          </a:bodyPr>
          <a:lstStyle/>
          <a:p>
            <a:pPr algn="l"/>
            <a:r>
              <a:rPr sz="1500" b="1" i="0" lang="es-ES">
                <a:solidFill>
                  <a:srgbClr val="1B2B48"/>
                </a:solidFill>
                <a:latin typeface="Calibri"/>
              </a:rPr>
              <a:t>20/80</a:t>
            </a:r>
            <a:endParaRPr lang="es-ES" sz="1500"/>
          </a:p>
        </p:txBody>
      </p:sp>
      <p:sp>
        <p:nvSpPr>
          <p:cNvPr id="36" name="TextBox 35"/>
          <p:cNvSpPr txBox="1"/>
          <p:nvPr/>
        </p:nvSpPr>
        <p:spPr>
          <a:xfrm>
            <a:off x="2834640" y="4334256"/>
            <a:ext cx="5120640" cy="548640"/>
          </a:xfrm>
          <a:prstGeom prst="rect">
            <a:avLst/>
          </a:prstGeom>
          <a:noFill/>
        </p:spPr>
        <p:txBody>
          <a:bodyPr wrap="square" lIns="0" rIns="0" tIns="0" bIns="0" anchor="ctr">
            <a:noAutofit/>
          </a:bodyPr>
          <a:lstStyle/>
          <a:p>
            <a:pPr algn="l"/>
            <a:r>
              <a:rPr sz="1400" b="0" i="0" lang="es-ES">
                <a:solidFill>
                  <a:srgbClr val="1B2B48"/>
                </a:solidFill>
                <a:latin typeface="Calibri"/>
              </a:rPr>
              <a:t>Comenzó: 20 % × 900.000</a:t>
            </a:r>
            <a:endParaRPr lang="es-ES" sz="1400"/>
          </a:p>
        </p:txBody>
      </p:sp>
      <p:sp>
        <p:nvSpPr>
          <p:cNvPr id="37" name="Rectangle 36"/>
          <p:cNvSpPr/>
          <p:nvPr/>
        </p:nvSpPr>
        <p:spPr>
          <a:xfrm>
            <a:off x="8092440" y="4489704"/>
            <a:ext cx="2103120" cy="237744"/>
          </a:xfrm>
          <a:prstGeom prst="rect">
            <a:avLst/>
          </a:prstGeom>
          <a:solidFill>
            <a:srgbClr val="E8ECF2"/>
          </a:solidFill>
          <a:ln>
            <a:noFill/>
          </a:ln>
        </p:spPr>
        <p:txBody>
          <a:bodyPr rtlCol="0" anchor="ctr" wrap="square" lIns="73152" rIns="73152" tIns="73152" bIns="73152">
            <a:noAutofit/>
          </a:bodyPr>
          <a:lstStyle/>
          <a:p>
            <a:pPr algn="ctr"/>
          </a:p>
        </p:txBody>
      </p:sp>
      <p:sp>
        <p:nvSpPr>
          <p:cNvPr id="38" name="Rectangle 37"/>
          <p:cNvSpPr/>
          <p:nvPr/>
        </p:nvSpPr>
        <p:spPr>
          <a:xfrm>
            <a:off x="8092440" y="4489704"/>
            <a:ext cx="420623" cy="237744"/>
          </a:xfrm>
          <a:prstGeom prst="rect">
            <a:avLst/>
          </a:prstGeom>
          <a:solidFill>
            <a:srgbClr val="4E8A3E"/>
          </a:solidFill>
          <a:ln>
            <a:noFill/>
          </a:ln>
        </p:spPr>
        <p:txBody>
          <a:bodyPr rtlCol="0" anchor="ctr" wrap="square" lIns="73152" rIns="73152" tIns="73152" bIns="73152">
            <a:noAutofit/>
          </a:bodyPr>
          <a:lstStyle/>
          <a:p>
            <a:pPr algn="ctr"/>
          </a:p>
        </p:txBody>
      </p:sp>
      <p:sp>
        <p:nvSpPr>
          <p:cNvPr id="39" name="TextBox 38"/>
          <p:cNvSpPr txBox="1"/>
          <p:nvPr/>
        </p:nvSpPr>
        <p:spPr>
          <a:xfrm>
            <a:off x="10287000" y="4334256"/>
            <a:ext cx="1188720" cy="548640"/>
          </a:xfrm>
          <a:prstGeom prst="rect">
            <a:avLst/>
          </a:prstGeom>
          <a:noFill/>
        </p:spPr>
        <p:txBody>
          <a:bodyPr wrap="square" lIns="0" rIns="0" tIns="0" bIns="0" anchor="ctr">
            <a:noAutofit/>
          </a:bodyPr>
          <a:lstStyle/>
          <a:p>
            <a:pPr algn="r"/>
            <a:r>
              <a:rPr sz="1500" b="1" i="0" lang="es-ES">
                <a:solidFill>
                  <a:srgbClr val="4E8A3E"/>
                </a:solidFill>
                <a:latin typeface="Calibri"/>
              </a:rPr>
              <a:t>180.000 €</a:t>
            </a:r>
            <a:endParaRPr lang="es-ES" sz="1500"/>
          </a:p>
        </p:txBody>
      </p:sp>
      <p:sp>
        <p:nvSpPr>
          <p:cNvPr id="40" name="Rounded Rectangle 39"/>
          <p:cNvSpPr/>
          <p:nvPr/>
        </p:nvSpPr>
        <p:spPr>
          <a:xfrm>
            <a:off x="548640" y="4956048"/>
            <a:ext cx="11064240" cy="548640"/>
          </a:xfrm>
          <a:prstGeom prst="roundRect">
            <a:avLst>
              <a:gd name="adj" fmla="val 13333"/>
            </a:avLst>
          </a:prstGeom>
          <a:solidFill>
            <a:srgbClr val="FFFFFF"/>
          </a:solidFill>
          <a:ln w="12700">
            <a:solidFill>
              <a:srgbClr val="D5DBE5"/>
            </a:solidFill>
          </a:ln>
        </p:spPr>
        <p:txBody>
          <a:bodyPr rtlCol="0" anchor="ctr" wrap="square" lIns="73152" rIns="73152" tIns="73152" bIns="73152">
            <a:noAutofit/>
          </a:bodyPr>
          <a:lstStyle/>
          <a:p>
            <a:pPr algn="ctr"/>
          </a:p>
        </p:txBody>
      </p:sp>
      <p:sp>
        <p:nvSpPr>
          <p:cNvPr id="41" name="TextBox 40"/>
          <p:cNvSpPr txBox="1"/>
          <p:nvPr/>
        </p:nvSpPr>
        <p:spPr>
          <a:xfrm>
            <a:off x="777240" y="4956048"/>
            <a:ext cx="2011680" cy="548640"/>
          </a:xfrm>
          <a:prstGeom prst="rect">
            <a:avLst/>
          </a:prstGeom>
          <a:noFill/>
        </p:spPr>
        <p:txBody>
          <a:bodyPr wrap="square" lIns="0" rIns="0" tIns="0" bIns="0" anchor="ctr">
            <a:noAutofit/>
          </a:bodyPr>
          <a:lstStyle/>
          <a:p>
            <a:pPr algn="l"/>
            <a:r>
              <a:rPr sz="1500" b="1" i="0" lang="es-ES">
                <a:solidFill>
                  <a:srgbClr val="1B2B48"/>
                </a:solidFill>
                <a:latin typeface="Calibri"/>
              </a:rPr>
              <a:t>% Completado</a:t>
            </a:r>
            <a:endParaRPr lang="es-ES" sz="1500"/>
          </a:p>
          <a:p>
            <a:pPr algn="l"/>
            <a:r>
              <a:rPr sz="1100" b="0" i="0" lang="es-ES">
                <a:solidFill>
                  <a:srgbClr val="5A6577"/>
                </a:solidFill>
                <a:latin typeface="Calibri"/>
              </a:rPr>
              <a:t>si los hitos no tuvieran peso</a:t>
            </a:r>
            <a:endParaRPr lang="es-ES" sz="1500"/>
          </a:p>
        </p:txBody>
      </p:sp>
      <p:sp>
        <p:nvSpPr>
          <p:cNvPr id="42" name="TextBox 41"/>
          <p:cNvSpPr txBox="1"/>
          <p:nvPr/>
        </p:nvSpPr>
        <p:spPr>
          <a:xfrm>
            <a:off x="2834640" y="4956048"/>
            <a:ext cx="5120640" cy="548640"/>
          </a:xfrm>
          <a:prstGeom prst="rect">
            <a:avLst/>
          </a:prstGeom>
          <a:noFill/>
        </p:spPr>
        <p:txBody>
          <a:bodyPr wrap="square" lIns="0" rIns="0" tIns="0" bIns="0" anchor="ctr">
            <a:noAutofit/>
          </a:bodyPr>
          <a:lstStyle/>
          <a:p>
            <a:pPr algn="l"/>
            <a:r>
              <a:rPr sz="1400" b="0" i="0" lang="es-ES">
                <a:solidFill>
                  <a:srgbClr val="1B2B48"/>
                </a:solidFill>
                <a:latin typeface="Calibri"/>
              </a:rPr>
              <a:t>(30 × 100 % + 40 × 50 % + 20 × 0 %) / 90 × 900.000</a:t>
            </a:r>
            <a:endParaRPr lang="es-ES" sz="1400"/>
          </a:p>
        </p:txBody>
      </p:sp>
      <p:sp>
        <p:nvSpPr>
          <p:cNvPr id="43" name="Rectangle 42"/>
          <p:cNvSpPr/>
          <p:nvPr/>
        </p:nvSpPr>
        <p:spPr>
          <a:xfrm>
            <a:off x="8092440" y="5111496"/>
            <a:ext cx="2103120" cy="237744"/>
          </a:xfrm>
          <a:prstGeom prst="rect">
            <a:avLst/>
          </a:prstGeom>
          <a:solidFill>
            <a:srgbClr val="E8ECF2"/>
          </a:solidFill>
          <a:ln>
            <a:noFill/>
          </a:ln>
        </p:spPr>
        <p:txBody>
          <a:bodyPr rtlCol="0" anchor="ctr" wrap="square" lIns="73152" rIns="73152" tIns="73152" bIns="73152">
            <a:noAutofit/>
          </a:bodyPr>
          <a:lstStyle/>
          <a:p>
            <a:pPr algn="ctr"/>
          </a:p>
        </p:txBody>
      </p:sp>
      <p:sp>
        <p:nvSpPr>
          <p:cNvPr id="44" name="Rectangle 43"/>
          <p:cNvSpPr/>
          <p:nvPr/>
        </p:nvSpPr>
        <p:spPr>
          <a:xfrm>
            <a:off x="8092440" y="5111496"/>
            <a:ext cx="1168400" cy="237744"/>
          </a:xfrm>
          <a:prstGeom prst="rect">
            <a:avLst/>
          </a:prstGeom>
          <a:solidFill>
            <a:srgbClr val="4E8A3E"/>
          </a:solidFill>
          <a:ln>
            <a:noFill/>
          </a:ln>
        </p:spPr>
        <p:txBody>
          <a:bodyPr rtlCol="0" anchor="ctr" wrap="square" lIns="73152" rIns="73152" tIns="73152" bIns="73152">
            <a:noAutofit/>
          </a:bodyPr>
          <a:lstStyle/>
          <a:p>
            <a:pPr algn="ctr"/>
          </a:p>
        </p:txBody>
      </p:sp>
      <p:sp>
        <p:nvSpPr>
          <p:cNvPr id="45" name="TextBox 44"/>
          <p:cNvSpPr txBox="1"/>
          <p:nvPr/>
        </p:nvSpPr>
        <p:spPr>
          <a:xfrm>
            <a:off x="10287000" y="4956048"/>
            <a:ext cx="1188720" cy="548640"/>
          </a:xfrm>
          <a:prstGeom prst="rect">
            <a:avLst/>
          </a:prstGeom>
          <a:noFill/>
        </p:spPr>
        <p:txBody>
          <a:bodyPr wrap="square" lIns="0" rIns="0" tIns="0" bIns="0" anchor="ctr">
            <a:noAutofit/>
          </a:bodyPr>
          <a:lstStyle/>
          <a:p>
            <a:pPr algn="r"/>
            <a:r>
              <a:rPr sz="1500" b="1" i="0" lang="es-ES">
                <a:solidFill>
                  <a:srgbClr val="4E8A3E"/>
                </a:solidFill>
                <a:latin typeface="Calibri"/>
              </a:rPr>
              <a:t>500.000 €</a:t>
            </a:r>
            <a:endParaRPr lang="es-ES" sz="1500"/>
          </a:p>
        </p:txBody>
      </p:sp>
      <p:sp>
        <p:nvSpPr>
          <p:cNvPr id="46" name="Rounded Rectangle 45"/>
          <p:cNvSpPr/>
          <p:nvPr/>
        </p:nvSpPr>
        <p:spPr>
          <a:xfrm>
            <a:off x="548640" y="5577840"/>
            <a:ext cx="11064240" cy="548640"/>
          </a:xfrm>
          <a:prstGeom prst="roundRect">
            <a:avLst>
              <a:gd name="adj" fmla="val 13333"/>
            </a:avLst>
          </a:prstGeom>
          <a:solidFill>
            <a:srgbClr val="F3F5F9"/>
          </a:solidFill>
          <a:ln>
            <a:noFill/>
          </a:ln>
        </p:spPr>
        <p:txBody>
          <a:bodyPr rtlCol="0" anchor="ctr" wrap="square" lIns="73152" rIns="73152" tIns="73152" bIns="73152">
            <a:noAutofit/>
          </a:bodyPr>
          <a:lstStyle/>
          <a:p>
            <a:pPr algn="ctr"/>
          </a:p>
        </p:txBody>
      </p:sp>
      <p:sp>
        <p:nvSpPr>
          <p:cNvPr id="47" name="TextBox 46"/>
          <p:cNvSpPr txBox="1"/>
          <p:nvPr/>
        </p:nvSpPr>
        <p:spPr>
          <a:xfrm>
            <a:off x="777240" y="5577840"/>
            <a:ext cx="2011680" cy="548640"/>
          </a:xfrm>
          <a:prstGeom prst="rect">
            <a:avLst/>
          </a:prstGeom>
          <a:noFill/>
        </p:spPr>
        <p:txBody>
          <a:bodyPr wrap="square" lIns="0" rIns="0" tIns="0" bIns="0" anchor="ctr">
            <a:noAutofit/>
          </a:bodyPr>
          <a:lstStyle/>
          <a:p>
            <a:pPr algn="l"/>
            <a:r>
              <a:rPr sz="1500" b="1" i="0" lang="es-ES">
                <a:solidFill>
                  <a:srgbClr val="1B2B48"/>
                </a:solidFill>
                <a:latin typeface="Calibri"/>
              </a:rPr>
              <a:t>Hitos ponderados</a:t>
            </a:r>
            <a:endParaRPr lang="es-ES" sz="1500"/>
          </a:p>
        </p:txBody>
      </p:sp>
      <p:sp>
        <p:nvSpPr>
          <p:cNvPr id="48" name="TextBox 47"/>
          <p:cNvSpPr txBox="1"/>
          <p:nvPr/>
        </p:nvSpPr>
        <p:spPr>
          <a:xfrm>
            <a:off x="2834640" y="5577840"/>
            <a:ext cx="5120640" cy="548640"/>
          </a:xfrm>
          <a:prstGeom prst="rect">
            <a:avLst/>
          </a:prstGeom>
          <a:noFill/>
        </p:spPr>
        <p:txBody>
          <a:bodyPr wrap="square" lIns="0" rIns="0" tIns="0" bIns="0" anchor="ctr">
            <a:noAutofit/>
          </a:bodyPr>
          <a:lstStyle/>
          <a:p>
            <a:pPr algn="l"/>
            <a:r>
              <a:rPr sz="1400" b="0" i="0" lang="es-ES">
                <a:solidFill>
                  <a:srgbClr val="1B2B48"/>
                </a:solidFill>
                <a:latin typeface="Calibri"/>
              </a:rPr>
              <a:t>Hitos cumplidos: (30 + 30) / 100 = 60 % × 900.000</a:t>
            </a:r>
            <a:endParaRPr lang="es-ES" sz="1400"/>
          </a:p>
        </p:txBody>
      </p:sp>
      <p:sp>
        <p:nvSpPr>
          <p:cNvPr id="49" name="Rectangle 48"/>
          <p:cNvSpPr/>
          <p:nvPr/>
        </p:nvSpPr>
        <p:spPr>
          <a:xfrm>
            <a:off x="8092440" y="5733288"/>
            <a:ext cx="2103120" cy="237744"/>
          </a:xfrm>
          <a:prstGeom prst="rect">
            <a:avLst/>
          </a:prstGeom>
          <a:solidFill>
            <a:srgbClr val="E8ECF2"/>
          </a:solidFill>
          <a:ln>
            <a:noFill/>
          </a:ln>
        </p:spPr>
        <p:txBody>
          <a:bodyPr rtlCol="0" anchor="ctr" wrap="square" lIns="73152" rIns="73152" tIns="73152" bIns="73152">
            <a:noAutofit/>
          </a:bodyPr>
          <a:lstStyle/>
          <a:p>
            <a:pPr algn="ctr"/>
          </a:p>
        </p:txBody>
      </p:sp>
      <p:sp>
        <p:nvSpPr>
          <p:cNvPr id="50" name="Rectangle 49"/>
          <p:cNvSpPr/>
          <p:nvPr/>
        </p:nvSpPr>
        <p:spPr>
          <a:xfrm>
            <a:off x="8092440" y="5733288"/>
            <a:ext cx="1261872" cy="237744"/>
          </a:xfrm>
          <a:prstGeom prst="rect">
            <a:avLst/>
          </a:prstGeom>
          <a:solidFill>
            <a:srgbClr val="4E8A3E"/>
          </a:solidFill>
          <a:ln>
            <a:noFill/>
          </a:ln>
        </p:spPr>
        <p:txBody>
          <a:bodyPr rtlCol="0" anchor="ctr" wrap="square" lIns="73152" rIns="73152" tIns="73152" bIns="73152">
            <a:noAutofit/>
          </a:bodyPr>
          <a:lstStyle/>
          <a:p>
            <a:pPr algn="ctr"/>
          </a:p>
        </p:txBody>
      </p:sp>
      <p:sp>
        <p:nvSpPr>
          <p:cNvPr id="51" name="TextBox 50"/>
          <p:cNvSpPr txBox="1"/>
          <p:nvPr/>
        </p:nvSpPr>
        <p:spPr>
          <a:xfrm>
            <a:off x="10287000" y="5577840"/>
            <a:ext cx="1188720" cy="548640"/>
          </a:xfrm>
          <a:prstGeom prst="rect">
            <a:avLst/>
          </a:prstGeom>
          <a:noFill/>
        </p:spPr>
        <p:txBody>
          <a:bodyPr wrap="square" lIns="0" rIns="0" tIns="0" bIns="0" anchor="ctr">
            <a:noAutofit/>
          </a:bodyPr>
          <a:lstStyle/>
          <a:p>
            <a:pPr algn="r"/>
            <a:r>
              <a:rPr sz="1500" b="1" i="0" lang="es-ES">
                <a:solidFill>
                  <a:srgbClr val="4E8A3E"/>
                </a:solidFill>
                <a:latin typeface="Calibri"/>
              </a:rPr>
              <a:t>540.000 €</a:t>
            </a:r>
            <a:endParaRPr lang="es-ES" sz="150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¿Qué método elegir?</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MS PROJECT · AVANCE</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22</a:t>
            </a:fld>
            <a:endParaRPr lang="es-ES" sz="1000"/>
          </a:p>
        </p:txBody>
      </p:sp>
      <p:sp>
        <p:nvSpPr>
          <p:cNvPr id="6" name="Rounded Rectangle 5"/>
          <p:cNvSpPr/>
          <p:nvPr/>
        </p:nvSpPr>
        <p:spPr>
          <a:xfrm>
            <a:off x="548640" y="3246120"/>
            <a:ext cx="1920240" cy="960120"/>
          </a:xfrm>
          <a:prstGeom prst="roundRect">
            <a:avLst>
              <a:gd name="adj" fmla="val 9523"/>
            </a:avLst>
          </a:prstGeom>
          <a:solidFill>
            <a:srgbClr val="FFFFFF"/>
          </a:solidFill>
          <a:ln w="15875">
            <a:solidFill>
              <a:srgbClr val="1B2B48"/>
            </a:solidFill>
          </a:ln>
        </p:spPr>
        <p:txBody>
          <a:bodyPr rtlCol="0" anchor="ctr" wrap="square" lIns="73152" rIns="73152" tIns="73152" bIns="73152">
            <a:noAutofit/>
          </a:bodyPr>
          <a:lstStyle/>
          <a:p>
            <a:pPr algn="ctr"/>
            <a:r>
              <a:rPr sz="1300" b="1" i="0" lang="es-ES">
                <a:solidFill>
                  <a:srgbClr val="1B2B48"/>
                </a:solidFill>
                <a:latin typeface="Calibri"/>
              </a:rPr>
              <a:t>¿Soporte sin entregables medibles?</a:t>
            </a:r>
            <a:endParaRPr lang="es-ES" sz="1300"/>
          </a:p>
        </p:txBody>
      </p:sp>
      <p:sp>
        <p:nvSpPr>
          <p:cNvPr id="7" name="Rounded Rectangle 6"/>
          <p:cNvSpPr/>
          <p:nvPr/>
        </p:nvSpPr>
        <p:spPr>
          <a:xfrm>
            <a:off x="548640" y="1554480"/>
            <a:ext cx="1920240" cy="548640"/>
          </a:xfrm>
          <a:prstGeom prst="roundRect">
            <a:avLst>
              <a:gd name="adj" fmla="val 16666"/>
            </a:avLst>
          </a:prstGeom>
          <a:solidFill>
            <a:srgbClr val="8893A6"/>
          </a:solidFill>
          <a:ln>
            <a:noFill/>
          </a:ln>
        </p:spPr>
        <p:txBody>
          <a:bodyPr rtlCol="0" anchor="ctr" wrap="square" lIns="54864" rIns="54864" tIns="54864" bIns="54864">
            <a:noAutofit/>
          </a:bodyPr>
          <a:lstStyle/>
          <a:p>
            <a:pPr algn="ctr"/>
            <a:r>
              <a:rPr sz="1400" b="1" i="0" lang="es-ES">
                <a:solidFill>
                  <a:srgbClr val="FFFFFF"/>
                </a:solidFill>
                <a:latin typeface="Calibri"/>
              </a:rPr>
              <a:t>Avance lineal (LOE)</a:t>
            </a:r>
            <a:endParaRPr lang="es-ES" sz="1400"/>
          </a:p>
        </p:txBody>
      </p:sp>
      <p:cxnSp>
        <p:nvCxnSpPr>
          <p:cNvPr id="8" name="Connector 7"/>
          <p:cNvCxnSpPr/>
          <p:nvPr/>
        </p:nvCxnSpPr>
        <p:spPr>
          <a:xfrm flipV="1">
            <a:off x="1508760" y="2103120"/>
            <a:ext cx="0" cy="1143000"/>
          </a:xfrm>
          <a:prstGeom prst="line">
            <a:avLst/>
          </a:prstGeom>
          <a:ln w="22225">
            <a:solidFill>
              <a:srgbClr val="5A6577"/>
            </a:solidFill>
            <a:tailEnd type="triangle" w="med" len="med"/>
          </a:ln>
        </p:spPr>
      </p:cxnSp>
      <p:sp>
        <p:nvSpPr>
          <p:cNvPr id="9" name="TextBox 8"/>
          <p:cNvSpPr txBox="1"/>
          <p:nvPr/>
        </p:nvSpPr>
        <p:spPr>
          <a:xfrm>
            <a:off x="1600200" y="2514600"/>
            <a:ext cx="914400" cy="274320"/>
          </a:xfrm>
          <a:prstGeom prst="rect">
            <a:avLst/>
          </a:prstGeom>
          <a:noFill/>
        </p:spPr>
        <p:txBody>
          <a:bodyPr wrap="square" lIns="0" rIns="0" tIns="0" bIns="0" anchor="t">
            <a:noAutofit/>
          </a:bodyPr>
          <a:lstStyle/>
          <a:p>
            <a:pPr algn="l"/>
            <a:r>
              <a:rPr sz="1200" b="1" i="0" lang="es-ES">
                <a:solidFill>
                  <a:srgbClr val="8A5A00"/>
                </a:solidFill>
                <a:latin typeface="Calibri"/>
              </a:rPr>
              <a:t>Sí</a:t>
            </a:r>
            <a:endParaRPr lang="es-ES" sz="1200"/>
          </a:p>
        </p:txBody>
      </p:sp>
      <p:sp>
        <p:nvSpPr>
          <p:cNvPr id="10" name="Rounded Rectangle 9"/>
          <p:cNvSpPr/>
          <p:nvPr/>
        </p:nvSpPr>
        <p:spPr>
          <a:xfrm>
            <a:off x="2971800" y="3246120"/>
            <a:ext cx="1828800" cy="960120"/>
          </a:xfrm>
          <a:prstGeom prst="roundRect">
            <a:avLst>
              <a:gd name="adj" fmla="val 9523"/>
            </a:avLst>
          </a:prstGeom>
          <a:solidFill>
            <a:srgbClr val="FFFFFF"/>
          </a:solidFill>
          <a:ln w="15875">
            <a:solidFill>
              <a:srgbClr val="1B2B48"/>
            </a:solidFill>
          </a:ln>
        </p:spPr>
        <p:txBody>
          <a:bodyPr rtlCol="0" anchor="ctr" wrap="square" lIns="73152" rIns="73152" tIns="73152" bIns="73152">
            <a:noAutofit/>
          </a:bodyPr>
          <a:lstStyle/>
          <a:p>
            <a:pPr algn="ctr"/>
            <a:r>
              <a:rPr sz="1300" b="1" i="0" lang="es-ES">
                <a:solidFill>
                  <a:srgbClr val="1B2B48"/>
                </a:solidFill>
                <a:latin typeface="Calibri"/>
              </a:rPr>
              <a:t>¿Cuánto dura el paquete?</a:t>
            </a:r>
            <a:endParaRPr lang="es-ES" sz="1300"/>
          </a:p>
        </p:txBody>
      </p:sp>
      <p:cxnSp>
        <p:nvCxnSpPr>
          <p:cNvPr id="11" name="Connector 10"/>
          <p:cNvCxnSpPr/>
          <p:nvPr/>
        </p:nvCxnSpPr>
        <p:spPr>
          <a:xfrm>
            <a:off x="2468880" y="3721608"/>
            <a:ext cx="502920" cy="0"/>
          </a:xfrm>
          <a:prstGeom prst="line">
            <a:avLst/>
          </a:prstGeom>
          <a:ln w="22225">
            <a:solidFill>
              <a:srgbClr val="5A6577"/>
            </a:solidFill>
            <a:tailEnd type="triangle" w="med" len="med"/>
          </a:ln>
        </p:spPr>
      </p:cxnSp>
      <p:sp>
        <p:nvSpPr>
          <p:cNvPr id="12" name="TextBox 11"/>
          <p:cNvSpPr txBox="1"/>
          <p:nvPr/>
        </p:nvSpPr>
        <p:spPr>
          <a:xfrm>
            <a:off x="2542032" y="3429000"/>
            <a:ext cx="457200" cy="274320"/>
          </a:xfrm>
          <a:prstGeom prst="rect">
            <a:avLst/>
          </a:prstGeom>
          <a:noFill/>
        </p:spPr>
        <p:txBody>
          <a:bodyPr wrap="square" lIns="0" rIns="0" tIns="0" bIns="0" anchor="t">
            <a:noAutofit/>
          </a:bodyPr>
          <a:lstStyle/>
          <a:p>
            <a:pPr algn="l"/>
            <a:r>
              <a:rPr sz="1200" b="1" i="0" lang="es-ES">
                <a:solidFill>
                  <a:srgbClr val="8A5A00"/>
                </a:solidFill>
                <a:latin typeface="Calibri"/>
              </a:rPr>
              <a:t>No</a:t>
            </a:r>
            <a:endParaRPr lang="es-ES" sz="1200"/>
          </a:p>
        </p:txBody>
      </p:sp>
      <p:sp>
        <p:nvSpPr>
          <p:cNvPr id="13" name="Rounded Rectangle 12"/>
          <p:cNvSpPr/>
          <p:nvPr/>
        </p:nvSpPr>
        <p:spPr>
          <a:xfrm>
            <a:off x="5349240" y="1554480"/>
            <a:ext cx="2011680" cy="548640"/>
          </a:xfrm>
          <a:prstGeom prst="roundRect">
            <a:avLst>
              <a:gd name="adj" fmla="val 16666"/>
            </a:avLst>
          </a:prstGeom>
          <a:solidFill>
            <a:srgbClr val="1B2B48"/>
          </a:solidFill>
          <a:ln>
            <a:noFill/>
          </a:ln>
        </p:spPr>
        <p:txBody>
          <a:bodyPr rtlCol="0" anchor="ctr" wrap="square" lIns="54864" rIns="54864" tIns="54864" bIns="54864">
            <a:noAutofit/>
          </a:bodyPr>
          <a:lstStyle/>
          <a:p>
            <a:pPr algn="ctr"/>
            <a:r>
              <a:rPr sz="1400" b="1" i="0" lang="es-ES">
                <a:solidFill>
                  <a:srgbClr val="FFFFFF"/>
                </a:solidFill>
                <a:latin typeface="Calibri"/>
              </a:rPr>
              <a:t>0/100</a:t>
            </a:r>
            <a:endParaRPr lang="es-ES" sz="1400"/>
          </a:p>
        </p:txBody>
      </p:sp>
      <p:sp>
        <p:nvSpPr>
          <p:cNvPr id="14" name="Rounded Rectangle 13"/>
          <p:cNvSpPr/>
          <p:nvPr/>
        </p:nvSpPr>
        <p:spPr>
          <a:xfrm>
            <a:off x="5349240" y="2514600"/>
            <a:ext cx="2011680" cy="868680"/>
          </a:xfrm>
          <a:prstGeom prst="roundRect">
            <a:avLst>
              <a:gd name="adj" fmla="val 10526"/>
            </a:avLst>
          </a:prstGeom>
          <a:solidFill>
            <a:srgbClr val="FFFFFF"/>
          </a:solidFill>
          <a:ln w="15875">
            <a:solidFill>
              <a:srgbClr val="1B2B48"/>
            </a:solidFill>
          </a:ln>
        </p:spPr>
        <p:txBody>
          <a:bodyPr rtlCol="0" anchor="ctr" wrap="square" lIns="73152" rIns="73152" tIns="73152" bIns="73152">
            <a:noAutofit/>
          </a:bodyPr>
          <a:lstStyle/>
          <a:p>
            <a:pPr algn="ctr"/>
            <a:r>
              <a:rPr sz="1300" b="1" i="0" lang="es-ES">
                <a:solidFill>
                  <a:srgbClr val="1B2B48"/>
                </a:solidFill>
                <a:latin typeface="Calibri"/>
              </a:rPr>
              <a:t>¿El valor se concentra al final?</a:t>
            </a:r>
            <a:endParaRPr lang="es-ES" sz="1300"/>
          </a:p>
        </p:txBody>
      </p:sp>
      <p:sp>
        <p:nvSpPr>
          <p:cNvPr id="15" name="Rounded Rectangle 14"/>
          <p:cNvSpPr/>
          <p:nvPr/>
        </p:nvSpPr>
        <p:spPr>
          <a:xfrm>
            <a:off x="5349240" y="4069080"/>
            <a:ext cx="2011680" cy="868680"/>
          </a:xfrm>
          <a:prstGeom prst="roundRect">
            <a:avLst>
              <a:gd name="adj" fmla="val 10526"/>
            </a:avLst>
          </a:prstGeom>
          <a:solidFill>
            <a:srgbClr val="FFFFFF"/>
          </a:solidFill>
          <a:ln w="15875">
            <a:solidFill>
              <a:srgbClr val="1B2B48"/>
            </a:solidFill>
          </a:ln>
        </p:spPr>
        <p:txBody>
          <a:bodyPr rtlCol="0" anchor="ctr" wrap="square" lIns="73152" rIns="73152" tIns="73152" bIns="73152">
            <a:noAutofit/>
          </a:bodyPr>
          <a:lstStyle/>
          <a:p>
            <a:pPr algn="ctr"/>
            <a:r>
              <a:rPr sz="1300" b="1" i="0" lang="es-ES">
                <a:solidFill>
                  <a:srgbClr val="1B2B48"/>
                </a:solidFill>
                <a:latin typeface="Calibri"/>
              </a:rPr>
              <a:t>¿Hitos intermedios verificables?</a:t>
            </a:r>
            <a:endParaRPr lang="es-ES" sz="1300"/>
          </a:p>
        </p:txBody>
      </p:sp>
      <p:cxnSp>
        <p:nvCxnSpPr>
          <p:cNvPr id="16" name="Connector 15"/>
          <p:cNvCxnSpPr/>
          <p:nvPr/>
        </p:nvCxnSpPr>
        <p:spPr>
          <a:xfrm flipV="1">
            <a:off x="4800600" y="1828800"/>
            <a:ext cx="548640" cy="1645920"/>
          </a:xfrm>
          <a:prstGeom prst="line">
            <a:avLst/>
          </a:prstGeom>
          <a:ln w="22225">
            <a:solidFill>
              <a:srgbClr val="5A6577"/>
            </a:solidFill>
            <a:tailEnd type="triangle" w="med" len="med"/>
          </a:ln>
        </p:spPr>
      </p:cxnSp>
      <p:cxnSp>
        <p:nvCxnSpPr>
          <p:cNvPr id="17" name="Connector 16"/>
          <p:cNvCxnSpPr/>
          <p:nvPr/>
        </p:nvCxnSpPr>
        <p:spPr>
          <a:xfrm flipV="1">
            <a:off x="4800600" y="2944368"/>
            <a:ext cx="548640" cy="713232"/>
          </a:xfrm>
          <a:prstGeom prst="line">
            <a:avLst/>
          </a:prstGeom>
          <a:ln w="22225">
            <a:solidFill>
              <a:srgbClr val="5A6577"/>
            </a:solidFill>
            <a:tailEnd type="triangle" w="med" len="med"/>
          </a:ln>
        </p:spPr>
      </p:cxnSp>
      <p:cxnSp>
        <p:nvCxnSpPr>
          <p:cNvPr id="18" name="Connector 17"/>
          <p:cNvCxnSpPr/>
          <p:nvPr/>
        </p:nvCxnSpPr>
        <p:spPr>
          <a:xfrm>
            <a:off x="4800600" y="3931920"/>
            <a:ext cx="548640" cy="566928"/>
          </a:xfrm>
          <a:prstGeom prst="line">
            <a:avLst/>
          </a:prstGeom>
          <a:ln w="22225">
            <a:solidFill>
              <a:srgbClr val="5A6577"/>
            </a:solidFill>
            <a:tailEnd type="triangle" w="med" len="med"/>
          </a:ln>
        </p:spPr>
      </p:cxnSp>
      <p:sp>
        <p:nvSpPr>
          <p:cNvPr id="19" name="TextBox 18"/>
          <p:cNvSpPr txBox="1"/>
          <p:nvPr/>
        </p:nvSpPr>
        <p:spPr>
          <a:xfrm>
            <a:off x="4023360" y="2331720"/>
            <a:ext cx="822960" cy="274320"/>
          </a:xfrm>
          <a:prstGeom prst="rect">
            <a:avLst/>
          </a:prstGeom>
          <a:noFill/>
        </p:spPr>
        <p:txBody>
          <a:bodyPr wrap="square" lIns="0" rIns="0" tIns="0" bIns="0" anchor="t">
            <a:noAutofit/>
          </a:bodyPr>
          <a:lstStyle/>
          <a:p>
            <a:pPr algn="r"/>
            <a:r>
              <a:rPr sz="1200" b="1" i="0" lang="es-ES">
                <a:solidFill>
                  <a:srgbClr val="8A5A00"/>
                </a:solidFill>
                <a:latin typeface="Calibri"/>
              </a:rPr>
              <a:t>1 mes</a:t>
            </a:r>
            <a:endParaRPr lang="es-ES" sz="1200"/>
          </a:p>
        </p:txBody>
      </p:sp>
      <p:sp>
        <p:nvSpPr>
          <p:cNvPr id="20" name="TextBox 19"/>
          <p:cNvSpPr txBox="1"/>
          <p:nvPr/>
        </p:nvSpPr>
        <p:spPr>
          <a:xfrm>
            <a:off x="4023360" y="3017520"/>
            <a:ext cx="822960" cy="274320"/>
          </a:xfrm>
          <a:prstGeom prst="rect">
            <a:avLst/>
          </a:prstGeom>
          <a:noFill/>
        </p:spPr>
        <p:txBody>
          <a:bodyPr wrap="square" lIns="0" rIns="0" tIns="0" bIns="0" anchor="t">
            <a:noAutofit/>
          </a:bodyPr>
          <a:lstStyle/>
          <a:p>
            <a:pPr algn="r"/>
            <a:r>
              <a:rPr sz="1200" b="1" i="0" lang="es-ES">
                <a:solidFill>
                  <a:srgbClr val="8A5A00"/>
                </a:solidFill>
                <a:latin typeface="Calibri"/>
              </a:rPr>
              <a:t>2 meses</a:t>
            </a:r>
            <a:endParaRPr lang="es-ES" sz="1200"/>
          </a:p>
        </p:txBody>
      </p:sp>
      <p:sp>
        <p:nvSpPr>
          <p:cNvPr id="21" name="TextBox 20"/>
          <p:cNvSpPr txBox="1"/>
          <p:nvPr/>
        </p:nvSpPr>
        <p:spPr>
          <a:xfrm>
            <a:off x="3931920" y="4206240"/>
            <a:ext cx="914400" cy="274320"/>
          </a:xfrm>
          <a:prstGeom prst="rect">
            <a:avLst/>
          </a:prstGeom>
          <a:noFill/>
        </p:spPr>
        <p:txBody>
          <a:bodyPr wrap="square" lIns="0" rIns="0" tIns="0" bIns="0" anchor="t">
            <a:noAutofit/>
          </a:bodyPr>
          <a:lstStyle/>
          <a:p>
            <a:pPr algn="r"/>
            <a:r>
              <a:rPr sz="1200" b="1" i="0" lang="es-ES">
                <a:solidFill>
                  <a:srgbClr val="8A5A00"/>
                </a:solidFill>
                <a:latin typeface="Calibri"/>
              </a:rPr>
              <a:t>≥ 3 meses</a:t>
            </a:r>
            <a:endParaRPr lang="es-ES" sz="1200"/>
          </a:p>
        </p:txBody>
      </p:sp>
      <p:sp>
        <p:nvSpPr>
          <p:cNvPr id="22" name="Rounded Rectangle 21"/>
          <p:cNvSpPr/>
          <p:nvPr/>
        </p:nvSpPr>
        <p:spPr>
          <a:xfrm>
            <a:off x="7909560" y="2286000"/>
            <a:ext cx="1828800" cy="502920"/>
          </a:xfrm>
          <a:prstGeom prst="roundRect">
            <a:avLst>
              <a:gd name="adj" fmla="val 18181"/>
            </a:avLst>
          </a:prstGeom>
          <a:solidFill>
            <a:srgbClr val="1B2B48"/>
          </a:solidFill>
          <a:ln>
            <a:noFill/>
          </a:ln>
        </p:spPr>
        <p:txBody>
          <a:bodyPr rtlCol="0" anchor="ctr" wrap="square" lIns="54864" rIns="54864" tIns="54864" bIns="54864">
            <a:noAutofit/>
          </a:bodyPr>
          <a:lstStyle/>
          <a:p>
            <a:pPr algn="ctr"/>
            <a:r>
              <a:rPr sz="1400" b="1" i="0" lang="es-ES">
                <a:solidFill>
                  <a:srgbClr val="FFFFFF"/>
                </a:solidFill>
                <a:latin typeface="Calibri"/>
              </a:rPr>
              <a:t>50/50</a:t>
            </a:r>
            <a:endParaRPr lang="es-ES" sz="1400"/>
          </a:p>
        </p:txBody>
      </p:sp>
      <p:sp>
        <p:nvSpPr>
          <p:cNvPr id="23" name="Rounded Rectangle 22"/>
          <p:cNvSpPr/>
          <p:nvPr/>
        </p:nvSpPr>
        <p:spPr>
          <a:xfrm>
            <a:off x="7909560" y="3017520"/>
            <a:ext cx="1828800" cy="502920"/>
          </a:xfrm>
          <a:prstGeom prst="roundRect">
            <a:avLst>
              <a:gd name="adj" fmla="val 18181"/>
            </a:avLst>
          </a:prstGeom>
          <a:solidFill>
            <a:srgbClr val="1B2B48"/>
          </a:solidFill>
          <a:ln>
            <a:noFill/>
          </a:ln>
        </p:spPr>
        <p:txBody>
          <a:bodyPr rtlCol="0" anchor="ctr" wrap="square" lIns="54864" rIns="54864" tIns="54864" bIns="54864">
            <a:noAutofit/>
          </a:bodyPr>
          <a:lstStyle/>
          <a:p>
            <a:pPr algn="ctr"/>
            <a:r>
              <a:rPr sz="1400" b="1" i="0" lang="es-ES">
                <a:solidFill>
                  <a:srgbClr val="FFFFFF"/>
                </a:solidFill>
                <a:latin typeface="Calibri"/>
              </a:rPr>
              <a:t>25/75 o 20/80</a:t>
            </a:r>
            <a:endParaRPr lang="es-ES" sz="1400"/>
          </a:p>
        </p:txBody>
      </p:sp>
      <p:cxnSp>
        <p:nvCxnSpPr>
          <p:cNvPr id="24" name="Connector 23"/>
          <p:cNvCxnSpPr/>
          <p:nvPr/>
        </p:nvCxnSpPr>
        <p:spPr>
          <a:xfrm flipV="1">
            <a:off x="7360920" y="2542032"/>
            <a:ext cx="548640" cy="292608"/>
          </a:xfrm>
          <a:prstGeom prst="line">
            <a:avLst/>
          </a:prstGeom>
          <a:ln w="22225">
            <a:solidFill>
              <a:srgbClr val="5A6577"/>
            </a:solidFill>
            <a:tailEnd type="triangle" w="med" len="med"/>
          </a:ln>
        </p:spPr>
      </p:cxnSp>
      <p:cxnSp>
        <p:nvCxnSpPr>
          <p:cNvPr id="25" name="Connector 24"/>
          <p:cNvCxnSpPr/>
          <p:nvPr/>
        </p:nvCxnSpPr>
        <p:spPr>
          <a:xfrm>
            <a:off x="7360920" y="3063240"/>
            <a:ext cx="548640" cy="210312"/>
          </a:xfrm>
          <a:prstGeom prst="line">
            <a:avLst/>
          </a:prstGeom>
          <a:ln w="22225">
            <a:solidFill>
              <a:srgbClr val="5A6577"/>
            </a:solidFill>
            <a:tailEnd type="triangle" w="med" len="med"/>
          </a:ln>
        </p:spPr>
      </p:cxnSp>
      <p:sp>
        <p:nvSpPr>
          <p:cNvPr id="26" name="TextBox 25"/>
          <p:cNvSpPr txBox="1"/>
          <p:nvPr/>
        </p:nvSpPr>
        <p:spPr>
          <a:xfrm>
            <a:off x="7452360" y="2377440"/>
            <a:ext cx="457200" cy="274320"/>
          </a:xfrm>
          <a:prstGeom prst="rect">
            <a:avLst/>
          </a:prstGeom>
          <a:noFill/>
        </p:spPr>
        <p:txBody>
          <a:bodyPr wrap="square" lIns="0" rIns="0" tIns="0" bIns="0" anchor="t">
            <a:noAutofit/>
          </a:bodyPr>
          <a:lstStyle/>
          <a:p>
            <a:pPr algn="l"/>
            <a:r>
              <a:rPr sz="1200" b="1" i="0" lang="es-ES">
                <a:solidFill>
                  <a:srgbClr val="8A5A00"/>
                </a:solidFill>
                <a:latin typeface="Calibri"/>
              </a:rPr>
              <a:t>No</a:t>
            </a:r>
            <a:endParaRPr lang="es-ES" sz="1200"/>
          </a:p>
        </p:txBody>
      </p:sp>
      <p:sp>
        <p:nvSpPr>
          <p:cNvPr id="27" name="TextBox 26"/>
          <p:cNvSpPr txBox="1"/>
          <p:nvPr/>
        </p:nvSpPr>
        <p:spPr>
          <a:xfrm>
            <a:off x="7452360" y="3200400"/>
            <a:ext cx="457200" cy="274320"/>
          </a:xfrm>
          <a:prstGeom prst="rect">
            <a:avLst/>
          </a:prstGeom>
          <a:noFill/>
        </p:spPr>
        <p:txBody>
          <a:bodyPr wrap="square" lIns="0" rIns="0" tIns="0" bIns="0" anchor="t">
            <a:noAutofit/>
          </a:bodyPr>
          <a:lstStyle/>
          <a:p>
            <a:pPr algn="l"/>
            <a:r>
              <a:rPr sz="1200" b="1" i="0" lang="es-ES">
                <a:solidFill>
                  <a:srgbClr val="8A5A00"/>
                </a:solidFill>
                <a:latin typeface="Calibri"/>
              </a:rPr>
              <a:t>Sí</a:t>
            </a:r>
            <a:endParaRPr lang="es-ES" sz="1200"/>
          </a:p>
        </p:txBody>
      </p:sp>
      <p:sp>
        <p:nvSpPr>
          <p:cNvPr id="28" name="Rounded Rectangle 27"/>
          <p:cNvSpPr/>
          <p:nvPr/>
        </p:nvSpPr>
        <p:spPr>
          <a:xfrm>
            <a:off x="7909560" y="3840480"/>
            <a:ext cx="1828800" cy="502920"/>
          </a:xfrm>
          <a:prstGeom prst="roundRect">
            <a:avLst>
              <a:gd name="adj" fmla="val 18181"/>
            </a:avLst>
          </a:prstGeom>
          <a:solidFill>
            <a:srgbClr val="4E8A3E"/>
          </a:solidFill>
          <a:ln>
            <a:noFill/>
          </a:ln>
        </p:spPr>
        <p:txBody>
          <a:bodyPr rtlCol="0" anchor="ctr" wrap="square" lIns="54864" rIns="54864" tIns="54864" bIns="54864">
            <a:noAutofit/>
          </a:bodyPr>
          <a:lstStyle/>
          <a:p>
            <a:pPr algn="ctr"/>
            <a:r>
              <a:rPr sz="1400" b="1" i="0" lang="es-ES">
                <a:solidFill>
                  <a:srgbClr val="FFFFFF"/>
                </a:solidFill>
                <a:latin typeface="Calibri"/>
              </a:rPr>
              <a:t>Hitos ponderados</a:t>
            </a:r>
            <a:endParaRPr lang="es-ES" sz="1400"/>
          </a:p>
        </p:txBody>
      </p:sp>
      <p:sp>
        <p:nvSpPr>
          <p:cNvPr id="29" name="Rounded Rectangle 28"/>
          <p:cNvSpPr/>
          <p:nvPr/>
        </p:nvSpPr>
        <p:spPr>
          <a:xfrm>
            <a:off x="7909560" y="4572000"/>
            <a:ext cx="1828800" cy="822960"/>
          </a:xfrm>
          <a:prstGeom prst="roundRect">
            <a:avLst>
              <a:gd name="adj" fmla="val 11111"/>
            </a:avLst>
          </a:prstGeom>
          <a:solidFill>
            <a:srgbClr val="FFFFFF"/>
          </a:solidFill>
          <a:ln w="15875">
            <a:solidFill>
              <a:srgbClr val="1B2B48"/>
            </a:solidFill>
          </a:ln>
        </p:spPr>
        <p:txBody>
          <a:bodyPr rtlCol="0" anchor="ctr" wrap="square" lIns="73152" rIns="73152" tIns="73152" bIns="73152">
            <a:noAutofit/>
          </a:bodyPr>
          <a:lstStyle/>
          <a:p>
            <a:pPr algn="ctr"/>
            <a:r>
              <a:rPr sz="1300" b="1" i="0" lang="es-ES">
                <a:solidFill>
                  <a:srgbClr val="1B2B48"/>
                </a:solidFill>
                <a:latin typeface="Calibri"/>
              </a:rPr>
              <a:t>¿Se mide en cantidades?</a:t>
            </a:r>
            <a:endParaRPr lang="es-ES" sz="1300"/>
          </a:p>
        </p:txBody>
      </p:sp>
      <p:cxnSp>
        <p:nvCxnSpPr>
          <p:cNvPr id="30" name="Connector 29"/>
          <p:cNvCxnSpPr/>
          <p:nvPr/>
        </p:nvCxnSpPr>
        <p:spPr>
          <a:xfrm flipV="1">
            <a:off x="7360920" y="4096512"/>
            <a:ext cx="548640" cy="292608"/>
          </a:xfrm>
          <a:prstGeom prst="line">
            <a:avLst/>
          </a:prstGeom>
          <a:ln w="22225">
            <a:solidFill>
              <a:srgbClr val="5A6577"/>
            </a:solidFill>
            <a:tailEnd type="triangle" w="med" len="med"/>
          </a:ln>
        </p:spPr>
      </p:cxnSp>
      <p:cxnSp>
        <p:nvCxnSpPr>
          <p:cNvPr id="31" name="Connector 30"/>
          <p:cNvCxnSpPr/>
          <p:nvPr/>
        </p:nvCxnSpPr>
        <p:spPr>
          <a:xfrm>
            <a:off x="7360920" y="4617720"/>
            <a:ext cx="548640" cy="365760"/>
          </a:xfrm>
          <a:prstGeom prst="line">
            <a:avLst/>
          </a:prstGeom>
          <a:ln w="22225">
            <a:solidFill>
              <a:srgbClr val="5A6577"/>
            </a:solidFill>
            <a:tailEnd type="triangle" w="med" len="med"/>
          </a:ln>
        </p:spPr>
      </p:cxnSp>
      <p:sp>
        <p:nvSpPr>
          <p:cNvPr id="32" name="TextBox 31"/>
          <p:cNvSpPr txBox="1"/>
          <p:nvPr/>
        </p:nvSpPr>
        <p:spPr>
          <a:xfrm>
            <a:off x="7452360" y="3931920"/>
            <a:ext cx="457200" cy="274320"/>
          </a:xfrm>
          <a:prstGeom prst="rect">
            <a:avLst/>
          </a:prstGeom>
          <a:noFill/>
        </p:spPr>
        <p:txBody>
          <a:bodyPr wrap="square" lIns="0" rIns="0" tIns="0" bIns="0" anchor="t">
            <a:noAutofit/>
          </a:bodyPr>
          <a:lstStyle/>
          <a:p>
            <a:pPr algn="l"/>
            <a:r>
              <a:rPr sz="1200" b="1" i="0" lang="es-ES">
                <a:solidFill>
                  <a:srgbClr val="8A5A00"/>
                </a:solidFill>
                <a:latin typeface="Calibri"/>
              </a:rPr>
              <a:t>Sí</a:t>
            </a:r>
            <a:endParaRPr lang="es-ES" sz="1200"/>
          </a:p>
        </p:txBody>
      </p:sp>
      <p:sp>
        <p:nvSpPr>
          <p:cNvPr id="33" name="TextBox 32"/>
          <p:cNvSpPr txBox="1"/>
          <p:nvPr/>
        </p:nvSpPr>
        <p:spPr>
          <a:xfrm>
            <a:off x="7452360" y="4800600"/>
            <a:ext cx="457200" cy="274320"/>
          </a:xfrm>
          <a:prstGeom prst="rect">
            <a:avLst/>
          </a:prstGeom>
          <a:noFill/>
        </p:spPr>
        <p:txBody>
          <a:bodyPr wrap="square" lIns="0" rIns="0" tIns="0" bIns="0" anchor="t">
            <a:noAutofit/>
          </a:bodyPr>
          <a:lstStyle/>
          <a:p>
            <a:pPr algn="l"/>
            <a:r>
              <a:rPr sz="1200" b="1" i="0" lang="es-ES">
                <a:solidFill>
                  <a:srgbClr val="8A5A00"/>
                </a:solidFill>
                <a:latin typeface="Calibri"/>
              </a:rPr>
              <a:t>No</a:t>
            </a:r>
            <a:endParaRPr lang="es-ES" sz="1200"/>
          </a:p>
        </p:txBody>
      </p:sp>
      <p:sp>
        <p:nvSpPr>
          <p:cNvPr id="34" name="Rounded Rectangle 33"/>
          <p:cNvSpPr/>
          <p:nvPr/>
        </p:nvSpPr>
        <p:spPr>
          <a:xfrm>
            <a:off x="10195560" y="4434840"/>
            <a:ext cx="1417320" cy="548640"/>
          </a:xfrm>
          <a:prstGeom prst="roundRect">
            <a:avLst>
              <a:gd name="adj" fmla="val 16666"/>
            </a:avLst>
          </a:prstGeom>
          <a:solidFill>
            <a:srgbClr val="1B2B48"/>
          </a:solidFill>
          <a:ln>
            <a:noFill/>
          </a:ln>
        </p:spPr>
        <p:txBody>
          <a:bodyPr rtlCol="0" anchor="ctr" wrap="square" lIns="54864" rIns="54864" tIns="54864" bIns="54864">
            <a:noAutofit/>
          </a:bodyPr>
          <a:lstStyle/>
          <a:p>
            <a:pPr algn="ctr"/>
            <a:r>
              <a:rPr sz="1400" b="1" i="0" lang="es-ES">
                <a:solidFill>
                  <a:srgbClr val="FFFFFF"/>
                </a:solidFill>
                <a:latin typeface="Calibri"/>
              </a:rPr>
              <a:t>Unidades completadas</a:t>
            </a:r>
            <a:endParaRPr lang="es-ES" sz="1400"/>
          </a:p>
        </p:txBody>
      </p:sp>
      <p:sp>
        <p:nvSpPr>
          <p:cNvPr id="35" name="Rounded Rectangle 34"/>
          <p:cNvSpPr/>
          <p:nvPr/>
        </p:nvSpPr>
        <p:spPr>
          <a:xfrm>
            <a:off x="10195560" y="5166360"/>
            <a:ext cx="1417320" cy="548640"/>
          </a:xfrm>
          <a:prstGeom prst="roundRect">
            <a:avLst>
              <a:gd name="adj" fmla="val 16666"/>
            </a:avLst>
          </a:prstGeom>
          <a:solidFill>
            <a:srgbClr val="1B2B48"/>
          </a:solidFill>
          <a:ln>
            <a:noFill/>
          </a:ln>
        </p:spPr>
        <p:txBody>
          <a:bodyPr rtlCol="0" anchor="ctr" wrap="square" lIns="54864" rIns="54864" tIns="54864" bIns="54864">
            <a:noAutofit/>
          </a:bodyPr>
          <a:lstStyle/>
          <a:p>
            <a:pPr algn="ctr"/>
            <a:r>
              <a:rPr sz="1400" b="1" i="0" lang="es-ES">
                <a:solidFill>
                  <a:srgbClr val="FFFFFF"/>
                </a:solidFill>
                <a:latin typeface="Calibri"/>
              </a:rPr>
              <a:t>% Físico completado</a:t>
            </a:r>
            <a:endParaRPr lang="es-ES" sz="1400"/>
          </a:p>
        </p:txBody>
      </p:sp>
      <p:cxnSp>
        <p:nvCxnSpPr>
          <p:cNvPr id="36" name="Connector 35"/>
          <p:cNvCxnSpPr/>
          <p:nvPr/>
        </p:nvCxnSpPr>
        <p:spPr>
          <a:xfrm flipV="1">
            <a:off x="9738360" y="4709160"/>
            <a:ext cx="457200" cy="137160"/>
          </a:xfrm>
          <a:prstGeom prst="line">
            <a:avLst/>
          </a:prstGeom>
          <a:ln w="22225">
            <a:solidFill>
              <a:srgbClr val="5A6577"/>
            </a:solidFill>
            <a:tailEnd type="triangle" w="med" len="med"/>
          </a:ln>
        </p:spPr>
      </p:cxnSp>
      <p:cxnSp>
        <p:nvCxnSpPr>
          <p:cNvPr id="37" name="Connector 36"/>
          <p:cNvCxnSpPr/>
          <p:nvPr/>
        </p:nvCxnSpPr>
        <p:spPr>
          <a:xfrm>
            <a:off x="9738360" y="5120640"/>
            <a:ext cx="457200" cy="320040"/>
          </a:xfrm>
          <a:prstGeom prst="line">
            <a:avLst/>
          </a:prstGeom>
          <a:ln w="22225">
            <a:solidFill>
              <a:srgbClr val="5A6577"/>
            </a:solidFill>
            <a:tailEnd type="triangle" w="med" len="med"/>
          </a:ln>
        </p:spPr>
      </p:cxnSp>
      <p:sp>
        <p:nvSpPr>
          <p:cNvPr id="38" name="TextBox 37"/>
          <p:cNvSpPr txBox="1"/>
          <p:nvPr/>
        </p:nvSpPr>
        <p:spPr>
          <a:xfrm>
            <a:off x="9784080" y="4434840"/>
            <a:ext cx="411480" cy="274320"/>
          </a:xfrm>
          <a:prstGeom prst="rect">
            <a:avLst/>
          </a:prstGeom>
          <a:noFill/>
        </p:spPr>
        <p:txBody>
          <a:bodyPr wrap="square" lIns="0" rIns="0" tIns="0" bIns="0" anchor="t">
            <a:noAutofit/>
          </a:bodyPr>
          <a:lstStyle/>
          <a:p>
            <a:pPr algn="l"/>
            <a:r>
              <a:rPr sz="1200" b="1" i="0" lang="es-ES">
                <a:solidFill>
                  <a:srgbClr val="8A5A00"/>
                </a:solidFill>
                <a:latin typeface="Calibri"/>
              </a:rPr>
              <a:t>Sí</a:t>
            </a:r>
            <a:endParaRPr lang="es-ES" sz="1200"/>
          </a:p>
        </p:txBody>
      </p:sp>
      <p:sp>
        <p:nvSpPr>
          <p:cNvPr id="39" name="TextBox 38"/>
          <p:cNvSpPr txBox="1"/>
          <p:nvPr/>
        </p:nvSpPr>
        <p:spPr>
          <a:xfrm>
            <a:off x="9784080" y="5349240"/>
            <a:ext cx="411480" cy="274320"/>
          </a:xfrm>
          <a:prstGeom prst="rect">
            <a:avLst/>
          </a:prstGeom>
          <a:noFill/>
        </p:spPr>
        <p:txBody>
          <a:bodyPr wrap="square" lIns="0" rIns="0" tIns="0" bIns="0" anchor="t">
            <a:noAutofit/>
          </a:bodyPr>
          <a:lstStyle/>
          <a:p>
            <a:pPr algn="l"/>
            <a:r>
              <a:rPr sz="1200" b="1" i="0" lang="es-ES">
                <a:solidFill>
                  <a:srgbClr val="8A5A00"/>
                </a:solidFill>
                <a:latin typeface="Calibri"/>
              </a:rPr>
              <a:t>No</a:t>
            </a:r>
            <a:endParaRPr lang="es-ES" sz="1200"/>
          </a:p>
        </p:txBody>
      </p:sp>
      <p:sp>
        <p:nvSpPr>
          <p:cNvPr id="40" name="Rounded Rectangle 39"/>
          <p:cNvSpPr/>
          <p:nvPr/>
        </p:nvSpPr>
        <p:spPr>
          <a:xfrm>
            <a:off x="548640" y="4663440"/>
            <a:ext cx="4572000" cy="1508760"/>
          </a:xfrm>
          <a:prstGeom prst="roundRect">
            <a:avLst>
              <a:gd name="adj" fmla="val 7272"/>
            </a:avLst>
          </a:prstGeom>
          <a:solidFill>
            <a:srgbClr val="F3F5F9"/>
          </a:solidFill>
          <a:ln>
            <a:noFill/>
          </a:ln>
        </p:spPr>
        <p:txBody>
          <a:bodyPr rtlCol="0" anchor="ctr" wrap="square" lIns="182880" rIns="182880" tIns="182880" bIns="182880">
            <a:noAutofit/>
          </a:bodyPr>
          <a:lstStyle/>
          <a:p>
            <a:pPr algn="l">
              <a:spcAft>
                <a:spcPts val="600"/>
              </a:spcAft>
            </a:pPr>
            <a:r>
              <a:rPr sz="1400" b="1" i="0" lang="es-ES">
                <a:solidFill>
                  <a:srgbClr val="1B2B48"/>
                </a:solidFill>
                <a:latin typeface="Calibri"/>
              </a:rPr>
              <a:t>Preferir métodos objetivos: </a:t>
            </a:r>
            <a:r>
              <a:rPr sz="1400" b="0" i="0" lang="es-ES">
                <a:solidFill>
                  <a:srgbClr val="1B2B48"/>
                </a:solidFill>
                <a:latin typeface="Calibri"/>
              </a:rPr>
              <a:t>hitos con criterio de aceptación, cantidades medidas, fórmulas fijas.</a:t>
            </a:r>
            <a:endParaRPr lang="es-ES" sz="1400"/>
          </a:p>
          <a:p>
            <a:pPr algn="l"/>
            <a:r>
              <a:rPr sz="1400" b="1" i="0" lang="es-ES">
                <a:solidFill>
                  <a:srgbClr val="1B2B48"/>
                </a:solidFill>
                <a:latin typeface="Calibri"/>
              </a:rPr>
              <a:t>LOE solo para soporte: </a:t>
            </a:r>
            <a:r>
              <a:rPr sz="1400" b="0" i="0" lang="es-ES">
                <a:solidFill>
                  <a:srgbClr val="1B2B48"/>
                </a:solidFill>
                <a:latin typeface="Calibri"/>
              </a:rPr>
              <a:t>siempre SPI = 1, diluye el atraso del proyecto.</a:t>
            </a:r>
            <a:endParaRPr lang="es-ES" sz="140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Hitos ponderados: objetivo para paquetes largos</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MS PROJECT · AVANCE</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23</a:t>
            </a:fld>
            <a:endParaRPr lang="es-ES" sz="1000"/>
          </a:p>
        </p:txBody>
      </p:sp>
      <p:cxnSp>
        <p:nvCxnSpPr>
          <p:cNvPr id="6" name="Connector 5"/>
          <p:cNvCxnSpPr/>
          <p:nvPr/>
        </p:nvCxnSpPr>
        <p:spPr>
          <a:xfrm>
            <a:off x="960120" y="1783080"/>
            <a:ext cx="0" cy="2560320"/>
          </a:xfrm>
          <a:prstGeom prst="line">
            <a:avLst/>
          </a:prstGeom>
          <a:ln w="38100">
            <a:solidFill>
              <a:srgbClr val="D5DBE5"/>
            </a:solidFill>
          </a:ln>
        </p:spPr>
      </p:cxnSp>
      <p:sp>
        <p:nvSpPr>
          <p:cNvPr id="7" name="Diamond 6"/>
          <p:cNvSpPr/>
          <p:nvPr/>
        </p:nvSpPr>
        <p:spPr>
          <a:xfrm>
            <a:off x="731520" y="1664207"/>
            <a:ext cx="457200" cy="457200"/>
          </a:xfrm>
          <a:prstGeom prst="diamond">
            <a:avLst/>
          </a:prstGeom>
          <a:solidFill>
            <a:srgbClr val="F2B134"/>
          </a:solidFill>
          <a:ln>
            <a:noFill/>
          </a:ln>
        </p:spPr>
        <p:txBody>
          <a:bodyPr rtlCol="0" anchor="ctr" wrap="square" lIns="73152" rIns="73152" tIns="73152" bIns="73152">
            <a:noAutofit/>
          </a:bodyPr>
          <a:lstStyle/>
          <a:p>
            <a:pPr algn="ctr"/>
          </a:p>
        </p:txBody>
      </p:sp>
      <p:sp>
        <p:nvSpPr>
          <p:cNvPr id="8" name="TextBox 7"/>
          <p:cNvSpPr txBox="1"/>
          <p:nvPr/>
        </p:nvSpPr>
        <p:spPr>
          <a:xfrm>
            <a:off x="1371600" y="1554480"/>
            <a:ext cx="914400" cy="365760"/>
          </a:xfrm>
          <a:prstGeom prst="rect">
            <a:avLst/>
          </a:prstGeom>
          <a:noFill/>
        </p:spPr>
        <p:txBody>
          <a:bodyPr wrap="square" lIns="0" rIns="0" tIns="0" bIns="0" anchor="t">
            <a:noAutofit/>
          </a:bodyPr>
          <a:lstStyle/>
          <a:p>
            <a:pPr algn="l"/>
            <a:r>
              <a:rPr sz="1300" b="1" i="0" lang="es-ES">
                <a:solidFill>
                  <a:srgbClr val="8A5A00"/>
                </a:solidFill>
                <a:latin typeface="Calibri"/>
              </a:rPr>
              <a:t>MAY</a:t>
            </a:r>
            <a:endParaRPr lang="es-ES" sz="1300"/>
          </a:p>
        </p:txBody>
      </p:sp>
      <p:sp>
        <p:nvSpPr>
          <p:cNvPr id="9" name="TextBox 8"/>
          <p:cNvSpPr txBox="1"/>
          <p:nvPr/>
        </p:nvSpPr>
        <p:spPr>
          <a:xfrm>
            <a:off x="1371600" y="1856231"/>
            <a:ext cx="3566160" cy="365760"/>
          </a:xfrm>
          <a:prstGeom prst="rect">
            <a:avLst/>
          </a:prstGeom>
          <a:noFill/>
        </p:spPr>
        <p:txBody>
          <a:bodyPr wrap="square" lIns="0" rIns="0" tIns="0" bIns="0" anchor="t">
            <a:noAutofit/>
          </a:bodyPr>
          <a:lstStyle/>
          <a:p>
            <a:pPr algn="l"/>
            <a:r>
              <a:rPr sz="1600" b="1" i="0" lang="es-ES">
                <a:solidFill>
                  <a:srgbClr val="1B2B48"/>
                </a:solidFill>
                <a:latin typeface="Calibri"/>
              </a:rPr>
              <a:t>Bases aprobadas</a:t>
            </a:r>
            <a:endParaRPr lang="es-ES" sz="1600"/>
          </a:p>
        </p:txBody>
      </p:sp>
      <p:sp>
        <p:nvSpPr>
          <p:cNvPr id="10" name="TextBox 9"/>
          <p:cNvSpPr txBox="1"/>
          <p:nvPr/>
        </p:nvSpPr>
        <p:spPr>
          <a:xfrm>
            <a:off x="1371600" y="2194560"/>
            <a:ext cx="3566160" cy="320040"/>
          </a:xfrm>
          <a:prstGeom prst="rect">
            <a:avLst/>
          </a:prstGeom>
          <a:noFill/>
        </p:spPr>
        <p:txBody>
          <a:bodyPr wrap="square" lIns="0" rIns="0" tIns="0" bIns="0" anchor="t">
            <a:noAutofit/>
          </a:bodyPr>
          <a:lstStyle/>
          <a:p>
            <a:pPr algn="l"/>
            <a:r>
              <a:rPr sz="1400" b="0" i="0" lang="es-ES">
                <a:solidFill>
                  <a:srgbClr val="5A6577"/>
                </a:solidFill>
                <a:latin typeface="Calibri"/>
              </a:rPr>
              <a:t>Peso 30  →  EV 180.000 €</a:t>
            </a:r>
            <a:endParaRPr lang="es-ES" sz="1400"/>
          </a:p>
        </p:txBody>
      </p:sp>
      <p:sp>
        <p:nvSpPr>
          <p:cNvPr id="11" name="Diamond 10"/>
          <p:cNvSpPr/>
          <p:nvPr/>
        </p:nvSpPr>
        <p:spPr>
          <a:xfrm>
            <a:off x="731520" y="2761488"/>
            <a:ext cx="457200" cy="457200"/>
          </a:xfrm>
          <a:prstGeom prst="diamond">
            <a:avLst/>
          </a:prstGeom>
          <a:solidFill>
            <a:srgbClr val="F2B134"/>
          </a:solidFill>
          <a:ln>
            <a:noFill/>
          </a:ln>
        </p:spPr>
        <p:txBody>
          <a:bodyPr rtlCol="0" anchor="ctr" wrap="square" lIns="73152" rIns="73152" tIns="73152" bIns="73152">
            <a:noAutofit/>
          </a:bodyPr>
          <a:lstStyle/>
          <a:p>
            <a:pPr algn="ctr"/>
          </a:p>
        </p:txBody>
      </p:sp>
      <p:sp>
        <p:nvSpPr>
          <p:cNvPr id="12" name="TextBox 11"/>
          <p:cNvSpPr txBox="1"/>
          <p:nvPr/>
        </p:nvSpPr>
        <p:spPr>
          <a:xfrm>
            <a:off x="1371600" y="2651760"/>
            <a:ext cx="914400" cy="365760"/>
          </a:xfrm>
          <a:prstGeom prst="rect">
            <a:avLst/>
          </a:prstGeom>
          <a:noFill/>
        </p:spPr>
        <p:txBody>
          <a:bodyPr wrap="square" lIns="0" rIns="0" tIns="0" bIns="0" anchor="t">
            <a:noAutofit/>
          </a:bodyPr>
          <a:lstStyle/>
          <a:p>
            <a:pPr algn="l"/>
            <a:r>
              <a:rPr sz="1300" b="1" i="0" lang="es-ES">
                <a:solidFill>
                  <a:srgbClr val="8A5A00"/>
                </a:solidFill>
                <a:latin typeface="Calibri"/>
              </a:rPr>
              <a:t>JUL</a:t>
            </a:r>
            <a:endParaRPr lang="es-ES" sz="1300"/>
          </a:p>
        </p:txBody>
      </p:sp>
      <p:sp>
        <p:nvSpPr>
          <p:cNvPr id="13" name="TextBox 12"/>
          <p:cNvSpPr txBox="1"/>
          <p:nvPr/>
        </p:nvSpPr>
        <p:spPr>
          <a:xfrm>
            <a:off x="1371600" y="2953512"/>
            <a:ext cx="3566160" cy="365760"/>
          </a:xfrm>
          <a:prstGeom prst="rect">
            <a:avLst/>
          </a:prstGeom>
          <a:noFill/>
        </p:spPr>
        <p:txBody>
          <a:bodyPr wrap="square" lIns="0" rIns="0" tIns="0" bIns="0" anchor="t">
            <a:noAutofit/>
          </a:bodyPr>
          <a:lstStyle/>
          <a:p>
            <a:pPr algn="l"/>
            <a:r>
              <a:rPr sz="1600" b="1" i="0" lang="es-ES">
                <a:solidFill>
                  <a:srgbClr val="1B2B48"/>
                </a:solidFill>
                <a:latin typeface="Calibri"/>
              </a:rPr>
              <a:t>Alternativa seleccionada</a:t>
            </a:r>
            <a:endParaRPr lang="es-ES" sz="1600"/>
          </a:p>
        </p:txBody>
      </p:sp>
      <p:sp>
        <p:nvSpPr>
          <p:cNvPr id="14" name="TextBox 13"/>
          <p:cNvSpPr txBox="1"/>
          <p:nvPr/>
        </p:nvSpPr>
        <p:spPr>
          <a:xfrm>
            <a:off x="1371600" y="3291839"/>
            <a:ext cx="3566160" cy="320040"/>
          </a:xfrm>
          <a:prstGeom prst="rect">
            <a:avLst/>
          </a:prstGeom>
          <a:noFill/>
        </p:spPr>
        <p:txBody>
          <a:bodyPr wrap="square" lIns="0" rIns="0" tIns="0" bIns="0" anchor="t">
            <a:noAutofit/>
          </a:bodyPr>
          <a:lstStyle/>
          <a:p>
            <a:pPr algn="l"/>
            <a:r>
              <a:rPr sz="1400" b="0" i="0" lang="es-ES">
                <a:solidFill>
                  <a:srgbClr val="5A6577"/>
                </a:solidFill>
                <a:latin typeface="Calibri"/>
              </a:rPr>
              <a:t>Peso 30  →  EV 360.000 €</a:t>
            </a:r>
            <a:endParaRPr lang="es-ES" sz="1400"/>
          </a:p>
        </p:txBody>
      </p:sp>
      <p:sp>
        <p:nvSpPr>
          <p:cNvPr id="15" name="Diamond 14"/>
          <p:cNvSpPr/>
          <p:nvPr/>
        </p:nvSpPr>
        <p:spPr>
          <a:xfrm>
            <a:off x="731520" y="3858768"/>
            <a:ext cx="457200" cy="457200"/>
          </a:xfrm>
          <a:prstGeom prst="diamond">
            <a:avLst/>
          </a:prstGeom>
          <a:solidFill>
            <a:srgbClr val="F2B134"/>
          </a:solidFill>
          <a:ln>
            <a:noFill/>
          </a:ln>
        </p:spPr>
        <p:txBody>
          <a:bodyPr rtlCol="0" anchor="ctr" wrap="square" lIns="73152" rIns="73152" tIns="73152" bIns="73152">
            <a:noAutofit/>
          </a:bodyPr>
          <a:lstStyle/>
          <a:p>
            <a:pPr algn="ctr"/>
          </a:p>
        </p:txBody>
      </p:sp>
      <p:sp>
        <p:nvSpPr>
          <p:cNvPr id="16" name="TextBox 15"/>
          <p:cNvSpPr txBox="1"/>
          <p:nvPr/>
        </p:nvSpPr>
        <p:spPr>
          <a:xfrm>
            <a:off x="1371600" y="3749039"/>
            <a:ext cx="914400" cy="365760"/>
          </a:xfrm>
          <a:prstGeom prst="rect">
            <a:avLst/>
          </a:prstGeom>
          <a:noFill/>
        </p:spPr>
        <p:txBody>
          <a:bodyPr wrap="square" lIns="0" rIns="0" tIns="0" bIns="0" anchor="t">
            <a:noAutofit/>
          </a:bodyPr>
          <a:lstStyle/>
          <a:p>
            <a:pPr algn="l"/>
            <a:r>
              <a:rPr sz="1300" b="1" i="0" lang="es-ES">
                <a:solidFill>
                  <a:srgbClr val="8A5A00"/>
                </a:solidFill>
                <a:latin typeface="Calibri"/>
              </a:rPr>
              <a:t>SEP</a:t>
            </a:r>
            <a:endParaRPr lang="es-ES" sz="1300"/>
          </a:p>
        </p:txBody>
      </p:sp>
      <p:sp>
        <p:nvSpPr>
          <p:cNvPr id="17" name="TextBox 16"/>
          <p:cNvSpPr txBox="1"/>
          <p:nvPr/>
        </p:nvSpPr>
        <p:spPr>
          <a:xfrm>
            <a:off x="1371600" y="4050791"/>
            <a:ext cx="3566160" cy="365760"/>
          </a:xfrm>
          <a:prstGeom prst="rect">
            <a:avLst/>
          </a:prstGeom>
          <a:noFill/>
        </p:spPr>
        <p:txBody>
          <a:bodyPr wrap="square" lIns="0" rIns="0" tIns="0" bIns="0" anchor="t">
            <a:noAutofit/>
          </a:bodyPr>
          <a:lstStyle/>
          <a:p>
            <a:pPr algn="l"/>
            <a:r>
              <a:rPr sz="1600" b="1" i="0" lang="es-ES">
                <a:solidFill>
                  <a:srgbClr val="1B2B48"/>
                </a:solidFill>
                <a:latin typeface="Calibri"/>
              </a:rPr>
              <a:t>Informe aprobado</a:t>
            </a:r>
            <a:endParaRPr lang="es-ES" sz="1600"/>
          </a:p>
        </p:txBody>
      </p:sp>
      <p:sp>
        <p:nvSpPr>
          <p:cNvPr id="18" name="TextBox 17"/>
          <p:cNvSpPr txBox="1"/>
          <p:nvPr/>
        </p:nvSpPr>
        <p:spPr>
          <a:xfrm>
            <a:off x="1371600" y="4389120"/>
            <a:ext cx="3566160" cy="320040"/>
          </a:xfrm>
          <a:prstGeom prst="rect">
            <a:avLst/>
          </a:prstGeom>
          <a:noFill/>
        </p:spPr>
        <p:txBody>
          <a:bodyPr wrap="square" lIns="0" rIns="0" tIns="0" bIns="0" anchor="t">
            <a:noAutofit/>
          </a:bodyPr>
          <a:lstStyle/>
          <a:p>
            <a:pPr algn="l"/>
            <a:r>
              <a:rPr sz="1400" b="0" i="0" lang="es-ES">
                <a:solidFill>
                  <a:srgbClr val="5A6577"/>
                </a:solidFill>
                <a:latin typeface="Calibri"/>
              </a:rPr>
              <a:t>Peso 40  →  EV 600.000 €</a:t>
            </a:r>
            <a:endParaRPr lang="es-ES" sz="1400"/>
          </a:p>
        </p:txBody>
      </p:sp>
      <p:sp>
        <p:nvSpPr>
          <p:cNvPr id="19" name="Rounded Rectangle 18"/>
          <p:cNvSpPr/>
          <p:nvPr/>
        </p:nvSpPr>
        <p:spPr>
          <a:xfrm>
            <a:off x="548640" y="4754880"/>
            <a:ext cx="4572000" cy="1417320"/>
          </a:xfrm>
          <a:prstGeom prst="roundRect">
            <a:avLst>
              <a:gd name="adj" fmla="val 7741"/>
            </a:avLst>
          </a:prstGeom>
          <a:solidFill>
            <a:srgbClr val="F3F5F9"/>
          </a:solidFill>
          <a:ln>
            <a:noFill/>
          </a:ln>
        </p:spPr>
        <p:txBody>
          <a:bodyPr rtlCol="0" anchor="ctr" wrap="square" lIns="182880" rIns="182880" tIns="182880" bIns="182880">
            <a:noAutofit/>
          </a:bodyPr>
          <a:lstStyle/>
          <a:p>
            <a:pPr algn="l">
              <a:spcAft>
                <a:spcPts val="600"/>
              </a:spcAft>
            </a:pPr>
            <a:r>
              <a:rPr sz="1400" b="1" i="0" lang="es-ES">
                <a:solidFill>
                  <a:srgbClr val="1B2B48"/>
                </a:solidFill>
                <a:latin typeface="Calibri"/>
              </a:rPr>
              <a:t>Cada mes: </a:t>
            </a:r>
            <a:r>
              <a:rPr sz="1400" b="0" i="0" lang="es-ES">
                <a:solidFill>
                  <a:srgbClr val="1B2B48"/>
                </a:solidFill>
                <a:latin typeface="Calibri"/>
              </a:rPr>
              <a:t>hito cumplido al 100 % con Fin real. Nunca parcial: si no se cumplió, se reprograma.</a:t>
            </a:r>
            <a:endParaRPr lang="es-ES" sz="1400"/>
          </a:p>
          <a:p>
            <a:pPr algn="l"/>
            <a:r>
              <a:rPr sz="1400" b="1" i="0" lang="es-ES">
                <a:solidFill>
                  <a:srgbClr val="1B2B48"/>
                </a:solidFill>
                <a:latin typeface="Calibri"/>
              </a:rPr>
              <a:t>Criterio de cumplimiento </a:t>
            </a:r>
            <a:r>
              <a:rPr sz="1400" b="0" i="0" lang="es-ES">
                <a:solidFill>
                  <a:srgbClr val="1B2B48"/>
                </a:solidFill>
                <a:latin typeface="Calibri"/>
              </a:rPr>
              <a:t>en las Notas de cada hito.</a:t>
            </a:r>
            <a:endParaRPr lang="es-ES" sz="1400"/>
          </a:p>
        </p:txBody>
      </p:sp>
      <p:graphicFrame>
        <p:nvGraphicFramePr>
          <p:cNvPr id="20" name="Chart 19"/>
          <p:cNvGraphicFramePr>
            <a:graphicFrameLocks noGrp="1"/>
          </p:cNvGraphicFramePr>
          <p:nvPr/>
        </p:nvGraphicFramePr>
        <p:xfrm>
          <a:off x="5486400" y="1463040"/>
          <a:ext cx="6172200" cy="4343400"/>
        </p:xfrm>
        <a:graphic>
          <a:graphicData uri="http://schemas.openxmlformats.org/drawingml/2006/chart">
            <c:chart xmlns:c="http://schemas.openxmlformats.org/drawingml/2006/chart" r:id="rId2"/>
          </a:graphicData>
        </a:graphic>
      </p:graphicFrame>
      <p:sp>
        <p:nvSpPr>
          <p:cNvPr id="21" name="TextBox 20"/>
          <p:cNvSpPr txBox="1"/>
          <p:nvPr/>
        </p:nvSpPr>
        <p:spPr>
          <a:xfrm>
            <a:off x="5623560" y="5852160"/>
            <a:ext cx="5943600" cy="320040"/>
          </a:xfrm>
          <a:prstGeom prst="rect">
            <a:avLst/>
          </a:prstGeom>
          <a:noFill/>
        </p:spPr>
        <p:txBody>
          <a:bodyPr wrap="square" lIns="0" rIns="0" tIns="0" bIns="0" anchor="t">
            <a:noAutofit/>
          </a:bodyPr>
          <a:lstStyle/>
          <a:p>
            <a:pPr algn="l"/>
            <a:r>
              <a:rPr sz="1200" b="0" i="0" lang="es-ES">
                <a:solidFill>
                  <a:srgbClr val="5A6577"/>
                </a:solidFill>
                <a:latin typeface="Calibri"/>
              </a:rPr>
              <a:t>Paquete 2.1.2 Diseño conceptual, BAC 600.000 €: EV acumulado (miles de euros)</a:t>
            </a:r>
            <a:endParaRPr lang="es-ES" sz="120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Cómo se define el método de cada paquete</a:t>
            </a:r>
            <a:endParaRPr lang="es-ES" sz="3200"/>
          </a:p>
        </p:txBody>
      </p:sp>
      <p:sp>
        <p:nvSpPr>
          <p:cNvPr id="4"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MS PROJECT · AVANCE</a:t>
            </a:r>
            <a:endParaRPr lang="es-ES" sz="1100"/>
          </a:p>
        </p:txBody>
      </p:sp>
      <p:sp>
        <p:nvSpPr>
          <p:cNvPr id="5"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6"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24</a:t>
            </a:fld>
            <a:endParaRPr lang="es-ES" sz="1000"/>
          </a:p>
        </p:txBody>
      </p:sp>
      <p:sp>
        <p:nvSpPr>
          <p:cNvPr id="7" name="Paso 1 número"/>
          <p:cNvSpPr/>
          <p:nvPr/>
        </p:nvSpPr>
        <p:spPr>
          <a:xfrm>
            <a:off x="548640" y="1554480"/>
            <a:ext cx="566928" cy="566928"/>
          </a:xfrm>
          <a:prstGeom prst="ellipse">
            <a:avLst/>
          </a:prstGeom>
          <a:solidFill>
            <a:srgbClr val="2F5597"/>
          </a:solidFill>
          <a:ln>
            <a:noFill/>
          </a:ln>
        </p:spPr>
        <p:txBody>
          <a:bodyPr wrap="square" lIns="0" rIns="0" tIns="0" bIns="0" anchor="ctr">
            <a:noAutofit/>
          </a:bodyPr>
          <a:lstStyle/>
          <a:p>
            <a:pPr algn="ctr"/>
            <a:r>
              <a:rPr sz="1800" b="1" i="0" lang="es-ES">
                <a:solidFill>
                  <a:srgbClr val="FFFFFF"/>
                </a:solidFill>
                <a:latin typeface="Calibri"/>
              </a:rPr>
              <a:t>1</a:t>
            </a:r>
            <a:endParaRPr lang="es-ES" sz="1800"/>
          </a:p>
        </p:txBody>
      </p:sp>
      <p:cxnSp>
        <p:nvCxnSpPr>
          <p:cNvPr id="8" name="Paso 1 flecha"/>
          <p:cNvCxnSpPr/>
          <p:nvPr/>
        </p:nvCxnSpPr>
        <p:spPr>
          <a:xfrm>
            <a:off x="1225296" y="1837944"/>
            <a:ext cx="1453896" cy="0"/>
          </a:xfrm>
          <a:prstGeom prst="line">
            <a:avLst/>
          </a:prstGeom>
          <a:ln w="25400">
            <a:solidFill>
              <a:srgbClr val="D5DBE5"/>
            </a:solidFill>
            <a:tailEnd type="triangle" w="med" len="med"/>
          </a:ln>
        </p:spPr>
      </p:cxnSp>
      <p:sp>
        <p:nvSpPr>
          <p:cNvPr id="9" name="Paso 1 título"/>
          <p:cNvSpPr txBox="1"/>
          <p:nvPr/>
        </p:nvSpPr>
        <p:spPr>
          <a:xfrm>
            <a:off x="548640" y="2304288"/>
            <a:ext cx="2103120" cy="566928"/>
          </a:xfrm>
          <a:prstGeom prst="rect">
            <a:avLst/>
          </a:prstGeom>
          <a:noFill/>
        </p:spPr>
        <p:txBody>
          <a:bodyPr wrap="square" lIns="0" rIns="0" tIns="0" bIns="0" anchor="t">
            <a:noAutofit/>
          </a:bodyPr>
          <a:lstStyle/>
          <a:p>
            <a:pPr algn="l"/>
            <a:r>
              <a:rPr sz="1700" b="1" i="0" lang="es-ES">
                <a:solidFill>
                  <a:srgbClr val="1B2B48"/>
                </a:solidFill>
                <a:latin typeface="Calibri"/>
              </a:rPr>
              <a:t>Revisar los paquetes</a:t>
            </a:r>
            <a:endParaRPr lang="es-ES" sz="1700"/>
          </a:p>
        </p:txBody>
      </p:sp>
      <p:sp>
        <p:nvSpPr>
          <p:cNvPr id="10" name="Paso 1 rol"/>
          <p:cNvSpPr txBox="1"/>
          <p:nvPr/>
        </p:nvSpPr>
        <p:spPr>
          <a:xfrm>
            <a:off x="548640" y="2907792"/>
            <a:ext cx="2103120" cy="292608"/>
          </a:xfrm>
          <a:prstGeom prst="rect">
            <a:avLst/>
          </a:prstGeom>
          <a:noFill/>
        </p:spPr>
        <p:txBody>
          <a:bodyPr wrap="square" lIns="0" rIns="0" tIns="0" bIns="0" anchor="t">
            <a:noAutofit/>
          </a:bodyPr>
          <a:lstStyle/>
          <a:p>
            <a:pPr algn="l"/>
            <a:r>
              <a:rPr sz="1300" b="1" i="0" lang="es-ES">
                <a:solidFill>
                  <a:srgbClr val="2F5597"/>
                </a:solidFill>
                <a:latin typeface="Calibri"/>
              </a:rPr>
              <a:t>PMO / planificador</a:t>
            </a:r>
            <a:endParaRPr lang="es-ES" sz="1300"/>
          </a:p>
        </p:txBody>
      </p:sp>
      <p:sp>
        <p:nvSpPr>
          <p:cNvPr id="11" name="Paso 1 detalle"/>
          <p:cNvSpPr txBox="1"/>
          <p:nvPr/>
        </p:nvSpPr>
        <p:spPr>
          <a:xfrm>
            <a:off x="548640" y="3246120"/>
            <a:ext cx="2103120" cy="1097280"/>
          </a:xfrm>
          <a:prstGeom prst="rect">
            <a:avLst/>
          </a:prstGeom>
          <a:noFill/>
        </p:spPr>
        <p:txBody>
          <a:bodyPr wrap="square" lIns="0" rIns="0" tIns="0" bIns="0" anchor="t">
            <a:noAutofit/>
          </a:bodyPr>
          <a:lstStyle/>
          <a:p>
            <a:pPr algn="l"/>
            <a:r>
              <a:rPr sz="1400" b="0" i="0" lang="es-ES">
                <a:solidFill>
                  <a:srgbClr val="5A6577"/>
                </a:solidFill>
                <a:latin typeface="Calibri"/>
              </a:rPr>
              <a:t>Nivel 3 de la EDT, con responsable, presupuesto y duración acotada</a:t>
            </a:r>
            <a:endParaRPr lang="es-ES" sz="1400"/>
          </a:p>
        </p:txBody>
      </p:sp>
      <p:sp>
        <p:nvSpPr>
          <p:cNvPr id="12" name="Paso 2 número"/>
          <p:cNvSpPr/>
          <p:nvPr/>
        </p:nvSpPr>
        <p:spPr>
          <a:xfrm>
            <a:off x="2788920" y="1554480"/>
            <a:ext cx="566928" cy="566928"/>
          </a:xfrm>
          <a:prstGeom prst="ellipse">
            <a:avLst/>
          </a:prstGeom>
          <a:solidFill>
            <a:srgbClr val="2F5597"/>
          </a:solidFill>
          <a:ln>
            <a:noFill/>
          </a:ln>
        </p:spPr>
        <p:txBody>
          <a:bodyPr wrap="square" lIns="0" rIns="0" tIns="0" bIns="0" anchor="ctr">
            <a:noAutofit/>
          </a:bodyPr>
          <a:lstStyle/>
          <a:p>
            <a:pPr algn="ctr"/>
            <a:r>
              <a:rPr sz="1800" b="1" i="0" lang="es-ES">
                <a:solidFill>
                  <a:srgbClr val="FFFFFF"/>
                </a:solidFill>
                <a:latin typeface="Calibri"/>
              </a:rPr>
              <a:t>2</a:t>
            </a:r>
            <a:endParaRPr lang="es-ES" sz="1800"/>
          </a:p>
        </p:txBody>
      </p:sp>
      <p:cxnSp>
        <p:nvCxnSpPr>
          <p:cNvPr id="13" name="Paso 2 flecha"/>
          <p:cNvCxnSpPr/>
          <p:nvPr/>
        </p:nvCxnSpPr>
        <p:spPr>
          <a:xfrm>
            <a:off x="3465576" y="1837944"/>
            <a:ext cx="1453896" cy="0"/>
          </a:xfrm>
          <a:prstGeom prst="line">
            <a:avLst/>
          </a:prstGeom>
          <a:ln w="25400">
            <a:solidFill>
              <a:srgbClr val="D5DBE5"/>
            </a:solidFill>
            <a:tailEnd type="triangle" w="med" len="med"/>
          </a:ln>
        </p:spPr>
      </p:cxnSp>
      <p:sp>
        <p:nvSpPr>
          <p:cNvPr id="14" name="Paso 2 título"/>
          <p:cNvSpPr txBox="1"/>
          <p:nvPr/>
        </p:nvSpPr>
        <p:spPr>
          <a:xfrm>
            <a:off x="2788920" y="2304288"/>
            <a:ext cx="2103120" cy="566928"/>
          </a:xfrm>
          <a:prstGeom prst="rect">
            <a:avLst/>
          </a:prstGeom>
          <a:noFill/>
        </p:spPr>
        <p:txBody>
          <a:bodyPr wrap="square" lIns="0" rIns="0" tIns="0" bIns="0" anchor="t">
            <a:noAutofit/>
          </a:bodyPr>
          <a:lstStyle/>
          <a:p>
            <a:pPr algn="l"/>
            <a:r>
              <a:rPr sz="1700" b="1" i="0" lang="es-ES">
                <a:solidFill>
                  <a:srgbClr val="1B2B48"/>
                </a:solidFill>
                <a:latin typeface="Calibri"/>
              </a:rPr>
              <a:t>Proponer el método</a:t>
            </a:r>
            <a:endParaRPr lang="es-ES" sz="1700"/>
          </a:p>
        </p:txBody>
      </p:sp>
      <p:sp>
        <p:nvSpPr>
          <p:cNvPr id="15" name="Paso 2 rol"/>
          <p:cNvSpPr txBox="1"/>
          <p:nvPr/>
        </p:nvSpPr>
        <p:spPr>
          <a:xfrm>
            <a:off x="2788920" y="2907792"/>
            <a:ext cx="2103120" cy="292608"/>
          </a:xfrm>
          <a:prstGeom prst="rect">
            <a:avLst/>
          </a:prstGeom>
          <a:noFill/>
        </p:spPr>
        <p:txBody>
          <a:bodyPr wrap="square" lIns="0" rIns="0" tIns="0" bIns="0" anchor="t">
            <a:noAutofit/>
          </a:bodyPr>
          <a:lstStyle/>
          <a:p>
            <a:pPr algn="l"/>
            <a:r>
              <a:rPr sz="1300" b="1" i="0" lang="es-ES">
                <a:solidFill>
                  <a:srgbClr val="2F5597"/>
                </a:solidFill>
                <a:latin typeface="Calibri"/>
              </a:rPr>
              <a:t>PMO / planificador</a:t>
            </a:r>
            <a:endParaRPr lang="es-ES" sz="1300"/>
          </a:p>
        </p:txBody>
      </p:sp>
      <p:sp>
        <p:nvSpPr>
          <p:cNvPr id="16" name="Paso 2 detalle"/>
          <p:cNvSpPr txBox="1"/>
          <p:nvPr/>
        </p:nvSpPr>
        <p:spPr>
          <a:xfrm>
            <a:off x="2788920" y="3246120"/>
            <a:ext cx="2103120" cy="1097280"/>
          </a:xfrm>
          <a:prstGeom prst="rect">
            <a:avLst/>
          </a:prstGeom>
          <a:noFill/>
        </p:spPr>
        <p:txBody>
          <a:bodyPr wrap="square" lIns="0" rIns="0" tIns="0" bIns="0" anchor="t">
            <a:noAutofit/>
          </a:bodyPr>
          <a:lstStyle/>
          <a:p>
            <a:pPr algn="l"/>
            <a:r>
              <a:rPr sz="1400" b="0" i="0" lang="es-ES">
                <a:solidFill>
                  <a:srgbClr val="5A6577"/>
                </a:solidFill>
                <a:latin typeface="Calibri"/>
              </a:rPr>
              <a:t>Con la guía, según la duración y el tipo de trabajo</a:t>
            </a:r>
            <a:endParaRPr lang="es-ES" sz="1400"/>
          </a:p>
        </p:txBody>
      </p:sp>
      <p:sp>
        <p:nvSpPr>
          <p:cNvPr id="17" name="Paso 3 número"/>
          <p:cNvSpPr/>
          <p:nvPr/>
        </p:nvSpPr>
        <p:spPr>
          <a:xfrm>
            <a:off x="5029200" y="1554480"/>
            <a:ext cx="566928" cy="566928"/>
          </a:xfrm>
          <a:prstGeom prst="ellipse">
            <a:avLst/>
          </a:prstGeom>
          <a:solidFill>
            <a:srgbClr val="F2B134"/>
          </a:solidFill>
          <a:ln>
            <a:noFill/>
          </a:ln>
        </p:spPr>
        <p:txBody>
          <a:bodyPr wrap="square" lIns="0" rIns="0" tIns="0" bIns="0" anchor="ctr">
            <a:noAutofit/>
          </a:bodyPr>
          <a:lstStyle/>
          <a:p>
            <a:pPr algn="ctr"/>
            <a:r>
              <a:rPr sz="1800" b="1" i="0" lang="es-ES">
                <a:solidFill>
                  <a:srgbClr val="1B2B48"/>
                </a:solidFill>
                <a:latin typeface="Calibri"/>
              </a:rPr>
              <a:t>3</a:t>
            </a:r>
            <a:endParaRPr lang="es-ES" sz="1800"/>
          </a:p>
        </p:txBody>
      </p:sp>
      <p:cxnSp>
        <p:nvCxnSpPr>
          <p:cNvPr id="18" name="Paso 3 flecha"/>
          <p:cNvCxnSpPr/>
          <p:nvPr/>
        </p:nvCxnSpPr>
        <p:spPr>
          <a:xfrm>
            <a:off x="5705856" y="1837944"/>
            <a:ext cx="1453896" cy="0"/>
          </a:xfrm>
          <a:prstGeom prst="line">
            <a:avLst/>
          </a:prstGeom>
          <a:ln w="25400">
            <a:solidFill>
              <a:srgbClr val="D5DBE5"/>
            </a:solidFill>
            <a:tailEnd type="triangle" w="med" len="med"/>
          </a:ln>
        </p:spPr>
      </p:cxnSp>
      <p:sp>
        <p:nvSpPr>
          <p:cNvPr id="19" name="Paso 3 título"/>
          <p:cNvSpPr txBox="1"/>
          <p:nvPr/>
        </p:nvSpPr>
        <p:spPr>
          <a:xfrm>
            <a:off x="5029200" y="2304288"/>
            <a:ext cx="2103120" cy="566928"/>
          </a:xfrm>
          <a:prstGeom prst="rect">
            <a:avLst/>
          </a:prstGeom>
          <a:noFill/>
        </p:spPr>
        <p:txBody>
          <a:bodyPr wrap="square" lIns="0" rIns="0" tIns="0" bIns="0" anchor="t">
            <a:noAutofit/>
          </a:bodyPr>
          <a:lstStyle/>
          <a:p>
            <a:pPr algn="l"/>
            <a:r>
              <a:rPr sz="1700" b="1" i="0" lang="es-ES">
                <a:solidFill>
                  <a:srgbClr val="1B2B48"/>
                </a:solidFill>
                <a:latin typeface="Calibri"/>
              </a:rPr>
              <a:t>Definir el criterio de medición</a:t>
            </a:r>
            <a:endParaRPr lang="es-ES" sz="1700"/>
          </a:p>
        </p:txBody>
      </p:sp>
      <p:sp>
        <p:nvSpPr>
          <p:cNvPr id="20" name="Paso 3 rol"/>
          <p:cNvSpPr txBox="1"/>
          <p:nvPr/>
        </p:nvSpPr>
        <p:spPr>
          <a:xfrm>
            <a:off x="5029200" y="2907792"/>
            <a:ext cx="2103120" cy="292608"/>
          </a:xfrm>
          <a:prstGeom prst="rect">
            <a:avLst/>
          </a:prstGeom>
          <a:noFill/>
        </p:spPr>
        <p:txBody>
          <a:bodyPr wrap="square" lIns="0" rIns="0" tIns="0" bIns="0" anchor="t">
            <a:noAutofit/>
          </a:bodyPr>
          <a:lstStyle/>
          <a:p>
            <a:pPr algn="l"/>
            <a:r>
              <a:rPr sz="1300" b="1" i="0" lang="es-ES">
                <a:solidFill>
                  <a:srgbClr val="8A5A00"/>
                </a:solidFill>
                <a:latin typeface="Calibri"/>
              </a:rPr>
              <a:t>Responsable de paquete</a:t>
            </a:r>
            <a:endParaRPr lang="es-ES" sz="1300"/>
          </a:p>
        </p:txBody>
      </p:sp>
      <p:sp>
        <p:nvSpPr>
          <p:cNvPr id="21" name="Paso 3 detalle"/>
          <p:cNvSpPr txBox="1"/>
          <p:nvPr/>
        </p:nvSpPr>
        <p:spPr>
          <a:xfrm>
            <a:off x="5029200" y="3246120"/>
            <a:ext cx="2103120" cy="1097280"/>
          </a:xfrm>
          <a:prstGeom prst="rect">
            <a:avLst/>
          </a:prstGeom>
          <a:noFill/>
        </p:spPr>
        <p:txBody>
          <a:bodyPr wrap="square" lIns="0" rIns="0" tIns="0" bIns="0" anchor="t">
            <a:noAutofit/>
          </a:bodyPr>
          <a:lstStyle/>
          <a:p>
            <a:pPr algn="l"/>
            <a:r>
              <a:rPr sz="1400" b="0" i="0" lang="es-ES">
                <a:solidFill>
                  <a:srgbClr val="5A6577"/>
                </a:solidFill>
                <a:latin typeface="Calibri"/>
              </a:rPr>
              <a:t>Hitos, pesos y evidencia; o qué se mide y de dónde sale la medición</a:t>
            </a:r>
            <a:endParaRPr lang="es-ES" sz="1400"/>
          </a:p>
        </p:txBody>
      </p:sp>
      <p:sp>
        <p:nvSpPr>
          <p:cNvPr id="22" name="Paso 4 número"/>
          <p:cNvSpPr/>
          <p:nvPr/>
        </p:nvSpPr>
        <p:spPr>
          <a:xfrm>
            <a:off x="7269480" y="1554480"/>
            <a:ext cx="566928" cy="566928"/>
          </a:xfrm>
          <a:prstGeom prst="ellipse">
            <a:avLst/>
          </a:prstGeom>
          <a:solidFill>
            <a:srgbClr val="4E8A3E"/>
          </a:solidFill>
          <a:ln>
            <a:noFill/>
          </a:ln>
        </p:spPr>
        <p:txBody>
          <a:bodyPr wrap="square" lIns="0" rIns="0" tIns="0" bIns="0" anchor="ctr">
            <a:noAutofit/>
          </a:bodyPr>
          <a:lstStyle/>
          <a:p>
            <a:pPr algn="ctr"/>
            <a:r>
              <a:rPr sz="1800" b="1" i="0" lang="es-ES">
                <a:solidFill>
                  <a:srgbClr val="FFFFFF"/>
                </a:solidFill>
                <a:latin typeface="Calibri"/>
              </a:rPr>
              <a:t>4</a:t>
            </a:r>
            <a:endParaRPr lang="es-ES" sz="1800"/>
          </a:p>
        </p:txBody>
      </p:sp>
      <p:cxnSp>
        <p:nvCxnSpPr>
          <p:cNvPr id="23" name="Paso 4 flecha"/>
          <p:cNvCxnSpPr/>
          <p:nvPr/>
        </p:nvCxnSpPr>
        <p:spPr>
          <a:xfrm>
            <a:off x="7946136" y="1837944"/>
            <a:ext cx="1453896" cy="0"/>
          </a:xfrm>
          <a:prstGeom prst="line">
            <a:avLst/>
          </a:prstGeom>
          <a:ln w="25400">
            <a:solidFill>
              <a:srgbClr val="D5DBE5"/>
            </a:solidFill>
            <a:tailEnd type="triangle" w="med" len="med"/>
          </a:ln>
        </p:spPr>
      </p:cxnSp>
      <p:sp>
        <p:nvSpPr>
          <p:cNvPr id="24" name="Paso 4 título"/>
          <p:cNvSpPr txBox="1"/>
          <p:nvPr/>
        </p:nvSpPr>
        <p:spPr>
          <a:xfrm>
            <a:off x="7269480" y="2304288"/>
            <a:ext cx="2103120" cy="566928"/>
          </a:xfrm>
          <a:prstGeom prst="rect">
            <a:avLst/>
          </a:prstGeom>
          <a:noFill/>
        </p:spPr>
        <p:txBody>
          <a:bodyPr wrap="square" lIns="0" rIns="0" tIns="0" bIns="0" anchor="t">
            <a:noAutofit/>
          </a:bodyPr>
          <a:lstStyle/>
          <a:p>
            <a:pPr algn="l"/>
            <a:r>
              <a:rPr sz="1700" b="1" i="0" lang="es-ES">
                <a:solidFill>
                  <a:srgbClr val="1B2B48"/>
                </a:solidFill>
                <a:latin typeface="Calibri"/>
              </a:rPr>
              <a:t>Aprobar con la línea base</a:t>
            </a:r>
            <a:endParaRPr lang="es-ES" sz="1700"/>
          </a:p>
        </p:txBody>
      </p:sp>
      <p:sp>
        <p:nvSpPr>
          <p:cNvPr id="25" name="Paso 4 rol"/>
          <p:cNvSpPr txBox="1"/>
          <p:nvPr/>
        </p:nvSpPr>
        <p:spPr>
          <a:xfrm>
            <a:off x="7269480" y="2907792"/>
            <a:ext cx="2103120" cy="292608"/>
          </a:xfrm>
          <a:prstGeom prst="rect">
            <a:avLst/>
          </a:prstGeom>
          <a:noFill/>
        </p:spPr>
        <p:txBody>
          <a:bodyPr wrap="square" lIns="0" rIns="0" tIns="0" bIns="0" anchor="t">
            <a:noAutofit/>
          </a:bodyPr>
          <a:lstStyle/>
          <a:p>
            <a:pPr algn="l"/>
            <a:r>
              <a:rPr sz="1300" b="1" i="0" lang="es-ES">
                <a:solidFill>
                  <a:srgbClr val="4E8A3E"/>
                </a:solidFill>
                <a:latin typeface="Calibri"/>
              </a:rPr>
              <a:t>Jefe de Proyecto</a:t>
            </a:r>
            <a:endParaRPr lang="es-ES" sz="1300"/>
          </a:p>
        </p:txBody>
      </p:sp>
      <p:sp>
        <p:nvSpPr>
          <p:cNvPr id="26" name="Paso 4 detalle"/>
          <p:cNvSpPr txBox="1"/>
          <p:nvPr/>
        </p:nvSpPr>
        <p:spPr>
          <a:xfrm>
            <a:off x="7269480" y="3246120"/>
            <a:ext cx="2103120" cy="1097280"/>
          </a:xfrm>
          <a:prstGeom prst="rect">
            <a:avLst/>
          </a:prstGeom>
          <a:noFill/>
        </p:spPr>
        <p:txBody>
          <a:bodyPr wrap="square" lIns="0" rIns="0" tIns="0" bIns="0" anchor="t">
            <a:noAutofit/>
          </a:bodyPr>
          <a:lstStyle/>
          <a:p>
            <a:pPr algn="l"/>
            <a:r>
              <a:rPr sz="1400" b="0" i="0" lang="es-ES">
                <a:solidFill>
                  <a:srgbClr val="5A6577"/>
                </a:solidFill>
                <a:latin typeface="Calibri"/>
              </a:rPr>
              <a:t>Conjunto revisado: LOE acotado y al menos un hito por mes</a:t>
            </a:r>
            <a:endParaRPr lang="es-ES" sz="1400"/>
          </a:p>
        </p:txBody>
      </p:sp>
      <p:sp>
        <p:nvSpPr>
          <p:cNvPr id="27" name="Paso 5 número"/>
          <p:cNvSpPr/>
          <p:nvPr/>
        </p:nvSpPr>
        <p:spPr>
          <a:xfrm>
            <a:off x="9509760" y="1554480"/>
            <a:ext cx="566928" cy="566928"/>
          </a:xfrm>
          <a:prstGeom prst="ellipse">
            <a:avLst/>
          </a:prstGeom>
          <a:solidFill>
            <a:srgbClr val="2F5597"/>
          </a:solidFill>
          <a:ln>
            <a:noFill/>
          </a:ln>
        </p:spPr>
        <p:txBody>
          <a:bodyPr wrap="square" lIns="0" rIns="0" tIns="0" bIns="0" anchor="ctr">
            <a:noAutofit/>
          </a:bodyPr>
          <a:lstStyle/>
          <a:p>
            <a:pPr algn="ctr"/>
            <a:r>
              <a:rPr sz="1800" b="1" i="0" lang="es-ES">
                <a:solidFill>
                  <a:srgbClr val="FFFFFF"/>
                </a:solidFill>
                <a:latin typeface="Calibri"/>
              </a:rPr>
              <a:t>5</a:t>
            </a:r>
            <a:endParaRPr lang="es-ES" sz="1800"/>
          </a:p>
        </p:txBody>
      </p:sp>
      <p:sp>
        <p:nvSpPr>
          <p:cNvPr id="28" name="Paso 5 título"/>
          <p:cNvSpPr txBox="1"/>
          <p:nvPr/>
        </p:nvSpPr>
        <p:spPr>
          <a:xfrm>
            <a:off x="9509760" y="2304288"/>
            <a:ext cx="2103120" cy="566928"/>
          </a:xfrm>
          <a:prstGeom prst="rect">
            <a:avLst/>
          </a:prstGeom>
          <a:noFill/>
        </p:spPr>
        <p:txBody>
          <a:bodyPr wrap="square" lIns="0" rIns="0" tIns="0" bIns="0" anchor="t">
            <a:noAutofit/>
          </a:bodyPr>
          <a:lstStyle/>
          <a:p>
            <a:pPr algn="l"/>
            <a:r>
              <a:rPr sz="1700" b="1" i="0" lang="es-ES">
                <a:solidFill>
                  <a:srgbClr val="1B2B48"/>
                </a:solidFill>
                <a:latin typeface="Calibri"/>
              </a:rPr>
              <a:t>Cargar y verificar</a:t>
            </a:r>
            <a:endParaRPr lang="es-ES" sz="1700"/>
          </a:p>
        </p:txBody>
      </p:sp>
      <p:sp>
        <p:nvSpPr>
          <p:cNvPr id="29" name="Paso 5 rol"/>
          <p:cNvSpPr txBox="1"/>
          <p:nvPr/>
        </p:nvSpPr>
        <p:spPr>
          <a:xfrm>
            <a:off x="9509760" y="2907792"/>
            <a:ext cx="2103120" cy="292608"/>
          </a:xfrm>
          <a:prstGeom prst="rect">
            <a:avLst/>
          </a:prstGeom>
          <a:noFill/>
        </p:spPr>
        <p:txBody>
          <a:bodyPr wrap="square" lIns="0" rIns="0" tIns="0" bIns="0" anchor="t">
            <a:noAutofit/>
          </a:bodyPr>
          <a:lstStyle/>
          <a:p>
            <a:pPr algn="l"/>
            <a:r>
              <a:rPr sz="1300" b="1" i="0" lang="es-ES">
                <a:solidFill>
                  <a:srgbClr val="2F5597"/>
                </a:solidFill>
                <a:latin typeface="Calibri"/>
              </a:rPr>
              <a:t>PMO / planificador</a:t>
            </a:r>
            <a:endParaRPr lang="es-ES" sz="1300"/>
          </a:p>
        </p:txBody>
      </p:sp>
      <p:sp>
        <p:nvSpPr>
          <p:cNvPr id="30" name="Paso 5 detalle"/>
          <p:cNvSpPr txBox="1"/>
          <p:nvPr/>
        </p:nvSpPr>
        <p:spPr>
          <a:xfrm>
            <a:off x="9509760" y="3246120"/>
            <a:ext cx="2103120" cy="1097280"/>
          </a:xfrm>
          <a:prstGeom prst="rect">
            <a:avLst/>
          </a:prstGeom>
          <a:noFill/>
        </p:spPr>
        <p:txBody>
          <a:bodyPr wrap="square" lIns="0" rIns="0" tIns="0" bIns="0" anchor="t">
            <a:noAutofit/>
          </a:bodyPr>
          <a:lstStyle/>
          <a:p>
            <a:pPr algn="l"/>
            <a:r>
              <a:rPr sz="1400" b="0" i="0" lang="es-ES">
                <a:solidFill>
                  <a:srgbClr val="5A6577"/>
                </a:solidFill>
                <a:latin typeface="Calibri"/>
              </a:rPr>
              <a:t>Método EVM y Peso hito en MS Project, criterio en Notas; validar sin avisos de método</a:t>
            </a:r>
            <a:endParaRPr lang="es-ES" sz="1400"/>
          </a:p>
        </p:txBody>
      </p:sp>
      <p:sp>
        <p:nvSpPr>
          <p:cNvPr id="31" name="Registro"/>
          <p:cNvSpPr/>
          <p:nvPr/>
        </p:nvSpPr>
        <p:spPr>
          <a:xfrm>
            <a:off x="548640" y="4617720"/>
            <a:ext cx="5440680" cy="1417320"/>
          </a:xfrm>
          <a:prstGeom prst="roundRect">
            <a:avLst>
              <a:gd name="adj" fmla="val 12000"/>
            </a:avLst>
          </a:prstGeom>
          <a:solidFill>
            <a:srgbClr val="F3F5F9"/>
          </a:solidFill>
          <a:ln>
            <a:noFill/>
          </a:ln>
        </p:spPr>
        <p:txBody>
          <a:bodyPr wrap="square" lIns="201168" rIns="201168" tIns="201168" bIns="201168" anchor="ctr">
            <a:noAutofit/>
          </a:bodyPr>
          <a:lstStyle/>
          <a:p>
            <a:pPr algn="l"/>
            <a:r>
              <a:rPr sz="1400" b="1" i="0" lang="es-ES">
                <a:solidFill>
                  <a:srgbClr val="1B2B48"/>
                </a:solidFill>
                <a:latin typeface="Calibri"/>
              </a:rPr>
              <a:t>Registro: </a:t>
            </a:r>
            <a:r>
              <a:rPr sz="1400" b="0" i="0" lang="es-ES">
                <a:solidFill>
                  <a:srgbClr val="1B2B48"/>
                </a:solidFill>
                <a:latin typeface="Calibri"/>
              </a:rPr>
              <a:t>una tabla del plan de gestión con paquete, responsable, BAC, método y criterio de medición. Es la referencia para medir cada mes y para explicar el informe.</a:t>
            </a:r>
            <a:endParaRPr lang="es-ES" sz="1400"/>
          </a:p>
        </p:txBody>
      </p:sp>
      <p:sp>
        <p:nvSpPr>
          <p:cNvPr id="32" name="Cambio de método"/>
          <p:cNvSpPr/>
          <p:nvPr/>
        </p:nvSpPr>
        <p:spPr>
          <a:xfrm>
            <a:off x="6172200" y="4617720"/>
            <a:ext cx="5440680" cy="1417320"/>
          </a:xfrm>
          <a:prstGeom prst="roundRect">
            <a:avLst>
              <a:gd name="adj" fmla="val 12000"/>
            </a:avLst>
          </a:prstGeom>
          <a:solidFill>
            <a:srgbClr val="FFF4D9"/>
          </a:solidFill>
          <a:ln>
            <a:noFill/>
          </a:ln>
        </p:spPr>
        <p:txBody>
          <a:bodyPr wrap="square" lIns="201168" rIns="201168" tIns="201168" bIns="201168" anchor="ctr">
            <a:noAutofit/>
          </a:bodyPr>
          <a:lstStyle/>
          <a:p>
            <a:pPr algn="l"/>
            <a:r>
              <a:rPr sz="1400" b="1" i="0" lang="es-ES">
                <a:solidFill>
                  <a:srgbClr val="1B2B48"/>
                </a:solidFill>
                <a:latin typeface="Calibri"/>
              </a:rPr>
              <a:t>Cambiar el método = control de cambios. </a:t>
            </a:r>
            <a:r>
              <a:rPr sz="1400" b="0" i="0" lang="es-ES">
                <a:solidFill>
                  <a:srgbClr val="1B2B48"/>
                </a:solidFill>
                <a:latin typeface="Calibri"/>
              </a:rPr>
              <a:t>Se cambia en MS Project y en la columna C de la hoja PV. El EV del paquete se recalcula: el salto cae en el mes del cambio y se explica en el informe.</a:t>
            </a:r>
            <a:endParaRPr lang="es-ES" sz="140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Cada mes en MS Project, antes de exportar</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MS PROJECT · AVANCE MENSUAL</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25</a:t>
            </a:fld>
            <a:endParaRPr lang="es-ES" sz="1000"/>
          </a:p>
        </p:txBody>
      </p:sp>
      <p:sp>
        <p:nvSpPr>
          <p:cNvPr id="6" name="Rounded Rectangle 5"/>
          <p:cNvSpPr/>
          <p:nvPr/>
        </p:nvSpPr>
        <p:spPr>
          <a:xfrm>
            <a:off x="548640" y="1463040"/>
            <a:ext cx="3474720" cy="3977639"/>
          </a:xfrm>
          <a:prstGeom prst="roundRect">
            <a:avLst>
              <a:gd name="adj" fmla="val 3157"/>
            </a:avLst>
          </a:prstGeom>
          <a:solidFill>
            <a:srgbClr val="F3F5F9"/>
          </a:solidFill>
          <a:ln>
            <a:noFill/>
          </a:ln>
        </p:spPr>
        <p:txBody>
          <a:bodyPr rtlCol="0" anchor="ctr" wrap="square" lIns="73152" rIns="73152" tIns="73152" bIns="73152">
            <a:noAutofit/>
          </a:bodyPr>
          <a:lstStyle/>
          <a:p>
            <a:pPr algn="ctr"/>
          </a:p>
        </p:txBody>
      </p:sp>
      <p:sp>
        <p:nvSpPr>
          <p:cNvPr id="7" name="TextBox 6"/>
          <p:cNvSpPr txBox="1"/>
          <p:nvPr/>
        </p:nvSpPr>
        <p:spPr>
          <a:xfrm>
            <a:off x="685800" y="1572768"/>
            <a:ext cx="3200400" cy="365760"/>
          </a:xfrm>
          <a:prstGeom prst="rect">
            <a:avLst/>
          </a:prstGeom>
          <a:noFill/>
        </p:spPr>
        <p:txBody>
          <a:bodyPr wrap="square" lIns="0" rIns="0" tIns="0" bIns="0" anchor="t">
            <a:noAutofit/>
          </a:bodyPr>
          <a:lstStyle/>
          <a:p>
            <a:pPr algn="ctr"/>
            <a:r>
              <a:rPr sz="1600" b="1" i="0" lang="es-ES">
                <a:solidFill>
                  <a:srgbClr val="1B2B48"/>
                </a:solidFill>
                <a:latin typeface="Calibri"/>
              </a:rPr>
              <a:t>Octubre 2026</a:t>
            </a:r>
            <a:endParaRPr lang="es-ES" sz="1600"/>
          </a:p>
        </p:txBody>
      </p:sp>
      <p:sp>
        <p:nvSpPr>
          <p:cNvPr id="8" name="TextBox 7"/>
          <p:cNvSpPr txBox="1"/>
          <p:nvPr/>
        </p:nvSpPr>
        <p:spPr>
          <a:xfrm>
            <a:off x="685800" y="1965960"/>
            <a:ext cx="457200" cy="274320"/>
          </a:xfrm>
          <a:prstGeom prst="rect">
            <a:avLst/>
          </a:prstGeom>
          <a:noFill/>
        </p:spPr>
        <p:txBody>
          <a:bodyPr wrap="square" lIns="0" rIns="0" tIns="0" bIns="0" anchor="t">
            <a:noAutofit/>
          </a:bodyPr>
          <a:lstStyle/>
          <a:p>
            <a:pPr algn="ctr"/>
            <a:r>
              <a:rPr sz="1200" b="1" i="0" lang="es-ES">
                <a:solidFill>
                  <a:srgbClr val="5A6577"/>
                </a:solidFill>
                <a:latin typeface="Calibri"/>
              </a:rPr>
              <a:t>L</a:t>
            </a:r>
            <a:endParaRPr lang="es-ES" sz="1200"/>
          </a:p>
        </p:txBody>
      </p:sp>
      <p:sp>
        <p:nvSpPr>
          <p:cNvPr id="9" name="TextBox 8"/>
          <p:cNvSpPr txBox="1"/>
          <p:nvPr/>
        </p:nvSpPr>
        <p:spPr>
          <a:xfrm>
            <a:off x="1143000" y="1965960"/>
            <a:ext cx="457200" cy="274320"/>
          </a:xfrm>
          <a:prstGeom prst="rect">
            <a:avLst/>
          </a:prstGeom>
          <a:noFill/>
        </p:spPr>
        <p:txBody>
          <a:bodyPr wrap="square" lIns="0" rIns="0" tIns="0" bIns="0" anchor="t">
            <a:noAutofit/>
          </a:bodyPr>
          <a:lstStyle/>
          <a:p>
            <a:pPr algn="ctr"/>
            <a:r>
              <a:rPr sz="1200" b="1" i="0" lang="es-ES">
                <a:solidFill>
                  <a:srgbClr val="5A6577"/>
                </a:solidFill>
                <a:latin typeface="Calibri"/>
              </a:rPr>
              <a:t>M</a:t>
            </a:r>
            <a:endParaRPr lang="es-ES" sz="1200"/>
          </a:p>
        </p:txBody>
      </p:sp>
      <p:sp>
        <p:nvSpPr>
          <p:cNvPr id="10" name="TextBox 9"/>
          <p:cNvSpPr txBox="1"/>
          <p:nvPr/>
        </p:nvSpPr>
        <p:spPr>
          <a:xfrm>
            <a:off x="1600200" y="1965960"/>
            <a:ext cx="457200" cy="274320"/>
          </a:xfrm>
          <a:prstGeom prst="rect">
            <a:avLst/>
          </a:prstGeom>
          <a:noFill/>
        </p:spPr>
        <p:txBody>
          <a:bodyPr wrap="square" lIns="0" rIns="0" tIns="0" bIns="0" anchor="t">
            <a:noAutofit/>
          </a:bodyPr>
          <a:lstStyle/>
          <a:p>
            <a:pPr algn="ctr"/>
            <a:r>
              <a:rPr sz="1200" b="1" i="0" lang="es-ES">
                <a:solidFill>
                  <a:srgbClr val="5A6577"/>
                </a:solidFill>
                <a:latin typeface="Calibri"/>
              </a:rPr>
              <a:t>X</a:t>
            </a:r>
            <a:endParaRPr lang="es-ES" sz="1200"/>
          </a:p>
        </p:txBody>
      </p:sp>
      <p:sp>
        <p:nvSpPr>
          <p:cNvPr id="11" name="TextBox 10"/>
          <p:cNvSpPr txBox="1"/>
          <p:nvPr/>
        </p:nvSpPr>
        <p:spPr>
          <a:xfrm>
            <a:off x="2057400" y="1965960"/>
            <a:ext cx="457200" cy="274320"/>
          </a:xfrm>
          <a:prstGeom prst="rect">
            <a:avLst/>
          </a:prstGeom>
          <a:noFill/>
        </p:spPr>
        <p:txBody>
          <a:bodyPr wrap="square" lIns="0" rIns="0" tIns="0" bIns="0" anchor="t">
            <a:noAutofit/>
          </a:bodyPr>
          <a:lstStyle/>
          <a:p>
            <a:pPr algn="ctr"/>
            <a:r>
              <a:rPr sz="1200" b="1" i="0" lang="es-ES">
                <a:solidFill>
                  <a:srgbClr val="5A6577"/>
                </a:solidFill>
                <a:latin typeface="Calibri"/>
              </a:rPr>
              <a:t>J</a:t>
            </a:r>
            <a:endParaRPr lang="es-ES" sz="1200"/>
          </a:p>
        </p:txBody>
      </p:sp>
      <p:sp>
        <p:nvSpPr>
          <p:cNvPr id="12" name="TextBox 11"/>
          <p:cNvSpPr txBox="1"/>
          <p:nvPr/>
        </p:nvSpPr>
        <p:spPr>
          <a:xfrm>
            <a:off x="2514600" y="1965960"/>
            <a:ext cx="457200" cy="274320"/>
          </a:xfrm>
          <a:prstGeom prst="rect">
            <a:avLst/>
          </a:prstGeom>
          <a:noFill/>
        </p:spPr>
        <p:txBody>
          <a:bodyPr wrap="square" lIns="0" rIns="0" tIns="0" bIns="0" anchor="t">
            <a:noAutofit/>
          </a:bodyPr>
          <a:lstStyle/>
          <a:p>
            <a:pPr algn="ctr"/>
            <a:r>
              <a:rPr sz="1200" b="1" i="0" lang="es-ES">
                <a:solidFill>
                  <a:srgbClr val="5A6577"/>
                </a:solidFill>
                <a:latin typeface="Calibri"/>
              </a:rPr>
              <a:t>V</a:t>
            </a:r>
            <a:endParaRPr lang="es-ES" sz="1200"/>
          </a:p>
        </p:txBody>
      </p:sp>
      <p:sp>
        <p:nvSpPr>
          <p:cNvPr id="13" name="TextBox 12"/>
          <p:cNvSpPr txBox="1"/>
          <p:nvPr/>
        </p:nvSpPr>
        <p:spPr>
          <a:xfrm>
            <a:off x="2971800" y="1965960"/>
            <a:ext cx="457200" cy="274320"/>
          </a:xfrm>
          <a:prstGeom prst="rect">
            <a:avLst/>
          </a:prstGeom>
          <a:noFill/>
        </p:spPr>
        <p:txBody>
          <a:bodyPr wrap="square" lIns="0" rIns="0" tIns="0" bIns="0" anchor="t">
            <a:noAutofit/>
          </a:bodyPr>
          <a:lstStyle/>
          <a:p>
            <a:pPr algn="ctr"/>
            <a:r>
              <a:rPr sz="1200" b="1" i="0" lang="es-ES">
                <a:solidFill>
                  <a:srgbClr val="5A6577"/>
                </a:solidFill>
                <a:latin typeface="Calibri"/>
              </a:rPr>
              <a:t>S</a:t>
            </a:r>
            <a:endParaRPr lang="es-ES" sz="1200"/>
          </a:p>
        </p:txBody>
      </p:sp>
      <p:sp>
        <p:nvSpPr>
          <p:cNvPr id="14" name="TextBox 13"/>
          <p:cNvSpPr txBox="1"/>
          <p:nvPr/>
        </p:nvSpPr>
        <p:spPr>
          <a:xfrm>
            <a:off x="3429000" y="1965960"/>
            <a:ext cx="457200" cy="274320"/>
          </a:xfrm>
          <a:prstGeom prst="rect">
            <a:avLst/>
          </a:prstGeom>
          <a:noFill/>
        </p:spPr>
        <p:txBody>
          <a:bodyPr wrap="square" lIns="0" rIns="0" tIns="0" bIns="0" anchor="t">
            <a:noAutofit/>
          </a:bodyPr>
          <a:lstStyle/>
          <a:p>
            <a:pPr algn="ctr"/>
            <a:r>
              <a:rPr sz="1200" b="1" i="0" lang="es-ES">
                <a:solidFill>
                  <a:srgbClr val="5A6577"/>
                </a:solidFill>
                <a:latin typeface="Calibri"/>
              </a:rPr>
              <a:t>D</a:t>
            </a:r>
            <a:endParaRPr lang="es-ES" sz="1200"/>
          </a:p>
        </p:txBody>
      </p:sp>
      <p:sp>
        <p:nvSpPr>
          <p:cNvPr id="15" name="TextBox 14"/>
          <p:cNvSpPr txBox="1"/>
          <p:nvPr/>
        </p:nvSpPr>
        <p:spPr>
          <a:xfrm>
            <a:off x="2057400" y="23317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1</a:t>
            </a:r>
            <a:endParaRPr lang="es-ES" sz="1300"/>
          </a:p>
        </p:txBody>
      </p:sp>
      <p:sp>
        <p:nvSpPr>
          <p:cNvPr id="16" name="TextBox 15"/>
          <p:cNvSpPr txBox="1"/>
          <p:nvPr/>
        </p:nvSpPr>
        <p:spPr>
          <a:xfrm>
            <a:off x="2514600" y="23317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2</a:t>
            </a:r>
            <a:endParaRPr lang="es-ES" sz="1300"/>
          </a:p>
        </p:txBody>
      </p:sp>
      <p:sp>
        <p:nvSpPr>
          <p:cNvPr id="17" name="TextBox 16"/>
          <p:cNvSpPr txBox="1"/>
          <p:nvPr/>
        </p:nvSpPr>
        <p:spPr>
          <a:xfrm>
            <a:off x="2971800" y="23317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3</a:t>
            </a:r>
            <a:endParaRPr lang="es-ES" sz="1300"/>
          </a:p>
        </p:txBody>
      </p:sp>
      <p:sp>
        <p:nvSpPr>
          <p:cNvPr id="18" name="TextBox 17"/>
          <p:cNvSpPr txBox="1"/>
          <p:nvPr/>
        </p:nvSpPr>
        <p:spPr>
          <a:xfrm>
            <a:off x="3429000" y="23317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4</a:t>
            </a:r>
            <a:endParaRPr lang="es-ES" sz="1300"/>
          </a:p>
        </p:txBody>
      </p:sp>
      <p:sp>
        <p:nvSpPr>
          <p:cNvPr id="19" name="TextBox 18"/>
          <p:cNvSpPr txBox="1"/>
          <p:nvPr/>
        </p:nvSpPr>
        <p:spPr>
          <a:xfrm>
            <a:off x="685800" y="27889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5</a:t>
            </a:r>
            <a:endParaRPr lang="es-ES" sz="1300"/>
          </a:p>
        </p:txBody>
      </p:sp>
      <p:sp>
        <p:nvSpPr>
          <p:cNvPr id="20" name="TextBox 19"/>
          <p:cNvSpPr txBox="1"/>
          <p:nvPr/>
        </p:nvSpPr>
        <p:spPr>
          <a:xfrm>
            <a:off x="1143000" y="27889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6</a:t>
            </a:r>
            <a:endParaRPr lang="es-ES" sz="1300"/>
          </a:p>
        </p:txBody>
      </p:sp>
      <p:sp>
        <p:nvSpPr>
          <p:cNvPr id="21" name="TextBox 20"/>
          <p:cNvSpPr txBox="1"/>
          <p:nvPr/>
        </p:nvSpPr>
        <p:spPr>
          <a:xfrm>
            <a:off x="1600200" y="27889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7</a:t>
            </a:r>
            <a:endParaRPr lang="es-ES" sz="1300"/>
          </a:p>
        </p:txBody>
      </p:sp>
      <p:sp>
        <p:nvSpPr>
          <p:cNvPr id="22" name="TextBox 21"/>
          <p:cNvSpPr txBox="1"/>
          <p:nvPr/>
        </p:nvSpPr>
        <p:spPr>
          <a:xfrm>
            <a:off x="2057400" y="27889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8</a:t>
            </a:r>
            <a:endParaRPr lang="es-ES" sz="1300"/>
          </a:p>
        </p:txBody>
      </p:sp>
      <p:sp>
        <p:nvSpPr>
          <p:cNvPr id="23" name="TextBox 22"/>
          <p:cNvSpPr txBox="1"/>
          <p:nvPr/>
        </p:nvSpPr>
        <p:spPr>
          <a:xfrm>
            <a:off x="2514600" y="27889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9</a:t>
            </a:r>
            <a:endParaRPr lang="es-ES" sz="1300"/>
          </a:p>
        </p:txBody>
      </p:sp>
      <p:sp>
        <p:nvSpPr>
          <p:cNvPr id="24" name="TextBox 23"/>
          <p:cNvSpPr txBox="1"/>
          <p:nvPr/>
        </p:nvSpPr>
        <p:spPr>
          <a:xfrm>
            <a:off x="2971800" y="27889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10</a:t>
            </a:r>
            <a:endParaRPr lang="es-ES" sz="1300"/>
          </a:p>
        </p:txBody>
      </p:sp>
      <p:sp>
        <p:nvSpPr>
          <p:cNvPr id="25" name="TextBox 24"/>
          <p:cNvSpPr txBox="1"/>
          <p:nvPr/>
        </p:nvSpPr>
        <p:spPr>
          <a:xfrm>
            <a:off x="3429000" y="27889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11</a:t>
            </a:r>
            <a:endParaRPr lang="es-ES" sz="1300"/>
          </a:p>
        </p:txBody>
      </p:sp>
      <p:sp>
        <p:nvSpPr>
          <p:cNvPr id="26" name="TextBox 25"/>
          <p:cNvSpPr txBox="1"/>
          <p:nvPr/>
        </p:nvSpPr>
        <p:spPr>
          <a:xfrm>
            <a:off x="685800" y="32461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12</a:t>
            </a:r>
            <a:endParaRPr lang="es-ES" sz="1300"/>
          </a:p>
        </p:txBody>
      </p:sp>
      <p:sp>
        <p:nvSpPr>
          <p:cNvPr id="27" name="TextBox 26"/>
          <p:cNvSpPr txBox="1"/>
          <p:nvPr/>
        </p:nvSpPr>
        <p:spPr>
          <a:xfrm>
            <a:off x="1143000" y="32461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13</a:t>
            </a:r>
            <a:endParaRPr lang="es-ES" sz="1300"/>
          </a:p>
        </p:txBody>
      </p:sp>
      <p:sp>
        <p:nvSpPr>
          <p:cNvPr id="28" name="TextBox 27"/>
          <p:cNvSpPr txBox="1"/>
          <p:nvPr/>
        </p:nvSpPr>
        <p:spPr>
          <a:xfrm>
            <a:off x="1600200" y="32461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14</a:t>
            </a:r>
            <a:endParaRPr lang="es-ES" sz="1300"/>
          </a:p>
        </p:txBody>
      </p:sp>
      <p:sp>
        <p:nvSpPr>
          <p:cNvPr id="29" name="TextBox 28"/>
          <p:cNvSpPr txBox="1"/>
          <p:nvPr/>
        </p:nvSpPr>
        <p:spPr>
          <a:xfrm>
            <a:off x="2057400" y="32461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15</a:t>
            </a:r>
            <a:endParaRPr lang="es-ES" sz="1300"/>
          </a:p>
        </p:txBody>
      </p:sp>
      <p:sp>
        <p:nvSpPr>
          <p:cNvPr id="30" name="TextBox 29"/>
          <p:cNvSpPr txBox="1"/>
          <p:nvPr/>
        </p:nvSpPr>
        <p:spPr>
          <a:xfrm>
            <a:off x="2514600" y="32461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16</a:t>
            </a:r>
            <a:endParaRPr lang="es-ES" sz="1300"/>
          </a:p>
        </p:txBody>
      </p:sp>
      <p:sp>
        <p:nvSpPr>
          <p:cNvPr id="31" name="TextBox 30"/>
          <p:cNvSpPr txBox="1"/>
          <p:nvPr/>
        </p:nvSpPr>
        <p:spPr>
          <a:xfrm>
            <a:off x="2971800" y="32461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17</a:t>
            </a:r>
            <a:endParaRPr lang="es-ES" sz="1300"/>
          </a:p>
        </p:txBody>
      </p:sp>
      <p:sp>
        <p:nvSpPr>
          <p:cNvPr id="32" name="TextBox 31"/>
          <p:cNvSpPr txBox="1"/>
          <p:nvPr/>
        </p:nvSpPr>
        <p:spPr>
          <a:xfrm>
            <a:off x="3429000" y="32461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18</a:t>
            </a:r>
            <a:endParaRPr lang="es-ES" sz="1300"/>
          </a:p>
        </p:txBody>
      </p:sp>
      <p:sp>
        <p:nvSpPr>
          <p:cNvPr id="33" name="TextBox 32"/>
          <p:cNvSpPr txBox="1"/>
          <p:nvPr/>
        </p:nvSpPr>
        <p:spPr>
          <a:xfrm>
            <a:off x="685800" y="37033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19</a:t>
            </a:r>
            <a:endParaRPr lang="es-ES" sz="1300"/>
          </a:p>
        </p:txBody>
      </p:sp>
      <p:sp>
        <p:nvSpPr>
          <p:cNvPr id="34" name="TextBox 33"/>
          <p:cNvSpPr txBox="1"/>
          <p:nvPr/>
        </p:nvSpPr>
        <p:spPr>
          <a:xfrm>
            <a:off x="1143000" y="37033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20</a:t>
            </a:r>
            <a:endParaRPr lang="es-ES" sz="1300"/>
          </a:p>
        </p:txBody>
      </p:sp>
      <p:sp>
        <p:nvSpPr>
          <p:cNvPr id="35" name="TextBox 34"/>
          <p:cNvSpPr txBox="1"/>
          <p:nvPr/>
        </p:nvSpPr>
        <p:spPr>
          <a:xfrm>
            <a:off x="1600200" y="37033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21</a:t>
            </a:r>
            <a:endParaRPr lang="es-ES" sz="1300"/>
          </a:p>
        </p:txBody>
      </p:sp>
      <p:sp>
        <p:nvSpPr>
          <p:cNvPr id="36" name="TextBox 35"/>
          <p:cNvSpPr txBox="1"/>
          <p:nvPr/>
        </p:nvSpPr>
        <p:spPr>
          <a:xfrm>
            <a:off x="2057400" y="37033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22</a:t>
            </a:r>
            <a:endParaRPr lang="es-ES" sz="1300"/>
          </a:p>
        </p:txBody>
      </p:sp>
      <p:sp>
        <p:nvSpPr>
          <p:cNvPr id="37" name="TextBox 36"/>
          <p:cNvSpPr txBox="1"/>
          <p:nvPr/>
        </p:nvSpPr>
        <p:spPr>
          <a:xfrm>
            <a:off x="2514600" y="37033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23</a:t>
            </a:r>
            <a:endParaRPr lang="es-ES" sz="1300"/>
          </a:p>
        </p:txBody>
      </p:sp>
      <p:sp>
        <p:nvSpPr>
          <p:cNvPr id="38" name="TextBox 37"/>
          <p:cNvSpPr txBox="1"/>
          <p:nvPr/>
        </p:nvSpPr>
        <p:spPr>
          <a:xfrm>
            <a:off x="2971800" y="37033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24</a:t>
            </a:r>
            <a:endParaRPr lang="es-ES" sz="1300"/>
          </a:p>
        </p:txBody>
      </p:sp>
      <p:sp>
        <p:nvSpPr>
          <p:cNvPr id="39" name="TextBox 38"/>
          <p:cNvSpPr txBox="1"/>
          <p:nvPr/>
        </p:nvSpPr>
        <p:spPr>
          <a:xfrm>
            <a:off x="3429000" y="37033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25</a:t>
            </a:r>
            <a:endParaRPr lang="es-ES" sz="1300"/>
          </a:p>
        </p:txBody>
      </p:sp>
      <p:sp>
        <p:nvSpPr>
          <p:cNvPr id="40" name="TextBox 39"/>
          <p:cNvSpPr txBox="1"/>
          <p:nvPr/>
        </p:nvSpPr>
        <p:spPr>
          <a:xfrm>
            <a:off x="685800" y="41605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26</a:t>
            </a:r>
            <a:endParaRPr lang="es-ES" sz="1300"/>
          </a:p>
        </p:txBody>
      </p:sp>
      <p:sp>
        <p:nvSpPr>
          <p:cNvPr id="41" name="TextBox 40"/>
          <p:cNvSpPr txBox="1"/>
          <p:nvPr/>
        </p:nvSpPr>
        <p:spPr>
          <a:xfrm>
            <a:off x="1143000" y="41605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27</a:t>
            </a:r>
            <a:endParaRPr lang="es-ES" sz="1300"/>
          </a:p>
        </p:txBody>
      </p:sp>
      <p:sp>
        <p:nvSpPr>
          <p:cNvPr id="42" name="TextBox 41"/>
          <p:cNvSpPr txBox="1"/>
          <p:nvPr/>
        </p:nvSpPr>
        <p:spPr>
          <a:xfrm>
            <a:off x="1600200" y="41605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28</a:t>
            </a:r>
            <a:endParaRPr lang="es-ES" sz="1300"/>
          </a:p>
        </p:txBody>
      </p:sp>
      <p:sp>
        <p:nvSpPr>
          <p:cNvPr id="43" name="TextBox 42"/>
          <p:cNvSpPr txBox="1"/>
          <p:nvPr/>
        </p:nvSpPr>
        <p:spPr>
          <a:xfrm>
            <a:off x="2057400" y="41605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29</a:t>
            </a:r>
            <a:endParaRPr lang="es-ES" sz="1300"/>
          </a:p>
        </p:txBody>
      </p:sp>
      <p:sp>
        <p:nvSpPr>
          <p:cNvPr id="44" name="TextBox 43"/>
          <p:cNvSpPr txBox="1"/>
          <p:nvPr/>
        </p:nvSpPr>
        <p:spPr>
          <a:xfrm>
            <a:off x="2514600" y="4160520"/>
            <a:ext cx="457200" cy="320040"/>
          </a:xfrm>
          <a:prstGeom prst="rect">
            <a:avLst/>
          </a:prstGeom>
          <a:noFill/>
        </p:spPr>
        <p:txBody>
          <a:bodyPr wrap="square" lIns="0" rIns="0" tIns="0" bIns="0" anchor="t">
            <a:noAutofit/>
          </a:bodyPr>
          <a:lstStyle/>
          <a:p>
            <a:pPr algn="ctr"/>
            <a:r>
              <a:rPr sz="1300" b="0" i="0" lang="es-ES">
                <a:solidFill>
                  <a:srgbClr val="1B2B48"/>
                </a:solidFill>
                <a:latin typeface="Calibri"/>
              </a:rPr>
              <a:t>30</a:t>
            </a:r>
            <a:endParaRPr lang="es-ES" sz="1300"/>
          </a:p>
        </p:txBody>
      </p:sp>
      <p:sp>
        <p:nvSpPr>
          <p:cNvPr id="45" name="Rounded Rectangle 44"/>
          <p:cNvSpPr/>
          <p:nvPr/>
        </p:nvSpPr>
        <p:spPr>
          <a:xfrm>
            <a:off x="2999232" y="4114800"/>
            <a:ext cx="402336" cy="402336"/>
          </a:xfrm>
          <a:prstGeom prst="roundRect">
            <a:avLst>
              <a:gd name="adj" fmla="val 18181"/>
            </a:avLst>
          </a:prstGeom>
          <a:solidFill>
            <a:srgbClr val="F2B134"/>
          </a:solidFill>
          <a:ln>
            <a:noFill/>
          </a:ln>
        </p:spPr>
        <p:txBody>
          <a:bodyPr rtlCol="0" anchor="ctr" wrap="square" lIns="0" rIns="0" tIns="0" bIns="0">
            <a:noAutofit/>
          </a:bodyPr>
          <a:lstStyle/>
          <a:p>
            <a:pPr algn="ctr"/>
            <a:r>
              <a:rPr sz="1400" b="1" i="0" lang="es-ES">
                <a:solidFill>
                  <a:srgbClr val="1B2B48"/>
                </a:solidFill>
                <a:latin typeface="Calibri"/>
              </a:rPr>
              <a:t>31</a:t>
            </a:r>
            <a:endParaRPr lang="es-ES" sz="1400"/>
          </a:p>
        </p:txBody>
      </p:sp>
      <p:sp>
        <p:nvSpPr>
          <p:cNvPr id="46" name="TextBox 45"/>
          <p:cNvSpPr txBox="1"/>
          <p:nvPr/>
        </p:nvSpPr>
        <p:spPr>
          <a:xfrm>
            <a:off x="685800" y="4663440"/>
            <a:ext cx="3200400" cy="731520"/>
          </a:xfrm>
          <a:prstGeom prst="rect">
            <a:avLst/>
          </a:prstGeom>
          <a:noFill/>
        </p:spPr>
        <p:txBody>
          <a:bodyPr wrap="square" lIns="0" rIns="0" tIns="0" bIns="0" anchor="t">
            <a:noAutofit/>
          </a:bodyPr>
          <a:lstStyle/>
          <a:p>
            <a:pPr algn="ctr"/>
            <a:r>
              <a:rPr sz="1400" b="1" i="0" lang="es-ES">
                <a:solidFill>
                  <a:srgbClr val="1B2B48"/>
                </a:solidFill>
                <a:latin typeface="Calibri"/>
              </a:rPr>
              <a:t>Fecha de estado = 31/10/2026</a:t>
            </a:r>
            <a:endParaRPr lang="es-ES" sz="1400"/>
          </a:p>
          <a:p>
            <a:pPr algn="ctr"/>
            <a:r>
              <a:rPr sz="1200" b="0" i="0" lang="es-ES">
                <a:solidFill>
                  <a:srgbClr val="5A6577"/>
                </a:solidFill>
                <a:latin typeface="Consolas"/>
              </a:rPr>
              <a:t>--fecha-corte 2026-10-31</a:t>
            </a:r>
            <a:endParaRPr lang="es-ES" sz="1400"/>
          </a:p>
        </p:txBody>
      </p:sp>
      <p:sp>
        <p:nvSpPr>
          <p:cNvPr id="47" name="Oval 46"/>
          <p:cNvSpPr/>
          <p:nvPr/>
        </p:nvSpPr>
        <p:spPr>
          <a:xfrm>
            <a:off x="4425696" y="1563624"/>
            <a:ext cx="566928" cy="566928"/>
          </a:xfrm>
          <a:prstGeom prst="ellipse">
            <a:avLst/>
          </a:prstGeom>
          <a:solidFill>
            <a:srgbClr val="F2B134"/>
          </a:solidFill>
          <a:ln>
            <a:noFill/>
          </a:ln>
        </p:spPr>
        <p:txBody>
          <a:bodyPr rtlCol="0" anchor="ctr" wrap="square" lIns="0" rIns="0" tIns="0" bIns="0">
            <a:noAutofit/>
          </a:bodyPr>
          <a:lstStyle/>
          <a:p>
            <a:pPr algn="ctr"/>
            <a:r>
              <a:rPr sz="1800" b="1" i="0" lang="es-ES">
                <a:solidFill>
                  <a:srgbClr val="1B2B48"/>
                </a:solidFill>
                <a:latin typeface="Calibri"/>
              </a:rPr>
              <a:t>1</a:t>
            </a:r>
            <a:endParaRPr lang="es-ES" sz="1800"/>
          </a:p>
        </p:txBody>
      </p:sp>
      <p:sp>
        <p:nvSpPr>
          <p:cNvPr id="48" name="TextBox 47"/>
          <p:cNvSpPr txBox="1"/>
          <p:nvPr/>
        </p:nvSpPr>
        <p:spPr>
          <a:xfrm>
            <a:off x="5212080" y="1481328"/>
            <a:ext cx="6400800" cy="365760"/>
          </a:xfrm>
          <a:prstGeom prst="rect">
            <a:avLst/>
          </a:prstGeom>
          <a:noFill/>
        </p:spPr>
        <p:txBody>
          <a:bodyPr wrap="square" lIns="0" rIns="0" tIns="0" bIns="0" anchor="t">
            <a:noAutofit/>
          </a:bodyPr>
          <a:lstStyle/>
          <a:p>
            <a:pPr algn="l"/>
            <a:r>
              <a:rPr sz="1700" b="1" i="0" lang="es-ES">
                <a:solidFill>
                  <a:srgbClr val="1B2B48"/>
                </a:solidFill>
                <a:latin typeface="Calibri"/>
              </a:rPr>
              <a:t>Fijar la fecha de estado</a:t>
            </a:r>
            <a:endParaRPr lang="es-ES" sz="1700"/>
          </a:p>
        </p:txBody>
      </p:sp>
      <p:sp>
        <p:nvSpPr>
          <p:cNvPr id="49" name="TextBox 48"/>
          <p:cNvSpPr txBox="1"/>
          <p:nvPr/>
        </p:nvSpPr>
        <p:spPr>
          <a:xfrm>
            <a:off x="5212080" y="1847088"/>
            <a:ext cx="6400800" cy="548640"/>
          </a:xfrm>
          <a:prstGeom prst="rect">
            <a:avLst/>
          </a:prstGeom>
          <a:noFill/>
        </p:spPr>
        <p:txBody>
          <a:bodyPr wrap="square" lIns="0" rIns="0" tIns="0" bIns="0" anchor="t">
            <a:noAutofit/>
          </a:bodyPr>
          <a:lstStyle/>
          <a:p>
            <a:pPr algn="l"/>
            <a:r>
              <a:rPr sz="1400" b="0" i="0" lang="es-ES">
                <a:solidFill>
                  <a:srgbClr val="5A6577"/>
                </a:solidFill>
                <a:latin typeface="Calibri"/>
              </a:rPr>
              <a:t>Proyecto &gt; Fecha de estado = último día del mes. Con XML: guardar al terminar</a:t>
            </a:r>
            <a:endParaRPr lang="es-ES" sz="1400"/>
          </a:p>
        </p:txBody>
      </p:sp>
      <p:sp>
        <p:nvSpPr>
          <p:cNvPr id="50" name="Oval 49"/>
          <p:cNvSpPr/>
          <p:nvPr/>
        </p:nvSpPr>
        <p:spPr>
          <a:xfrm>
            <a:off x="4425696" y="2569464"/>
            <a:ext cx="566928" cy="566928"/>
          </a:xfrm>
          <a:prstGeom prst="ellipse">
            <a:avLst/>
          </a:prstGeom>
          <a:solidFill>
            <a:srgbClr val="F2B134"/>
          </a:solidFill>
          <a:ln>
            <a:noFill/>
          </a:ln>
        </p:spPr>
        <p:txBody>
          <a:bodyPr rtlCol="0" anchor="ctr" wrap="square" lIns="0" rIns="0" tIns="0" bIns="0">
            <a:noAutofit/>
          </a:bodyPr>
          <a:lstStyle/>
          <a:p>
            <a:pPr algn="ctr"/>
            <a:r>
              <a:rPr sz="1800" b="1" i="0" lang="es-ES">
                <a:solidFill>
                  <a:srgbClr val="1B2B48"/>
                </a:solidFill>
                <a:latin typeface="Calibri"/>
              </a:rPr>
              <a:t>2</a:t>
            </a:r>
            <a:endParaRPr lang="es-ES" sz="1800"/>
          </a:p>
        </p:txBody>
      </p:sp>
      <p:sp>
        <p:nvSpPr>
          <p:cNvPr id="51" name="TextBox 50"/>
          <p:cNvSpPr txBox="1"/>
          <p:nvPr/>
        </p:nvSpPr>
        <p:spPr>
          <a:xfrm>
            <a:off x="5212080" y="2487168"/>
            <a:ext cx="6400800" cy="365760"/>
          </a:xfrm>
          <a:prstGeom prst="rect">
            <a:avLst/>
          </a:prstGeom>
          <a:noFill/>
        </p:spPr>
        <p:txBody>
          <a:bodyPr wrap="square" lIns="0" rIns="0" tIns="0" bIns="0" anchor="t">
            <a:noAutofit/>
          </a:bodyPr>
          <a:lstStyle/>
          <a:p>
            <a:pPr algn="l"/>
            <a:r>
              <a:rPr sz="1700" b="1" i="0" lang="es-ES">
                <a:solidFill>
                  <a:srgbClr val="1B2B48"/>
                </a:solidFill>
                <a:latin typeface="Calibri"/>
              </a:rPr>
              <a:t>Registrar el avance a la fecha de estado</a:t>
            </a:r>
            <a:endParaRPr lang="es-ES" sz="1700"/>
          </a:p>
        </p:txBody>
      </p:sp>
      <p:sp>
        <p:nvSpPr>
          <p:cNvPr id="52" name="TextBox 51"/>
          <p:cNvSpPr txBox="1"/>
          <p:nvPr/>
        </p:nvSpPr>
        <p:spPr>
          <a:xfrm>
            <a:off x="5212080" y="2852928"/>
            <a:ext cx="6400800" cy="548640"/>
          </a:xfrm>
          <a:prstGeom prst="rect">
            <a:avLst/>
          </a:prstGeom>
          <a:noFill/>
        </p:spPr>
        <p:txBody>
          <a:bodyPr wrap="square" lIns="0" rIns="0" tIns="0" bIns="0" anchor="t">
            <a:noAutofit/>
          </a:bodyPr>
          <a:lstStyle/>
          <a:p>
            <a:pPr algn="l"/>
            <a:r>
              <a:rPr sz="1400" b="0" i="0" lang="es-ES">
                <a:solidFill>
                  <a:srgbClr val="5A6577"/>
                </a:solidFill>
                <a:latin typeface="Calibri"/>
              </a:rPr>
              <a:t>% completado, % físico completado, comienzo y fin reales; hitos cumplidos al 100 %</a:t>
            </a:r>
            <a:endParaRPr lang="es-ES" sz="1400"/>
          </a:p>
        </p:txBody>
      </p:sp>
      <p:sp>
        <p:nvSpPr>
          <p:cNvPr id="53" name="Oval 52"/>
          <p:cNvSpPr/>
          <p:nvPr/>
        </p:nvSpPr>
        <p:spPr>
          <a:xfrm>
            <a:off x="4425696" y="3575304"/>
            <a:ext cx="566928" cy="566928"/>
          </a:xfrm>
          <a:prstGeom prst="ellipse">
            <a:avLst/>
          </a:prstGeom>
          <a:solidFill>
            <a:srgbClr val="F2B134"/>
          </a:solidFill>
          <a:ln>
            <a:noFill/>
          </a:ln>
        </p:spPr>
        <p:txBody>
          <a:bodyPr rtlCol="0" anchor="ctr" wrap="square" lIns="0" rIns="0" tIns="0" bIns="0">
            <a:noAutofit/>
          </a:bodyPr>
          <a:lstStyle/>
          <a:p>
            <a:pPr algn="ctr"/>
            <a:r>
              <a:rPr sz="1800" b="1" i="0" lang="es-ES">
                <a:solidFill>
                  <a:srgbClr val="1B2B48"/>
                </a:solidFill>
                <a:latin typeface="Calibri"/>
              </a:rPr>
              <a:t>3</a:t>
            </a:r>
            <a:endParaRPr lang="es-ES" sz="1800"/>
          </a:p>
        </p:txBody>
      </p:sp>
      <p:sp>
        <p:nvSpPr>
          <p:cNvPr id="54" name="TextBox 53"/>
          <p:cNvSpPr txBox="1"/>
          <p:nvPr/>
        </p:nvSpPr>
        <p:spPr>
          <a:xfrm>
            <a:off x="5212080" y="3493008"/>
            <a:ext cx="6400800" cy="365760"/>
          </a:xfrm>
          <a:prstGeom prst="rect">
            <a:avLst/>
          </a:prstGeom>
          <a:noFill/>
        </p:spPr>
        <p:txBody>
          <a:bodyPr wrap="square" lIns="0" rIns="0" tIns="0" bIns="0" anchor="t">
            <a:noAutofit/>
          </a:bodyPr>
          <a:lstStyle/>
          <a:p>
            <a:pPr algn="l"/>
            <a:r>
              <a:rPr sz="1700" b="1" i="0" lang="es-ES">
                <a:solidFill>
                  <a:srgbClr val="1B2B48"/>
                </a:solidFill>
                <a:latin typeface="Calibri"/>
              </a:rPr>
              <a:t>Reprogramar el trabajo pendiente</a:t>
            </a:r>
            <a:endParaRPr lang="es-ES" sz="1700"/>
          </a:p>
        </p:txBody>
      </p:sp>
      <p:sp>
        <p:nvSpPr>
          <p:cNvPr id="55" name="TextBox 54"/>
          <p:cNvSpPr txBox="1"/>
          <p:nvPr/>
        </p:nvSpPr>
        <p:spPr>
          <a:xfrm>
            <a:off x="5212080" y="3858768"/>
            <a:ext cx="6400800" cy="548640"/>
          </a:xfrm>
          <a:prstGeom prst="rect">
            <a:avLst/>
          </a:prstGeom>
          <a:noFill/>
        </p:spPr>
        <p:txBody>
          <a:bodyPr wrap="square" lIns="0" rIns="0" tIns="0" bIns="0" anchor="t">
            <a:noAutofit/>
          </a:bodyPr>
          <a:lstStyle/>
          <a:p>
            <a:pPr algn="l"/>
            <a:r>
              <a:rPr sz="1400" b="0" i="0" lang="es-ES">
                <a:solidFill>
                  <a:srgbClr val="5A6577"/>
                </a:solidFill>
                <a:latin typeface="Calibri"/>
              </a:rPr>
              <a:t>Después de la fecha de estado (Proyecto &gt; Actualizar proyecto). No cambia la línea base</a:t>
            </a:r>
            <a:endParaRPr lang="es-ES" sz="1400"/>
          </a:p>
        </p:txBody>
      </p:sp>
      <p:sp>
        <p:nvSpPr>
          <p:cNvPr id="56" name="Oval 55"/>
          <p:cNvSpPr/>
          <p:nvPr/>
        </p:nvSpPr>
        <p:spPr>
          <a:xfrm>
            <a:off x="4425696" y="4581144"/>
            <a:ext cx="566928" cy="566928"/>
          </a:xfrm>
          <a:prstGeom prst="ellipse">
            <a:avLst/>
          </a:prstGeom>
          <a:solidFill>
            <a:srgbClr val="F2B134"/>
          </a:solidFill>
          <a:ln>
            <a:noFill/>
          </a:ln>
        </p:spPr>
        <p:txBody>
          <a:bodyPr rtlCol="0" anchor="ctr" wrap="square" lIns="0" rIns="0" tIns="0" bIns="0">
            <a:noAutofit/>
          </a:bodyPr>
          <a:lstStyle/>
          <a:p>
            <a:pPr algn="ctr"/>
            <a:r>
              <a:rPr sz="1800" b="1" i="0" lang="es-ES">
                <a:solidFill>
                  <a:srgbClr val="1B2B48"/>
                </a:solidFill>
                <a:latin typeface="Calibri"/>
              </a:rPr>
              <a:t>4</a:t>
            </a:r>
            <a:endParaRPr lang="es-ES" sz="1800"/>
          </a:p>
        </p:txBody>
      </p:sp>
      <p:sp>
        <p:nvSpPr>
          <p:cNvPr id="57" name="TextBox 56"/>
          <p:cNvSpPr txBox="1"/>
          <p:nvPr/>
        </p:nvSpPr>
        <p:spPr>
          <a:xfrm>
            <a:off x="5212080" y="4498848"/>
            <a:ext cx="6400800" cy="365760"/>
          </a:xfrm>
          <a:prstGeom prst="rect">
            <a:avLst/>
          </a:prstGeom>
          <a:noFill/>
        </p:spPr>
        <p:txBody>
          <a:bodyPr wrap="square" lIns="0" rIns="0" tIns="0" bIns="0" anchor="t">
            <a:noAutofit/>
          </a:bodyPr>
          <a:lstStyle/>
          <a:p>
            <a:pPr algn="l"/>
            <a:r>
              <a:rPr sz="1700" b="1" i="0" lang="es-ES">
                <a:solidFill>
                  <a:srgbClr val="1B2B48"/>
                </a:solidFill>
                <a:latin typeface="Calibri"/>
              </a:rPr>
              <a:t>Revisar con validar</a:t>
            </a:r>
            <a:endParaRPr lang="es-ES" sz="1700"/>
          </a:p>
        </p:txBody>
      </p:sp>
      <p:sp>
        <p:nvSpPr>
          <p:cNvPr id="58" name="TextBox 57"/>
          <p:cNvSpPr txBox="1"/>
          <p:nvPr/>
        </p:nvSpPr>
        <p:spPr>
          <a:xfrm>
            <a:off x="5212080" y="4864608"/>
            <a:ext cx="6400800" cy="548640"/>
          </a:xfrm>
          <a:prstGeom prst="rect">
            <a:avLst/>
          </a:prstGeom>
          <a:noFill/>
        </p:spPr>
        <p:txBody>
          <a:bodyPr wrap="square" lIns="0" rIns="0" tIns="0" bIns="0" anchor="t">
            <a:noAutofit/>
          </a:bodyPr>
          <a:lstStyle/>
          <a:p>
            <a:pPr algn="l"/>
            <a:r>
              <a:rPr sz="1400" b="0" i="0" lang="es-ES">
                <a:solidFill>
                  <a:srgbClr val="5A6577"/>
                </a:solidFill>
                <a:latin typeface="Calibri"/>
              </a:rPr>
              <a:t>Sin errores ni trabajo pendiente antes de la fecha de estado</a:t>
            </a:r>
            <a:endParaRPr lang="es-ES" sz="1400"/>
          </a:p>
        </p:txBody>
      </p:sp>
      <p:sp>
        <p:nvSpPr>
          <p:cNvPr id="59" name="Rounded Rectangle 58"/>
          <p:cNvSpPr/>
          <p:nvPr/>
        </p:nvSpPr>
        <p:spPr>
          <a:xfrm>
            <a:off x="4434840" y="5532120"/>
            <a:ext cx="7178040" cy="640080"/>
          </a:xfrm>
          <a:prstGeom prst="roundRect">
            <a:avLst>
              <a:gd name="adj" fmla="val 17142"/>
            </a:avLst>
          </a:prstGeom>
          <a:solidFill>
            <a:srgbClr val="FFF4D9"/>
          </a:solidFill>
          <a:ln>
            <a:noFill/>
          </a:ln>
        </p:spPr>
        <p:txBody>
          <a:bodyPr rtlCol="0" anchor="ctr" wrap="square" lIns="201168" rIns="201168" tIns="201168" bIns="201168">
            <a:noAutofit/>
          </a:bodyPr>
          <a:lstStyle/>
          <a:p>
            <a:pPr algn="l"/>
            <a:r>
              <a:rPr sz="1400" b="1" i="0" lang="es-ES">
                <a:solidFill>
                  <a:srgbClr val="1B2B48"/>
                </a:solidFill>
                <a:latin typeface="Calibri"/>
              </a:rPr>
              <a:t>Aunque el informe sea bimestral, </a:t>
            </a:r>
            <a:r>
              <a:rPr sz="1400" b="0" i="0" lang="es-ES">
                <a:solidFill>
                  <a:srgbClr val="1B2B48"/>
                </a:solidFill>
                <a:latin typeface="Calibri"/>
              </a:rPr>
              <a:t>registrar el estado todos los meses.</a:t>
            </a:r>
            <a:endParaRPr lang="es-ES" sz="140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B2B48"/>
        </a:solidFill>
        <a:effectLst/>
      </p:bgPr>
    </p:bg>
    <p:spTree>
      <p:nvGrpSpPr>
        <p:cNvPr id="1" name=""/>
        <p:cNvGrpSpPr/>
        <p:nvPr/>
      </p:nvGrpSpPr>
      <p:grpSpPr/>
      <p:sp>
        <p:nvSpPr>
          <p:cNvPr id="2" name="Title 1"/>
          <p:cNvSpPr>
            <a:spLocks noGrp="1"/>
          </p:cNvSpPr>
          <p:nvPr>
            <p:ph type="title"/>
          </p:nvPr>
        </p:nvSpPr>
        <p:spPr>
          <a:xfrm>
            <a:off x="548640" y="2743200"/>
            <a:ext cx="11064240" cy="914400"/>
          </a:xfrm>
        </p:spPr>
        <p:txBody>
          <a:bodyPr wrap="square" lIns="0" rIns="0" tIns="0" bIns="0" anchor="t">
            <a:noAutofit/>
          </a:bodyPr>
          <a:lstStyle/>
          <a:p>
            <a:pPr algn="l"/>
            <a:r>
              <a:rPr sz="4000" b="1" i="0" lang="es-ES">
                <a:solidFill>
                  <a:srgbClr val="FFFFFF"/>
                </a:solidFill>
                <a:latin typeface="Calibri"/>
              </a:rPr>
              <a:t>Exportador EVM: del cronograma al Excel</a:t>
            </a:r>
            <a:endParaRPr lang="es-ES" sz="4000"/>
          </a:p>
        </p:txBody>
      </p:sp>
      <p:sp>
        <p:nvSpPr>
          <p:cNvPr id="3" name="TextBox 2"/>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C9D3E3"/>
                </a:solidFill>
                <a:latin typeface="Calibri"/>
              </a:rPr>
              <a:t>Exportador EVM · Sesión para equipo de proyecto</a:t>
            </a:r>
            <a:endParaRPr lang="es-ES" sz="1000"/>
          </a:p>
        </p:txBody>
      </p:sp>
      <p:sp>
        <p:nvSpPr>
          <p:cNvPr id="4" name="TextBox 3"/>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C9D3E3"/>
                </a:solidFill>
                <a:latin typeface="Calibri"/>
              </a:rPr>
              <a:t>26</a:t>
            </a:fld>
            <a:endParaRPr lang="es-ES" sz="1000"/>
          </a:p>
        </p:txBody>
      </p:sp>
      <p:sp>
        <p:nvSpPr>
          <p:cNvPr id="5" name="TextBox 4"/>
          <p:cNvSpPr txBox="1"/>
          <p:nvPr/>
        </p:nvSpPr>
        <p:spPr>
          <a:xfrm>
            <a:off x="548640" y="1417320"/>
            <a:ext cx="2743200" cy="1188720"/>
          </a:xfrm>
          <a:prstGeom prst="rect">
            <a:avLst/>
          </a:prstGeom>
          <a:noFill/>
        </p:spPr>
        <p:txBody>
          <a:bodyPr wrap="square" lIns="0" rIns="0" tIns="0" bIns="0" anchor="t">
            <a:noAutofit/>
          </a:bodyPr>
          <a:lstStyle/>
          <a:p>
            <a:pPr algn="l"/>
            <a:r>
              <a:rPr sz="7200" b="1" i="0" lang="es-ES">
                <a:solidFill>
                  <a:srgbClr val="F2B134"/>
                </a:solidFill>
                <a:latin typeface="Calibri"/>
              </a:rPr>
              <a:t>03</a:t>
            </a:r>
            <a:endParaRPr lang="es-ES" sz="7200"/>
          </a:p>
        </p:txBody>
      </p:sp>
      <p:sp>
        <p:nvSpPr>
          <p:cNvPr id="6" name="TextBox 5"/>
          <p:cNvSpPr txBox="1"/>
          <p:nvPr/>
        </p:nvSpPr>
        <p:spPr>
          <a:xfrm>
            <a:off x="548640" y="3703320"/>
            <a:ext cx="10058400" cy="548640"/>
          </a:xfrm>
          <a:prstGeom prst="rect">
            <a:avLst/>
          </a:prstGeom>
          <a:noFill/>
        </p:spPr>
        <p:txBody>
          <a:bodyPr wrap="square" lIns="0" rIns="0" tIns="0" bIns="0" anchor="t">
            <a:noAutofit/>
          </a:bodyPr>
          <a:lstStyle/>
          <a:p>
            <a:pPr algn="l"/>
            <a:r>
              <a:rPr sz="2000" b="0" i="0" lang="es-ES">
                <a:solidFill>
                  <a:srgbClr val="C9D3E3"/>
                </a:solidFill>
                <a:latin typeface="Calibri"/>
              </a:rPr>
              <a:t>Validar el cronograma, generar una vez y actualizar cada mes</a:t>
            </a:r>
            <a:endParaRPr lang="es-ES" sz="2000"/>
          </a:p>
        </p:txBody>
      </p:sp>
      <p:sp>
        <p:nvSpPr>
          <p:cNvPr id="7" name="Rounded Rectangle 6"/>
          <p:cNvSpPr/>
          <p:nvPr/>
        </p:nvSpPr>
        <p:spPr>
          <a:xfrm>
            <a:off x="548640" y="4846320"/>
            <a:ext cx="1161288" cy="411480"/>
          </a:xfrm>
          <a:prstGeom prst="roundRect">
            <a:avLst>
              <a:gd name="adj" fmla="val 48888"/>
            </a:avLst>
          </a:prstGeom>
          <a:solidFill>
            <a:srgbClr val="2A3D61"/>
          </a:solidFill>
          <a:ln>
            <a:noFill/>
          </a:ln>
        </p:spPr>
        <p:txBody>
          <a:bodyPr rtlCol="0" anchor="ctr" wrap="square" lIns="0" rIns="0" tIns="0" bIns="0">
            <a:noAutofit/>
          </a:bodyPr>
          <a:lstStyle/>
          <a:p>
            <a:pPr algn="ctr"/>
            <a:r>
              <a:rPr sz="1300" b="0" i="0" lang="es-ES">
                <a:solidFill>
                  <a:srgbClr val="FFFFFF"/>
                </a:solidFill>
                <a:latin typeface="Calibri"/>
              </a:rPr>
              <a:t>Generar</a:t>
            </a:r>
            <a:endParaRPr lang="es-ES" sz="1300"/>
          </a:p>
        </p:txBody>
      </p:sp>
      <p:sp>
        <p:nvSpPr>
          <p:cNvPr id="8" name="Rounded Rectangle 7"/>
          <p:cNvSpPr/>
          <p:nvPr/>
        </p:nvSpPr>
        <p:spPr>
          <a:xfrm>
            <a:off x="1847088" y="4846320"/>
            <a:ext cx="1463040" cy="411480"/>
          </a:xfrm>
          <a:prstGeom prst="roundRect">
            <a:avLst>
              <a:gd name="adj" fmla="val 48888"/>
            </a:avLst>
          </a:prstGeom>
          <a:solidFill>
            <a:srgbClr val="2A3D61"/>
          </a:solidFill>
          <a:ln>
            <a:noFill/>
          </a:ln>
        </p:spPr>
        <p:txBody>
          <a:bodyPr rtlCol="0" anchor="ctr" wrap="square" lIns="0" rIns="0" tIns="0" bIns="0">
            <a:noAutofit/>
          </a:bodyPr>
          <a:lstStyle/>
          <a:p>
            <a:pPr algn="ctr"/>
            <a:r>
              <a:rPr sz="1300" b="0" i="0" lang="es-ES">
                <a:solidFill>
                  <a:srgbClr val="FFFFFF"/>
                </a:solidFill>
                <a:latin typeface="Calibri"/>
              </a:rPr>
              <a:t>Actualizar</a:t>
            </a:r>
            <a:endParaRPr lang="es-ES" sz="1300"/>
          </a:p>
        </p:txBody>
      </p:sp>
      <p:sp>
        <p:nvSpPr>
          <p:cNvPr id="9" name="Rounded Rectangle 8"/>
          <p:cNvSpPr/>
          <p:nvPr/>
        </p:nvSpPr>
        <p:spPr>
          <a:xfrm>
            <a:off x="3447288" y="4846320"/>
            <a:ext cx="1865376" cy="411480"/>
          </a:xfrm>
          <a:prstGeom prst="roundRect">
            <a:avLst>
              <a:gd name="adj" fmla="val 48888"/>
            </a:avLst>
          </a:prstGeom>
          <a:solidFill>
            <a:srgbClr val="2A3D61"/>
          </a:solidFill>
          <a:ln>
            <a:noFill/>
          </a:ln>
        </p:spPr>
        <p:txBody>
          <a:bodyPr rtlCol="0" anchor="ctr" wrap="square" lIns="0" rIns="0" tIns="0" bIns="0">
            <a:noAutofit/>
          </a:bodyPr>
          <a:lstStyle/>
          <a:p>
            <a:pPr algn="ctr"/>
            <a:r>
              <a:rPr sz="1300" b="0" i="0" lang="es-ES">
                <a:solidFill>
                  <a:srgbClr val="FFFFFF"/>
                </a:solidFill>
                <a:latin typeface="Calibri"/>
              </a:rPr>
              <a:t>El libro Excel</a:t>
            </a:r>
            <a:endParaRPr lang="es-ES" sz="130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Cómo funciona: validar, generar y actualizar</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EXPORTADOR EVM</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27</a:t>
            </a:fld>
            <a:endParaRPr lang="es-ES" sz="1000"/>
          </a:p>
        </p:txBody>
      </p:sp>
      <p:sp>
        <p:nvSpPr>
          <p:cNvPr id="6" name="Rounded Rectangle 5"/>
          <p:cNvSpPr/>
          <p:nvPr/>
        </p:nvSpPr>
        <p:spPr>
          <a:xfrm>
            <a:off x="548640" y="1600200"/>
            <a:ext cx="2743200" cy="2651760"/>
          </a:xfrm>
          <a:prstGeom prst="roundRect">
            <a:avLst>
              <a:gd name="adj" fmla="val 4137"/>
            </a:avLst>
          </a:prstGeom>
          <a:solidFill>
            <a:srgbClr val="F3F5F9"/>
          </a:solidFill>
          <a:ln w="12700">
            <a:solidFill>
              <a:srgbClr val="D5DBE5"/>
            </a:solidFill>
          </a:ln>
        </p:spPr>
        <p:txBody>
          <a:bodyPr rtlCol="0" anchor="ctr" wrap="square" lIns="73152" rIns="73152" tIns="73152" bIns="73152">
            <a:noAutofit/>
          </a:bodyPr>
          <a:lstStyle/>
          <a:p>
            <a:pPr algn="ctr"/>
          </a:p>
        </p:txBody>
      </p:sp>
      <p:sp>
        <p:nvSpPr>
          <p:cNvPr id="7" name="TextBox 6"/>
          <p:cNvSpPr txBox="1"/>
          <p:nvPr/>
        </p:nvSpPr>
        <p:spPr>
          <a:xfrm>
            <a:off x="777240" y="1783080"/>
            <a:ext cx="2377440" cy="411480"/>
          </a:xfrm>
          <a:prstGeom prst="rect">
            <a:avLst/>
          </a:prstGeom>
          <a:noFill/>
        </p:spPr>
        <p:txBody>
          <a:bodyPr wrap="square" lIns="0" rIns="0" tIns="0" bIns="0" anchor="t">
            <a:noAutofit/>
          </a:bodyPr>
          <a:lstStyle/>
          <a:p>
            <a:pPr algn="l"/>
            <a:r>
              <a:rPr sz="2200" b="1" i="0" lang="es-ES">
                <a:solidFill>
                  <a:srgbClr val="1B2B48"/>
                </a:solidFill>
                <a:latin typeface="Calibri"/>
              </a:rPr>
              <a:t>MS Project</a:t>
            </a:r>
            <a:endParaRPr lang="es-ES" sz="2200"/>
          </a:p>
        </p:txBody>
      </p:sp>
      <p:sp>
        <p:nvSpPr>
          <p:cNvPr id="8" name="TextBox 7"/>
          <p:cNvSpPr txBox="1"/>
          <p:nvPr/>
        </p:nvSpPr>
        <p:spPr>
          <a:xfrm>
            <a:off x="777240" y="2240280"/>
            <a:ext cx="2377440" cy="320040"/>
          </a:xfrm>
          <a:prstGeom prst="rect">
            <a:avLst/>
          </a:prstGeom>
          <a:noFill/>
        </p:spPr>
        <p:txBody>
          <a:bodyPr wrap="square" lIns="0" rIns="0" tIns="0" bIns="0" anchor="t">
            <a:noAutofit/>
          </a:bodyPr>
          <a:lstStyle/>
          <a:p>
            <a:pPr algn="l"/>
            <a:r>
              <a:rPr sz="1400" b="0" i="0" lang="es-ES">
                <a:solidFill>
                  <a:srgbClr val="5A6577"/>
                </a:solidFill>
                <a:latin typeface="Calibri"/>
              </a:rPr>
              <a:t>.mpp o .xml</a:t>
            </a:r>
            <a:endParaRPr lang="es-ES" sz="1400"/>
          </a:p>
        </p:txBody>
      </p:sp>
      <p:sp>
        <p:nvSpPr>
          <p:cNvPr id="9" name="TextBox 8"/>
          <p:cNvSpPr txBox="1"/>
          <p:nvPr/>
        </p:nvSpPr>
        <p:spPr>
          <a:xfrm>
            <a:off x="777240" y="2697480"/>
            <a:ext cx="2377440" cy="1371600"/>
          </a:xfrm>
          <a:prstGeom prst="rect">
            <a:avLst/>
          </a:prstGeom>
          <a:noFill/>
        </p:spPr>
        <p:txBody>
          <a:bodyPr wrap="square" lIns="0" rIns="0" tIns="0" bIns="0" anchor="t">
            <a:noAutofit/>
          </a:bodyPr>
          <a:lstStyle/>
          <a:p>
            <a:pPr algn="l" marL="201168" indent="-201168">
              <a:spcAft>
                <a:spcPts val="400"/>
              </a:spcAft>
              <a:buFont typeface="Arial"/>
              <a:buChar char="•"/>
            </a:pPr>
            <a:r>
              <a:rPr sz="1400" b="0" i="0" lang="es-ES">
                <a:solidFill>
                  <a:srgbClr val="1B2B48"/>
                </a:solidFill>
                <a:latin typeface="Calibri"/>
              </a:rPr>
              <a:t>EDT y pesos de hitos</a:t>
            </a:r>
            <a:endParaRPr lang="es-ES" sz="1400"/>
          </a:p>
          <a:p>
            <a:pPr algn="l" marL="201168" indent="-201168">
              <a:spcAft>
                <a:spcPts val="400"/>
              </a:spcAft>
              <a:buFont typeface="Arial"/>
              <a:buChar char="•"/>
            </a:pPr>
            <a:r>
              <a:rPr sz="1400" b="0" i="0" lang="es-ES">
                <a:solidFill>
                  <a:srgbClr val="1B2B48"/>
                </a:solidFill>
                <a:latin typeface="Calibri"/>
              </a:rPr>
              <a:t>Línea base (fechas)</a:t>
            </a:r>
            <a:endParaRPr lang="es-ES" sz="1400"/>
          </a:p>
          <a:p>
            <a:pPr algn="l" marL="201168" indent="-201168">
              <a:spcAft>
                <a:spcPts val="400"/>
              </a:spcAft>
              <a:buFont typeface="Arial"/>
              <a:buChar char="•"/>
            </a:pPr>
            <a:r>
              <a:rPr sz="1400" b="0" i="0" lang="es-ES">
                <a:solidFill>
                  <a:srgbClr val="1B2B48"/>
                </a:solidFill>
                <a:latin typeface="Calibri"/>
              </a:rPr>
              <a:t>Avance</a:t>
            </a:r>
            <a:endParaRPr lang="es-ES" sz="1400"/>
          </a:p>
          <a:p>
            <a:pPr algn="l" marL="201168" indent="-201168">
              <a:spcAft>
                <a:spcPts val="400"/>
              </a:spcAft>
              <a:buFont typeface="Arial"/>
              <a:buChar char="•"/>
            </a:pPr>
            <a:r>
              <a:rPr sz="1400" b="0" i="0" lang="es-ES">
                <a:solidFill>
                  <a:srgbClr val="1B2B48"/>
                </a:solidFill>
                <a:latin typeface="Calibri"/>
              </a:rPr>
              <a:t>Fecha de estado</a:t>
            </a:r>
            <a:endParaRPr lang="es-ES" sz="1400"/>
          </a:p>
        </p:txBody>
      </p:sp>
      <p:cxnSp>
        <p:nvCxnSpPr>
          <p:cNvPr id="10" name="Connector 9"/>
          <p:cNvCxnSpPr/>
          <p:nvPr/>
        </p:nvCxnSpPr>
        <p:spPr>
          <a:xfrm>
            <a:off x="3429000" y="2377440"/>
            <a:ext cx="4023360" cy="0"/>
          </a:xfrm>
          <a:prstGeom prst="line">
            <a:avLst/>
          </a:prstGeom>
          <a:ln w="38100">
            <a:solidFill>
              <a:srgbClr val="2F5597"/>
            </a:solidFill>
            <a:tailEnd type="triangle" w="med" len="med"/>
          </a:ln>
        </p:spPr>
      </p:cxnSp>
      <p:cxnSp>
        <p:nvCxnSpPr>
          <p:cNvPr id="11" name="Connector 10"/>
          <p:cNvCxnSpPr/>
          <p:nvPr/>
        </p:nvCxnSpPr>
        <p:spPr>
          <a:xfrm>
            <a:off x="3429000" y="3611880"/>
            <a:ext cx="4023360" cy="0"/>
          </a:xfrm>
          <a:prstGeom prst="line">
            <a:avLst/>
          </a:prstGeom>
          <a:ln w="38100">
            <a:solidFill>
              <a:srgbClr val="4E8A3E"/>
            </a:solidFill>
            <a:tailEnd type="triangle" w="med" len="med"/>
          </a:ln>
        </p:spPr>
      </p:cxnSp>
      <p:sp>
        <p:nvSpPr>
          <p:cNvPr id="12" name="TextBox 11"/>
          <p:cNvSpPr txBox="1"/>
          <p:nvPr/>
        </p:nvSpPr>
        <p:spPr>
          <a:xfrm>
            <a:off x="3657600" y="1691640"/>
            <a:ext cx="3657600" cy="411480"/>
          </a:xfrm>
          <a:prstGeom prst="rect">
            <a:avLst/>
          </a:prstGeom>
          <a:noFill/>
        </p:spPr>
        <p:txBody>
          <a:bodyPr wrap="square" lIns="0" rIns="0" tIns="0" bIns="0" anchor="t">
            <a:noAutofit/>
          </a:bodyPr>
          <a:lstStyle/>
          <a:p>
            <a:pPr algn="ctr"/>
            <a:r>
              <a:rPr sz="2000" b="1" i="0" lang="es-ES">
                <a:solidFill>
                  <a:srgbClr val="2F5597"/>
                </a:solidFill>
                <a:latin typeface="Consolas"/>
              </a:rPr>
              <a:t>generar</a:t>
            </a:r>
            <a:endParaRPr lang="es-ES" sz="2000"/>
          </a:p>
        </p:txBody>
      </p:sp>
      <p:sp>
        <p:nvSpPr>
          <p:cNvPr id="13" name="TextBox 12"/>
          <p:cNvSpPr txBox="1"/>
          <p:nvPr/>
        </p:nvSpPr>
        <p:spPr>
          <a:xfrm>
            <a:off x="3657600" y="2468880"/>
            <a:ext cx="3657600" cy="320040"/>
          </a:xfrm>
          <a:prstGeom prst="rect">
            <a:avLst/>
          </a:prstGeom>
          <a:noFill/>
        </p:spPr>
        <p:txBody>
          <a:bodyPr wrap="square" lIns="0" rIns="0" tIns="0" bIns="0" anchor="t">
            <a:noAutofit/>
          </a:bodyPr>
          <a:lstStyle/>
          <a:p>
            <a:pPr algn="ctr"/>
            <a:r>
              <a:rPr sz="1300" b="0" i="0" lang="es-ES">
                <a:solidFill>
                  <a:srgbClr val="5A6577"/>
                </a:solidFill>
                <a:latin typeface="Calibri"/>
              </a:rPr>
              <a:t>una vez por línea base  ·  % planificado</a:t>
            </a:r>
            <a:endParaRPr lang="es-ES" sz="1300"/>
          </a:p>
        </p:txBody>
      </p:sp>
      <p:sp>
        <p:nvSpPr>
          <p:cNvPr id="14" name="TextBox 13"/>
          <p:cNvSpPr txBox="1"/>
          <p:nvPr/>
        </p:nvSpPr>
        <p:spPr>
          <a:xfrm>
            <a:off x="3657600" y="2926080"/>
            <a:ext cx="3657600" cy="411480"/>
          </a:xfrm>
          <a:prstGeom prst="rect">
            <a:avLst/>
          </a:prstGeom>
          <a:noFill/>
        </p:spPr>
        <p:txBody>
          <a:bodyPr wrap="square" lIns="0" rIns="0" tIns="0" bIns="0" anchor="t">
            <a:noAutofit/>
          </a:bodyPr>
          <a:lstStyle/>
          <a:p>
            <a:pPr algn="ctr"/>
            <a:r>
              <a:rPr sz="2000" b="1" i="0" lang="es-ES">
                <a:solidFill>
                  <a:srgbClr val="4E8A3E"/>
                </a:solidFill>
                <a:latin typeface="Consolas"/>
              </a:rPr>
              <a:t>actualizar</a:t>
            </a:r>
            <a:endParaRPr lang="es-ES" sz="2000"/>
          </a:p>
        </p:txBody>
      </p:sp>
      <p:sp>
        <p:nvSpPr>
          <p:cNvPr id="15" name="TextBox 14"/>
          <p:cNvSpPr txBox="1"/>
          <p:nvPr/>
        </p:nvSpPr>
        <p:spPr>
          <a:xfrm>
            <a:off x="3657600" y="3703320"/>
            <a:ext cx="3657600" cy="320040"/>
          </a:xfrm>
          <a:prstGeom prst="rect">
            <a:avLst/>
          </a:prstGeom>
          <a:noFill/>
        </p:spPr>
        <p:txBody>
          <a:bodyPr wrap="square" lIns="0" rIns="0" tIns="0" bIns="0" anchor="t">
            <a:noAutofit/>
          </a:bodyPr>
          <a:lstStyle/>
          <a:p>
            <a:pPr algn="ctr"/>
            <a:r>
              <a:rPr sz="1300" b="0" i="0" lang="es-ES">
                <a:solidFill>
                  <a:srgbClr val="5A6577"/>
                </a:solidFill>
                <a:latin typeface="Calibri"/>
              </a:rPr>
              <a:t>cada mes  ·  % ganado del mes y desviaciones</a:t>
            </a:r>
            <a:endParaRPr lang="es-ES" sz="1300"/>
          </a:p>
        </p:txBody>
      </p:sp>
      <p:sp>
        <p:nvSpPr>
          <p:cNvPr id="16" name="Rounded Rectangle 15"/>
          <p:cNvSpPr/>
          <p:nvPr/>
        </p:nvSpPr>
        <p:spPr>
          <a:xfrm>
            <a:off x="7589520" y="1600200"/>
            <a:ext cx="4023360" cy="2651760"/>
          </a:xfrm>
          <a:prstGeom prst="roundRect">
            <a:avLst>
              <a:gd name="adj" fmla="val 4137"/>
            </a:avLst>
          </a:prstGeom>
          <a:solidFill>
            <a:srgbClr val="FFFFFF"/>
          </a:solidFill>
          <a:ln w="12700">
            <a:solidFill>
              <a:srgbClr val="D5DBE5"/>
            </a:solidFill>
          </a:ln>
        </p:spPr>
        <p:txBody>
          <a:bodyPr rtlCol="0" anchor="ctr" wrap="square" lIns="73152" rIns="73152" tIns="73152" bIns="73152">
            <a:noAutofit/>
          </a:bodyPr>
          <a:lstStyle/>
          <a:p>
            <a:pPr algn="ctr"/>
          </a:p>
        </p:txBody>
      </p:sp>
      <p:sp>
        <p:nvSpPr>
          <p:cNvPr id="17" name="TextBox 16"/>
          <p:cNvSpPr txBox="1"/>
          <p:nvPr/>
        </p:nvSpPr>
        <p:spPr>
          <a:xfrm>
            <a:off x="7818120" y="1783080"/>
            <a:ext cx="3566160" cy="411480"/>
          </a:xfrm>
          <a:prstGeom prst="rect">
            <a:avLst/>
          </a:prstGeom>
          <a:noFill/>
        </p:spPr>
        <p:txBody>
          <a:bodyPr wrap="square" lIns="0" rIns="0" tIns="0" bIns="0" anchor="t">
            <a:noAutofit/>
          </a:bodyPr>
          <a:lstStyle/>
          <a:p>
            <a:pPr algn="l"/>
            <a:r>
              <a:rPr sz="2200" b="1" i="0" lang="es-ES">
                <a:solidFill>
                  <a:srgbClr val="1B2B48"/>
                </a:solidFill>
                <a:latin typeface="Calibri"/>
              </a:rPr>
              <a:t>Libro Excel</a:t>
            </a:r>
            <a:endParaRPr lang="es-ES" sz="2200"/>
          </a:p>
        </p:txBody>
      </p:sp>
      <p:sp>
        <p:nvSpPr>
          <p:cNvPr id="18" name="Round Same Side Corner Rectangle 17"/>
          <p:cNvSpPr/>
          <p:nvPr/>
        </p:nvSpPr>
        <p:spPr>
          <a:xfrm>
            <a:off x="7818120" y="2331720"/>
            <a:ext cx="685800" cy="384048"/>
          </a:xfrm>
          <a:prstGeom prst="round2SameRect">
            <a:avLst>
              <a:gd name="adj1" fmla="val 19047"/>
              <a:gd name="adj2" fmla="val 0"/>
            </a:avLst>
          </a:prstGeom>
          <a:solidFill>
            <a:srgbClr val="2F5597"/>
          </a:solidFill>
          <a:ln>
            <a:noFill/>
          </a:ln>
        </p:spPr>
        <p:txBody>
          <a:bodyPr rtlCol="0" anchor="ctr" wrap="square" lIns="0" rIns="0" tIns="0" bIns="0">
            <a:noAutofit/>
          </a:bodyPr>
          <a:lstStyle/>
          <a:p>
            <a:pPr algn="ctr"/>
            <a:r>
              <a:rPr sz="1300" b="1" i="0" lang="es-ES">
                <a:solidFill>
                  <a:srgbClr val="FFFFFF"/>
                </a:solidFill>
                <a:latin typeface="Calibri"/>
              </a:rPr>
              <a:t>PV</a:t>
            </a:r>
            <a:endParaRPr lang="es-ES" sz="1300"/>
          </a:p>
        </p:txBody>
      </p:sp>
      <p:sp>
        <p:nvSpPr>
          <p:cNvPr id="19" name="Round Same Side Corner Rectangle 18"/>
          <p:cNvSpPr/>
          <p:nvPr/>
        </p:nvSpPr>
        <p:spPr>
          <a:xfrm>
            <a:off x="8595360" y="2331720"/>
            <a:ext cx="685800" cy="384048"/>
          </a:xfrm>
          <a:prstGeom prst="round2SameRect">
            <a:avLst>
              <a:gd name="adj1" fmla="val 19047"/>
              <a:gd name="adj2" fmla="val 0"/>
            </a:avLst>
          </a:prstGeom>
          <a:solidFill>
            <a:srgbClr val="F2B134"/>
          </a:solidFill>
          <a:ln>
            <a:noFill/>
          </a:ln>
        </p:spPr>
        <p:txBody>
          <a:bodyPr rtlCol="0" anchor="ctr" wrap="square" lIns="0" rIns="0" tIns="0" bIns="0">
            <a:noAutofit/>
          </a:bodyPr>
          <a:lstStyle/>
          <a:p>
            <a:pPr algn="ctr"/>
            <a:r>
              <a:rPr sz="1300" b="1" i="0" lang="es-ES">
                <a:solidFill>
                  <a:srgbClr val="1B2B48"/>
                </a:solidFill>
                <a:latin typeface="Calibri"/>
              </a:rPr>
              <a:t>EV</a:t>
            </a:r>
            <a:endParaRPr lang="es-ES" sz="1300"/>
          </a:p>
        </p:txBody>
      </p:sp>
      <p:sp>
        <p:nvSpPr>
          <p:cNvPr id="20" name="Round Same Side Corner Rectangle 19"/>
          <p:cNvSpPr/>
          <p:nvPr/>
        </p:nvSpPr>
        <p:spPr>
          <a:xfrm>
            <a:off x="9372600" y="2331720"/>
            <a:ext cx="685800" cy="384048"/>
          </a:xfrm>
          <a:prstGeom prst="round2SameRect">
            <a:avLst>
              <a:gd name="adj1" fmla="val 19047"/>
              <a:gd name="adj2" fmla="val 0"/>
            </a:avLst>
          </a:prstGeom>
          <a:solidFill>
            <a:srgbClr val="F2B134"/>
          </a:solidFill>
          <a:ln>
            <a:noFill/>
          </a:ln>
        </p:spPr>
        <p:txBody>
          <a:bodyPr rtlCol="0" anchor="ctr" wrap="square" lIns="0" rIns="0" tIns="0" bIns="0">
            <a:noAutofit/>
          </a:bodyPr>
          <a:lstStyle/>
          <a:p>
            <a:pPr algn="ctr"/>
            <a:r>
              <a:rPr sz="1300" b="1" i="0" lang="es-ES">
                <a:solidFill>
                  <a:srgbClr val="1B2B48"/>
                </a:solidFill>
                <a:latin typeface="Calibri"/>
              </a:rPr>
              <a:t>AC</a:t>
            </a:r>
            <a:endParaRPr lang="es-ES" sz="1300"/>
          </a:p>
        </p:txBody>
      </p:sp>
      <p:sp>
        <p:nvSpPr>
          <p:cNvPr id="21" name="TextBox 20"/>
          <p:cNvSpPr txBox="1"/>
          <p:nvPr/>
        </p:nvSpPr>
        <p:spPr>
          <a:xfrm>
            <a:off x="7818120" y="2834640"/>
            <a:ext cx="3566160" cy="1280160"/>
          </a:xfrm>
          <a:prstGeom prst="rect">
            <a:avLst/>
          </a:prstGeom>
          <a:noFill/>
        </p:spPr>
        <p:txBody>
          <a:bodyPr wrap="square" lIns="0" rIns="0" tIns="0" bIns="0" anchor="t">
            <a:noAutofit/>
          </a:bodyPr>
          <a:lstStyle/>
          <a:p>
            <a:pPr algn="l" marL="201168" indent="-201168">
              <a:spcAft>
                <a:spcPts val="400"/>
              </a:spcAft>
              <a:buFont typeface="Arial"/>
              <a:buChar char="•"/>
            </a:pPr>
            <a:r>
              <a:rPr sz="1400" b="0" i="0" lang="es-ES">
                <a:solidFill>
                  <a:srgbClr val="1B2B48"/>
                </a:solidFill>
                <a:latin typeface="Calibri"/>
              </a:rPr>
              <a:t>Cuadro de Mando con gráficos</a:t>
            </a:r>
            <a:endParaRPr lang="es-ES" sz="1400"/>
          </a:p>
          <a:p>
            <a:pPr algn="l" marL="201168" indent="-201168">
              <a:spcAft>
                <a:spcPts val="400"/>
              </a:spcAft>
              <a:buFont typeface="Arial"/>
              <a:buChar char="•"/>
            </a:pPr>
            <a:r>
              <a:rPr sz="1400" b="0" i="0" lang="es-ES">
                <a:solidFill>
                  <a:srgbClr val="1B2B48"/>
                </a:solidFill>
                <a:latin typeface="Calibri"/>
              </a:rPr>
              <a:t>Resumen e Indicadores EDT</a:t>
            </a:r>
            <a:endParaRPr lang="es-ES" sz="1400"/>
          </a:p>
          <a:p>
            <a:pPr algn="l" marL="201168" indent="-201168">
              <a:spcAft>
                <a:spcPts val="400"/>
              </a:spcAft>
              <a:buFont typeface="Arial"/>
              <a:buChar char="•"/>
            </a:pPr>
            <a:r>
              <a:rPr sz="1400" b="0" i="0" lang="es-ES">
                <a:solidFill>
                  <a:srgbClr val="1B2B48"/>
                </a:solidFill>
                <a:latin typeface="Calibri"/>
              </a:rPr>
              <a:t>Análisis de desviaciones</a:t>
            </a:r>
            <a:endParaRPr lang="es-ES" sz="1400"/>
          </a:p>
          <a:p>
            <a:pPr algn="l" marL="201168" indent="-201168">
              <a:spcAft>
                <a:spcPts val="400"/>
              </a:spcAft>
              <a:buFont typeface="Arial"/>
              <a:buChar char="•"/>
            </a:pPr>
            <a:r>
              <a:rPr sz="1400" b="0" i="0" lang="es-ES">
                <a:solidFill>
                  <a:srgbClr val="1B2B48"/>
                </a:solidFill>
                <a:latin typeface="Calibri"/>
              </a:rPr>
              <a:t>Validación de los datos</a:t>
            </a:r>
            <a:endParaRPr lang="es-ES" sz="1400"/>
          </a:p>
        </p:txBody>
      </p:sp>
      <p:sp>
        <p:nvSpPr>
          <p:cNvPr id="22" name="Rounded Rectangle 21"/>
          <p:cNvSpPr/>
          <p:nvPr/>
        </p:nvSpPr>
        <p:spPr>
          <a:xfrm>
            <a:off x="548640" y="4572000"/>
            <a:ext cx="3566160" cy="960120"/>
          </a:xfrm>
          <a:prstGeom prst="roundRect">
            <a:avLst>
              <a:gd name="adj" fmla="val 11428"/>
            </a:avLst>
          </a:prstGeom>
          <a:solidFill>
            <a:srgbClr val="F3F5F9"/>
          </a:solidFill>
          <a:ln>
            <a:noFill/>
          </a:ln>
        </p:spPr>
        <p:txBody>
          <a:bodyPr rtlCol="0" anchor="ctr" wrap="square" lIns="164592" rIns="164592" tIns="164592" bIns="164592">
            <a:noAutofit/>
          </a:bodyPr>
          <a:lstStyle/>
          <a:p>
            <a:pPr algn="l">
              <a:spcAft>
                <a:spcPts val="200"/>
              </a:spcAft>
            </a:pPr>
            <a:r>
              <a:rPr sz="1500" b="1" i="0" lang="es-ES">
                <a:solidFill>
                  <a:srgbClr val="1B2B48"/>
                </a:solidFill>
                <a:latin typeface="Calibri"/>
              </a:rPr>
              <a:t>Windows: instalador</a:t>
            </a:r>
            <a:endParaRPr lang="es-ES" sz="1300"/>
          </a:p>
          <a:p>
            <a:pPr algn="l"/>
            <a:r>
              <a:rPr sz="1300" b="0" i="0" lang="es-ES">
                <a:solidFill>
                  <a:srgbClr val="5A6577"/>
                </a:solidFill>
                <a:latin typeface="Calibri"/>
              </a:rPr>
              <a:t>Sin Python ni permisos de administrador; o con Python 3.11 o posterior</a:t>
            </a:r>
            <a:endParaRPr lang="es-ES" sz="1300"/>
          </a:p>
        </p:txBody>
      </p:sp>
      <p:sp>
        <p:nvSpPr>
          <p:cNvPr id="23" name="Rounded Rectangle 22"/>
          <p:cNvSpPr/>
          <p:nvPr/>
        </p:nvSpPr>
        <p:spPr>
          <a:xfrm>
            <a:off x="4270248" y="4572000"/>
            <a:ext cx="3566160" cy="960120"/>
          </a:xfrm>
          <a:prstGeom prst="roundRect">
            <a:avLst>
              <a:gd name="adj" fmla="val 11428"/>
            </a:avLst>
          </a:prstGeom>
          <a:solidFill>
            <a:srgbClr val="F3F5F9"/>
          </a:solidFill>
          <a:ln>
            <a:noFill/>
          </a:ln>
        </p:spPr>
        <p:txBody>
          <a:bodyPr rtlCol="0" anchor="ctr" wrap="square" lIns="164592" rIns="164592" tIns="164592" bIns="164592">
            <a:noAutofit/>
          </a:bodyPr>
          <a:lstStyle/>
          <a:p>
            <a:pPr algn="l">
              <a:spcAft>
                <a:spcPts val="200"/>
              </a:spcAft>
            </a:pPr>
            <a:r>
              <a:rPr sz="1500" b="1" i="0" lang="es-ES">
                <a:solidFill>
                  <a:srgbClr val="1B2B48"/>
                </a:solidFill>
                <a:latin typeface="Calibri"/>
              </a:rPr>
              <a:t>Archivos .mpp</a:t>
            </a:r>
            <a:endParaRPr lang="es-ES" sz="1300"/>
          </a:p>
          <a:p>
            <a:pPr algn="l"/>
            <a:r>
              <a:rPr sz="1300" b="0" i="0" lang="es-ES">
                <a:solidFill>
                  <a:srgbClr val="5A6577"/>
                </a:solidFill>
                <a:latin typeface="Calibri"/>
              </a:rPr>
              <a:t>MS Project de escritorio en la misma PC; se abre en solo lectura</a:t>
            </a:r>
            <a:endParaRPr lang="es-ES" sz="1300"/>
          </a:p>
        </p:txBody>
      </p:sp>
      <p:sp>
        <p:nvSpPr>
          <p:cNvPr id="24" name="Rounded Rectangle 23"/>
          <p:cNvSpPr/>
          <p:nvPr/>
        </p:nvSpPr>
        <p:spPr>
          <a:xfrm>
            <a:off x="7991856" y="4572000"/>
            <a:ext cx="3566160" cy="960120"/>
          </a:xfrm>
          <a:prstGeom prst="roundRect">
            <a:avLst>
              <a:gd name="adj" fmla="val 11428"/>
            </a:avLst>
          </a:prstGeom>
          <a:solidFill>
            <a:srgbClr val="F3F5F9"/>
          </a:solidFill>
          <a:ln>
            <a:noFill/>
          </a:ln>
        </p:spPr>
        <p:txBody>
          <a:bodyPr rtlCol="0" anchor="ctr" wrap="square" lIns="164592" rIns="164592" tIns="164592" bIns="164592">
            <a:noAutofit/>
          </a:bodyPr>
          <a:lstStyle/>
          <a:p>
            <a:pPr algn="l">
              <a:spcAft>
                <a:spcPts val="200"/>
              </a:spcAft>
            </a:pPr>
            <a:r>
              <a:rPr sz="1500" b="1" i="0" lang="es-ES">
                <a:solidFill>
                  <a:srgbClr val="1B2B48"/>
                </a:solidFill>
                <a:latin typeface="Calibri"/>
              </a:rPr>
              <a:t>Sin MS Project</a:t>
            </a:r>
            <a:endParaRPr lang="es-ES" sz="1300"/>
          </a:p>
          <a:p>
            <a:pPr algn="l"/>
            <a:r>
              <a:rPr sz="1300" b="0" i="0" lang="es-ES">
                <a:solidFill>
                  <a:srgbClr val="5A6577"/>
                </a:solidFill>
                <a:latin typeface="Calibri"/>
              </a:rPr>
              <a:t>Archivo &gt; Guardar como &gt; XML y usar ese archivo</a:t>
            </a:r>
            <a:endParaRPr lang="es-ES" sz="1300"/>
          </a:p>
        </p:txBody>
      </p:sp>
      <p:sp>
        <p:nvSpPr>
          <p:cNvPr id="25" name="TextBox 24"/>
          <p:cNvSpPr txBox="1"/>
          <p:nvPr/>
        </p:nvSpPr>
        <p:spPr>
          <a:xfrm>
            <a:off x="548640" y="5760720"/>
            <a:ext cx="11064240" cy="365760"/>
          </a:xfrm>
          <a:prstGeom prst="rect">
            <a:avLst/>
          </a:prstGeom>
          <a:noFill/>
        </p:spPr>
        <p:txBody>
          <a:bodyPr wrap="square" lIns="0" rIns="0" tIns="0" bIns="0" anchor="t">
            <a:noAutofit/>
          </a:bodyPr>
          <a:lstStyle/>
          <a:p>
            <a:pPr algn="l"/>
            <a:r>
              <a:rPr sz="1400" b="1" i="0" lang="es-ES">
                <a:solidFill>
                  <a:srgbClr val="1B2B48"/>
                </a:solidFill>
                <a:latin typeface="Consolas"/>
              </a:rPr>
              <a:t>config.toml</a:t>
            </a:r>
            <a:r>
              <a:rPr sz="1400" b="0" i="0" lang="es-ES">
                <a:solidFill>
                  <a:srgbClr val="1B2B48"/>
                </a:solidFill>
                <a:latin typeface="Calibri"/>
              </a:rPr>
              <a:t> indica los campos (Item EDT, Método EVM, Peso hito), la planificación, el semáforo y, si hay varios, los archivos de MS Project</a:t>
            </a:r>
            <a:endParaRPr lang="es-ES" sz="1400"/>
          </a:p>
        </p:txBody>
      </p:sp>
      <p:sp>
        <p:nvSpPr>
          <p:cNvPr id="26" name="validar"/>
          <p:cNvSpPr txBox="1"/>
          <p:nvPr/>
        </p:nvSpPr>
        <p:spPr>
          <a:xfrm>
            <a:off x="777240" y="3703320"/>
            <a:ext cx="2450000" cy="320040"/>
          </a:xfrm>
          <a:prstGeom prst="rect">
            <a:avLst/>
          </a:prstGeom>
          <a:noFill/>
        </p:spPr>
        <p:txBody>
          <a:bodyPr wrap="square" lIns="0" rIns="0">
            <a:spAutoFit/>
          </a:bodyPr>
          <a:lstStyle/>
          <a:p>
            <a:r>
              <a:rPr b="1" sz="1400">
                <a:solidFill>
                  <a:srgbClr val="8A5A00"/>
                </a:solidFill>
                <a:latin typeface="Consolas"/>
              </a:rPr>
              <a:t>validar</a:t>
            </a:r>
            <a:r>
              <a:rPr sz="1200">
                <a:solidFill>
                  <a:srgbClr val="5A6577"/>
                </a:solidFill>
                <a:latin typeface="Calibri"/>
              </a:rPr>
              <a:t>  antes de cada comando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Generar: el libro con el % planificado</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EXPORTADOR EVM</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28</a:t>
            </a:fld>
            <a:endParaRPr lang="es-ES" sz="1000"/>
          </a:p>
        </p:txBody>
      </p:sp>
      <p:sp>
        <p:nvSpPr>
          <p:cNvPr id="6" name="Rounded Rectangle 5"/>
          <p:cNvSpPr/>
          <p:nvPr/>
        </p:nvSpPr>
        <p:spPr>
          <a:xfrm>
            <a:off x="548640" y="1463040"/>
            <a:ext cx="6217920" cy="3291840"/>
          </a:xfrm>
          <a:prstGeom prst="roundRect">
            <a:avLst>
              <a:gd name="adj" fmla="val 2777"/>
            </a:avLst>
          </a:prstGeom>
          <a:solidFill>
            <a:srgbClr val="141E33"/>
          </a:solidFill>
          <a:ln>
            <a:noFill/>
          </a:ln>
        </p:spPr>
        <p:txBody>
          <a:bodyPr rtlCol="0" anchor="ctr" wrap="square" lIns="73152" rIns="73152" tIns="73152" bIns="73152">
            <a:noAutofit/>
          </a:bodyPr>
          <a:lstStyle/>
          <a:p>
            <a:pPr algn="ctr"/>
          </a:p>
        </p:txBody>
      </p:sp>
      <p:sp>
        <p:nvSpPr>
          <p:cNvPr id="7" name="TextBox 6"/>
          <p:cNvSpPr txBox="1"/>
          <p:nvPr/>
        </p:nvSpPr>
        <p:spPr>
          <a:xfrm>
            <a:off x="749808" y="1627632"/>
            <a:ext cx="5852159" cy="3017520"/>
          </a:xfrm>
          <a:prstGeom prst="rect">
            <a:avLst/>
          </a:prstGeom>
          <a:noFill/>
        </p:spPr>
        <p:txBody>
          <a:bodyPr wrap="square" lIns="0" rIns="0" tIns="0" bIns="0" anchor="t">
            <a:noAutofit/>
          </a:bodyPr>
          <a:lstStyle/>
          <a:p>
            <a:pPr algn="l">
              <a:spcAft>
                <a:spcPts val="100"/>
              </a:spcAft>
            </a:pPr>
            <a:r>
              <a:rPr sz="1200" b="0" i="0" lang="es-ES">
                <a:solidFill>
                  <a:srgbClr val="F2B134"/>
                </a:solidFill>
                <a:latin typeface="Consolas"/>
              </a:rPr>
              <a:t>&gt; python evm_export.py generar --origen Programa.mpp</a:t>
            </a:r>
            <a:endParaRPr lang="es-ES" sz="1200"/>
          </a:p>
          <a:p>
            <a:pPr algn="l">
              <a:spcAft>
                <a:spcPts val="100"/>
              </a:spcAft>
            </a:pPr>
            <a:r>
              <a:rPr sz="1200" b="0" i="0" lang="es-ES">
                <a:solidFill>
                  <a:srgbClr val="F2B134"/>
                </a:solidFill>
                <a:latin typeface="Consolas"/>
              </a:rPr>
              <a:t>    --config config.toml --salida EVM_Programa.xlsx</a:t>
            </a:r>
            <a:endParaRPr lang="es-ES" sz="1200"/>
          </a:p>
          <a:p>
            <a:pPr algn="l">
              <a:spcAft>
                <a:spcPts val="100"/>
              </a:spcAft>
            </a:pPr>
            <a:r>
              <a:rPr sz="1200" b="0" i="0" lang="es-ES">
                <a:solidFill>
                  <a:srgbClr val="D7DEE9"/>
                </a:solidFill>
                <a:latin typeface="Consolas"/>
              </a:rPr>
              <a:t>Proyecto: Programa de ejemplo EVM</a:t>
            </a:r>
            <a:endParaRPr lang="es-ES" sz="1200"/>
          </a:p>
          <a:p>
            <a:pPr algn="l">
              <a:spcAft>
                <a:spcPts val="100"/>
              </a:spcAft>
            </a:pPr>
            <a:r>
              <a:rPr sz="1200" b="0" i="0" lang="es-ES">
                <a:solidFill>
                  <a:srgbClr val="D7DEE9"/>
                </a:solidFill>
                <a:latin typeface="Consolas"/>
              </a:rPr>
              <a:t>  Planificación: INTERNO</a:t>
            </a:r>
            <a:endParaRPr lang="es-ES" sz="1200"/>
          </a:p>
          <a:p>
            <a:pPr algn="l">
              <a:spcAft>
                <a:spcPts val="100"/>
              </a:spcAft>
            </a:pPr>
            <a:r>
              <a:rPr sz="1200" b="0" i="0" lang="es-ES">
                <a:solidFill>
                  <a:srgbClr val="D7DEE9"/>
                </a:solidFill>
                <a:latin typeface="Consolas"/>
              </a:rPr>
              <a:t>  Filas EDT: 36 (24 de ingreso)  |  Nivel máximo: 3</a:t>
            </a:r>
            <a:endParaRPr lang="es-ES" sz="1200"/>
          </a:p>
          <a:p>
            <a:pPr algn="l">
              <a:spcAft>
                <a:spcPts val="100"/>
              </a:spcAft>
            </a:pPr>
            <a:r>
              <a:rPr sz="1200" b="0" i="0" lang="es-ES">
                <a:solidFill>
                  <a:srgbClr val="D7DEE9"/>
                </a:solidFill>
                <a:latin typeface="Consolas"/>
              </a:rPr>
              <a:t>  Horizonte: 01/2026 a 12/2035 (120 meses)</a:t>
            </a:r>
            <a:endParaRPr lang="es-ES" sz="1200"/>
          </a:p>
          <a:p>
            <a:pPr algn="l">
              <a:spcAft>
                <a:spcPts val="100"/>
              </a:spcAft>
            </a:pPr>
            <a:r>
              <a:rPr sz="1200" b="0" i="0" lang="es-ES">
                <a:solidFill>
                  <a:srgbClr val="9BD48A"/>
                </a:solidFill>
                <a:latin typeface="Consolas"/>
              </a:rPr>
              <a:t>  BAC: se debe ingresar el BAC de cada fila</a:t>
            </a:r>
            <a:endParaRPr lang="es-ES" sz="1200"/>
          </a:p>
          <a:p>
            <a:pPr algn="l">
              <a:spcAft>
                <a:spcPts val="100"/>
              </a:spcAft>
            </a:pPr>
            <a:r>
              <a:rPr sz="1200" b="0" i="0" lang="es-ES">
                <a:solidFill>
                  <a:srgbClr val="9BD48A"/>
                </a:solidFill>
                <a:latin typeface="Consolas"/>
              </a:rPr>
              <a:t>      en la columna D de PV (celdas amarillas)</a:t>
            </a:r>
            <a:endParaRPr lang="es-ES" sz="1200"/>
          </a:p>
          <a:p>
            <a:pPr algn="l">
              <a:spcAft>
                <a:spcPts val="100"/>
              </a:spcAft>
            </a:pPr>
            <a:r>
              <a:rPr sz="1200" b="0" i="0" lang="es-ES">
                <a:solidFill>
                  <a:srgbClr val="D7DEE9"/>
                </a:solidFill>
                <a:latin typeface="Consolas"/>
              </a:rPr>
              <a:t>  [i] 14 tareas sin código EDT se agregaron en su</a:t>
            </a:r>
            <a:endParaRPr lang="es-ES" sz="1200"/>
          </a:p>
          <a:p>
            <a:pPr algn="l">
              <a:spcAft>
                <a:spcPts val="100"/>
              </a:spcAft>
            </a:pPr>
            <a:r>
              <a:rPr sz="1200" b="0" i="0" lang="es-ES">
                <a:solidFill>
                  <a:srgbClr val="D7DEE9"/>
                </a:solidFill>
                <a:latin typeface="Consolas"/>
              </a:rPr>
              <a:t>      elemento EDT superior</a:t>
            </a:r>
            <a:endParaRPr lang="es-ES" sz="1200"/>
          </a:p>
          <a:p>
            <a:pPr algn="l">
              <a:spcAft>
                <a:spcPts val="100"/>
              </a:spcAft>
            </a:pPr>
            <a:r>
              <a:rPr sz="1200" b="0" i="0" lang="es-ES">
                <a:solidFill>
                  <a:srgbClr val="F5C26B"/>
                </a:solidFill>
                <a:latin typeface="Consolas"/>
              </a:rPr>
              <a:t>  [i] 1 fila sin método de medición definido</a:t>
            </a:r>
            <a:endParaRPr lang="es-ES" sz="1200"/>
          </a:p>
          <a:p>
            <a:pPr algn="l">
              <a:spcAft>
                <a:spcPts val="100"/>
              </a:spcAft>
            </a:pPr>
            <a:r>
              <a:rPr sz="1200" b="0" i="0" lang="es-ES">
                <a:solidFill>
                  <a:srgbClr val="9BD48A"/>
                </a:solidFill>
                <a:latin typeface="Consolas"/>
              </a:rPr>
              <a:t>Libro generado: EVM_Programa.xlsx</a:t>
            </a:r>
            <a:endParaRPr lang="es-ES" sz="1200"/>
          </a:p>
        </p:txBody>
      </p:sp>
      <p:sp>
        <p:nvSpPr>
          <p:cNvPr id="8" name="TextBox 7"/>
          <p:cNvSpPr txBox="1"/>
          <p:nvPr/>
        </p:nvSpPr>
        <p:spPr>
          <a:xfrm>
            <a:off x="548640" y="4937760"/>
            <a:ext cx="2834640" cy="365760"/>
          </a:xfrm>
          <a:prstGeom prst="rect">
            <a:avLst/>
          </a:prstGeom>
          <a:noFill/>
        </p:spPr>
        <p:txBody>
          <a:bodyPr wrap="square" lIns="0" rIns="0" tIns="0" bIns="0" anchor="ctr">
            <a:noAutofit/>
          </a:bodyPr>
          <a:lstStyle/>
          <a:p>
            <a:pPr algn="l"/>
            <a:r>
              <a:rPr sz="1300" b="1" i="0" lang="es-ES">
                <a:solidFill>
                  <a:srgbClr val="2F5597"/>
                </a:solidFill>
                <a:latin typeface="Consolas"/>
              </a:rPr>
              <a:t>--planificacion CLIENTE</a:t>
            </a:r>
            <a:endParaRPr lang="es-ES" sz="1300"/>
          </a:p>
        </p:txBody>
      </p:sp>
      <p:sp>
        <p:nvSpPr>
          <p:cNvPr id="9" name="TextBox 8"/>
          <p:cNvSpPr txBox="1"/>
          <p:nvPr/>
        </p:nvSpPr>
        <p:spPr>
          <a:xfrm>
            <a:off x="3429000" y="4937760"/>
            <a:ext cx="3383280" cy="365760"/>
          </a:xfrm>
          <a:prstGeom prst="rect">
            <a:avLst/>
          </a:prstGeom>
          <a:noFill/>
        </p:spPr>
        <p:txBody>
          <a:bodyPr wrap="square" lIns="0" rIns="0" tIns="0" bIns="0" anchor="ctr">
            <a:noAutofit/>
          </a:bodyPr>
          <a:lstStyle/>
          <a:p>
            <a:pPr algn="l"/>
            <a:r>
              <a:rPr sz="1300" b="0" i="0" lang="es-ES">
                <a:solidFill>
                  <a:srgbClr val="5A6577"/>
                </a:solidFill>
                <a:latin typeface="Calibri"/>
              </a:rPr>
              <a:t>otra planificación del mismo archivo</a:t>
            </a:r>
            <a:endParaRPr lang="es-ES" sz="1300"/>
          </a:p>
        </p:txBody>
      </p:sp>
      <p:sp>
        <p:nvSpPr>
          <p:cNvPr id="10" name="TextBox 9"/>
          <p:cNvSpPr txBox="1"/>
          <p:nvPr/>
        </p:nvSpPr>
        <p:spPr>
          <a:xfrm>
            <a:off x="548640" y="5349240"/>
            <a:ext cx="2834640" cy="365760"/>
          </a:xfrm>
          <a:prstGeom prst="rect">
            <a:avLst/>
          </a:prstGeom>
          <a:noFill/>
        </p:spPr>
        <p:txBody>
          <a:bodyPr wrap="square" lIns="0" rIns="0" tIns="0" bIns="0" anchor="ctr">
            <a:noAutofit/>
          </a:bodyPr>
          <a:lstStyle/>
          <a:p>
            <a:pPr algn="l"/>
            <a:r>
              <a:rPr sz="1300" b="1" i="0" lang="es-ES">
                <a:solidFill>
                  <a:srgbClr val="2F5597"/>
                </a:solidFill>
                <a:latin typeface="Consolas"/>
              </a:rPr>
              <a:t>--origen activo</a:t>
            </a:r>
            <a:endParaRPr lang="es-ES" sz="1300"/>
          </a:p>
        </p:txBody>
      </p:sp>
      <p:sp>
        <p:nvSpPr>
          <p:cNvPr id="11" name="TextBox 10"/>
          <p:cNvSpPr txBox="1"/>
          <p:nvPr/>
        </p:nvSpPr>
        <p:spPr>
          <a:xfrm>
            <a:off x="3429000" y="5349240"/>
            <a:ext cx="3383280" cy="365760"/>
          </a:xfrm>
          <a:prstGeom prst="rect">
            <a:avLst/>
          </a:prstGeom>
          <a:noFill/>
        </p:spPr>
        <p:txBody>
          <a:bodyPr wrap="square" lIns="0" rIns="0" tIns="0" bIns="0" anchor="ctr">
            <a:noAutofit/>
          </a:bodyPr>
          <a:lstStyle/>
          <a:p>
            <a:pPr algn="l"/>
            <a:r>
              <a:rPr sz="1300" b="0" i="0" lang="es-ES">
                <a:solidFill>
                  <a:srgbClr val="5A6577"/>
                </a:solidFill>
                <a:latin typeface="Calibri"/>
              </a:rPr>
              <a:t>el proyecto abierto en MS Project</a:t>
            </a:r>
            <a:endParaRPr lang="es-ES" sz="1300"/>
          </a:p>
        </p:txBody>
      </p:sp>
      <p:sp>
        <p:nvSpPr>
          <p:cNvPr id="12" name="TextBox 11"/>
          <p:cNvSpPr txBox="1"/>
          <p:nvPr/>
        </p:nvSpPr>
        <p:spPr>
          <a:xfrm>
            <a:off x="548640" y="5760720"/>
            <a:ext cx="2834640" cy="365760"/>
          </a:xfrm>
          <a:prstGeom prst="rect">
            <a:avLst/>
          </a:prstGeom>
          <a:noFill/>
        </p:spPr>
        <p:txBody>
          <a:bodyPr wrap="square" lIns="0" rIns="0" tIns="0" bIns="0" anchor="ctr">
            <a:noAutofit/>
          </a:bodyPr>
          <a:lstStyle/>
          <a:p>
            <a:pPr algn="l"/>
            <a:r>
              <a:rPr sz="1300" b="1" i="0" lang="es-ES">
                <a:solidFill>
                  <a:srgbClr val="2F5597"/>
                </a:solidFill>
                <a:latin typeface="Consolas"/>
              </a:rPr>
              <a:t>--migrar-desde libro.xlsx</a:t>
            </a:r>
            <a:endParaRPr lang="es-ES" sz="1300"/>
          </a:p>
        </p:txBody>
      </p:sp>
      <p:sp>
        <p:nvSpPr>
          <p:cNvPr id="13" name="TextBox 12"/>
          <p:cNvSpPr txBox="1"/>
          <p:nvPr/>
        </p:nvSpPr>
        <p:spPr>
          <a:xfrm>
            <a:off x="3429000" y="5760720"/>
            <a:ext cx="3383280" cy="365760"/>
          </a:xfrm>
          <a:prstGeom prst="rect">
            <a:avLst/>
          </a:prstGeom>
          <a:noFill/>
        </p:spPr>
        <p:txBody>
          <a:bodyPr wrap="square" lIns="0" rIns="0" tIns="0" bIns="0" anchor="ctr">
            <a:noAutofit/>
          </a:bodyPr>
          <a:lstStyle/>
          <a:p>
            <a:pPr algn="l"/>
            <a:r>
              <a:rPr sz="1300" b="0" i="0" lang="es-ES">
                <a:solidFill>
                  <a:srgbClr val="5A6577"/>
                </a:solidFill>
                <a:latin typeface="Calibri"/>
              </a:rPr>
              <a:t>nueva línea base conservando el historial</a:t>
            </a:r>
            <a:endParaRPr lang="es-ES" sz="1300"/>
          </a:p>
        </p:txBody>
      </p:sp>
      <p:sp>
        <p:nvSpPr>
          <p:cNvPr id="14" name="TextBox 13"/>
          <p:cNvSpPr txBox="1"/>
          <p:nvPr/>
        </p:nvSpPr>
        <p:spPr>
          <a:xfrm>
            <a:off x="7132320" y="1463040"/>
            <a:ext cx="4480560" cy="365760"/>
          </a:xfrm>
          <a:prstGeom prst="rect">
            <a:avLst/>
          </a:prstGeom>
          <a:noFill/>
        </p:spPr>
        <p:txBody>
          <a:bodyPr wrap="square" lIns="0" rIns="0" tIns="0" bIns="0" anchor="t">
            <a:noAutofit/>
          </a:bodyPr>
          <a:lstStyle/>
          <a:p>
            <a:pPr algn="l"/>
            <a:r>
              <a:rPr sz="1800" b="1" i="0" lang="es-ES">
                <a:solidFill>
                  <a:srgbClr val="1B2B48"/>
                </a:solidFill>
                <a:latin typeface="Calibri"/>
              </a:rPr>
              <a:t>Verificar después de generar</a:t>
            </a:r>
            <a:endParaRPr lang="es-ES" sz="1800"/>
          </a:p>
        </p:txBody>
      </p:sp>
      <p:sp>
        <p:nvSpPr>
          <p:cNvPr id="15" name="Oval 14"/>
          <p:cNvSpPr/>
          <p:nvPr/>
        </p:nvSpPr>
        <p:spPr>
          <a:xfrm>
            <a:off x="7155180" y="2034539"/>
            <a:ext cx="411480" cy="411480"/>
          </a:xfrm>
          <a:prstGeom prst="ellipse">
            <a:avLst/>
          </a:prstGeom>
          <a:solidFill>
            <a:srgbClr val="4E8A3E"/>
          </a:solidFill>
          <a:ln>
            <a:noFill/>
          </a:ln>
        </p:spPr>
        <p:txBody>
          <a:bodyPr rtlCol="0" anchor="ctr" wrap="square" lIns="0" rIns="0" tIns="0" bIns="0">
            <a:noAutofit/>
          </a:bodyPr>
          <a:lstStyle/>
          <a:p>
            <a:pPr algn="ctr"/>
            <a:r>
              <a:rPr sz="1500" b="1" i="0" lang="es-ES">
                <a:solidFill>
                  <a:srgbClr val="FFFFFF"/>
                </a:solidFill>
                <a:latin typeface="Calibri"/>
              </a:rPr>
              <a:t>✓</a:t>
            </a:r>
            <a:endParaRPr lang="es-ES" sz="1500"/>
          </a:p>
        </p:txBody>
      </p:sp>
      <p:sp>
        <p:nvSpPr>
          <p:cNvPr id="16" name="TextBox 15"/>
          <p:cNvSpPr txBox="1"/>
          <p:nvPr/>
        </p:nvSpPr>
        <p:spPr>
          <a:xfrm>
            <a:off x="7726679" y="1965960"/>
            <a:ext cx="3931920" cy="594360"/>
          </a:xfrm>
          <a:prstGeom prst="rect">
            <a:avLst/>
          </a:prstGeom>
          <a:noFill/>
        </p:spPr>
        <p:txBody>
          <a:bodyPr wrap="square" lIns="0" rIns="0" tIns="0" bIns="0" anchor="ctr">
            <a:noAutofit/>
          </a:bodyPr>
          <a:lstStyle/>
          <a:p>
            <a:pPr algn="l"/>
            <a:r>
              <a:rPr sz="1400" b="1" i="0" lang="es-ES">
                <a:solidFill>
                  <a:srgbClr val="1B2B48"/>
                </a:solidFill>
                <a:latin typeface="Calibri"/>
              </a:rPr>
              <a:t>Ingresar el BAC </a:t>
            </a:r>
            <a:r>
              <a:rPr sz="1400" b="0" i="0" lang="es-ES">
                <a:solidFill>
                  <a:srgbClr val="5A6577"/>
                </a:solidFill>
                <a:latin typeface="Calibri"/>
              </a:rPr>
              <a:t>de cada paquete (columna D de PV)</a:t>
            </a:r>
            <a:endParaRPr lang="es-ES" sz="1400"/>
          </a:p>
        </p:txBody>
      </p:sp>
      <p:sp>
        <p:nvSpPr>
          <p:cNvPr id="17" name="Oval 16"/>
          <p:cNvSpPr/>
          <p:nvPr/>
        </p:nvSpPr>
        <p:spPr>
          <a:xfrm>
            <a:off x="7155180" y="2720339"/>
            <a:ext cx="411480" cy="411480"/>
          </a:xfrm>
          <a:prstGeom prst="ellipse">
            <a:avLst/>
          </a:prstGeom>
          <a:solidFill>
            <a:srgbClr val="4E8A3E"/>
          </a:solidFill>
          <a:ln>
            <a:noFill/>
          </a:ln>
        </p:spPr>
        <p:txBody>
          <a:bodyPr rtlCol="0" anchor="ctr" wrap="square" lIns="0" rIns="0" tIns="0" bIns="0">
            <a:noAutofit/>
          </a:bodyPr>
          <a:lstStyle/>
          <a:p>
            <a:pPr algn="ctr"/>
            <a:r>
              <a:rPr sz="1500" b="1" i="0" lang="es-ES">
                <a:solidFill>
                  <a:srgbClr val="FFFFFF"/>
                </a:solidFill>
                <a:latin typeface="Calibri"/>
              </a:rPr>
              <a:t>✓</a:t>
            </a:r>
            <a:endParaRPr lang="es-ES" sz="1500"/>
          </a:p>
        </p:txBody>
      </p:sp>
      <p:sp>
        <p:nvSpPr>
          <p:cNvPr id="18" name="TextBox 17"/>
          <p:cNvSpPr txBox="1"/>
          <p:nvPr/>
        </p:nvSpPr>
        <p:spPr>
          <a:xfrm>
            <a:off x="7726679" y="2651760"/>
            <a:ext cx="3931920" cy="594360"/>
          </a:xfrm>
          <a:prstGeom prst="rect">
            <a:avLst/>
          </a:prstGeom>
          <a:noFill/>
        </p:spPr>
        <p:txBody>
          <a:bodyPr wrap="square" lIns="0" rIns="0" tIns="0" bIns="0" anchor="ctr">
            <a:noAutofit/>
          </a:bodyPr>
          <a:lstStyle/>
          <a:p>
            <a:pPr algn="l"/>
            <a:r>
              <a:rPr sz="1400" b="1" i="0" lang="es-ES">
                <a:solidFill>
                  <a:srgbClr val="1B2B48"/>
                </a:solidFill>
                <a:latin typeface="Calibri"/>
              </a:rPr>
              <a:t>Hoja % PV: </a:t>
            </a:r>
            <a:r>
              <a:rPr sz="1400" b="0" i="0" lang="es-ES">
                <a:solidFill>
                  <a:srgbClr val="5A6577"/>
                </a:solidFill>
                <a:latin typeface="Calibri"/>
              </a:rPr>
              <a:t>cada paquete suma 100 %</a:t>
            </a:r>
            <a:endParaRPr lang="es-ES" sz="1400"/>
          </a:p>
        </p:txBody>
      </p:sp>
      <p:sp>
        <p:nvSpPr>
          <p:cNvPr id="19" name="Oval 18"/>
          <p:cNvSpPr/>
          <p:nvPr/>
        </p:nvSpPr>
        <p:spPr>
          <a:xfrm>
            <a:off x="7155180" y="3406139"/>
            <a:ext cx="411480" cy="411480"/>
          </a:xfrm>
          <a:prstGeom prst="ellipse">
            <a:avLst/>
          </a:prstGeom>
          <a:solidFill>
            <a:srgbClr val="4E8A3E"/>
          </a:solidFill>
          <a:ln>
            <a:noFill/>
          </a:ln>
        </p:spPr>
        <p:txBody>
          <a:bodyPr rtlCol="0" anchor="ctr" wrap="square" lIns="0" rIns="0" tIns="0" bIns="0">
            <a:noAutofit/>
          </a:bodyPr>
          <a:lstStyle/>
          <a:p>
            <a:pPr algn="ctr"/>
            <a:r>
              <a:rPr sz="1500" b="1" i="0" lang="es-ES">
                <a:solidFill>
                  <a:srgbClr val="FFFFFF"/>
                </a:solidFill>
                <a:latin typeface="Calibri"/>
              </a:rPr>
              <a:t>✓</a:t>
            </a:r>
            <a:endParaRPr lang="es-ES" sz="1500"/>
          </a:p>
        </p:txBody>
      </p:sp>
      <p:sp>
        <p:nvSpPr>
          <p:cNvPr id="20" name="TextBox 19"/>
          <p:cNvSpPr txBox="1"/>
          <p:nvPr/>
        </p:nvSpPr>
        <p:spPr>
          <a:xfrm>
            <a:off x="7726679" y="3337560"/>
            <a:ext cx="3931920" cy="594360"/>
          </a:xfrm>
          <a:prstGeom prst="rect">
            <a:avLst/>
          </a:prstGeom>
          <a:noFill/>
        </p:spPr>
        <p:txBody>
          <a:bodyPr wrap="square" lIns="0" rIns="0" tIns="0" bIns="0" anchor="ctr">
            <a:noAutofit/>
          </a:bodyPr>
          <a:lstStyle/>
          <a:p>
            <a:pPr algn="l"/>
            <a:r>
              <a:rPr sz="1400" b="1" i="0" lang="es-ES">
                <a:solidFill>
                  <a:srgbClr val="1B2B48"/>
                </a:solidFill>
                <a:latin typeface="Calibri"/>
              </a:rPr>
              <a:t>Hoja Validación: </a:t>
            </a:r>
            <a:r>
              <a:rPr sz="1400" b="0" i="0" lang="es-ES">
                <a:solidFill>
                  <a:srgbClr val="5A6577"/>
                </a:solidFill>
                <a:latin typeface="Calibri"/>
              </a:rPr>
              <a:t>corregir en MS Project y volver a generar</a:t>
            </a:r>
            <a:endParaRPr lang="es-ES" sz="1400"/>
          </a:p>
        </p:txBody>
      </p:sp>
      <p:sp>
        <p:nvSpPr>
          <p:cNvPr id="21" name="TextBox 20"/>
          <p:cNvSpPr txBox="1"/>
          <p:nvPr/>
        </p:nvSpPr>
        <p:spPr>
          <a:xfrm>
            <a:off x="7132320" y="4160520"/>
            <a:ext cx="4480560" cy="274320"/>
          </a:xfrm>
          <a:prstGeom prst="rect">
            <a:avLst/>
          </a:prstGeom>
          <a:noFill/>
        </p:spPr>
        <p:txBody>
          <a:bodyPr wrap="square" lIns="0" rIns="0" tIns="0" bIns="0" anchor="t">
            <a:noAutofit/>
          </a:bodyPr>
          <a:lstStyle/>
          <a:p>
            <a:pPr algn="l"/>
            <a:r>
              <a:rPr sz="1100" b="1" i="0" lang="es-ES">
                <a:solidFill>
                  <a:srgbClr val="8A5A00"/>
                </a:solidFill>
                <a:latin typeface="Calibri"/>
              </a:rPr>
              <a:t>EJEMPLOS DE AVISOS DE LA HOJA VALIDACIÓN</a:t>
            </a:r>
            <a:endParaRPr lang="es-ES" sz="1100"/>
          </a:p>
        </p:txBody>
      </p:sp>
      <p:sp>
        <p:nvSpPr>
          <p:cNvPr id="22" name="Rounded Rectangle 21"/>
          <p:cNvSpPr/>
          <p:nvPr/>
        </p:nvSpPr>
        <p:spPr>
          <a:xfrm>
            <a:off x="7132320" y="4599432"/>
            <a:ext cx="1143000" cy="329184"/>
          </a:xfrm>
          <a:prstGeom prst="roundRect">
            <a:avLst>
              <a:gd name="adj" fmla="val 50000"/>
            </a:avLst>
          </a:prstGeom>
          <a:solidFill>
            <a:srgbClr val="E5ECF7"/>
          </a:solidFill>
          <a:ln>
            <a:noFill/>
          </a:ln>
        </p:spPr>
        <p:txBody>
          <a:bodyPr rtlCol="0" anchor="ctr" wrap="square" lIns="0" rIns="0" tIns="0" bIns="0">
            <a:noAutofit/>
          </a:bodyPr>
          <a:lstStyle/>
          <a:p>
            <a:pPr algn="ctr"/>
            <a:r>
              <a:rPr sz="1100" b="1" i="0" lang="es-ES">
                <a:solidFill>
                  <a:srgbClr val="2F5597"/>
                </a:solidFill>
                <a:latin typeface="Calibri"/>
              </a:rPr>
              <a:t>Info</a:t>
            </a:r>
            <a:endParaRPr lang="es-ES" sz="1100"/>
          </a:p>
        </p:txBody>
      </p:sp>
      <p:sp>
        <p:nvSpPr>
          <p:cNvPr id="23" name="TextBox 22"/>
          <p:cNvSpPr txBox="1"/>
          <p:nvPr/>
        </p:nvSpPr>
        <p:spPr>
          <a:xfrm>
            <a:off x="8366760" y="4526280"/>
            <a:ext cx="3291840" cy="502920"/>
          </a:xfrm>
          <a:prstGeom prst="rect">
            <a:avLst/>
          </a:prstGeom>
          <a:noFill/>
        </p:spPr>
        <p:txBody>
          <a:bodyPr wrap="square" lIns="0" rIns="0" tIns="0" bIns="0" anchor="ctr">
            <a:noAutofit/>
          </a:bodyPr>
          <a:lstStyle/>
          <a:p>
            <a:pPr algn="l"/>
            <a:r>
              <a:rPr sz="1200" b="0" i="0" lang="es-ES">
                <a:solidFill>
                  <a:srgbClr val="1B2B48"/>
                </a:solidFill>
                <a:latin typeface="Calibri"/>
              </a:rPr>
              <a:t>14 tareas sin código EDT se agregaron en su elemento superior</a:t>
            </a:r>
            <a:endParaRPr lang="es-ES" sz="1200"/>
          </a:p>
        </p:txBody>
      </p:sp>
      <p:sp>
        <p:nvSpPr>
          <p:cNvPr id="24" name="Rounded Rectangle 23"/>
          <p:cNvSpPr/>
          <p:nvPr/>
        </p:nvSpPr>
        <p:spPr>
          <a:xfrm>
            <a:off x="7132320" y="5148072"/>
            <a:ext cx="1143000" cy="329184"/>
          </a:xfrm>
          <a:prstGeom prst="roundRect">
            <a:avLst>
              <a:gd name="adj" fmla="val 50000"/>
            </a:avLst>
          </a:prstGeom>
          <a:solidFill>
            <a:srgbClr val="FFF4D9"/>
          </a:solidFill>
          <a:ln>
            <a:noFill/>
          </a:ln>
        </p:spPr>
        <p:txBody>
          <a:bodyPr rtlCol="0" anchor="ctr" wrap="square" lIns="0" rIns="0" tIns="0" bIns="0">
            <a:noAutofit/>
          </a:bodyPr>
          <a:lstStyle/>
          <a:p>
            <a:pPr algn="ctr"/>
            <a:r>
              <a:rPr sz="1100" b="1" i="0" lang="es-ES">
                <a:solidFill>
                  <a:srgbClr val="8A5A00"/>
                </a:solidFill>
                <a:latin typeface="Calibri"/>
              </a:rPr>
              <a:t>Advertencia</a:t>
            </a:r>
            <a:endParaRPr lang="es-ES" sz="1100"/>
          </a:p>
        </p:txBody>
      </p:sp>
      <p:sp>
        <p:nvSpPr>
          <p:cNvPr id="25" name="TextBox 24"/>
          <p:cNvSpPr txBox="1"/>
          <p:nvPr/>
        </p:nvSpPr>
        <p:spPr>
          <a:xfrm>
            <a:off x="8366760" y="5074920"/>
            <a:ext cx="3291840" cy="502920"/>
          </a:xfrm>
          <a:prstGeom prst="rect">
            <a:avLst/>
          </a:prstGeom>
          <a:noFill/>
        </p:spPr>
        <p:txBody>
          <a:bodyPr wrap="square" lIns="0" rIns="0" tIns="0" bIns="0" anchor="ctr">
            <a:noAutofit/>
          </a:bodyPr>
          <a:lstStyle/>
          <a:p>
            <a:pPr algn="l"/>
            <a:r>
              <a:rPr sz="1200" b="0" i="0" lang="es-ES">
                <a:solidFill>
                  <a:srgbClr val="1B2B48"/>
                </a:solidFill>
                <a:latin typeface="Calibri"/>
              </a:rPr>
              <a:t>Tareas sin fechas de línea base: se usan las actuales</a:t>
            </a:r>
            <a:endParaRPr lang="es-ES" sz="1200"/>
          </a:p>
        </p:txBody>
      </p:sp>
      <p:sp>
        <p:nvSpPr>
          <p:cNvPr id="26" name="Rounded Rectangle 25"/>
          <p:cNvSpPr/>
          <p:nvPr/>
        </p:nvSpPr>
        <p:spPr>
          <a:xfrm>
            <a:off x="7132320" y="5696712"/>
            <a:ext cx="1143000" cy="329184"/>
          </a:xfrm>
          <a:prstGeom prst="roundRect">
            <a:avLst>
              <a:gd name="adj" fmla="val 50000"/>
            </a:avLst>
          </a:prstGeom>
          <a:solidFill>
            <a:srgbClr val="FFF4D9"/>
          </a:solidFill>
          <a:ln>
            <a:noFill/>
          </a:ln>
        </p:spPr>
        <p:txBody>
          <a:bodyPr rtlCol="0" anchor="ctr" wrap="square" lIns="0" rIns="0" tIns="0" bIns="0">
            <a:noAutofit/>
          </a:bodyPr>
          <a:lstStyle/>
          <a:p>
            <a:pPr algn="ctr"/>
            <a:r>
              <a:rPr sz="1100" b="1" i="0" lang="es-ES">
                <a:solidFill>
                  <a:srgbClr val="8A5A00"/>
                </a:solidFill>
                <a:latin typeface="Calibri"/>
              </a:rPr>
              <a:t>Advertencia</a:t>
            </a:r>
            <a:endParaRPr lang="es-ES" sz="1100"/>
          </a:p>
        </p:txBody>
      </p:sp>
      <p:sp>
        <p:nvSpPr>
          <p:cNvPr id="27" name="TextBox 26"/>
          <p:cNvSpPr txBox="1"/>
          <p:nvPr/>
        </p:nvSpPr>
        <p:spPr>
          <a:xfrm>
            <a:off x="8366760" y="5623560"/>
            <a:ext cx="3291840" cy="502920"/>
          </a:xfrm>
          <a:prstGeom prst="rect">
            <a:avLst/>
          </a:prstGeom>
          <a:noFill/>
        </p:spPr>
        <p:txBody>
          <a:bodyPr wrap="square" lIns="0" rIns="0" tIns="0" bIns="0" anchor="ctr">
            <a:noAutofit/>
          </a:bodyPr>
          <a:lstStyle/>
          <a:p>
            <a:pPr algn="l"/>
            <a:r>
              <a:rPr sz="1200" b="0" i="0" lang="es-ES">
                <a:solidFill>
                  <a:srgbClr val="1B2B48"/>
                </a:solidFill>
                <a:latin typeface="Calibri"/>
              </a:rPr>
              <a:t>Pesos de hitos que suman más de 100: se escalan</a:t>
            </a:r>
            <a:endParaRPr lang="es-ES" sz="120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Actualizar: % ganado y EV del mes</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EXPORTADOR EVM</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29</a:t>
            </a:fld>
            <a:endParaRPr lang="es-ES" sz="1000"/>
          </a:p>
        </p:txBody>
      </p:sp>
      <p:sp>
        <p:nvSpPr>
          <p:cNvPr id="6" name="Oval 5"/>
          <p:cNvSpPr/>
          <p:nvPr/>
        </p:nvSpPr>
        <p:spPr>
          <a:xfrm>
            <a:off x="548640" y="1490472"/>
            <a:ext cx="640080" cy="640080"/>
          </a:xfrm>
          <a:prstGeom prst="ellipse">
            <a:avLst/>
          </a:prstGeom>
          <a:solidFill>
            <a:srgbClr val="4E8A3E"/>
          </a:solidFill>
          <a:ln>
            <a:noFill/>
          </a:ln>
        </p:spPr>
        <p:txBody>
          <a:bodyPr rtlCol="0" anchor="ctr" wrap="square" lIns="0" rIns="0" tIns="0" bIns="0">
            <a:noAutofit/>
          </a:bodyPr>
          <a:lstStyle/>
          <a:p>
            <a:pPr algn="ctr"/>
            <a:r>
              <a:rPr sz="2000" b="1" i="0" lang="es-ES">
                <a:solidFill>
                  <a:srgbClr val="FFFFFF"/>
                </a:solidFill>
                <a:latin typeface="Calibri"/>
              </a:rPr>
              <a:t>1</a:t>
            </a:r>
            <a:endParaRPr lang="es-ES" sz="2000"/>
          </a:p>
        </p:txBody>
      </p:sp>
      <p:sp>
        <p:nvSpPr>
          <p:cNvPr id="7" name="TextBox 6"/>
          <p:cNvSpPr txBox="1"/>
          <p:nvPr/>
        </p:nvSpPr>
        <p:spPr>
          <a:xfrm>
            <a:off x="1371600" y="1463040"/>
            <a:ext cx="4023360" cy="365760"/>
          </a:xfrm>
          <a:prstGeom prst="rect">
            <a:avLst/>
          </a:prstGeom>
          <a:noFill/>
        </p:spPr>
        <p:txBody>
          <a:bodyPr wrap="square" lIns="0" rIns="0" tIns="0" bIns="0" anchor="t">
            <a:noAutofit/>
          </a:bodyPr>
          <a:lstStyle/>
          <a:p>
            <a:pPr algn="l"/>
            <a:r>
              <a:rPr sz="1800" b="1" i="0" lang="es-ES">
                <a:solidFill>
                  <a:srgbClr val="1B2B48"/>
                </a:solidFill>
                <a:latin typeface="Calibri"/>
              </a:rPr>
              <a:t>Simular</a:t>
            </a:r>
            <a:endParaRPr lang="es-ES" sz="1800"/>
          </a:p>
        </p:txBody>
      </p:sp>
      <p:sp>
        <p:nvSpPr>
          <p:cNvPr id="8" name="TextBox 7"/>
          <p:cNvSpPr txBox="1"/>
          <p:nvPr/>
        </p:nvSpPr>
        <p:spPr>
          <a:xfrm>
            <a:off x="1371600" y="1828800"/>
            <a:ext cx="4206240" cy="320040"/>
          </a:xfrm>
          <a:prstGeom prst="rect">
            <a:avLst/>
          </a:prstGeom>
          <a:noFill/>
        </p:spPr>
        <p:txBody>
          <a:bodyPr wrap="square" lIns="0" rIns="0" tIns="0" bIns="0" anchor="t">
            <a:noAutofit/>
          </a:bodyPr>
          <a:lstStyle/>
          <a:p>
            <a:pPr algn="l"/>
            <a:r>
              <a:rPr sz="1300" b="1" i="0" lang="es-ES">
                <a:solidFill>
                  <a:srgbClr val="4E8A3E"/>
                </a:solidFill>
                <a:latin typeface="Consolas"/>
              </a:rPr>
              <a:t>actualizar --simular</a:t>
            </a:r>
            <a:endParaRPr lang="es-ES" sz="1300"/>
          </a:p>
        </p:txBody>
      </p:sp>
      <p:sp>
        <p:nvSpPr>
          <p:cNvPr id="9" name="TextBox 8"/>
          <p:cNvSpPr txBox="1"/>
          <p:nvPr/>
        </p:nvSpPr>
        <p:spPr>
          <a:xfrm>
            <a:off x="1371600" y="2148840"/>
            <a:ext cx="4206240" cy="548640"/>
          </a:xfrm>
          <a:prstGeom prst="rect">
            <a:avLst/>
          </a:prstGeom>
          <a:noFill/>
        </p:spPr>
        <p:txBody>
          <a:bodyPr wrap="square" lIns="0" rIns="0" tIns="0" bIns="0" anchor="t">
            <a:noAutofit/>
          </a:bodyPr>
          <a:lstStyle/>
          <a:p>
            <a:pPr algn="l"/>
            <a:r>
              <a:rPr sz="1300" b="0" i="0" lang="es-ES">
                <a:solidFill>
                  <a:srgbClr val="5A6577"/>
                </a:solidFill>
                <a:latin typeface="Calibri"/>
              </a:rPr>
              <a:t>Calcula y muestra; no modifica el libro</a:t>
            </a:r>
            <a:endParaRPr lang="es-ES" sz="1300"/>
          </a:p>
        </p:txBody>
      </p:sp>
      <p:cxnSp>
        <p:nvCxnSpPr>
          <p:cNvPr id="10" name="Connector 9"/>
          <p:cNvCxnSpPr/>
          <p:nvPr/>
        </p:nvCxnSpPr>
        <p:spPr>
          <a:xfrm>
            <a:off x="868680" y="2194560"/>
            <a:ext cx="0" cy="530352"/>
          </a:xfrm>
          <a:prstGeom prst="line">
            <a:avLst/>
          </a:prstGeom>
          <a:ln w="25400">
            <a:solidFill>
              <a:srgbClr val="D5DBE5"/>
            </a:solidFill>
            <a:tailEnd type="triangle" w="med" len="med"/>
          </a:ln>
        </p:spPr>
      </p:cxnSp>
      <p:sp>
        <p:nvSpPr>
          <p:cNvPr id="11" name="Oval 10"/>
          <p:cNvSpPr/>
          <p:nvPr/>
        </p:nvSpPr>
        <p:spPr>
          <a:xfrm>
            <a:off x="548640" y="2816351"/>
            <a:ext cx="640080" cy="640080"/>
          </a:xfrm>
          <a:prstGeom prst="ellipse">
            <a:avLst/>
          </a:prstGeom>
          <a:solidFill>
            <a:srgbClr val="4E8A3E"/>
          </a:solidFill>
          <a:ln>
            <a:noFill/>
          </a:ln>
        </p:spPr>
        <p:txBody>
          <a:bodyPr rtlCol="0" anchor="ctr" wrap="square" lIns="0" rIns="0" tIns="0" bIns="0">
            <a:noAutofit/>
          </a:bodyPr>
          <a:lstStyle/>
          <a:p>
            <a:pPr algn="ctr"/>
            <a:r>
              <a:rPr sz="2000" b="1" i="0" lang="es-ES">
                <a:solidFill>
                  <a:srgbClr val="FFFFFF"/>
                </a:solidFill>
                <a:latin typeface="Calibri"/>
              </a:rPr>
              <a:t>2</a:t>
            </a:r>
            <a:endParaRPr lang="es-ES" sz="2000"/>
          </a:p>
        </p:txBody>
      </p:sp>
      <p:sp>
        <p:nvSpPr>
          <p:cNvPr id="12" name="TextBox 11"/>
          <p:cNvSpPr txBox="1"/>
          <p:nvPr/>
        </p:nvSpPr>
        <p:spPr>
          <a:xfrm>
            <a:off x="1371600" y="2788920"/>
            <a:ext cx="4023360" cy="365760"/>
          </a:xfrm>
          <a:prstGeom prst="rect">
            <a:avLst/>
          </a:prstGeom>
          <a:noFill/>
        </p:spPr>
        <p:txBody>
          <a:bodyPr wrap="square" lIns="0" rIns="0" tIns="0" bIns="0" anchor="t">
            <a:noAutofit/>
          </a:bodyPr>
          <a:lstStyle/>
          <a:p>
            <a:pPr algn="l"/>
            <a:r>
              <a:rPr sz="1800" b="1" i="0" lang="es-ES">
                <a:solidFill>
                  <a:srgbClr val="1B2B48"/>
                </a:solidFill>
                <a:latin typeface="Calibri"/>
              </a:rPr>
              <a:t>Revisar</a:t>
            </a:r>
            <a:endParaRPr lang="es-ES" sz="1800"/>
          </a:p>
        </p:txBody>
      </p:sp>
      <p:sp>
        <p:nvSpPr>
          <p:cNvPr id="13" name="TextBox 12"/>
          <p:cNvSpPr txBox="1"/>
          <p:nvPr/>
        </p:nvSpPr>
        <p:spPr>
          <a:xfrm>
            <a:off x="1371600" y="3154679"/>
            <a:ext cx="4206240" cy="320040"/>
          </a:xfrm>
          <a:prstGeom prst="rect">
            <a:avLst/>
          </a:prstGeom>
          <a:noFill/>
        </p:spPr>
        <p:txBody>
          <a:bodyPr wrap="square" lIns="0" rIns="0" tIns="0" bIns="0" anchor="t">
            <a:noAutofit/>
          </a:bodyPr>
          <a:lstStyle/>
          <a:p>
            <a:pPr algn="l"/>
            <a:r>
              <a:rPr sz="1300" b="1" i="0" lang="es-ES">
                <a:solidFill>
                  <a:srgbClr val="4E8A3E"/>
                </a:solidFill>
                <a:latin typeface="Consolas"/>
              </a:rPr>
              <a:t>observaciones por fila</a:t>
            </a:r>
            <a:endParaRPr lang="es-ES" sz="1300"/>
          </a:p>
        </p:txBody>
      </p:sp>
      <p:sp>
        <p:nvSpPr>
          <p:cNvPr id="14" name="TextBox 13"/>
          <p:cNvSpPr txBox="1"/>
          <p:nvPr/>
        </p:nvSpPr>
        <p:spPr>
          <a:xfrm>
            <a:off x="1371600" y="3474720"/>
            <a:ext cx="4206240" cy="548640"/>
          </a:xfrm>
          <a:prstGeom prst="rect">
            <a:avLst/>
          </a:prstGeom>
          <a:noFill/>
        </p:spPr>
        <p:txBody>
          <a:bodyPr wrap="square" lIns="0" rIns="0" tIns="0" bIns="0" anchor="t">
            <a:noAutofit/>
          </a:bodyPr>
          <a:lstStyle/>
          <a:p>
            <a:pPr algn="l"/>
            <a:r>
              <a:rPr sz="1300" b="0" i="0" lang="es-ES">
                <a:solidFill>
                  <a:srgbClr val="5A6577"/>
                </a:solidFill>
                <a:latin typeface="Calibri"/>
              </a:rPr>
              <a:t>Métodos sin definir, valores del mes negativos, tareas sin fila, filas sin BAC</a:t>
            </a:r>
            <a:endParaRPr lang="es-ES" sz="1300"/>
          </a:p>
        </p:txBody>
      </p:sp>
      <p:cxnSp>
        <p:nvCxnSpPr>
          <p:cNvPr id="15" name="Connector 14"/>
          <p:cNvCxnSpPr/>
          <p:nvPr/>
        </p:nvCxnSpPr>
        <p:spPr>
          <a:xfrm>
            <a:off x="868680" y="3520439"/>
            <a:ext cx="0" cy="530352"/>
          </a:xfrm>
          <a:prstGeom prst="line">
            <a:avLst/>
          </a:prstGeom>
          <a:ln w="25400">
            <a:solidFill>
              <a:srgbClr val="D5DBE5"/>
            </a:solidFill>
            <a:tailEnd type="triangle" w="med" len="med"/>
          </a:ln>
        </p:spPr>
      </p:cxnSp>
      <p:sp>
        <p:nvSpPr>
          <p:cNvPr id="16" name="Oval 15"/>
          <p:cNvSpPr/>
          <p:nvPr/>
        </p:nvSpPr>
        <p:spPr>
          <a:xfrm>
            <a:off x="548640" y="4142232"/>
            <a:ext cx="640080" cy="640080"/>
          </a:xfrm>
          <a:prstGeom prst="ellipse">
            <a:avLst/>
          </a:prstGeom>
          <a:solidFill>
            <a:srgbClr val="4E8A3E"/>
          </a:solidFill>
          <a:ln>
            <a:noFill/>
          </a:ln>
        </p:spPr>
        <p:txBody>
          <a:bodyPr rtlCol="0" anchor="ctr" wrap="square" lIns="0" rIns="0" tIns="0" bIns="0">
            <a:noAutofit/>
          </a:bodyPr>
          <a:lstStyle/>
          <a:p>
            <a:pPr algn="ctr"/>
            <a:r>
              <a:rPr sz="2000" b="1" i="0" lang="es-ES">
                <a:solidFill>
                  <a:srgbClr val="FFFFFF"/>
                </a:solidFill>
                <a:latin typeface="Calibri"/>
              </a:rPr>
              <a:t>3</a:t>
            </a:r>
            <a:endParaRPr lang="es-ES" sz="2000"/>
          </a:p>
        </p:txBody>
      </p:sp>
      <p:sp>
        <p:nvSpPr>
          <p:cNvPr id="17" name="TextBox 16"/>
          <p:cNvSpPr txBox="1"/>
          <p:nvPr/>
        </p:nvSpPr>
        <p:spPr>
          <a:xfrm>
            <a:off x="1371600" y="4114800"/>
            <a:ext cx="4023360" cy="365760"/>
          </a:xfrm>
          <a:prstGeom prst="rect">
            <a:avLst/>
          </a:prstGeom>
          <a:noFill/>
        </p:spPr>
        <p:txBody>
          <a:bodyPr wrap="square" lIns="0" rIns="0" tIns="0" bIns="0" anchor="t">
            <a:noAutofit/>
          </a:bodyPr>
          <a:lstStyle/>
          <a:p>
            <a:pPr algn="l"/>
            <a:r>
              <a:rPr sz="1800" b="1" i="0" lang="es-ES">
                <a:solidFill>
                  <a:srgbClr val="1B2B48"/>
                </a:solidFill>
                <a:latin typeface="Calibri"/>
              </a:rPr>
              <a:t>Actualizar</a:t>
            </a:r>
            <a:endParaRPr lang="es-ES" sz="1800"/>
          </a:p>
        </p:txBody>
      </p:sp>
      <p:sp>
        <p:nvSpPr>
          <p:cNvPr id="18" name="TextBox 17"/>
          <p:cNvSpPr txBox="1"/>
          <p:nvPr/>
        </p:nvSpPr>
        <p:spPr>
          <a:xfrm>
            <a:off x="1371600" y="4480560"/>
            <a:ext cx="4206240" cy="320040"/>
          </a:xfrm>
          <a:prstGeom prst="rect">
            <a:avLst/>
          </a:prstGeom>
          <a:noFill/>
        </p:spPr>
        <p:txBody>
          <a:bodyPr wrap="square" lIns="0" rIns="0" tIns="0" bIns="0" anchor="t">
            <a:noAutofit/>
          </a:bodyPr>
          <a:lstStyle/>
          <a:p>
            <a:pPr algn="l"/>
            <a:r>
              <a:rPr sz="1300" b="1" i="0" lang="es-ES">
                <a:solidFill>
                  <a:srgbClr val="4E8A3E"/>
                </a:solidFill>
                <a:latin typeface="Consolas"/>
              </a:rPr>
              <a:t>actualizar</a:t>
            </a:r>
            <a:endParaRPr lang="es-ES" sz="1300"/>
          </a:p>
        </p:txBody>
      </p:sp>
      <p:sp>
        <p:nvSpPr>
          <p:cNvPr id="19" name="TextBox 18"/>
          <p:cNvSpPr txBox="1"/>
          <p:nvPr/>
        </p:nvSpPr>
        <p:spPr>
          <a:xfrm>
            <a:off x="1371600" y="4800600"/>
            <a:ext cx="4206240" cy="548640"/>
          </a:xfrm>
          <a:prstGeom prst="rect">
            <a:avLst/>
          </a:prstGeom>
          <a:noFill/>
        </p:spPr>
        <p:txBody>
          <a:bodyPr wrap="square" lIns="0" rIns="0" tIns="0" bIns="0" anchor="t">
            <a:noAutofit/>
          </a:bodyPr>
          <a:lstStyle/>
          <a:p>
            <a:pPr algn="l"/>
            <a:r>
              <a:rPr sz="1300" b="0" i="0" lang="es-ES">
                <a:solidFill>
                  <a:srgbClr val="5A6577"/>
                </a:solidFill>
                <a:latin typeface="Calibri"/>
              </a:rPr>
              <a:t>Escribe el % ganado del mes y lista las desviaciones. Luego se carga el AC del ERP y se ejecuta analizar</a:t>
            </a:r>
            <a:endParaRPr lang="es-ES" sz="1300"/>
          </a:p>
        </p:txBody>
      </p:sp>
      <p:sp>
        <p:nvSpPr>
          <p:cNvPr id="20" name="Rounded Rectangle 19"/>
          <p:cNvSpPr/>
          <p:nvPr/>
        </p:nvSpPr>
        <p:spPr>
          <a:xfrm>
            <a:off x="5760720" y="1463040"/>
            <a:ext cx="5852160" cy="3566160"/>
          </a:xfrm>
          <a:prstGeom prst="roundRect">
            <a:avLst>
              <a:gd name="adj" fmla="val 2564"/>
            </a:avLst>
          </a:prstGeom>
          <a:solidFill>
            <a:srgbClr val="141E33"/>
          </a:solidFill>
          <a:ln>
            <a:noFill/>
          </a:ln>
        </p:spPr>
        <p:txBody>
          <a:bodyPr rtlCol="0" anchor="ctr" wrap="square" lIns="73152" rIns="73152" tIns="73152" bIns="73152">
            <a:noAutofit/>
          </a:bodyPr>
          <a:lstStyle/>
          <a:p>
            <a:pPr algn="ctr"/>
          </a:p>
        </p:txBody>
      </p:sp>
      <p:sp>
        <p:nvSpPr>
          <p:cNvPr id="21" name="TextBox 20"/>
          <p:cNvSpPr txBox="1"/>
          <p:nvPr/>
        </p:nvSpPr>
        <p:spPr>
          <a:xfrm>
            <a:off x="5961888" y="1627632"/>
            <a:ext cx="5486400" cy="3291840"/>
          </a:xfrm>
          <a:prstGeom prst="rect">
            <a:avLst/>
          </a:prstGeom>
          <a:noFill/>
        </p:spPr>
        <p:txBody>
          <a:bodyPr wrap="square" lIns="0" rIns="0" tIns="0" bIns="0" anchor="t">
            <a:noAutofit/>
          </a:bodyPr>
          <a:lstStyle/>
          <a:p>
            <a:pPr algn="l">
              <a:spcAft>
                <a:spcPts val="100"/>
              </a:spcAft>
            </a:pPr>
            <a:r>
              <a:rPr sz="1200" b="0" i="0" lang="es-ES">
                <a:solidFill>
                  <a:srgbClr val="F2B134"/>
                </a:solidFill>
                <a:latin typeface="Consolas"/>
              </a:rPr>
              <a:t>&gt; python evm_export.py actualizar --origen Programa.mpp</a:t>
            </a:r>
            <a:endParaRPr lang="es-ES" sz="1200"/>
          </a:p>
          <a:p>
            <a:pPr algn="l">
              <a:spcAft>
                <a:spcPts val="100"/>
              </a:spcAft>
            </a:pPr>
            <a:r>
              <a:rPr sz="1200" b="0" i="0" lang="es-ES">
                <a:solidFill>
                  <a:srgbClr val="F2B134"/>
                </a:solidFill>
                <a:latin typeface="Consolas"/>
              </a:rPr>
              <a:t>    --config config.toml --libro EVM_Programa.xlsx --simular</a:t>
            </a:r>
            <a:endParaRPr lang="es-ES" sz="1200"/>
          </a:p>
          <a:p>
            <a:pPr algn="l">
              <a:spcAft>
                <a:spcPts val="100"/>
              </a:spcAft>
            </a:pPr>
            <a:r>
              <a:rPr sz="1200" b="0" i="0" lang="es-ES">
                <a:solidFill>
                  <a:srgbClr val="D7DEE9"/>
                </a:solidFill>
                <a:latin typeface="Consolas"/>
              </a:rPr>
              <a:t>Fecha de corte: 31/12/2027 (mes 24 del horizonte)</a:t>
            </a:r>
            <a:endParaRPr lang="es-ES" sz="1200"/>
          </a:p>
          <a:p>
            <a:pPr algn="l">
              <a:spcAft>
                <a:spcPts val="100"/>
              </a:spcAft>
            </a:pPr>
            <a:r>
              <a:rPr sz="1200" b="0" i="0" lang="es-ES">
                <a:solidFill>
                  <a:srgbClr val="D7DEE9"/>
                </a:solidFill>
                <a:latin typeface="Consolas"/>
              </a:rPr>
              <a:t>Observaciones por fila:</a:t>
            </a:r>
            <a:endParaRPr lang="es-ES" sz="1200"/>
          </a:p>
          <a:p>
            <a:pPr algn="l">
              <a:spcAft>
                <a:spcPts val="100"/>
              </a:spcAft>
            </a:pPr>
            <a:r>
              <a:rPr sz="1200" b="0" i="0" lang="es-ES">
                <a:solidFill>
                  <a:srgbClr val="F5C26B"/>
                </a:solidFill>
                <a:latin typeface="Consolas"/>
              </a:rPr>
              <a:t>  4.2.2 Cierre administrativo: método no definido:</a:t>
            </a:r>
            <a:endParaRPr lang="es-ES" sz="1200"/>
          </a:p>
          <a:p>
            <a:pPr algn="l">
              <a:spcAft>
                <a:spcPts val="100"/>
              </a:spcAft>
            </a:pPr>
            <a:r>
              <a:rPr sz="1200" b="0" i="0" lang="es-ES">
                <a:solidFill>
                  <a:srgbClr val="F5C26B"/>
                </a:solidFill>
                <a:latin typeface="Consolas"/>
              </a:rPr>
              <a:t>        se usó % completado</a:t>
            </a:r>
            <a:endParaRPr lang="es-ES" sz="1200"/>
          </a:p>
          <a:p>
            <a:pPr algn="l">
              <a:spcAft>
                <a:spcPts val="100"/>
              </a:spcAft>
            </a:pPr>
            <a:r>
              <a:rPr sz="1200" b="0" i="0" lang="es-ES">
                <a:solidFill>
                  <a:srgbClr val="D7DEE9"/>
                </a:solidFill>
                <a:latin typeface="Consolas"/>
              </a:rPr>
              <a:t/>
            </a:r>
            <a:endParaRPr lang="es-ES" sz="1200"/>
          </a:p>
          <a:p>
            <a:pPr algn="l">
              <a:spcAft>
                <a:spcPts val="100"/>
              </a:spcAft>
            </a:pPr>
            <a:r>
              <a:rPr sz="1200" b="0" i="0" lang="es-ES">
                <a:solidFill>
                  <a:srgbClr val="D7DEE9"/>
                </a:solidFill>
                <a:latin typeface="Consolas"/>
              </a:rPr>
              <a:t>BAC (EUR)        44.210.000</a:t>
            </a:r>
            <a:endParaRPr lang="es-ES" sz="1200"/>
          </a:p>
          <a:p>
            <a:pPr algn="l">
              <a:spcAft>
                <a:spcPts val="100"/>
              </a:spcAft>
            </a:pPr>
            <a:r>
              <a:rPr sz="1200" b="0" i="0" lang="es-ES">
                <a:solidFill>
                  <a:srgbClr val="D7DEE9"/>
                </a:solidFill>
                <a:latin typeface="Consolas"/>
              </a:rPr>
              <a:t>PV acumulado     12.092.032   % planificado 27,4 %</a:t>
            </a:r>
            <a:endParaRPr lang="es-ES" sz="1200"/>
          </a:p>
          <a:p>
            <a:pPr algn="l">
              <a:spcAft>
                <a:spcPts val="100"/>
              </a:spcAft>
            </a:pPr>
            <a:r>
              <a:rPr sz="1200" b="0" i="0" lang="es-ES">
                <a:solidFill>
                  <a:srgbClr val="D7DEE9"/>
                </a:solidFill>
                <a:latin typeface="Consolas"/>
              </a:rPr>
              <a:t>EV acumulado     10.190.540   % completado  23,1 %</a:t>
            </a:r>
            <a:endParaRPr lang="es-ES" sz="1200"/>
          </a:p>
          <a:p>
            <a:pPr algn="l">
              <a:spcAft>
                <a:spcPts val="100"/>
              </a:spcAft>
            </a:pPr>
            <a:r>
              <a:rPr sz="1200" b="0" i="0" lang="es-ES">
                <a:solidFill>
                  <a:srgbClr val="D7DEE9"/>
                </a:solidFill>
                <a:latin typeface="Consolas"/>
              </a:rPr>
              <a:t>AC acumulado     13.491.360   % gastado     30,5 %</a:t>
            </a:r>
            <a:endParaRPr lang="es-ES" sz="1200"/>
          </a:p>
          <a:p>
            <a:pPr algn="l">
              <a:spcAft>
                <a:spcPts val="100"/>
              </a:spcAft>
            </a:pPr>
            <a:r>
              <a:rPr sz="1200" b="0" i="0" lang="es-ES">
                <a:solidFill>
                  <a:srgbClr val="F29A8E"/>
                </a:solidFill>
                <a:latin typeface="Consolas"/>
              </a:rPr>
              <a:t>SV = EV - PV     -1.901.492   SPI = 0,84</a:t>
            </a:r>
            <a:endParaRPr lang="es-ES" sz="1200"/>
          </a:p>
          <a:p>
            <a:pPr algn="l">
              <a:spcAft>
                <a:spcPts val="100"/>
              </a:spcAft>
            </a:pPr>
            <a:r>
              <a:rPr sz="1200" b="0" i="0" lang="es-ES">
                <a:solidFill>
                  <a:srgbClr val="F29A8E"/>
                </a:solidFill>
                <a:latin typeface="Consolas"/>
              </a:rPr>
              <a:t>CV = EV - AC     -3.300.820   CPI = 0,76</a:t>
            </a:r>
            <a:endParaRPr lang="es-ES" sz="1200"/>
          </a:p>
          <a:p>
            <a:pPr algn="l">
              <a:spcAft>
                <a:spcPts val="100"/>
              </a:spcAft>
            </a:pPr>
            <a:r>
              <a:rPr sz="1200" b="0" i="0" lang="es-ES">
                <a:solidFill>
                  <a:srgbClr val="D7DEE9"/>
                </a:solidFill>
                <a:latin typeface="Consolas"/>
              </a:rPr>
              <a:t>EAC = BAC/CPI    58.530.071   VAC = -14.320.071</a:t>
            </a:r>
            <a:endParaRPr lang="es-ES" sz="1200"/>
          </a:p>
        </p:txBody>
      </p:sp>
      <p:sp>
        <p:nvSpPr>
          <p:cNvPr id="22" name="Rounded Rectangle 21"/>
          <p:cNvSpPr/>
          <p:nvPr/>
        </p:nvSpPr>
        <p:spPr>
          <a:xfrm>
            <a:off x="548640" y="5532120"/>
            <a:ext cx="11064240" cy="640080"/>
          </a:xfrm>
          <a:prstGeom prst="roundRect">
            <a:avLst>
              <a:gd name="adj" fmla="val 17142"/>
            </a:avLst>
          </a:prstGeom>
          <a:solidFill>
            <a:srgbClr val="F3F5F9"/>
          </a:solidFill>
          <a:ln>
            <a:noFill/>
          </a:ln>
        </p:spPr>
        <p:txBody>
          <a:bodyPr rtlCol="0" anchor="ctr" wrap="square" lIns="201168" rIns="201168" tIns="201168" bIns="201168">
            <a:noAutofit/>
          </a:bodyPr>
          <a:lstStyle/>
          <a:p>
            <a:pPr algn="l"/>
            <a:r>
              <a:rPr sz="1400" b="1" i="0" lang="es-ES">
                <a:solidFill>
                  <a:srgbClr val="1B2B48"/>
                </a:solidFill>
                <a:latin typeface="Calibri"/>
              </a:rPr>
              <a:t>Repetir actualizar para el mismo mes reemplaza el valor: no lo duplica. </a:t>
            </a:r>
            <a:r>
              <a:rPr sz="1400" b="0" i="0" lang="es-ES">
                <a:solidFill>
                  <a:srgbClr val="1B2B48"/>
                </a:solidFill>
                <a:latin typeface="Calibri"/>
              </a:rPr>
              <a:t>El libro se respalda antes de cada cambio.</a:t>
            </a:r>
            <a:endParaRPr lang="es-ES" sz="140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El libro Excel: hojas y reglas de uso</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EXPORTADOR EVM</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30</a:t>
            </a:fld>
            <a:endParaRPr lang="es-ES" sz="1000"/>
          </a:p>
        </p:txBody>
      </p:sp>
      <p:sp>
        <p:nvSpPr>
          <p:cNvPr id="6" name="Round Same Side Corner Rectangle 5"/>
          <p:cNvSpPr/>
          <p:nvPr/>
        </p:nvSpPr>
        <p:spPr>
          <a:xfrm>
            <a:off x="548640" y="1508760"/>
            <a:ext cx="1340819" cy="411480"/>
          </a:xfrm>
          <a:prstGeom prst="round2SameRect">
            <a:avLst>
              <a:gd name="adj1" fmla="val 22222"/>
              <a:gd name="adj2" fmla="val 0"/>
            </a:avLst>
          </a:prstGeom>
          <a:solidFill>
            <a:srgbClr val="1B2B48"/>
          </a:solidFill>
          <a:ln>
            <a:noFill/>
          </a:ln>
        </p:spPr>
        <p:txBody>
          <a:bodyPr rtlCol="0" anchor="ctr" wrap="square" lIns="36576" rIns="36576" tIns="0" bIns="0">
            <a:noAutofit/>
          </a:bodyPr>
          <a:lstStyle/>
          <a:p>
            <a:pPr algn="ctr"/>
            <a:r>
              <a:rPr sz="1100" b="1" i="0" lang="es-ES">
                <a:solidFill>
                  <a:srgbClr val="FFFFFF"/>
                </a:solidFill>
                <a:latin typeface="Calibri"/>
              </a:rPr>
              <a:t>Cuadro de Mando</a:t>
            </a:r>
            <a:endParaRPr lang="es-ES" sz="1200"/>
          </a:p>
        </p:txBody>
      </p:sp>
      <p:sp>
        <p:nvSpPr>
          <p:cNvPr id="7" name="Round Same Side Corner Rectangle 6"/>
          <p:cNvSpPr/>
          <p:nvPr/>
        </p:nvSpPr>
        <p:spPr>
          <a:xfrm>
            <a:off x="1926035" y="1508760"/>
            <a:ext cx="737715" cy="411480"/>
          </a:xfrm>
          <a:prstGeom prst="round2SameRect">
            <a:avLst>
              <a:gd name="adj1" fmla="val 22222"/>
              <a:gd name="adj2" fmla="val 0"/>
            </a:avLst>
          </a:prstGeom>
          <a:solidFill>
            <a:srgbClr val="1B2B48"/>
          </a:solidFill>
          <a:ln>
            <a:noFill/>
          </a:ln>
        </p:spPr>
        <p:txBody>
          <a:bodyPr rtlCol="0" anchor="ctr" wrap="square" lIns="36576" rIns="36576" tIns="0" bIns="0">
            <a:noAutofit/>
          </a:bodyPr>
          <a:lstStyle/>
          <a:p>
            <a:pPr algn="ctr"/>
            <a:r>
              <a:rPr sz="1100" b="1" i="0" lang="es-ES">
                <a:solidFill>
                  <a:srgbClr val="FFFFFF"/>
                </a:solidFill>
                <a:latin typeface="Calibri"/>
              </a:rPr>
              <a:t>Resumen</a:t>
            </a:r>
            <a:endParaRPr lang="es-ES" sz="1200"/>
          </a:p>
        </p:txBody>
      </p:sp>
      <p:sp>
        <p:nvSpPr>
          <p:cNvPr id="8" name="Round Same Side Corner Rectangle 7"/>
          <p:cNvSpPr/>
          <p:nvPr/>
        </p:nvSpPr>
        <p:spPr>
          <a:xfrm>
            <a:off x="2700326" y="1508760"/>
            <a:ext cx="360775" cy="411480"/>
          </a:xfrm>
          <a:prstGeom prst="round2SameRect">
            <a:avLst>
              <a:gd name="adj1" fmla="val 22222"/>
              <a:gd name="adj2" fmla="val 0"/>
            </a:avLst>
          </a:prstGeom>
          <a:solidFill>
            <a:srgbClr val="F2B134"/>
          </a:solidFill>
          <a:ln>
            <a:noFill/>
          </a:ln>
        </p:spPr>
        <p:txBody>
          <a:bodyPr rtlCol="0" anchor="ctr" wrap="square" lIns="36576" rIns="36576" tIns="0" bIns="0">
            <a:noAutofit/>
          </a:bodyPr>
          <a:lstStyle/>
          <a:p>
            <a:pPr algn="ctr"/>
            <a:r>
              <a:rPr sz="1100" b="1" i="0" lang="es-ES">
                <a:solidFill>
                  <a:srgbClr val="1B2B48"/>
                </a:solidFill>
                <a:latin typeface="Calibri"/>
              </a:rPr>
              <a:t>PV</a:t>
            </a:r>
            <a:endParaRPr lang="es-ES" sz="1200"/>
          </a:p>
        </p:txBody>
      </p:sp>
      <p:sp>
        <p:nvSpPr>
          <p:cNvPr id="34" name="Pestaña % PV"/>
          <p:cNvSpPr/>
          <p:nvPr/>
        </p:nvSpPr>
        <p:spPr>
          <a:xfrm>
            <a:off x="3097677" y="1508760"/>
            <a:ext cx="511551" cy="411480"/>
          </a:xfrm>
          <a:prstGeom prst="round2SameRect">
            <a:avLst>
              <a:gd name="adj1" fmla="val 22222"/>
              <a:gd name="adj2" fmla="val 0"/>
            </a:avLst>
          </a:prstGeom>
          <a:solidFill>
            <a:srgbClr val="F2B134"/>
          </a:solidFill>
          <a:ln>
            <a:noFill/>
          </a:ln>
        </p:spPr>
        <p:txBody>
          <a:bodyPr rtlCol="0" anchor="ctr" wrap="square" lIns="36576" rIns="36576" tIns="0" bIns="0">
            <a:noAutofit/>
          </a:bodyPr>
          <a:lstStyle/>
          <a:p>
            <a:pPr algn="ctr"/>
            <a:r>
              <a:rPr sz="1100" b="1" i="0" lang="es-ES">
                <a:solidFill>
                  <a:srgbClr val="1B2B48"/>
                </a:solidFill>
                <a:latin typeface="Calibri"/>
              </a:rPr>
              <a:t>% PV</a:t>
            </a:r>
            <a:endParaRPr lang="es-ES" sz="1200"/>
          </a:p>
        </p:txBody>
      </p:sp>
      <p:sp>
        <p:nvSpPr>
          <p:cNvPr id="9" name="Round Same Side Corner Rectangle 8"/>
          <p:cNvSpPr/>
          <p:nvPr/>
        </p:nvSpPr>
        <p:spPr>
          <a:xfrm>
            <a:off x="3645804" y="1508760"/>
            <a:ext cx="360775" cy="411480"/>
          </a:xfrm>
          <a:prstGeom prst="round2SameRect">
            <a:avLst>
              <a:gd name="adj1" fmla="val 22222"/>
              <a:gd name="adj2" fmla="val 0"/>
            </a:avLst>
          </a:prstGeom>
          <a:solidFill>
            <a:srgbClr val="F2B134"/>
          </a:solidFill>
          <a:ln>
            <a:noFill/>
          </a:ln>
        </p:spPr>
        <p:txBody>
          <a:bodyPr rtlCol="0" anchor="ctr" wrap="square" lIns="36576" rIns="36576" tIns="0" bIns="0">
            <a:noAutofit/>
          </a:bodyPr>
          <a:lstStyle/>
          <a:p>
            <a:pPr algn="ctr"/>
            <a:r>
              <a:rPr sz="1100" b="1" i="0" lang="es-ES">
                <a:solidFill>
                  <a:srgbClr val="1B2B48"/>
                </a:solidFill>
                <a:latin typeface="Calibri"/>
              </a:rPr>
              <a:t>EV</a:t>
            </a:r>
            <a:endParaRPr lang="es-ES" sz="1200"/>
          </a:p>
        </p:txBody>
      </p:sp>
      <p:sp>
        <p:nvSpPr>
          <p:cNvPr id="35" name="Pestaña % EV"/>
          <p:cNvSpPr/>
          <p:nvPr/>
        </p:nvSpPr>
        <p:spPr>
          <a:xfrm>
            <a:off x="4043155" y="1508760"/>
            <a:ext cx="511551" cy="411480"/>
          </a:xfrm>
          <a:prstGeom prst="round2SameRect">
            <a:avLst>
              <a:gd name="adj1" fmla="val 22222"/>
              <a:gd name="adj2" fmla="val 0"/>
            </a:avLst>
          </a:prstGeom>
          <a:solidFill>
            <a:srgbClr val="F2B134"/>
          </a:solidFill>
          <a:ln>
            <a:noFill/>
          </a:ln>
        </p:spPr>
        <p:txBody>
          <a:bodyPr rtlCol="0" anchor="ctr" wrap="square" lIns="36576" rIns="36576" tIns="0" bIns="0">
            <a:noAutofit/>
          </a:bodyPr>
          <a:lstStyle/>
          <a:p>
            <a:pPr algn="ctr"/>
            <a:r>
              <a:rPr sz="1100" b="1" i="0" lang="es-ES">
                <a:solidFill>
                  <a:srgbClr val="1B2B48"/>
                </a:solidFill>
                <a:latin typeface="Calibri"/>
              </a:rPr>
              <a:t>% EV</a:t>
            </a:r>
            <a:endParaRPr lang="es-ES" sz="1200"/>
          </a:p>
        </p:txBody>
      </p:sp>
      <p:sp>
        <p:nvSpPr>
          <p:cNvPr id="10" name="Round Same Side Corner Rectangle 9"/>
          <p:cNvSpPr/>
          <p:nvPr/>
        </p:nvSpPr>
        <p:spPr>
          <a:xfrm>
            <a:off x="4591282" y="1508760"/>
            <a:ext cx="360775" cy="411480"/>
          </a:xfrm>
          <a:prstGeom prst="round2SameRect">
            <a:avLst>
              <a:gd name="adj1" fmla="val 22222"/>
              <a:gd name="adj2" fmla="val 0"/>
            </a:avLst>
          </a:prstGeom>
          <a:solidFill>
            <a:srgbClr val="F2B134"/>
          </a:solidFill>
          <a:ln>
            <a:noFill/>
          </a:ln>
        </p:spPr>
        <p:txBody>
          <a:bodyPr rtlCol="0" anchor="ctr" wrap="square" lIns="36576" rIns="36576" tIns="0" bIns="0">
            <a:noAutofit/>
          </a:bodyPr>
          <a:lstStyle/>
          <a:p>
            <a:pPr algn="ctr"/>
            <a:r>
              <a:rPr sz="1100" b="1" i="0" lang="es-ES">
                <a:solidFill>
                  <a:srgbClr val="1B2B48"/>
                </a:solidFill>
                <a:latin typeface="Calibri"/>
              </a:rPr>
              <a:t>AC</a:t>
            </a:r>
            <a:endParaRPr lang="es-ES" sz="1200"/>
          </a:p>
        </p:txBody>
      </p:sp>
      <p:sp>
        <p:nvSpPr>
          <p:cNvPr id="11" name="Round Same Side Corner Rectangle 10"/>
          <p:cNvSpPr/>
          <p:nvPr/>
        </p:nvSpPr>
        <p:spPr>
          <a:xfrm>
            <a:off x="4988633" y="1508760"/>
            <a:ext cx="1491595" cy="411480"/>
          </a:xfrm>
          <a:prstGeom prst="round2SameRect">
            <a:avLst>
              <a:gd name="adj1" fmla="val 22222"/>
              <a:gd name="adj2" fmla="val 0"/>
            </a:avLst>
          </a:prstGeom>
          <a:solidFill>
            <a:srgbClr val="1B2B48"/>
          </a:solidFill>
          <a:ln>
            <a:noFill/>
          </a:ln>
        </p:spPr>
        <p:txBody>
          <a:bodyPr rtlCol="0" anchor="ctr" wrap="square" lIns="36576" rIns="36576" tIns="0" bIns="0">
            <a:noAutofit/>
          </a:bodyPr>
          <a:lstStyle/>
          <a:p>
            <a:pPr algn="ctr"/>
            <a:r>
              <a:rPr sz="1100" b="1" i="0" lang="es-ES">
                <a:solidFill>
                  <a:srgbClr val="FFFFFF"/>
                </a:solidFill>
                <a:latin typeface="Calibri"/>
              </a:rPr>
              <a:t>Evolución mensual</a:t>
            </a:r>
            <a:endParaRPr lang="es-ES" sz="1200"/>
          </a:p>
        </p:txBody>
      </p:sp>
      <p:sp>
        <p:nvSpPr>
          <p:cNvPr id="12" name="Round Same Side Corner Rectangle 11"/>
          <p:cNvSpPr/>
          <p:nvPr/>
        </p:nvSpPr>
        <p:spPr>
          <a:xfrm>
            <a:off x="6516804" y="1508760"/>
            <a:ext cx="1340819" cy="411480"/>
          </a:xfrm>
          <a:prstGeom prst="round2SameRect">
            <a:avLst>
              <a:gd name="adj1" fmla="val 22222"/>
              <a:gd name="adj2" fmla="val 0"/>
            </a:avLst>
          </a:prstGeom>
          <a:solidFill>
            <a:srgbClr val="1B2B48"/>
          </a:solidFill>
          <a:ln>
            <a:noFill/>
          </a:ln>
        </p:spPr>
        <p:txBody>
          <a:bodyPr rtlCol="0" anchor="ctr" wrap="square" lIns="36576" rIns="36576" tIns="0" bIns="0">
            <a:noAutofit/>
          </a:bodyPr>
          <a:lstStyle/>
          <a:p>
            <a:pPr algn="ctr"/>
            <a:r>
              <a:rPr sz="1100" b="1" i="0" lang="es-ES">
                <a:solidFill>
                  <a:srgbClr val="FFFFFF"/>
                </a:solidFill>
                <a:latin typeface="Calibri"/>
              </a:rPr>
              <a:t>Indicadores EDT</a:t>
            </a:r>
            <a:endParaRPr lang="es-ES" sz="1200"/>
          </a:p>
        </p:txBody>
      </p:sp>
      <p:sp>
        <p:nvSpPr>
          <p:cNvPr id="33" name="Round Same Side Corner Rectangle 11 copia 33"/>
          <p:cNvSpPr/>
          <p:nvPr/>
        </p:nvSpPr>
        <p:spPr>
          <a:xfrm>
            <a:off x="7894199" y="1508760"/>
            <a:ext cx="2019311" cy="411480"/>
          </a:xfrm>
          <a:prstGeom prst="round2SameRect">
            <a:avLst>
              <a:gd name="adj1" fmla="val 22222"/>
              <a:gd name="adj2" fmla="val 0"/>
            </a:avLst>
          </a:prstGeom>
          <a:solidFill>
            <a:srgbClr val="1B2B48"/>
          </a:solidFill>
          <a:ln>
            <a:noFill/>
          </a:ln>
        </p:spPr>
        <p:txBody>
          <a:bodyPr rtlCol="0" anchor="ctr" wrap="square" lIns="36576" rIns="36576" tIns="0" bIns="0">
            <a:noAutofit/>
          </a:bodyPr>
          <a:lstStyle/>
          <a:p>
            <a:pPr algn="ctr"/>
            <a:r>
              <a:rPr sz="1100" b="1" i="0" lang="es-ES">
                <a:solidFill>
                  <a:srgbClr val="FFFFFF"/>
                </a:solidFill>
                <a:latin typeface="Calibri"/>
              </a:rPr>
              <a:t>Análisis de desviaciones</a:t>
            </a:r>
            <a:endParaRPr lang="es-ES" sz="1200"/>
          </a:p>
        </p:txBody>
      </p:sp>
      <p:sp>
        <p:nvSpPr>
          <p:cNvPr id="13" name="Round Same Side Corner Rectangle 12"/>
          <p:cNvSpPr/>
          <p:nvPr/>
        </p:nvSpPr>
        <p:spPr>
          <a:xfrm>
            <a:off x="9950086" y="1508760"/>
            <a:ext cx="963879" cy="411480"/>
          </a:xfrm>
          <a:prstGeom prst="round2SameRect">
            <a:avLst>
              <a:gd name="adj1" fmla="val 22222"/>
              <a:gd name="adj2" fmla="val 0"/>
            </a:avLst>
          </a:prstGeom>
          <a:solidFill>
            <a:srgbClr val="AEB7C6"/>
          </a:solidFill>
          <a:ln>
            <a:noFill/>
          </a:ln>
        </p:spPr>
        <p:txBody>
          <a:bodyPr rtlCol="0" anchor="ctr" wrap="square" lIns="36576" rIns="36576" tIns="0" bIns="0">
            <a:noAutofit/>
          </a:bodyPr>
          <a:lstStyle/>
          <a:p>
            <a:pPr algn="ctr"/>
            <a:r>
              <a:rPr sz="1100" b="1" i="0" lang="es-ES">
                <a:solidFill>
                  <a:srgbClr val="1B2B48"/>
                </a:solidFill>
                <a:latin typeface="Calibri"/>
              </a:rPr>
              <a:t>Validación</a:t>
            </a:r>
            <a:endParaRPr lang="es-ES" sz="1200"/>
          </a:p>
        </p:txBody>
      </p:sp>
      <p:sp>
        <p:nvSpPr>
          <p:cNvPr id="14" name="Round Same Side Corner Rectangle 13"/>
          <p:cNvSpPr/>
          <p:nvPr/>
        </p:nvSpPr>
        <p:spPr>
          <a:xfrm>
            <a:off x="10950541" y="1508760"/>
            <a:ext cx="662338" cy="411480"/>
          </a:xfrm>
          <a:prstGeom prst="round2SameRect">
            <a:avLst>
              <a:gd name="adj1" fmla="val 22222"/>
              <a:gd name="adj2" fmla="val 0"/>
            </a:avLst>
          </a:prstGeom>
          <a:solidFill>
            <a:srgbClr val="AEB7C6"/>
          </a:solidFill>
          <a:ln>
            <a:noFill/>
          </a:ln>
        </p:spPr>
        <p:txBody>
          <a:bodyPr rtlCol="0" anchor="ctr" wrap="square" lIns="36576" rIns="36576" tIns="0" bIns="0">
            <a:noAutofit/>
          </a:bodyPr>
          <a:lstStyle/>
          <a:p>
            <a:pPr algn="ctr"/>
            <a:r>
              <a:rPr sz="1100" b="1" i="0" lang="es-ES">
                <a:solidFill>
                  <a:srgbClr val="1B2B48"/>
                </a:solidFill>
                <a:latin typeface="Calibri"/>
              </a:rPr>
              <a:t>Listas</a:t>
            </a:r>
            <a:endParaRPr lang="es-ES" sz="1200"/>
          </a:p>
        </p:txBody>
      </p:sp>
      <p:sp>
        <p:nvSpPr>
          <p:cNvPr id="15" name="Rounded Rectangle 14"/>
          <p:cNvSpPr/>
          <p:nvPr/>
        </p:nvSpPr>
        <p:spPr>
          <a:xfrm>
            <a:off x="548640" y="2103120"/>
            <a:ext cx="256032" cy="256032"/>
          </a:xfrm>
          <a:prstGeom prst="roundRect">
            <a:avLst>
              <a:gd name="adj" fmla="val 17857"/>
            </a:avLst>
          </a:prstGeom>
          <a:solidFill>
            <a:srgbClr val="1B2B48"/>
          </a:solidFill>
          <a:ln>
            <a:noFill/>
          </a:ln>
        </p:spPr>
        <p:txBody>
          <a:bodyPr rtlCol="0" anchor="ctr" wrap="square" lIns="73152" rIns="73152" tIns="73152" bIns="73152">
            <a:noAutofit/>
          </a:bodyPr>
          <a:lstStyle/>
          <a:p>
            <a:pPr algn="ctr"/>
          </a:p>
        </p:txBody>
      </p:sp>
      <p:sp>
        <p:nvSpPr>
          <p:cNvPr id="16" name="TextBox 15"/>
          <p:cNvSpPr txBox="1"/>
          <p:nvPr/>
        </p:nvSpPr>
        <p:spPr>
          <a:xfrm>
            <a:off x="896112" y="2048256"/>
            <a:ext cx="3108960" cy="365760"/>
          </a:xfrm>
          <a:prstGeom prst="rect">
            <a:avLst/>
          </a:prstGeom>
          <a:noFill/>
        </p:spPr>
        <p:txBody>
          <a:bodyPr wrap="square" lIns="0" rIns="0" tIns="0" bIns="0" anchor="ctr">
            <a:noAutofit/>
          </a:bodyPr>
          <a:lstStyle/>
          <a:p>
            <a:pPr algn="l"/>
            <a:r>
              <a:rPr sz="1300" b="0" i="0" lang="es-ES">
                <a:solidFill>
                  <a:srgbClr val="5A6577"/>
                </a:solidFill>
                <a:latin typeface="Calibri"/>
              </a:rPr>
              <a:t>Resultados con fórmulas</a:t>
            </a:r>
            <a:endParaRPr lang="es-ES" sz="1300"/>
          </a:p>
        </p:txBody>
      </p:sp>
      <p:sp>
        <p:nvSpPr>
          <p:cNvPr id="17" name="Rounded Rectangle 16"/>
          <p:cNvSpPr/>
          <p:nvPr/>
        </p:nvSpPr>
        <p:spPr>
          <a:xfrm>
            <a:off x="3172968" y="2103120"/>
            <a:ext cx="256032" cy="256032"/>
          </a:xfrm>
          <a:prstGeom prst="roundRect">
            <a:avLst>
              <a:gd name="adj" fmla="val 17857"/>
            </a:avLst>
          </a:prstGeom>
          <a:solidFill>
            <a:srgbClr val="F2B134"/>
          </a:solidFill>
          <a:ln>
            <a:noFill/>
          </a:ln>
        </p:spPr>
        <p:txBody>
          <a:bodyPr rtlCol="0" anchor="ctr" wrap="square" lIns="73152" rIns="73152" tIns="73152" bIns="73152">
            <a:noAutofit/>
          </a:bodyPr>
          <a:lstStyle/>
          <a:p>
            <a:pPr algn="ctr"/>
          </a:p>
        </p:txBody>
      </p:sp>
      <p:sp>
        <p:nvSpPr>
          <p:cNvPr id="18" name="TextBox 17"/>
          <p:cNvSpPr txBox="1"/>
          <p:nvPr/>
        </p:nvSpPr>
        <p:spPr>
          <a:xfrm>
            <a:off x="3520439" y="2048256"/>
            <a:ext cx="3108960" cy="365760"/>
          </a:xfrm>
          <a:prstGeom prst="rect">
            <a:avLst/>
          </a:prstGeom>
          <a:noFill/>
        </p:spPr>
        <p:txBody>
          <a:bodyPr wrap="square" lIns="0" rIns="0" tIns="0" bIns="0" anchor="ctr">
            <a:noAutofit/>
          </a:bodyPr>
          <a:lstStyle/>
          <a:p>
            <a:pPr algn="l"/>
            <a:r>
              <a:rPr sz="1300" b="0" i="0" lang="es-ES">
                <a:solidFill>
                  <a:srgbClr val="5A6577"/>
                </a:solidFill>
                <a:latin typeface="Calibri"/>
              </a:rPr>
              <a:t>Datos: BAC y AC a mano; % PV y % EV</a:t>
            </a:r>
            <a:endParaRPr lang="es-ES" sz="1300"/>
          </a:p>
        </p:txBody>
      </p:sp>
      <p:sp>
        <p:nvSpPr>
          <p:cNvPr id="19" name="Rounded Rectangle 18"/>
          <p:cNvSpPr/>
          <p:nvPr/>
        </p:nvSpPr>
        <p:spPr>
          <a:xfrm>
            <a:off x="6208775" y="2103120"/>
            <a:ext cx="256032" cy="256032"/>
          </a:xfrm>
          <a:prstGeom prst="roundRect">
            <a:avLst>
              <a:gd name="adj" fmla="val 17857"/>
            </a:avLst>
          </a:prstGeom>
          <a:solidFill>
            <a:srgbClr val="AEB7C6"/>
          </a:solidFill>
          <a:ln>
            <a:noFill/>
          </a:ln>
        </p:spPr>
        <p:txBody>
          <a:bodyPr rtlCol="0" anchor="ctr" wrap="square" lIns="73152" rIns="73152" tIns="73152" bIns="73152">
            <a:noAutofit/>
          </a:bodyPr>
          <a:lstStyle/>
          <a:p>
            <a:pPr algn="ctr"/>
          </a:p>
        </p:txBody>
      </p:sp>
      <p:sp>
        <p:nvSpPr>
          <p:cNvPr id="20" name="TextBox 19"/>
          <p:cNvSpPr txBox="1"/>
          <p:nvPr/>
        </p:nvSpPr>
        <p:spPr>
          <a:xfrm>
            <a:off x="6556247" y="2048256"/>
            <a:ext cx="3108960" cy="365760"/>
          </a:xfrm>
          <a:prstGeom prst="rect">
            <a:avLst/>
          </a:prstGeom>
          <a:noFill/>
        </p:spPr>
        <p:txBody>
          <a:bodyPr wrap="square" lIns="0" rIns="0" tIns="0" bIns="0" anchor="ctr">
            <a:noAutofit/>
          </a:bodyPr>
          <a:lstStyle/>
          <a:p>
            <a:pPr algn="l"/>
            <a:r>
              <a:rPr sz="1300" b="0" i="0" lang="es-ES">
                <a:solidFill>
                  <a:srgbClr val="5A6577"/>
                </a:solidFill>
                <a:latin typeface="Calibri"/>
              </a:rPr>
              <a:t>Control</a:t>
            </a:r>
            <a:endParaRPr lang="es-ES" sz="1300"/>
          </a:p>
        </p:txBody>
      </p:sp>
      <p:pic>
        <p:nvPicPr>
          <p:cNvPr id="21" name="Picture 20" descr="Hoja AC del libro de ejemplo con las celdas amarillas de ingreso"/>
          <p:cNvPicPr>
            <a:picLocks noChangeAspect="1"/>
          </p:cNvPicPr>
          <p:nvPr/>
        </p:nvPicPr>
        <p:blipFill>
          <a:blip r:embed="rId2"/>
          <a:stretch>
            <a:fillRect/>
          </a:stretch>
        </p:blipFill>
        <p:spPr>
          <a:xfrm>
            <a:off x="548640" y="2606040"/>
            <a:ext cx="6949440" cy="2537097"/>
          </a:xfrm>
          <a:prstGeom prst="rect">
            <a:avLst/>
          </a:prstGeom>
          <a:ln w="9525">
            <a:solidFill>
              <a:srgbClr val="D5DBE5"/>
            </a:solidFill>
          </a:ln>
        </p:spPr>
      </p:pic>
      <p:sp>
        <p:nvSpPr>
          <p:cNvPr id="22" name="TextBox 21"/>
          <p:cNvSpPr txBox="1"/>
          <p:nvPr/>
        </p:nvSpPr>
        <p:spPr>
          <a:xfrm>
            <a:off x="548640" y="5212080"/>
            <a:ext cx="6949440" cy="457200"/>
          </a:xfrm>
          <a:prstGeom prst="rect">
            <a:avLst/>
          </a:prstGeom>
          <a:noFill/>
        </p:spPr>
        <p:txBody>
          <a:bodyPr wrap="square" lIns="0" rIns="0" tIns="0" bIns="0" anchor="t">
            <a:noAutofit/>
          </a:bodyPr>
          <a:lstStyle/>
          <a:p>
            <a:pPr algn="l"/>
            <a:r>
              <a:rPr sz="1200" b="0" i="0" lang="es-ES">
                <a:solidFill>
                  <a:srgbClr val="5A6577"/>
                </a:solidFill>
                <a:latin typeface="Calibri"/>
              </a:rPr>
              <a:t>Hoja AC del ejemplo (extracto): celdas amarillas con el valor de cada mes; filas azules, subtotales.</a:t>
            </a:r>
            <a:endParaRPr lang="es-ES" sz="1200"/>
          </a:p>
        </p:txBody>
      </p:sp>
      <p:sp>
        <p:nvSpPr>
          <p:cNvPr id="23" name="Oval 22"/>
          <p:cNvSpPr/>
          <p:nvPr/>
        </p:nvSpPr>
        <p:spPr>
          <a:xfrm>
            <a:off x="7772400" y="2724911"/>
            <a:ext cx="365760" cy="365760"/>
          </a:xfrm>
          <a:prstGeom prst="ellipse">
            <a:avLst/>
          </a:prstGeom>
          <a:solidFill>
            <a:srgbClr val="F2B134"/>
          </a:solidFill>
          <a:ln>
            <a:noFill/>
          </a:ln>
        </p:spPr>
        <p:txBody>
          <a:bodyPr rtlCol="0" anchor="ctr" wrap="square" lIns="0" rIns="0" tIns="0" bIns="0">
            <a:noAutofit/>
          </a:bodyPr>
          <a:lstStyle/>
          <a:p>
            <a:pPr algn="ctr"/>
            <a:r>
              <a:rPr sz="1300" b="1" i="0" lang="es-ES">
                <a:solidFill>
                  <a:srgbClr val="1B2B48"/>
                </a:solidFill>
                <a:latin typeface="Calibri"/>
              </a:rPr>
              <a:t>1</a:t>
            </a:r>
            <a:endParaRPr lang="es-ES" sz="1300"/>
          </a:p>
        </p:txBody>
      </p:sp>
      <p:sp>
        <p:nvSpPr>
          <p:cNvPr id="24" name="TextBox 23"/>
          <p:cNvSpPr txBox="1"/>
          <p:nvPr/>
        </p:nvSpPr>
        <p:spPr>
          <a:xfrm>
            <a:off x="8275320" y="2651760"/>
            <a:ext cx="3383280" cy="566928"/>
          </a:xfrm>
          <a:prstGeom prst="rect">
            <a:avLst/>
          </a:prstGeom>
          <a:noFill/>
        </p:spPr>
        <p:txBody>
          <a:bodyPr wrap="square" lIns="0" rIns="0" tIns="0" bIns="0" anchor="t">
            <a:noAutofit/>
          </a:bodyPr>
          <a:lstStyle/>
          <a:p>
            <a:pPr algn="l"/>
            <a:r>
              <a:rPr sz="1400" b="1" i="0" lang="es-ES">
                <a:solidFill>
                  <a:srgbClr val="1B2B48"/>
                </a:solidFill>
                <a:latin typeface="Calibri"/>
              </a:rPr>
              <a:t>Celdas amarillas = BAC y AC del mes</a:t>
            </a:r>
            <a:endParaRPr lang="es-ES" sz="1400"/>
          </a:p>
          <a:p>
            <a:pPr algn="l"/>
            <a:r>
              <a:rPr sz="1300" b="0" i="0" lang="es-ES">
                <a:solidFill>
                  <a:srgbClr val="5A6577"/>
                </a:solidFill>
                <a:latin typeface="Calibri"/>
              </a:rPr>
              <a:t>no el acumulado</a:t>
            </a:r>
            <a:endParaRPr lang="es-ES" sz="1400"/>
          </a:p>
        </p:txBody>
      </p:sp>
      <p:sp>
        <p:nvSpPr>
          <p:cNvPr id="25" name="Oval 24"/>
          <p:cNvSpPr/>
          <p:nvPr/>
        </p:nvSpPr>
        <p:spPr>
          <a:xfrm>
            <a:off x="7772400" y="3346704"/>
            <a:ext cx="365760" cy="365760"/>
          </a:xfrm>
          <a:prstGeom prst="ellipse">
            <a:avLst/>
          </a:prstGeom>
          <a:solidFill>
            <a:srgbClr val="1B2B48"/>
          </a:solidFill>
          <a:ln>
            <a:noFill/>
          </a:ln>
        </p:spPr>
        <p:txBody>
          <a:bodyPr rtlCol="0" anchor="ctr" wrap="square" lIns="0" rIns="0" tIns="0" bIns="0">
            <a:noAutofit/>
          </a:bodyPr>
          <a:lstStyle/>
          <a:p>
            <a:pPr algn="ctr"/>
            <a:r>
              <a:rPr sz="1300" b="1" i="0" lang="es-ES">
                <a:solidFill>
                  <a:srgbClr val="FFFFFF"/>
                </a:solidFill>
                <a:latin typeface="Calibri"/>
              </a:rPr>
              <a:t>2</a:t>
            </a:r>
            <a:endParaRPr lang="es-ES" sz="1300"/>
          </a:p>
        </p:txBody>
      </p:sp>
      <p:sp>
        <p:nvSpPr>
          <p:cNvPr id="26" name="TextBox 25"/>
          <p:cNvSpPr txBox="1"/>
          <p:nvPr/>
        </p:nvSpPr>
        <p:spPr>
          <a:xfrm>
            <a:off x="8275320" y="3273552"/>
            <a:ext cx="3383280" cy="566928"/>
          </a:xfrm>
          <a:prstGeom prst="rect">
            <a:avLst/>
          </a:prstGeom>
          <a:noFill/>
        </p:spPr>
        <p:txBody>
          <a:bodyPr wrap="square" lIns="0" rIns="0" tIns="0" bIns="0" anchor="t">
            <a:noAutofit/>
          </a:bodyPr>
          <a:lstStyle/>
          <a:p>
            <a:pPr algn="l"/>
            <a:r>
              <a:rPr sz="1400" b="1" i="0" lang="es-ES">
                <a:solidFill>
                  <a:srgbClr val="1B2B48"/>
                </a:solidFill>
                <a:latin typeface="Calibri"/>
              </a:rPr>
              <a:t>No insertar, borrar ni ordenar</a:t>
            </a:r>
            <a:endParaRPr lang="es-ES" sz="1400"/>
          </a:p>
          <a:p>
            <a:pPr algn="l"/>
            <a:r>
              <a:rPr sz="1300" b="0" i="0" lang="es-ES">
                <a:solidFill>
                  <a:srgbClr val="5A6577"/>
                </a:solidFill>
                <a:latin typeface="Calibri"/>
              </a:rPr>
              <a:t>filas o columnas en las hojas de datos</a:t>
            </a:r>
            <a:endParaRPr lang="es-ES" sz="1400"/>
          </a:p>
        </p:txBody>
      </p:sp>
      <p:sp>
        <p:nvSpPr>
          <p:cNvPr id="27" name="Oval 26"/>
          <p:cNvSpPr/>
          <p:nvPr/>
        </p:nvSpPr>
        <p:spPr>
          <a:xfrm>
            <a:off x="7772400" y="3968496"/>
            <a:ext cx="365760" cy="365760"/>
          </a:xfrm>
          <a:prstGeom prst="ellipse">
            <a:avLst/>
          </a:prstGeom>
          <a:solidFill>
            <a:srgbClr val="1B2B48"/>
          </a:solidFill>
          <a:ln>
            <a:noFill/>
          </a:ln>
        </p:spPr>
        <p:txBody>
          <a:bodyPr rtlCol="0" anchor="ctr" wrap="square" lIns="0" rIns="0" tIns="0" bIns="0">
            <a:noAutofit/>
          </a:bodyPr>
          <a:lstStyle/>
          <a:p>
            <a:pPr algn="ctr"/>
            <a:r>
              <a:rPr sz="1300" b="1" i="0" lang="es-ES">
                <a:solidFill>
                  <a:srgbClr val="FFFFFF"/>
                </a:solidFill>
                <a:latin typeface="Calibri"/>
              </a:rPr>
              <a:t>3</a:t>
            </a:r>
            <a:endParaRPr lang="es-ES" sz="1300"/>
          </a:p>
        </p:txBody>
      </p:sp>
      <p:sp>
        <p:nvSpPr>
          <p:cNvPr id="28" name="TextBox 27"/>
          <p:cNvSpPr txBox="1"/>
          <p:nvPr/>
        </p:nvSpPr>
        <p:spPr>
          <a:xfrm>
            <a:off x="8275320" y="3895344"/>
            <a:ext cx="3383280" cy="566928"/>
          </a:xfrm>
          <a:prstGeom prst="rect">
            <a:avLst/>
          </a:prstGeom>
          <a:noFill/>
        </p:spPr>
        <p:txBody>
          <a:bodyPr wrap="square" lIns="0" rIns="0" tIns="0" bIns="0" anchor="t">
            <a:noAutofit/>
          </a:bodyPr>
          <a:lstStyle/>
          <a:p>
            <a:pPr algn="l"/>
            <a:r>
              <a:rPr sz="1400" b="1" i="0" lang="es-ES">
                <a:solidFill>
                  <a:srgbClr val="1B2B48"/>
                </a:solidFill>
                <a:latin typeface="Calibri"/>
              </a:rPr>
              <a:t>No escribir sobre fórmulas</a:t>
            </a:r>
            <a:endParaRPr lang="es-ES" sz="1400"/>
          </a:p>
          <a:p>
            <a:pPr algn="l"/>
            <a:r>
              <a:rPr sz="1300" b="0" i="0" lang="es-ES">
                <a:solidFill>
                  <a:srgbClr val="5A6577"/>
                </a:solidFill>
                <a:latin typeface="Calibri"/>
              </a:rPr>
              <a:t>subtotales y fila TOTAL</a:t>
            </a:r>
            <a:endParaRPr lang="es-ES" sz="1400"/>
          </a:p>
        </p:txBody>
      </p:sp>
      <p:sp>
        <p:nvSpPr>
          <p:cNvPr id="29" name="Oval 28"/>
          <p:cNvSpPr/>
          <p:nvPr/>
        </p:nvSpPr>
        <p:spPr>
          <a:xfrm>
            <a:off x="7772400" y="4590288"/>
            <a:ext cx="365760" cy="365760"/>
          </a:xfrm>
          <a:prstGeom prst="ellipse">
            <a:avLst/>
          </a:prstGeom>
          <a:solidFill>
            <a:srgbClr val="1B2B48"/>
          </a:solidFill>
          <a:ln>
            <a:noFill/>
          </a:ln>
        </p:spPr>
        <p:txBody>
          <a:bodyPr rtlCol="0" anchor="ctr" wrap="square" lIns="0" rIns="0" tIns="0" bIns="0">
            <a:noAutofit/>
          </a:bodyPr>
          <a:lstStyle/>
          <a:p>
            <a:pPr algn="ctr"/>
            <a:r>
              <a:rPr sz="1300" b="1" i="0" lang="es-ES">
                <a:solidFill>
                  <a:srgbClr val="FFFFFF"/>
                </a:solidFill>
                <a:latin typeface="Calibri"/>
              </a:rPr>
              <a:t>4</a:t>
            </a:r>
            <a:endParaRPr lang="es-ES" sz="1300"/>
          </a:p>
        </p:txBody>
      </p:sp>
      <p:sp>
        <p:nvSpPr>
          <p:cNvPr id="30" name="TextBox 29"/>
          <p:cNvSpPr txBox="1"/>
          <p:nvPr/>
        </p:nvSpPr>
        <p:spPr>
          <a:xfrm>
            <a:off x="8275320" y="4517136"/>
            <a:ext cx="3383280" cy="566928"/>
          </a:xfrm>
          <a:prstGeom prst="rect">
            <a:avLst/>
          </a:prstGeom>
          <a:noFill/>
        </p:spPr>
        <p:txBody>
          <a:bodyPr wrap="square" lIns="0" rIns="0" tIns="0" bIns="0" anchor="t">
            <a:noAutofit/>
          </a:bodyPr>
          <a:lstStyle/>
          <a:p>
            <a:pPr algn="l"/>
            <a:r>
              <a:rPr sz="1400" b="1" i="0" lang="es-ES">
                <a:solidFill>
                  <a:srgbClr val="1B2B48"/>
                </a:solidFill>
                <a:latin typeface="Calibri"/>
              </a:rPr>
              <a:t>Método: en MS Project</a:t>
            </a:r>
            <a:endParaRPr lang="es-ES" sz="1400"/>
          </a:p>
          <a:p>
            <a:pPr algn="l"/>
            <a:r>
              <a:rPr sz="1300" b="0" i="0" lang="es-ES">
                <a:solidFill>
                  <a:srgbClr val="5A6577"/>
                </a:solidFill>
                <a:latin typeface="Calibri"/>
              </a:rPr>
              <a:t>columna C solo para cambios aprobados</a:t>
            </a:r>
            <a:endParaRPr lang="es-ES" sz="1400"/>
          </a:p>
        </p:txBody>
      </p:sp>
      <p:sp>
        <p:nvSpPr>
          <p:cNvPr id="31" name="Oval 30"/>
          <p:cNvSpPr/>
          <p:nvPr/>
        </p:nvSpPr>
        <p:spPr>
          <a:xfrm>
            <a:off x="7772400" y="5212080"/>
            <a:ext cx="365760" cy="365760"/>
          </a:xfrm>
          <a:prstGeom prst="ellipse">
            <a:avLst/>
          </a:prstGeom>
          <a:solidFill>
            <a:srgbClr val="1B2B48"/>
          </a:solidFill>
          <a:ln>
            <a:noFill/>
          </a:ln>
        </p:spPr>
        <p:txBody>
          <a:bodyPr rtlCol="0" anchor="ctr" wrap="square" lIns="0" rIns="0" tIns="0" bIns="0">
            <a:noAutofit/>
          </a:bodyPr>
          <a:lstStyle/>
          <a:p>
            <a:pPr algn="ctr"/>
            <a:r>
              <a:rPr sz="1300" b="1" i="0" lang="es-ES">
                <a:solidFill>
                  <a:srgbClr val="FFFFFF"/>
                </a:solidFill>
                <a:latin typeface="Calibri"/>
              </a:rPr>
              <a:t>5</a:t>
            </a:r>
            <a:endParaRPr lang="es-ES" sz="1300"/>
          </a:p>
        </p:txBody>
      </p:sp>
      <p:sp>
        <p:nvSpPr>
          <p:cNvPr id="32" name="TextBox 31"/>
          <p:cNvSpPr txBox="1"/>
          <p:nvPr/>
        </p:nvSpPr>
        <p:spPr>
          <a:xfrm>
            <a:off x="8275320" y="5138928"/>
            <a:ext cx="3383280" cy="566928"/>
          </a:xfrm>
          <a:prstGeom prst="rect">
            <a:avLst/>
          </a:prstGeom>
          <a:noFill/>
        </p:spPr>
        <p:txBody>
          <a:bodyPr wrap="square" lIns="0" rIns="0" tIns="0" bIns="0" anchor="t">
            <a:noAutofit/>
          </a:bodyPr>
          <a:lstStyle/>
          <a:p>
            <a:pPr algn="l"/>
            <a:r>
              <a:rPr sz="1400" b="1" i="0" lang="es-ES">
                <a:solidFill>
                  <a:srgbClr val="1B2B48"/>
                </a:solidFill>
                <a:latin typeface="Calibri"/>
              </a:rPr>
              <a:t>Archivar el libro</a:t>
            </a:r>
            <a:endParaRPr lang="es-ES" sz="1400"/>
          </a:p>
          <a:p>
            <a:pPr algn="l"/>
            <a:r>
              <a:rPr sz="1300" b="0" i="0" lang="es-ES">
                <a:solidFill>
                  <a:srgbClr val="5A6577"/>
                </a:solidFill>
                <a:latin typeface="Calibri"/>
              </a:rPr>
              <a:t>de cada informe emitido</a:t>
            </a:r>
            <a:endParaRPr lang="es-ES" sz="140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B2B48"/>
        </a:solidFill>
        <a:effectLst/>
      </p:bgPr>
    </p:bg>
    <p:spTree>
      <p:nvGrpSpPr>
        <p:cNvPr id="1" name=""/>
        <p:cNvGrpSpPr/>
        <p:nvPr/>
      </p:nvGrpSpPr>
      <p:grpSpPr/>
      <p:sp>
        <p:nvSpPr>
          <p:cNvPr id="2" name="Title 1"/>
          <p:cNvSpPr>
            <a:spLocks noGrp="1"/>
          </p:cNvSpPr>
          <p:nvPr>
            <p:ph type="title"/>
          </p:nvPr>
        </p:nvSpPr>
        <p:spPr>
          <a:xfrm>
            <a:off x="548640" y="2743200"/>
            <a:ext cx="11064240" cy="914400"/>
          </a:xfrm>
        </p:spPr>
        <p:txBody>
          <a:bodyPr wrap="square" lIns="0" rIns="0" tIns="0" bIns="0" anchor="t">
            <a:noAutofit/>
          </a:bodyPr>
          <a:lstStyle/>
          <a:p>
            <a:pPr algn="l"/>
            <a:r>
              <a:rPr sz="4000" b="1" i="0" lang="es-ES">
                <a:solidFill>
                  <a:srgbClr val="FFFFFF"/>
                </a:solidFill>
                <a:latin typeface="Calibri"/>
              </a:rPr>
              <a:t>Interpretar y actuar</a:t>
            </a:r>
            <a:endParaRPr lang="es-ES" sz="4000"/>
          </a:p>
        </p:txBody>
      </p:sp>
      <p:sp>
        <p:nvSpPr>
          <p:cNvPr id="3" name="TextBox 2"/>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C9D3E3"/>
                </a:solidFill>
                <a:latin typeface="Calibri"/>
              </a:rPr>
              <a:t>Exportador EVM · Sesión para equipo de proyecto</a:t>
            </a:r>
            <a:endParaRPr lang="es-ES" sz="1000"/>
          </a:p>
        </p:txBody>
      </p:sp>
      <p:sp>
        <p:nvSpPr>
          <p:cNvPr id="4" name="TextBox 3"/>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C9D3E3"/>
                </a:solidFill>
                <a:latin typeface="Calibri"/>
              </a:rPr>
              <a:t>31</a:t>
            </a:fld>
            <a:endParaRPr lang="es-ES" sz="1000"/>
          </a:p>
        </p:txBody>
      </p:sp>
      <p:sp>
        <p:nvSpPr>
          <p:cNvPr id="5" name="TextBox 4"/>
          <p:cNvSpPr txBox="1"/>
          <p:nvPr/>
        </p:nvSpPr>
        <p:spPr>
          <a:xfrm>
            <a:off x="548640" y="1417320"/>
            <a:ext cx="2743200" cy="1188720"/>
          </a:xfrm>
          <a:prstGeom prst="rect">
            <a:avLst/>
          </a:prstGeom>
          <a:noFill/>
        </p:spPr>
        <p:txBody>
          <a:bodyPr wrap="square" lIns="0" rIns="0" tIns="0" bIns="0" anchor="t">
            <a:noAutofit/>
          </a:bodyPr>
          <a:lstStyle/>
          <a:p>
            <a:pPr algn="l"/>
            <a:r>
              <a:rPr sz="7200" b="1" i="0" lang="es-ES">
                <a:solidFill>
                  <a:srgbClr val="F2B134"/>
                </a:solidFill>
                <a:latin typeface="Calibri"/>
              </a:rPr>
              <a:t>04</a:t>
            </a:r>
            <a:endParaRPr lang="es-ES" sz="7200"/>
          </a:p>
        </p:txBody>
      </p:sp>
      <p:sp>
        <p:nvSpPr>
          <p:cNvPr id="6" name="TextBox 5"/>
          <p:cNvSpPr txBox="1"/>
          <p:nvPr/>
        </p:nvSpPr>
        <p:spPr>
          <a:xfrm>
            <a:off x="548640" y="3703320"/>
            <a:ext cx="10058400" cy="548640"/>
          </a:xfrm>
          <a:prstGeom prst="rect">
            <a:avLst/>
          </a:prstGeom>
          <a:noFill/>
        </p:spPr>
        <p:txBody>
          <a:bodyPr wrap="square" lIns="0" rIns="0" tIns="0" bIns="0" anchor="t">
            <a:noAutofit/>
          </a:bodyPr>
          <a:lstStyle/>
          <a:p>
            <a:pPr algn="l"/>
            <a:r>
              <a:rPr sz="2000" b="0" i="0" lang="es-ES">
                <a:solidFill>
                  <a:srgbClr val="C9D3E3"/>
                </a:solidFill>
                <a:latin typeface="Calibri"/>
              </a:rPr>
              <a:t>Del número a la decisión</a:t>
            </a:r>
            <a:endParaRPr lang="es-ES" sz="2000"/>
          </a:p>
        </p:txBody>
      </p:sp>
      <p:sp>
        <p:nvSpPr>
          <p:cNvPr id="7" name="Rounded Rectangle 6"/>
          <p:cNvSpPr/>
          <p:nvPr/>
        </p:nvSpPr>
        <p:spPr>
          <a:xfrm>
            <a:off x="548640" y="4846320"/>
            <a:ext cx="1965960" cy="411480"/>
          </a:xfrm>
          <a:prstGeom prst="roundRect">
            <a:avLst>
              <a:gd name="adj" fmla="val 48888"/>
            </a:avLst>
          </a:prstGeom>
          <a:solidFill>
            <a:srgbClr val="2A3D61"/>
          </a:solidFill>
          <a:ln>
            <a:noFill/>
          </a:ln>
        </p:spPr>
        <p:txBody>
          <a:bodyPr rtlCol="0" anchor="ctr" wrap="square" lIns="0" rIns="0" tIns="0" bIns="0">
            <a:noAutofit/>
          </a:bodyPr>
          <a:lstStyle/>
          <a:p>
            <a:pPr algn="ctr"/>
            <a:r>
              <a:rPr sz="1300" b="0" i="0" lang="es-ES">
                <a:solidFill>
                  <a:srgbClr val="FFFFFF"/>
                </a:solidFill>
                <a:latin typeface="Calibri"/>
              </a:rPr>
              <a:t>Cuadro de Mando</a:t>
            </a:r>
            <a:endParaRPr lang="es-ES" sz="1300"/>
          </a:p>
        </p:txBody>
      </p:sp>
      <p:sp>
        <p:nvSpPr>
          <p:cNvPr id="8" name="Rounded Rectangle 7"/>
          <p:cNvSpPr/>
          <p:nvPr/>
        </p:nvSpPr>
        <p:spPr>
          <a:xfrm>
            <a:off x="2651760" y="4846320"/>
            <a:ext cx="2670048" cy="411480"/>
          </a:xfrm>
          <a:prstGeom prst="roundRect">
            <a:avLst>
              <a:gd name="adj" fmla="val 48888"/>
            </a:avLst>
          </a:prstGeom>
          <a:solidFill>
            <a:srgbClr val="2A3D61"/>
          </a:solidFill>
          <a:ln>
            <a:noFill/>
          </a:ln>
        </p:spPr>
        <p:txBody>
          <a:bodyPr rtlCol="0" anchor="ctr" wrap="square" lIns="0" rIns="0" tIns="0" bIns="0">
            <a:noAutofit/>
          </a:bodyPr>
          <a:lstStyle/>
          <a:p>
            <a:pPr algn="ctr"/>
            <a:r>
              <a:rPr sz="1300" b="0" i="0" lang="es-ES">
                <a:solidFill>
                  <a:srgbClr val="FFFFFF"/>
                </a:solidFill>
                <a:latin typeface="Calibri"/>
              </a:rPr>
              <a:t>Dónde está el problema</a:t>
            </a:r>
            <a:endParaRPr lang="es-ES" sz="1300"/>
          </a:p>
        </p:txBody>
      </p:sp>
      <p:sp>
        <p:nvSpPr>
          <p:cNvPr id="9" name="Rounded Rectangle 8"/>
          <p:cNvSpPr/>
          <p:nvPr/>
        </p:nvSpPr>
        <p:spPr>
          <a:xfrm>
            <a:off x="5458968" y="4846320"/>
            <a:ext cx="1362456" cy="411480"/>
          </a:xfrm>
          <a:prstGeom prst="roundRect">
            <a:avLst>
              <a:gd name="adj" fmla="val 48888"/>
            </a:avLst>
          </a:prstGeom>
          <a:solidFill>
            <a:srgbClr val="2A3D61"/>
          </a:solidFill>
          <a:ln>
            <a:noFill/>
          </a:ln>
        </p:spPr>
        <p:txBody>
          <a:bodyPr rtlCol="0" anchor="ctr" wrap="square" lIns="0" rIns="0" tIns="0" bIns="0">
            <a:noAutofit/>
          </a:bodyPr>
          <a:lstStyle/>
          <a:p>
            <a:pPr algn="ctr"/>
            <a:r>
              <a:rPr sz="1300" b="0" i="0" lang="es-ES">
                <a:solidFill>
                  <a:srgbClr val="FFFFFF"/>
                </a:solidFill>
                <a:latin typeface="Calibri"/>
              </a:rPr>
              <a:t>Qué hacer</a:t>
            </a:r>
            <a:endParaRPr lang="es-ES" sz="1300"/>
          </a:p>
        </p:txBody>
      </p:sp>
      <p:sp>
        <p:nvSpPr>
          <p:cNvPr id="11" name="Rounded Rectangle 7 copia 11"/>
          <p:cNvSpPr/>
          <p:nvPr/>
        </p:nvSpPr>
        <p:spPr>
          <a:xfrm>
            <a:off x="6958583" y="4846320"/>
            <a:ext cx="2670048" cy="411480"/>
          </a:xfrm>
          <a:prstGeom prst="roundRect">
            <a:avLst>
              <a:gd name="adj" fmla="val 48888"/>
            </a:avLst>
          </a:prstGeom>
          <a:solidFill>
            <a:srgbClr val="2A3D61"/>
          </a:solidFill>
          <a:ln>
            <a:noFill/>
          </a:ln>
        </p:spPr>
        <p:txBody>
          <a:bodyPr rtlCol="0" anchor="ctr" wrap="square" lIns="0" rIns="0" tIns="0" bIns="0">
            <a:noAutofit/>
          </a:bodyPr>
          <a:lstStyle/>
          <a:p>
            <a:pPr algn="ctr"/>
            <a:r>
              <a:rPr sz="1300" b="0" i="0" lang="es-ES">
                <a:solidFill>
                  <a:srgbClr val="FFFFFF"/>
                </a:solidFill>
                <a:latin typeface="Calibri"/>
              </a:rPr>
              <a:t>Análisis de desviaciones</a:t>
            </a:r>
            <a:endParaRPr lang="es-ES" sz="1300"/>
          </a:p>
        </p:txBody>
      </p:sp>
      <p:sp>
        <p:nvSpPr>
          <p:cNvPr id="10" name="Rounded Rectangle 9"/>
          <p:cNvSpPr/>
          <p:nvPr/>
        </p:nvSpPr>
        <p:spPr>
          <a:xfrm>
            <a:off x="9765792" y="4846320"/>
            <a:ext cx="1865376" cy="411480"/>
          </a:xfrm>
          <a:prstGeom prst="roundRect">
            <a:avLst>
              <a:gd name="adj" fmla="val 48888"/>
            </a:avLst>
          </a:prstGeom>
          <a:solidFill>
            <a:srgbClr val="2A3D61"/>
          </a:solidFill>
          <a:ln>
            <a:noFill/>
          </a:ln>
        </p:spPr>
        <p:txBody>
          <a:bodyPr rtlCol="0" anchor="ctr" wrap="square" lIns="0" rIns="0" tIns="0" bIns="0">
            <a:noAutofit/>
          </a:bodyPr>
          <a:lstStyle/>
          <a:p>
            <a:pPr algn="ctr"/>
            <a:r>
              <a:rPr sz="1300" b="0" i="0" lang="es-ES">
                <a:solidFill>
                  <a:srgbClr val="FFFFFF"/>
                </a:solidFill>
                <a:latin typeface="Calibri"/>
              </a:rPr>
              <a:t>Cierre mensual</a:t>
            </a:r>
            <a:endParaRPr lang="es-ES" sz="130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Cuadro de Mando: el informe en una página</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INTERPRETAR</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32</a:t>
            </a:fld>
            <a:endParaRPr lang="es-ES" sz="1000"/>
          </a:p>
        </p:txBody>
      </p:sp>
      <p:pic>
        <p:nvPicPr>
          <p:cNvPr id="6" name="Picture 5" descr="Cuadro de Mando del libro de ejemplo con las zonas numeradas"/>
          <p:cNvPicPr>
            <a:picLocks noChangeAspect="1"/>
          </p:cNvPicPr>
          <p:nvPr/>
        </p:nvPicPr>
        <p:blipFill>
          <a:blip r:embed="rId4"/>
          <a:stretch>
            <a:fillRect/>
          </a:stretch>
        </p:blipFill>
        <p:spPr>
          <a:xfrm>
            <a:off x="548640" y="1371600"/>
            <a:ext cx="3474720" cy="4888523"/>
          </a:xfrm>
          <a:prstGeom prst="rect">
            <a:avLst/>
          </a:prstGeom>
          <a:ln w="9525">
            <a:solidFill>
              <a:srgbClr val="D5DBE5"/>
            </a:solidFill>
          </a:ln>
        </p:spPr>
      </p:pic>
      <p:sp>
        <p:nvSpPr>
          <p:cNvPr id="7" name="TextBox 6"/>
          <p:cNvSpPr txBox="1"/>
          <p:nvPr/>
        </p:nvSpPr>
        <p:spPr>
          <a:xfrm>
            <a:off x="4434840" y="1417320"/>
            <a:ext cx="3474720" cy="320040"/>
          </a:xfrm>
          <a:prstGeom prst="rect">
            <a:avLst/>
          </a:prstGeom>
          <a:noFill/>
        </p:spPr>
        <p:txBody>
          <a:bodyPr wrap="square" lIns="0" rIns="0" tIns="0" bIns="0" anchor="t">
            <a:noAutofit/>
          </a:bodyPr>
          <a:lstStyle/>
          <a:p>
            <a:pPr algn="l"/>
            <a:r>
              <a:rPr sz="1100" b="1" i="0" lang="es-ES">
                <a:solidFill>
                  <a:srgbClr val="8A5A00"/>
                </a:solidFill>
                <a:latin typeface="Calibri"/>
              </a:rPr>
              <a:t>CONTROLES (CELDAS AMARILLAS)</a:t>
            </a:r>
            <a:endParaRPr lang="es-ES" sz="1100"/>
          </a:p>
        </p:txBody>
      </p:sp>
      <p:sp>
        <p:nvSpPr>
          <p:cNvPr id="8" name="Oval 7"/>
          <p:cNvSpPr/>
          <p:nvPr/>
        </p:nvSpPr>
        <p:spPr>
          <a:xfrm>
            <a:off x="4443983" y="1847088"/>
            <a:ext cx="347472" cy="347472"/>
          </a:xfrm>
          <a:prstGeom prst="ellipse">
            <a:avLst/>
          </a:prstGeom>
          <a:solidFill>
            <a:srgbClr val="C00000"/>
          </a:solidFill>
          <a:ln>
            <a:noFill/>
          </a:ln>
        </p:spPr>
        <p:txBody>
          <a:bodyPr rtlCol="0" anchor="ctr" wrap="square" lIns="0" rIns="0" tIns="0" bIns="0">
            <a:noAutofit/>
          </a:bodyPr>
          <a:lstStyle/>
          <a:p>
            <a:pPr algn="ctr"/>
            <a:r>
              <a:rPr sz="1300" b="1" i="0" lang="es-ES">
                <a:solidFill>
                  <a:srgbClr val="FFFFFF"/>
                </a:solidFill>
                <a:latin typeface="Calibri"/>
              </a:rPr>
              <a:t>1</a:t>
            </a:r>
            <a:endParaRPr lang="es-ES" sz="1300"/>
          </a:p>
        </p:txBody>
      </p:sp>
      <p:sp>
        <p:nvSpPr>
          <p:cNvPr id="9" name="TextBox 8"/>
          <p:cNvSpPr txBox="1"/>
          <p:nvPr/>
        </p:nvSpPr>
        <p:spPr>
          <a:xfrm>
            <a:off x="4910327" y="1801368"/>
            <a:ext cx="3063240" cy="548640"/>
          </a:xfrm>
          <a:prstGeom prst="rect">
            <a:avLst/>
          </a:prstGeom>
          <a:noFill/>
        </p:spPr>
        <p:txBody>
          <a:bodyPr wrap="square" lIns="0" rIns="0" tIns="0" bIns="0" anchor="t">
            <a:noAutofit/>
          </a:bodyPr>
          <a:lstStyle/>
          <a:p>
            <a:pPr algn="l"/>
            <a:r>
              <a:rPr sz="1400" b="1" i="0" lang="es-ES">
                <a:solidFill>
                  <a:srgbClr val="1B2B48"/>
                </a:solidFill>
                <a:latin typeface="Calibri"/>
              </a:rPr>
              <a:t>Mes de reporte</a:t>
            </a:r>
            <a:endParaRPr lang="es-ES" sz="1400"/>
          </a:p>
          <a:p>
            <a:pPr algn="l"/>
            <a:r>
              <a:rPr sz="1300" b="0" i="0" lang="es-ES">
                <a:solidFill>
                  <a:srgbClr val="5A6577"/>
                </a:solidFill>
                <a:latin typeface="Calibri"/>
              </a:rPr>
              <a:t>cualquier mes anterior</a:t>
            </a:r>
            <a:endParaRPr lang="es-ES" sz="1400"/>
          </a:p>
        </p:txBody>
      </p:sp>
      <p:sp>
        <p:nvSpPr>
          <p:cNvPr id="10" name="Oval 9"/>
          <p:cNvSpPr/>
          <p:nvPr/>
        </p:nvSpPr>
        <p:spPr>
          <a:xfrm>
            <a:off x="4443983" y="2414016"/>
            <a:ext cx="347472" cy="347472"/>
          </a:xfrm>
          <a:prstGeom prst="ellipse">
            <a:avLst/>
          </a:prstGeom>
          <a:solidFill>
            <a:srgbClr val="C00000"/>
          </a:solidFill>
          <a:ln>
            <a:noFill/>
          </a:ln>
        </p:spPr>
        <p:txBody>
          <a:bodyPr rtlCol="0" anchor="ctr" wrap="square" lIns="0" rIns="0" tIns="0" bIns="0">
            <a:noAutofit/>
          </a:bodyPr>
          <a:lstStyle/>
          <a:p>
            <a:pPr algn="ctr"/>
            <a:r>
              <a:rPr sz="1300" b="1" i="0" lang="es-ES">
                <a:solidFill>
                  <a:srgbClr val="FFFFFF"/>
                </a:solidFill>
                <a:latin typeface="Calibri"/>
              </a:rPr>
              <a:t>2</a:t>
            </a:r>
            <a:endParaRPr lang="es-ES" sz="1300"/>
          </a:p>
        </p:txBody>
      </p:sp>
      <p:sp>
        <p:nvSpPr>
          <p:cNvPr id="11" name="TextBox 10"/>
          <p:cNvSpPr txBox="1"/>
          <p:nvPr/>
        </p:nvSpPr>
        <p:spPr>
          <a:xfrm>
            <a:off x="4910327" y="2368296"/>
            <a:ext cx="3063240" cy="548640"/>
          </a:xfrm>
          <a:prstGeom prst="rect">
            <a:avLst/>
          </a:prstGeom>
          <a:noFill/>
        </p:spPr>
        <p:txBody>
          <a:bodyPr wrap="square" lIns="0" rIns="0" tIns="0" bIns="0" anchor="t">
            <a:noAutofit/>
          </a:bodyPr>
          <a:lstStyle/>
          <a:p>
            <a:pPr algn="l"/>
            <a:r>
              <a:rPr sz="1400" b="1" i="0" lang="es-ES">
                <a:solidFill>
                  <a:srgbClr val="1B2B48"/>
                </a:solidFill>
                <a:latin typeface="Calibri"/>
              </a:rPr>
              <a:t>Método EAC</a:t>
            </a:r>
            <a:endParaRPr lang="es-ES" sz="1400"/>
          </a:p>
          <a:p>
            <a:pPr algn="l"/>
            <a:r>
              <a:rPr sz="1300" b="0" i="0" lang="es-ES">
                <a:solidFill>
                  <a:srgbClr val="5A6577"/>
                </a:solidFill>
                <a:latin typeface="Calibri"/>
              </a:rPr>
              <a:t>BAC / CPI u otras dos fórmulas</a:t>
            </a:r>
            <a:endParaRPr lang="es-ES" sz="1400"/>
          </a:p>
        </p:txBody>
      </p:sp>
      <p:sp>
        <p:nvSpPr>
          <p:cNvPr id="12" name="TextBox 11"/>
          <p:cNvSpPr txBox="1"/>
          <p:nvPr/>
        </p:nvSpPr>
        <p:spPr>
          <a:xfrm>
            <a:off x="4434840" y="3154680"/>
            <a:ext cx="3474720" cy="320040"/>
          </a:xfrm>
          <a:prstGeom prst="rect">
            <a:avLst/>
          </a:prstGeom>
          <a:noFill/>
        </p:spPr>
        <p:txBody>
          <a:bodyPr wrap="square" lIns="0" rIns="0" tIns="0" bIns="0" anchor="t">
            <a:noAutofit/>
          </a:bodyPr>
          <a:lstStyle/>
          <a:p>
            <a:pPr algn="l"/>
            <a:r>
              <a:rPr sz="1100" b="1" i="0" lang="es-ES">
                <a:solidFill>
                  <a:srgbClr val="8A5A00"/>
                </a:solidFill>
                <a:latin typeface="Calibri"/>
              </a:rPr>
              <a:t>CIFRAS AL MES DE REPORTE</a:t>
            </a:r>
            <a:endParaRPr lang="es-ES" sz="1100"/>
          </a:p>
        </p:txBody>
      </p:sp>
      <p:sp>
        <p:nvSpPr>
          <p:cNvPr id="13" name="Oval 12"/>
          <p:cNvSpPr/>
          <p:nvPr/>
        </p:nvSpPr>
        <p:spPr>
          <a:xfrm>
            <a:off x="4443983" y="3584448"/>
            <a:ext cx="347472" cy="347472"/>
          </a:xfrm>
          <a:prstGeom prst="ellipse">
            <a:avLst/>
          </a:prstGeom>
          <a:solidFill>
            <a:srgbClr val="C00000"/>
          </a:solidFill>
          <a:ln>
            <a:noFill/>
          </a:ln>
        </p:spPr>
        <p:txBody>
          <a:bodyPr rtlCol="0" anchor="ctr" wrap="square" lIns="0" rIns="0" tIns="0" bIns="0">
            <a:noAutofit/>
          </a:bodyPr>
          <a:lstStyle/>
          <a:p>
            <a:pPr algn="ctr"/>
            <a:r>
              <a:rPr sz="1300" b="1" i="0" lang="es-ES">
                <a:solidFill>
                  <a:srgbClr val="FFFFFF"/>
                </a:solidFill>
                <a:latin typeface="Calibri"/>
              </a:rPr>
              <a:t>3</a:t>
            </a:r>
            <a:endParaRPr lang="es-ES" sz="1300"/>
          </a:p>
        </p:txBody>
      </p:sp>
      <p:sp>
        <p:nvSpPr>
          <p:cNvPr id="14" name="TextBox 13"/>
          <p:cNvSpPr txBox="1"/>
          <p:nvPr/>
        </p:nvSpPr>
        <p:spPr>
          <a:xfrm>
            <a:off x="4910327" y="3538728"/>
            <a:ext cx="3063240" cy="548640"/>
          </a:xfrm>
          <a:prstGeom prst="rect">
            <a:avLst/>
          </a:prstGeom>
          <a:noFill/>
        </p:spPr>
        <p:txBody>
          <a:bodyPr wrap="square" lIns="0" rIns="0" tIns="0" bIns="0" anchor="t">
            <a:noAutofit/>
          </a:bodyPr>
          <a:lstStyle/>
          <a:p>
            <a:pPr algn="l"/>
            <a:r>
              <a:rPr sz="1400" b="1" i="0" lang="es-ES">
                <a:solidFill>
                  <a:srgbClr val="1B2B48"/>
                </a:solidFill>
                <a:latin typeface="Calibri"/>
              </a:rPr>
              <a:t>Valores acumulados</a:t>
            </a:r>
            <a:endParaRPr lang="es-ES" sz="1400"/>
          </a:p>
          <a:p>
            <a:pPr algn="l"/>
            <a:r>
              <a:rPr sz="1300" b="0" i="0" lang="es-ES">
                <a:solidFill>
                  <a:srgbClr val="5A6577"/>
                </a:solidFill>
                <a:latin typeface="Calibri"/>
              </a:rPr>
              <a:t>BAC, PV, EV y AC con % del BAC</a:t>
            </a:r>
            <a:endParaRPr lang="es-ES" sz="1400"/>
          </a:p>
        </p:txBody>
      </p:sp>
      <p:sp>
        <p:nvSpPr>
          <p:cNvPr id="15" name="Oval 14"/>
          <p:cNvSpPr/>
          <p:nvPr/>
        </p:nvSpPr>
        <p:spPr>
          <a:xfrm>
            <a:off x="4443983" y="4151376"/>
            <a:ext cx="347472" cy="347472"/>
          </a:xfrm>
          <a:prstGeom prst="ellipse">
            <a:avLst/>
          </a:prstGeom>
          <a:solidFill>
            <a:srgbClr val="C00000"/>
          </a:solidFill>
          <a:ln>
            <a:noFill/>
          </a:ln>
        </p:spPr>
        <p:txBody>
          <a:bodyPr rtlCol="0" anchor="ctr" wrap="square" lIns="0" rIns="0" tIns="0" bIns="0">
            <a:noAutofit/>
          </a:bodyPr>
          <a:lstStyle/>
          <a:p>
            <a:pPr algn="ctr"/>
            <a:r>
              <a:rPr sz="1300" b="1" i="0" lang="es-ES">
                <a:solidFill>
                  <a:srgbClr val="FFFFFF"/>
                </a:solidFill>
                <a:latin typeface="Calibri"/>
              </a:rPr>
              <a:t>4</a:t>
            </a:r>
            <a:endParaRPr lang="es-ES" sz="1300"/>
          </a:p>
        </p:txBody>
      </p:sp>
      <p:sp>
        <p:nvSpPr>
          <p:cNvPr id="16" name="TextBox 15"/>
          <p:cNvSpPr txBox="1"/>
          <p:nvPr/>
        </p:nvSpPr>
        <p:spPr>
          <a:xfrm>
            <a:off x="4910327" y="4105656"/>
            <a:ext cx="3063240" cy="548640"/>
          </a:xfrm>
          <a:prstGeom prst="rect">
            <a:avLst/>
          </a:prstGeom>
          <a:noFill/>
        </p:spPr>
        <p:txBody>
          <a:bodyPr wrap="square" lIns="0" rIns="0" tIns="0" bIns="0" anchor="t">
            <a:noAutofit/>
          </a:bodyPr>
          <a:lstStyle/>
          <a:p>
            <a:pPr algn="l"/>
            <a:r>
              <a:rPr sz="1400" b="1" i="0" lang="es-ES">
                <a:solidFill>
                  <a:srgbClr val="1B2B48"/>
                </a:solidFill>
                <a:latin typeface="Calibri"/>
              </a:rPr>
              <a:t>Desviaciones e índices</a:t>
            </a:r>
            <a:endParaRPr lang="es-ES" sz="1400"/>
          </a:p>
          <a:p>
            <a:pPr algn="l"/>
            <a:r>
              <a:rPr sz="1300" b="0" i="0" lang="es-ES">
                <a:solidFill>
                  <a:srgbClr val="5A6577"/>
                </a:solidFill>
                <a:latin typeface="Calibri"/>
              </a:rPr>
              <a:t>CV, SV, CPI y SPI con semáforo y umbrales</a:t>
            </a:r>
            <a:endParaRPr lang="es-ES" sz="1400"/>
          </a:p>
        </p:txBody>
      </p:sp>
      <p:sp>
        <p:nvSpPr>
          <p:cNvPr id="17" name="Oval 16"/>
          <p:cNvSpPr/>
          <p:nvPr/>
        </p:nvSpPr>
        <p:spPr>
          <a:xfrm>
            <a:off x="4443983" y="4718304"/>
            <a:ext cx="347472" cy="347472"/>
          </a:xfrm>
          <a:prstGeom prst="ellipse">
            <a:avLst/>
          </a:prstGeom>
          <a:solidFill>
            <a:srgbClr val="C00000"/>
          </a:solidFill>
          <a:ln>
            <a:noFill/>
          </a:ln>
        </p:spPr>
        <p:txBody>
          <a:bodyPr rtlCol="0" anchor="ctr" wrap="square" lIns="0" rIns="0" tIns="0" bIns="0">
            <a:noAutofit/>
          </a:bodyPr>
          <a:lstStyle/>
          <a:p>
            <a:pPr algn="ctr"/>
            <a:r>
              <a:rPr sz="1300" b="1" i="0" lang="es-ES">
                <a:solidFill>
                  <a:srgbClr val="FFFFFF"/>
                </a:solidFill>
                <a:latin typeface="Calibri"/>
              </a:rPr>
              <a:t>5</a:t>
            </a:r>
            <a:endParaRPr lang="es-ES" sz="1300"/>
          </a:p>
        </p:txBody>
      </p:sp>
      <p:sp>
        <p:nvSpPr>
          <p:cNvPr id="18" name="TextBox 17"/>
          <p:cNvSpPr txBox="1"/>
          <p:nvPr/>
        </p:nvSpPr>
        <p:spPr>
          <a:xfrm>
            <a:off x="4910327" y="4672584"/>
            <a:ext cx="3063240" cy="548640"/>
          </a:xfrm>
          <a:prstGeom prst="rect">
            <a:avLst/>
          </a:prstGeom>
          <a:noFill/>
        </p:spPr>
        <p:txBody>
          <a:bodyPr wrap="square" lIns="0" rIns="0" tIns="0" bIns="0" anchor="t">
            <a:noAutofit/>
          </a:bodyPr>
          <a:lstStyle/>
          <a:p>
            <a:pPr algn="l"/>
            <a:r>
              <a:rPr sz="1400" b="1" i="0" lang="es-ES">
                <a:solidFill>
                  <a:srgbClr val="1B2B48"/>
                </a:solidFill>
                <a:latin typeface="Calibri"/>
              </a:rPr>
              <a:t>Pronósticos</a:t>
            </a:r>
            <a:endParaRPr lang="es-ES" sz="1400"/>
          </a:p>
          <a:p>
            <a:pPr algn="l"/>
            <a:r>
              <a:rPr sz="1300" b="0" i="0" lang="es-ES">
                <a:solidFill>
                  <a:srgbClr val="5A6577"/>
                </a:solidFill>
                <a:latin typeface="Calibri"/>
              </a:rPr>
              <a:t>ETC, EAC, VAC y TCPI</a:t>
            </a:r>
            <a:endParaRPr lang="es-ES" sz="1400"/>
          </a:p>
        </p:txBody>
      </p:sp>
      <p:sp>
        <p:nvSpPr>
          <p:cNvPr id="19" name="TextBox 18"/>
          <p:cNvSpPr txBox="1"/>
          <p:nvPr/>
        </p:nvSpPr>
        <p:spPr>
          <a:xfrm>
            <a:off x="8092440" y="1417320"/>
            <a:ext cx="3474720" cy="320040"/>
          </a:xfrm>
          <a:prstGeom prst="rect">
            <a:avLst/>
          </a:prstGeom>
          <a:noFill/>
        </p:spPr>
        <p:txBody>
          <a:bodyPr wrap="square" lIns="0" rIns="0" tIns="0" bIns="0" anchor="t">
            <a:noAutofit/>
          </a:bodyPr>
          <a:lstStyle/>
          <a:p>
            <a:pPr algn="l"/>
            <a:r>
              <a:rPr sz="1100" b="1" i="0" lang="es-ES">
                <a:solidFill>
                  <a:srgbClr val="8A5A00"/>
                </a:solidFill>
                <a:latin typeface="Calibri"/>
              </a:rPr>
              <a:t>GRÁFICOS Y DETALLE</a:t>
            </a:r>
            <a:endParaRPr lang="es-ES" sz="1100"/>
          </a:p>
        </p:txBody>
      </p:sp>
      <p:sp>
        <p:nvSpPr>
          <p:cNvPr id="20" name="Oval 19"/>
          <p:cNvSpPr/>
          <p:nvPr/>
        </p:nvSpPr>
        <p:spPr>
          <a:xfrm>
            <a:off x="8101583" y="1847088"/>
            <a:ext cx="347472" cy="347472"/>
          </a:xfrm>
          <a:prstGeom prst="ellipse">
            <a:avLst/>
          </a:prstGeom>
          <a:solidFill>
            <a:srgbClr val="C00000"/>
          </a:solidFill>
          <a:ln>
            <a:noFill/>
          </a:ln>
        </p:spPr>
        <p:txBody>
          <a:bodyPr rtlCol="0" anchor="ctr" wrap="square" lIns="0" rIns="0" tIns="0" bIns="0">
            <a:noAutofit/>
          </a:bodyPr>
          <a:lstStyle/>
          <a:p>
            <a:pPr algn="ctr"/>
            <a:r>
              <a:rPr sz="1300" b="1" i="0" lang="es-ES">
                <a:solidFill>
                  <a:srgbClr val="FFFFFF"/>
                </a:solidFill>
                <a:latin typeface="Calibri"/>
              </a:rPr>
              <a:t>6</a:t>
            </a:r>
            <a:endParaRPr lang="es-ES" sz="1300"/>
          </a:p>
        </p:txBody>
      </p:sp>
      <p:sp>
        <p:nvSpPr>
          <p:cNvPr id="21" name="TextBox 20"/>
          <p:cNvSpPr txBox="1"/>
          <p:nvPr/>
        </p:nvSpPr>
        <p:spPr>
          <a:xfrm>
            <a:off x="8567928" y="1801368"/>
            <a:ext cx="3063240" cy="548640"/>
          </a:xfrm>
          <a:prstGeom prst="rect">
            <a:avLst/>
          </a:prstGeom>
          <a:noFill/>
        </p:spPr>
        <p:txBody>
          <a:bodyPr wrap="square" lIns="0" rIns="0" tIns="0" bIns="0" anchor="t">
            <a:noAutofit/>
          </a:bodyPr>
          <a:lstStyle/>
          <a:p>
            <a:pPr algn="l"/>
            <a:r>
              <a:rPr sz="1400" b="1" i="0" lang="es-ES">
                <a:solidFill>
                  <a:srgbClr val="1B2B48"/>
                </a:solidFill>
                <a:latin typeface="Calibri"/>
              </a:rPr>
              <a:t>Evolución EVM</a:t>
            </a:r>
            <a:endParaRPr lang="es-ES" sz="1400"/>
          </a:p>
          <a:p>
            <a:pPr algn="l"/>
            <a:r>
              <a:rPr sz="1300" b="0" i="0" lang="es-ES">
                <a:solidFill>
                  <a:srgbClr val="5A6577"/>
                </a:solidFill>
                <a:latin typeface="Calibri"/>
              </a:rPr>
              <a:t>curva S con PV, EV, AC y BAC</a:t>
            </a:r>
            <a:endParaRPr lang="es-ES" sz="1400"/>
          </a:p>
        </p:txBody>
      </p:sp>
      <p:sp>
        <p:nvSpPr>
          <p:cNvPr id="22" name="Oval 21"/>
          <p:cNvSpPr/>
          <p:nvPr/>
        </p:nvSpPr>
        <p:spPr>
          <a:xfrm>
            <a:off x="8101583" y="2414016"/>
            <a:ext cx="347472" cy="347472"/>
          </a:xfrm>
          <a:prstGeom prst="ellipse">
            <a:avLst/>
          </a:prstGeom>
          <a:solidFill>
            <a:srgbClr val="C00000"/>
          </a:solidFill>
          <a:ln>
            <a:noFill/>
          </a:ln>
        </p:spPr>
        <p:txBody>
          <a:bodyPr rtlCol="0" anchor="ctr" wrap="square" lIns="0" rIns="0" tIns="0" bIns="0">
            <a:noAutofit/>
          </a:bodyPr>
          <a:lstStyle/>
          <a:p>
            <a:pPr algn="ctr"/>
            <a:r>
              <a:rPr sz="1300" b="1" i="0" lang="es-ES">
                <a:solidFill>
                  <a:srgbClr val="FFFFFF"/>
                </a:solidFill>
                <a:latin typeface="Calibri"/>
              </a:rPr>
              <a:t>7</a:t>
            </a:r>
            <a:endParaRPr lang="es-ES" sz="1300"/>
          </a:p>
        </p:txBody>
      </p:sp>
      <p:sp>
        <p:nvSpPr>
          <p:cNvPr id="23" name="TextBox 22"/>
          <p:cNvSpPr txBox="1"/>
          <p:nvPr/>
        </p:nvSpPr>
        <p:spPr>
          <a:xfrm>
            <a:off x="8567928" y="2368296"/>
            <a:ext cx="3063240" cy="548640"/>
          </a:xfrm>
          <a:prstGeom prst="rect">
            <a:avLst/>
          </a:prstGeom>
          <a:noFill/>
        </p:spPr>
        <p:txBody>
          <a:bodyPr wrap="square" lIns="0" rIns="0" tIns="0" bIns="0" anchor="t">
            <a:noAutofit/>
          </a:bodyPr>
          <a:lstStyle/>
          <a:p>
            <a:pPr algn="l"/>
            <a:r>
              <a:rPr sz="1400" b="1" i="0" lang="es-ES">
                <a:solidFill>
                  <a:srgbClr val="1B2B48"/>
                </a:solidFill>
                <a:latin typeface="Calibri"/>
              </a:rPr>
              <a:t>Evolución de CPI y SPI</a:t>
            </a:r>
            <a:endParaRPr lang="es-ES" sz="1400"/>
          </a:p>
          <a:p>
            <a:pPr algn="l"/>
            <a:r>
              <a:rPr sz="1300" b="0" i="0" lang="es-ES">
                <a:solidFill>
                  <a:srgbClr val="5A6577"/>
                </a:solidFill>
                <a:latin typeface="Calibri"/>
              </a:rPr>
              <a:t>tendencia sobre zonas de alarma</a:t>
            </a:r>
            <a:endParaRPr lang="es-ES" sz="1400"/>
          </a:p>
        </p:txBody>
      </p:sp>
      <p:sp>
        <p:nvSpPr>
          <p:cNvPr id="24" name="Oval 23"/>
          <p:cNvSpPr/>
          <p:nvPr/>
        </p:nvSpPr>
        <p:spPr>
          <a:xfrm>
            <a:off x="8101583" y="2980944"/>
            <a:ext cx="347472" cy="347472"/>
          </a:xfrm>
          <a:prstGeom prst="ellipse">
            <a:avLst/>
          </a:prstGeom>
          <a:solidFill>
            <a:srgbClr val="C00000"/>
          </a:solidFill>
          <a:ln>
            <a:noFill/>
          </a:ln>
        </p:spPr>
        <p:txBody>
          <a:bodyPr rtlCol="0" anchor="ctr" wrap="square" lIns="0" rIns="0" tIns="0" bIns="0">
            <a:noAutofit/>
          </a:bodyPr>
          <a:lstStyle/>
          <a:p>
            <a:pPr algn="ctr"/>
            <a:r>
              <a:rPr sz="1300" b="1" i="0" lang="es-ES">
                <a:solidFill>
                  <a:srgbClr val="FFFFFF"/>
                </a:solidFill>
                <a:latin typeface="Calibri"/>
              </a:rPr>
              <a:t>8</a:t>
            </a:r>
            <a:endParaRPr lang="es-ES" sz="1300"/>
          </a:p>
        </p:txBody>
      </p:sp>
      <p:sp>
        <p:nvSpPr>
          <p:cNvPr id="25" name="TextBox 24"/>
          <p:cNvSpPr txBox="1"/>
          <p:nvPr/>
        </p:nvSpPr>
        <p:spPr>
          <a:xfrm>
            <a:off x="8567928" y="2935224"/>
            <a:ext cx="3063240" cy="548640"/>
          </a:xfrm>
          <a:prstGeom prst="rect">
            <a:avLst/>
          </a:prstGeom>
          <a:noFill/>
        </p:spPr>
        <p:txBody>
          <a:bodyPr wrap="square" lIns="0" rIns="0" tIns="0" bIns="0" anchor="t">
            <a:noAutofit/>
          </a:bodyPr>
          <a:lstStyle/>
          <a:p>
            <a:pPr algn="l"/>
            <a:r>
              <a:rPr sz="1400" b="1" i="0" lang="es-ES">
                <a:solidFill>
                  <a:srgbClr val="1B2B48"/>
                </a:solidFill>
                <a:latin typeface="Calibri"/>
              </a:rPr>
              <a:t>CPI vs SPI por elemento EDT</a:t>
            </a:r>
            <a:endParaRPr lang="es-ES" sz="1400"/>
          </a:p>
          <a:p>
            <a:pPr algn="l"/>
            <a:r>
              <a:rPr sz="1300" b="0" i="0" lang="es-ES">
                <a:solidFill>
                  <a:srgbClr val="5A6577"/>
                </a:solidFill>
                <a:latin typeface="Calibri"/>
              </a:rPr>
              <a:t>dónde está el problema</a:t>
            </a:r>
            <a:endParaRPr lang="es-ES" sz="1400"/>
          </a:p>
        </p:txBody>
      </p:sp>
      <p:sp>
        <p:nvSpPr>
          <p:cNvPr id="26" name="Oval 25"/>
          <p:cNvSpPr/>
          <p:nvPr/>
        </p:nvSpPr>
        <p:spPr>
          <a:xfrm>
            <a:off x="8101583" y="3547872"/>
            <a:ext cx="347472" cy="347472"/>
          </a:xfrm>
          <a:prstGeom prst="ellipse">
            <a:avLst/>
          </a:prstGeom>
          <a:solidFill>
            <a:srgbClr val="C00000"/>
          </a:solidFill>
          <a:ln>
            <a:noFill/>
          </a:ln>
        </p:spPr>
        <p:txBody>
          <a:bodyPr rtlCol="0" anchor="ctr" wrap="square" lIns="0" rIns="0" tIns="0" bIns="0">
            <a:noAutofit/>
          </a:bodyPr>
          <a:lstStyle/>
          <a:p>
            <a:pPr algn="ctr"/>
            <a:r>
              <a:rPr sz="1300" b="1" i="0" lang="es-ES">
                <a:solidFill>
                  <a:srgbClr val="FFFFFF"/>
                </a:solidFill>
                <a:latin typeface="Calibri"/>
              </a:rPr>
              <a:t>9</a:t>
            </a:r>
            <a:endParaRPr lang="es-ES" sz="1300"/>
          </a:p>
        </p:txBody>
      </p:sp>
      <p:sp>
        <p:nvSpPr>
          <p:cNvPr id="27" name="TextBox 26"/>
          <p:cNvSpPr txBox="1"/>
          <p:nvPr/>
        </p:nvSpPr>
        <p:spPr>
          <a:xfrm>
            <a:off x="8567928" y="3502152"/>
            <a:ext cx="3063240" cy="548640"/>
          </a:xfrm>
          <a:prstGeom prst="rect">
            <a:avLst/>
          </a:prstGeom>
          <a:noFill/>
        </p:spPr>
        <p:txBody>
          <a:bodyPr wrap="square" lIns="0" rIns="0" tIns="0" bIns="0" anchor="t">
            <a:noAutofit/>
          </a:bodyPr>
          <a:lstStyle/>
          <a:p>
            <a:pPr algn="l"/>
            <a:r>
              <a:rPr sz="1400" b="1" i="0" lang="es-ES">
                <a:solidFill>
                  <a:srgbClr val="1B2B48"/>
                </a:solidFill>
                <a:latin typeface="Calibri"/>
              </a:rPr>
              <a:t>Tabla por elemento EDT</a:t>
            </a:r>
            <a:endParaRPr lang="es-ES" sz="1400"/>
          </a:p>
          <a:p>
            <a:pPr algn="l"/>
            <a:r>
              <a:rPr sz="1300" b="0" i="0" lang="es-ES">
                <a:solidFill>
                  <a:srgbClr val="5A6577"/>
                </a:solidFill>
                <a:latin typeface="Calibri"/>
              </a:rPr>
              <a:t>CPI, SPI y % completado</a:t>
            </a:r>
            <a:endParaRPr lang="es-ES" sz="1400"/>
          </a:p>
        </p:txBody>
      </p:sp>
      <p:sp>
        <p:nvSpPr>
          <p:cNvPr id="28" name="Rounded Rectangle 27"/>
          <p:cNvSpPr/>
          <p:nvPr/>
        </p:nvSpPr>
        <p:spPr>
          <a:xfrm>
            <a:off x="8092440" y="4206240"/>
            <a:ext cx="3520440" cy="1965960"/>
          </a:xfrm>
          <a:prstGeom prst="roundRect">
            <a:avLst>
              <a:gd name="adj" fmla="val 5581"/>
            </a:avLst>
          </a:prstGeom>
          <a:solidFill>
            <a:srgbClr val="F3F5F9"/>
          </a:solidFill>
          <a:ln>
            <a:noFill/>
          </a:ln>
        </p:spPr>
        <p:txBody>
          <a:bodyPr rtlCol="0" anchor="ctr" wrap="square" lIns="182880" rIns="182880" tIns="182880" bIns="182880">
            <a:noAutofit/>
          </a:bodyPr>
          <a:lstStyle/>
          <a:p>
            <a:pPr algn="l">
              <a:spcAft>
                <a:spcPts val="600"/>
              </a:spcAft>
            </a:pPr>
            <a:r>
              <a:rPr sz="1400" b="1" i="0" lang="es-ES">
                <a:solidFill>
                  <a:srgbClr val="1B2B48"/>
                </a:solidFill>
                <a:latin typeface="Calibri"/>
              </a:rPr>
              <a:t>Se imprime en una página. </a:t>
            </a:r>
            <a:r>
              <a:rPr sz="1400" b="0" i="0" lang="es-ES">
                <a:solidFill>
                  <a:srgbClr val="1B2B48"/>
                </a:solidFill>
                <a:latin typeface="Calibri"/>
              </a:rPr>
              <a:t>Todo se recalcula al cargar datos o al cambiar el mes de reporte: no hay que rehacer gráficos.</a:t>
            </a:r>
            <a:endParaRPr lang="es-ES" sz="1400"/>
          </a:p>
          <a:p>
            <a:pPr algn="l"/>
            <a:r>
              <a:rPr sz="1400" b="1" i="0" lang="es-ES">
                <a:solidFill>
                  <a:srgbClr val="1B2B48"/>
                </a:solidFill>
                <a:latin typeface="Calibri"/>
              </a:rPr>
              <a:t>Mirar la tendencia de los últimos meses, </a:t>
            </a:r>
            <a:r>
              <a:rPr sz="1400" b="0" i="0" lang="es-ES">
                <a:solidFill>
                  <a:srgbClr val="1B2B48"/>
                </a:solidFill>
                <a:latin typeface="Calibri"/>
              </a:rPr>
              <a:t>no solo el valor acumulado.</a:t>
            </a:r>
            <a:endParaRPr lang="es-ES" sz="140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¿Dónde está el problema? CPI vs SPI por EDT</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INTERPRETAR</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33</a:t>
            </a:fld>
            <a:endParaRPr lang="es-ES" sz="1000"/>
          </a:p>
        </p:txBody>
      </p:sp>
      <p:pic>
        <p:nvPicPr>
          <p:cNvPr id="6" name="Picture 5" descr="Gráfico CPI vs SPI por elemento EDT y tabla del ejemplo"/>
          <p:cNvPicPr>
            <a:picLocks noChangeAspect="1"/>
          </p:cNvPicPr>
          <p:nvPr/>
        </p:nvPicPr>
        <p:blipFill>
          <a:blip r:embed="rId4"/>
          <a:stretch>
            <a:fillRect/>
          </a:stretch>
        </p:blipFill>
        <p:spPr>
          <a:xfrm>
            <a:off x="548640" y="1463040"/>
            <a:ext cx="6858000" cy="3498412"/>
          </a:xfrm>
          <a:prstGeom prst="rect">
            <a:avLst/>
          </a:prstGeom>
          <a:ln w="9525">
            <a:solidFill>
              <a:srgbClr val="D5DBE5"/>
            </a:solidFill>
          </a:ln>
        </p:spPr>
      </p:pic>
      <p:sp>
        <p:nvSpPr>
          <p:cNvPr id="7" name="TextBox 6"/>
          <p:cNvSpPr txBox="1"/>
          <p:nvPr/>
        </p:nvSpPr>
        <p:spPr>
          <a:xfrm>
            <a:off x="548640" y="5029200"/>
            <a:ext cx="6858000" cy="1097280"/>
          </a:xfrm>
          <a:prstGeom prst="rect">
            <a:avLst/>
          </a:prstGeom>
          <a:noFill/>
        </p:spPr>
        <p:txBody>
          <a:bodyPr wrap="square" lIns="0" rIns="0" tIns="0" bIns="0" anchor="t">
            <a:noAutofit/>
          </a:bodyPr>
          <a:lstStyle/>
          <a:p>
            <a:pPr algn="l">
              <a:spcAft>
                <a:spcPts val="400"/>
              </a:spcAft>
            </a:pPr>
            <a:r>
              <a:rPr sz="1400" b="1" i="0" lang="es-ES">
                <a:solidFill>
                  <a:srgbClr val="1B2B48"/>
                </a:solidFill>
                <a:latin typeface="Calibri"/>
              </a:rPr>
              <a:t>Centro (1; 1). </a:t>
            </a:r>
            <a:r>
              <a:rPr sz="1400" b="0" i="0" lang="es-ES">
                <a:solidFill>
                  <a:srgbClr val="1B2B48"/>
                </a:solidFill>
                <a:latin typeface="Calibri"/>
              </a:rPr>
              <a:t>Arriba a la derecha: adelantado y con ahorro. Abajo a la izquierda: atrasado y con sobrecosto.</a:t>
            </a:r>
            <a:endParaRPr lang="es-ES" sz="1400"/>
          </a:p>
          <a:p>
            <a:pPr algn="l"/>
            <a:r>
              <a:rPr sz="1400" b="1" i="0" lang="es-ES">
                <a:solidFill>
                  <a:srgbClr val="1B2B48"/>
                </a:solidFill>
                <a:latin typeface="Calibri"/>
              </a:rPr>
              <a:t>Lo más alejado del centro </a:t>
            </a:r>
            <a:r>
              <a:rPr sz="1400" b="0" i="0" lang="es-ES">
                <a:solidFill>
                  <a:srgbClr val="1B2B48"/>
                </a:solidFill>
                <a:latin typeface="Calibri"/>
              </a:rPr>
              <a:t>explica la desviación del proyecto.</a:t>
            </a:r>
            <a:endParaRPr lang="es-ES" sz="1400"/>
          </a:p>
        </p:txBody>
      </p:sp>
      <p:sp>
        <p:nvSpPr>
          <p:cNvPr id="8" name="Rounded Rectangle 7"/>
          <p:cNvSpPr/>
          <p:nvPr/>
        </p:nvSpPr>
        <p:spPr>
          <a:xfrm>
            <a:off x="7726679" y="1463040"/>
            <a:ext cx="3886200" cy="1481328"/>
          </a:xfrm>
          <a:prstGeom prst="roundRect">
            <a:avLst>
              <a:gd name="adj" fmla="val 7407"/>
            </a:avLst>
          </a:prstGeom>
          <a:solidFill>
            <a:srgbClr val="FBE4E1"/>
          </a:solidFill>
          <a:ln>
            <a:noFill/>
          </a:ln>
        </p:spPr>
        <p:txBody>
          <a:bodyPr rtlCol="0" anchor="t" wrap="square" lIns="182880" rIns="182880" tIns="182880" bIns="182880">
            <a:noAutofit/>
          </a:bodyPr>
          <a:lstStyle/>
          <a:p>
            <a:pPr algn="l">
              <a:spcAft>
                <a:spcPts val="200"/>
              </a:spcAft>
            </a:pPr>
            <a:r>
              <a:rPr sz="1600" b="1" i="0" lang="es-ES">
                <a:solidFill>
                  <a:srgbClr val="1B2B48"/>
                </a:solidFill>
                <a:latin typeface="Calibri"/>
              </a:rPr>
              <a:t>3.0.0 Construcción</a:t>
            </a:r>
            <a:endParaRPr lang="es-ES" sz="1400"/>
          </a:p>
          <a:p>
            <a:pPr algn="l">
              <a:spcAft>
                <a:spcPts val="400"/>
              </a:spcAft>
            </a:pPr>
            <a:r>
              <a:rPr sz="1400" b="1" i="0" lang="es-ES">
                <a:solidFill>
                  <a:srgbClr val="C0392B"/>
                </a:solidFill>
                <a:latin typeface="Calibri"/>
              </a:rPr>
              <a:t>CPI 0,54 · SPI 0,85</a:t>
            </a:r>
            <a:endParaRPr lang="es-ES" sz="1400"/>
          </a:p>
          <a:p>
            <a:pPr algn="l"/>
            <a:r>
              <a:rPr sz="1400" b="0" i="0" lang="es-ES">
                <a:solidFill>
                  <a:srgbClr val="1B2B48"/>
                </a:solidFill>
                <a:latin typeface="Calibri"/>
              </a:rPr>
              <a:t>Explica el sobrecosto: bajar a sus paquetes en Indicadores EDT.</a:t>
            </a:r>
            <a:endParaRPr lang="es-ES" sz="1400"/>
          </a:p>
        </p:txBody>
      </p:sp>
      <p:sp>
        <p:nvSpPr>
          <p:cNvPr id="9" name="Rounded Rectangle 8"/>
          <p:cNvSpPr/>
          <p:nvPr/>
        </p:nvSpPr>
        <p:spPr>
          <a:xfrm>
            <a:off x="7726679" y="3035808"/>
            <a:ext cx="3886200" cy="1481328"/>
          </a:xfrm>
          <a:prstGeom prst="roundRect">
            <a:avLst>
              <a:gd name="adj" fmla="val 7407"/>
            </a:avLst>
          </a:prstGeom>
          <a:solidFill>
            <a:srgbClr val="F3F5F9"/>
          </a:solidFill>
          <a:ln>
            <a:noFill/>
          </a:ln>
        </p:spPr>
        <p:txBody>
          <a:bodyPr rtlCol="0" anchor="t" wrap="square" lIns="182880" rIns="182880" tIns="182880" bIns="182880">
            <a:noAutofit/>
          </a:bodyPr>
          <a:lstStyle/>
          <a:p>
            <a:pPr algn="l">
              <a:spcAft>
                <a:spcPts val="200"/>
              </a:spcAft>
            </a:pPr>
            <a:r>
              <a:rPr sz="1600" b="1" i="0" lang="es-ES">
                <a:solidFill>
                  <a:srgbClr val="1B2B48"/>
                </a:solidFill>
                <a:latin typeface="Calibri"/>
              </a:rPr>
              <a:t>1.1.0 Dirección y control</a:t>
            </a:r>
            <a:endParaRPr lang="es-ES" sz="1400"/>
          </a:p>
          <a:p>
            <a:pPr algn="l">
              <a:spcAft>
                <a:spcPts val="400"/>
              </a:spcAft>
            </a:pPr>
            <a:r>
              <a:rPr sz="1400" b="1" i="0" lang="es-ES">
                <a:solidFill>
                  <a:srgbClr val="5A6577"/>
                </a:solidFill>
                <a:latin typeface="Calibri"/>
              </a:rPr>
              <a:t>CPI 1,10  ·  SPI 1,00</a:t>
            </a:r>
            <a:endParaRPr lang="es-ES" sz="1400"/>
          </a:p>
          <a:p>
            <a:pPr algn="l"/>
            <a:r>
              <a:rPr sz="1400" b="0" i="0" lang="es-ES">
                <a:solidFill>
                  <a:srgbClr val="1B2B48"/>
                </a:solidFill>
                <a:latin typeface="Calibri"/>
              </a:rPr>
              <a:t>LOE: nunca muestra atraso. Su CPI supera el rango verde: confirmar el AC.</a:t>
            </a:r>
            <a:endParaRPr lang="es-ES" sz="1400"/>
          </a:p>
        </p:txBody>
      </p:sp>
      <p:sp>
        <p:nvSpPr>
          <p:cNvPr id="10" name="Rounded Rectangle 9"/>
          <p:cNvSpPr/>
          <p:nvPr/>
        </p:nvSpPr>
        <p:spPr>
          <a:xfrm>
            <a:off x="7726679" y="4608576"/>
            <a:ext cx="3886200" cy="1481328"/>
          </a:xfrm>
          <a:prstGeom prst="roundRect">
            <a:avLst>
              <a:gd name="adj" fmla="val 7407"/>
            </a:avLst>
          </a:prstGeom>
          <a:solidFill>
            <a:srgbClr val="FFF4D9"/>
          </a:solidFill>
          <a:ln>
            <a:noFill/>
          </a:ln>
        </p:spPr>
        <p:txBody>
          <a:bodyPr rtlCol="0" anchor="t" wrap="square" lIns="182880" rIns="182880" tIns="182880" bIns="182880">
            <a:noAutofit/>
          </a:bodyPr>
          <a:lstStyle/>
          <a:p>
            <a:pPr algn="l">
              <a:spcAft>
                <a:spcPts val="200"/>
              </a:spcAft>
            </a:pPr>
            <a:r>
              <a:rPr sz="1600" b="1" i="0" lang="es-ES">
                <a:solidFill>
                  <a:srgbClr val="1B2B48"/>
                </a:solidFill>
                <a:latin typeface="Calibri"/>
              </a:rPr>
              <a:t>3.2.0 Montaje electromecánico</a:t>
            </a:r>
            <a:endParaRPr lang="es-ES" sz="1400"/>
          </a:p>
          <a:p>
            <a:pPr algn="l">
              <a:spcAft>
                <a:spcPts val="400"/>
              </a:spcAft>
            </a:pPr>
            <a:r>
              <a:rPr sz="1400" b="1" i="0" lang="es-ES">
                <a:solidFill>
                  <a:srgbClr val="8A5A00"/>
                </a:solidFill>
                <a:latin typeface="Calibri"/>
              </a:rPr>
              <a:t>sin punto en el gráfico</a:t>
            </a:r>
            <a:endParaRPr lang="es-ES" sz="1400"/>
          </a:p>
          <a:p>
            <a:pPr algn="l"/>
            <a:r>
              <a:rPr sz="1400" b="0" i="0" lang="es-ES">
                <a:solidFill>
                  <a:srgbClr val="1B2B48"/>
                </a:solidFill>
                <a:latin typeface="Calibri"/>
              </a:rPr>
              <a:t>Su PV está en los meses de sus hitos (2028): SPI sin valor y CPI 0.</a:t>
            </a:r>
            <a:endParaRPr lang="es-ES" sz="140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Cómo leer los indicadores y qué hacer</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INTERPRETAR</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34</a:t>
            </a:fld>
            <a:endParaRPr lang="es-ES" sz="1000"/>
          </a:p>
        </p:txBody>
      </p:sp>
      <p:sp>
        <p:nvSpPr>
          <p:cNvPr id="6" name="TextBox 5"/>
          <p:cNvSpPr txBox="1"/>
          <p:nvPr/>
        </p:nvSpPr>
        <p:spPr>
          <a:xfrm>
            <a:off x="731520" y="1463040"/>
            <a:ext cx="3200400" cy="320040"/>
          </a:xfrm>
          <a:prstGeom prst="rect">
            <a:avLst/>
          </a:prstGeom>
          <a:noFill/>
        </p:spPr>
        <p:txBody>
          <a:bodyPr wrap="square" lIns="0" rIns="0" tIns="0" bIns="0" anchor="t">
            <a:noAutofit/>
          </a:bodyPr>
          <a:lstStyle/>
          <a:p>
            <a:pPr algn="l"/>
            <a:r>
              <a:rPr sz="1200" b="1" i="0" lang="es-ES">
                <a:solidFill>
                  <a:srgbClr val="5A6577"/>
                </a:solidFill>
                <a:latin typeface="Calibri"/>
              </a:rPr>
              <a:t>SITUACIÓN</a:t>
            </a:r>
            <a:endParaRPr lang="es-ES" sz="1200"/>
          </a:p>
        </p:txBody>
      </p:sp>
      <p:sp>
        <p:nvSpPr>
          <p:cNvPr id="7" name="TextBox 6"/>
          <p:cNvSpPr txBox="1"/>
          <p:nvPr/>
        </p:nvSpPr>
        <p:spPr>
          <a:xfrm>
            <a:off x="4023360" y="1463040"/>
            <a:ext cx="4114800" cy="320040"/>
          </a:xfrm>
          <a:prstGeom prst="rect">
            <a:avLst/>
          </a:prstGeom>
          <a:noFill/>
        </p:spPr>
        <p:txBody>
          <a:bodyPr wrap="square" lIns="0" rIns="0" tIns="0" bIns="0" anchor="t">
            <a:noAutofit/>
          </a:bodyPr>
          <a:lstStyle/>
          <a:p>
            <a:pPr algn="l"/>
            <a:r>
              <a:rPr sz="1200" b="1" i="0" lang="es-ES">
                <a:solidFill>
                  <a:srgbClr val="5A6577"/>
                </a:solidFill>
                <a:latin typeface="Calibri"/>
              </a:rPr>
              <a:t>LECTURA</a:t>
            </a:r>
            <a:endParaRPr lang="es-ES" sz="1200"/>
          </a:p>
        </p:txBody>
      </p:sp>
      <p:sp>
        <p:nvSpPr>
          <p:cNvPr id="8" name="TextBox 7"/>
          <p:cNvSpPr txBox="1"/>
          <p:nvPr/>
        </p:nvSpPr>
        <p:spPr>
          <a:xfrm>
            <a:off x="8229600" y="1463040"/>
            <a:ext cx="3566160" cy="320040"/>
          </a:xfrm>
          <a:prstGeom prst="rect">
            <a:avLst/>
          </a:prstGeom>
          <a:noFill/>
        </p:spPr>
        <p:txBody>
          <a:bodyPr wrap="square" lIns="0" rIns="0" tIns="0" bIns="0" anchor="t">
            <a:noAutofit/>
          </a:bodyPr>
          <a:lstStyle/>
          <a:p>
            <a:pPr algn="l"/>
            <a:r>
              <a:rPr sz="1200" b="1" i="0" lang="es-ES">
                <a:solidFill>
                  <a:srgbClr val="5A6577"/>
                </a:solidFill>
                <a:latin typeface="Calibri"/>
              </a:rPr>
              <a:t>ACCIÓN</a:t>
            </a:r>
            <a:endParaRPr lang="es-ES" sz="1200"/>
          </a:p>
        </p:txBody>
      </p:sp>
      <p:sp>
        <p:nvSpPr>
          <p:cNvPr id="9" name="Rounded Rectangle 8"/>
          <p:cNvSpPr/>
          <p:nvPr/>
        </p:nvSpPr>
        <p:spPr>
          <a:xfrm>
            <a:off x="548640" y="1810512"/>
            <a:ext cx="11064240" cy="658368"/>
          </a:xfrm>
          <a:prstGeom prst="roundRect">
            <a:avLst>
              <a:gd name="adj" fmla="val 11111"/>
            </a:avLst>
          </a:prstGeom>
          <a:solidFill>
            <a:srgbClr val="F3F5F9"/>
          </a:solidFill>
          <a:ln>
            <a:noFill/>
          </a:ln>
        </p:spPr>
        <p:txBody>
          <a:bodyPr rtlCol="0" anchor="ctr" wrap="square" lIns="73152" rIns="73152" tIns="73152" bIns="73152">
            <a:noAutofit/>
          </a:bodyPr>
          <a:lstStyle/>
          <a:p>
            <a:pPr algn="ctr"/>
          </a:p>
        </p:txBody>
      </p:sp>
      <p:sp>
        <p:nvSpPr>
          <p:cNvPr id="10" name="Oval 9"/>
          <p:cNvSpPr/>
          <p:nvPr/>
        </p:nvSpPr>
        <p:spPr>
          <a:xfrm>
            <a:off x="685800" y="2020824"/>
            <a:ext cx="237744" cy="237744"/>
          </a:xfrm>
          <a:prstGeom prst="ellipse">
            <a:avLst/>
          </a:prstGeom>
          <a:solidFill>
            <a:srgbClr val="E06666"/>
          </a:solidFill>
          <a:ln>
            <a:noFill/>
          </a:ln>
        </p:spPr>
        <p:txBody>
          <a:bodyPr rtlCol="0" anchor="ctr" wrap="square" lIns="0" rIns="0" tIns="0" bIns="0">
            <a:noAutofit/>
          </a:bodyPr>
          <a:lstStyle/>
          <a:p>
            <a:pPr algn="ctr"/>
            <a:r>
              <a:rPr sz="1400" b="1" i="0" lang="es-ES">
                <a:solidFill>
                  <a:srgbClr val="FFFFFF"/>
                </a:solidFill>
                <a:latin typeface="Calibri"/>
              </a:rPr>
              <a:t/>
            </a:r>
            <a:endParaRPr lang="es-ES" sz="1400"/>
          </a:p>
        </p:txBody>
      </p:sp>
      <p:sp>
        <p:nvSpPr>
          <p:cNvPr id="11" name="TextBox 10"/>
          <p:cNvSpPr txBox="1"/>
          <p:nvPr/>
        </p:nvSpPr>
        <p:spPr>
          <a:xfrm>
            <a:off x="1051560" y="1810512"/>
            <a:ext cx="2743200" cy="658368"/>
          </a:xfrm>
          <a:prstGeom prst="rect">
            <a:avLst/>
          </a:prstGeom>
          <a:noFill/>
        </p:spPr>
        <p:txBody>
          <a:bodyPr wrap="square" lIns="0" rIns="0" tIns="0" bIns="0" anchor="ctr">
            <a:noAutofit/>
          </a:bodyPr>
          <a:lstStyle/>
          <a:p>
            <a:pPr algn="l"/>
            <a:r>
              <a:rPr sz="1400" b="1" i="0" lang="es-ES">
                <a:solidFill>
                  <a:srgbClr val="1B2B48"/>
                </a:solidFill>
                <a:latin typeface="Calibri"/>
              </a:rPr>
              <a:t>CPI &lt; 0,90 sostenido</a:t>
            </a:r>
            <a:endParaRPr lang="es-ES" sz="1400"/>
          </a:p>
        </p:txBody>
      </p:sp>
      <p:sp>
        <p:nvSpPr>
          <p:cNvPr id="12" name="TextBox 11"/>
          <p:cNvSpPr txBox="1"/>
          <p:nvPr/>
        </p:nvSpPr>
        <p:spPr>
          <a:xfrm>
            <a:off x="4023360" y="1810512"/>
            <a:ext cx="3931920" cy="658368"/>
          </a:xfrm>
          <a:prstGeom prst="rect">
            <a:avLst/>
          </a:prstGeom>
          <a:noFill/>
        </p:spPr>
        <p:txBody>
          <a:bodyPr wrap="square" lIns="0" rIns="0" tIns="0" bIns="0" anchor="ctr">
            <a:noAutofit/>
          </a:bodyPr>
          <a:lstStyle/>
          <a:p>
            <a:pPr algn="l"/>
            <a:r>
              <a:rPr sz="1400" b="0" i="0" lang="es-ES">
                <a:solidFill>
                  <a:srgbClr val="5A6577"/>
                </a:solidFill>
                <a:latin typeface="Calibri"/>
              </a:rPr>
              <a:t>Sobrecosto no puntual: pasado el 20 % de avance, el CPI rara vez mejora</a:t>
            </a:r>
            <a:endParaRPr lang="es-ES" sz="1400"/>
          </a:p>
        </p:txBody>
      </p:sp>
      <p:sp>
        <p:nvSpPr>
          <p:cNvPr id="13" name="TextBox 12"/>
          <p:cNvSpPr txBox="1"/>
          <p:nvPr/>
        </p:nvSpPr>
        <p:spPr>
          <a:xfrm>
            <a:off x="8229600" y="1810512"/>
            <a:ext cx="3291840" cy="658368"/>
          </a:xfrm>
          <a:prstGeom prst="rect">
            <a:avLst/>
          </a:prstGeom>
          <a:noFill/>
        </p:spPr>
        <p:txBody>
          <a:bodyPr wrap="square" lIns="0" rIns="0" tIns="0" bIns="0" anchor="ctr">
            <a:noAutofit/>
          </a:bodyPr>
          <a:lstStyle/>
          <a:p>
            <a:pPr algn="l"/>
            <a:r>
              <a:rPr sz="1400" b="0" i="0" lang="es-ES">
                <a:solidFill>
                  <a:srgbClr val="1B2B48"/>
                </a:solidFill>
                <a:latin typeface="Calibri"/>
              </a:rPr>
              <a:t>Revisar EAC y causas por paquete</a:t>
            </a:r>
            <a:endParaRPr lang="es-ES" sz="1400"/>
          </a:p>
        </p:txBody>
      </p:sp>
      <p:sp>
        <p:nvSpPr>
          <p:cNvPr id="14" name="Rounded Rectangle 13"/>
          <p:cNvSpPr/>
          <p:nvPr/>
        </p:nvSpPr>
        <p:spPr>
          <a:xfrm>
            <a:off x="548640" y="2532888"/>
            <a:ext cx="11064240" cy="658368"/>
          </a:xfrm>
          <a:prstGeom prst="roundRect">
            <a:avLst>
              <a:gd name="adj" fmla="val 11111"/>
            </a:avLst>
          </a:prstGeom>
          <a:solidFill>
            <a:srgbClr val="FFFFFF"/>
          </a:solidFill>
          <a:ln w="12700">
            <a:solidFill>
              <a:srgbClr val="D5DBE5"/>
            </a:solidFill>
          </a:ln>
        </p:spPr>
        <p:txBody>
          <a:bodyPr rtlCol="0" anchor="ctr" wrap="square" lIns="73152" rIns="73152" tIns="73152" bIns="73152">
            <a:noAutofit/>
          </a:bodyPr>
          <a:lstStyle/>
          <a:p>
            <a:pPr algn="ctr"/>
          </a:p>
        </p:txBody>
      </p:sp>
      <p:sp>
        <p:nvSpPr>
          <p:cNvPr id="15" name="Oval 14"/>
          <p:cNvSpPr/>
          <p:nvPr/>
        </p:nvSpPr>
        <p:spPr>
          <a:xfrm>
            <a:off x="685800" y="2743200"/>
            <a:ext cx="237744" cy="237744"/>
          </a:xfrm>
          <a:prstGeom prst="ellipse">
            <a:avLst/>
          </a:prstGeom>
          <a:solidFill>
            <a:srgbClr val="E06666"/>
          </a:solidFill>
          <a:ln>
            <a:noFill/>
          </a:ln>
        </p:spPr>
        <p:txBody>
          <a:bodyPr rtlCol="0" anchor="ctr" wrap="square" lIns="0" rIns="0" tIns="0" bIns="0">
            <a:noAutofit/>
          </a:bodyPr>
          <a:lstStyle/>
          <a:p>
            <a:pPr algn="ctr"/>
            <a:r>
              <a:rPr sz="1400" b="1" i="0" lang="es-ES">
                <a:solidFill>
                  <a:srgbClr val="FFFFFF"/>
                </a:solidFill>
                <a:latin typeface="Calibri"/>
              </a:rPr>
              <a:t/>
            </a:r>
            <a:endParaRPr lang="es-ES" sz="1400"/>
          </a:p>
        </p:txBody>
      </p:sp>
      <p:sp>
        <p:nvSpPr>
          <p:cNvPr id="16" name="TextBox 15"/>
          <p:cNvSpPr txBox="1"/>
          <p:nvPr/>
        </p:nvSpPr>
        <p:spPr>
          <a:xfrm>
            <a:off x="1051560" y="2532888"/>
            <a:ext cx="2743200" cy="658368"/>
          </a:xfrm>
          <a:prstGeom prst="rect">
            <a:avLst/>
          </a:prstGeom>
          <a:noFill/>
        </p:spPr>
        <p:txBody>
          <a:bodyPr wrap="square" lIns="0" rIns="0" tIns="0" bIns="0" anchor="ctr">
            <a:noAutofit/>
          </a:bodyPr>
          <a:lstStyle/>
          <a:p>
            <a:pPr algn="l"/>
            <a:r>
              <a:rPr sz="1400" b="1" i="0" lang="es-ES">
                <a:solidFill>
                  <a:srgbClr val="1B2B48"/>
                </a:solidFill>
                <a:latin typeface="Calibri"/>
              </a:rPr>
              <a:t>SPI &lt; 0,90 y SV(t) creciente</a:t>
            </a:r>
            <a:endParaRPr lang="es-ES" sz="1400"/>
          </a:p>
        </p:txBody>
      </p:sp>
      <p:sp>
        <p:nvSpPr>
          <p:cNvPr id="17" name="TextBox 16"/>
          <p:cNvSpPr txBox="1"/>
          <p:nvPr/>
        </p:nvSpPr>
        <p:spPr>
          <a:xfrm>
            <a:off x="4023360" y="2532888"/>
            <a:ext cx="3931920" cy="658368"/>
          </a:xfrm>
          <a:prstGeom prst="rect">
            <a:avLst/>
          </a:prstGeom>
          <a:noFill/>
        </p:spPr>
        <p:txBody>
          <a:bodyPr wrap="square" lIns="0" rIns="0" tIns="0" bIns="0" anchor="ctr">
            <a:noAutofit/>
          </a:bodyPr>
          <a:lstStyle/>
          <a:p>
            <a:pPr algn="l"/>
            <a:r>
              <a:rPr sz="1400" b="0" i="0" lang="es-ES">
                <a:solidFill>
                  <a:srgbClr val="5A6577"/>
                </a:solidFill>
                <a:latin typeface="Calibri"/>
              </a:rPr>
              <a:t>Atraso que se acumula</a:t>
            </a:r>
            <a:endParaRPr lang="es-ES" sz="1400"/>
          </a:p>
        </p:txBody>
      </p:sp>
      <p:sp>
        <p:nvSpPr>
          <p:cNvPr id="18" name="TextBox 17"/>
          <p:cNvSpPr txBox="1"/>
          <p:nvPr/>
        </p:nvSpPr>
        <p:spPr>
          <a:xfrm>
            <a:off x="8229600" y="2532888"/>
            <a:ext cx="3291840" cy="658368"/>
          </a:xfrm>
          <a:prstGeom prst="rect">
            <a:avLst/>
          </a:prstGeom>
          <a:noFill/>
        </p:spPr>
        <p:txBody>
          <a:bodyPr wrap="square" lIns="0" rIns="0" tIns="0" bIns="0" anchor="ctr">
            <a:noAutofit/>
          </a:bodyPr>
          <a:lstStyle/>
          <a:p>
            <a:pPr algn="l"/>
            <a:r>
              <a:rPr sz="1400" b="0" i="0" lang="es-ES">
                <a:solidFill>
                  <a:srgbClr val="1B2B48"/>
                </a:solidFill>
                <a:latin typeface="Calibri"/>
              </a:rPr>
              <a:t>Revisar el camino crítico en MS Project</a:t>
            </a:r>
            <a:endParaRPr lang="es-ES" sz="1400"/>
          </a:p>
        </p:txBody>
      </p:sp>
      <p:sp>
        <p:nvSpPr>
          <p:cNvPr id="19" name="Rounded Rectangle 18"/>
          <p:cNvSpPr/>
          <p:nvPr/>
        </p:nvSpPr>
        <p:spPr>
          <a:xfrm>
            <a:off x="548640" y="3255264"/>
            <a:ext cx="11064240" cy="658368"/>
          </a:xfrm>
          <a:prstGeom prst="roundRect">
            <a:avLst>
              <a:gd name="adj" fmla="val 11111"/>
            </a:avLst>
          </a:prstGeom>
          <a:solidFill>
            <a:srgbClr val="F3F5F9"/>
          </a:solidFill>
          <a:ln>
            <a:noFill/>
          </a:ln>
        </p:spPr>
        <p:txBody>
          <a:bodyPr rtlCol="0" anchor="ctr" wrap="square" lIns="73152" rIns="73152" tIns="73152" bIns="73152">
            <a:noAutofit/>
          </a:bodyPr>
          <a:lstStyle/>
          <a:p>
            <a:pPr algn="ctr"/>
          </a:p>
        </p:txBody>
      </p:sp>
      <p:sp>
        <p:nvSpPr>
          <p:cNvPr id="20" name="Oval 19"/>
          <p:cNvSpPr/>
          <p:nvPr/>
        </p:nvSpPr>
        <p:spPr>
          <a:xfrm>
            <a:off x="685800" y="3465576"/>
            <a:ext cx="237744" cy="237744"/>
          </a:xfrm>
          <a:prstGeom prst="ellipse">
            <a:avLst/>
          </a:prstGeom>
          <a:solidFill>
            <a:srgbClr val="F2C14E"/>
          </a:solidFill>
          <a:ln>
            <a:noFill/>
          </a:ln>
        </p:spPr>
        <p:txBody>
          <a:bodyPr rtlCol="0" anchor="ctr" wrap="square" lIns="0" rIns="0" tIns="0" bIns="0">
            <a:noAutofit/>
          </a:bodyPr>
          <a:lstStyle/>
          <a:p>
            <a:pPr algn="ctr"/>
            <a:r>
              <a:rPr sz="1400" b="1" i="0" lang="es-ES">
                <a:solidFill>
                  <a:srgbClr val="FFFFFF"/>
                </a:solidFill>
                <a:latin typeface="Calibri"/>
              </a:rPr>
              <a:t/>
            </a:r>
            <a:endParaRPr lang="es-ES" sz="1400"/>
          </a:p>
        </p:txBody>
      </p:sp>
      <p:sp>
        <p:nvSpPr>
          <p:cNvPr id="21" name="TextBox 20"/>
          <p:cNvSpPr txBox="1"/>
          <p:nvPr/>
        </p:nvSpPr>
        <p:spPr>
          <a:xfrm>
            <a:off x="1051560" y="3255264"/>
            <a:ext cx="2743200" cy="658368"/>
          </a:xfrm>
          <a:prstGeom prst="rect">
            <a:avLst/>
          </a:prstGeom>
          <a:noFill/>
        </p:spPr>
        <p:txBody>
          <a:bodyPr wrap="square" lIns="0" rIns="0" tIns="0" bIns="0" anchor="ctr">
            <a:noAutofit/>
          </a:bodyPr>
          <a:lstStyle/>
          <a:p>
            <a:pPr algn="l"/>
            <a:r>
              <a:rPr sz="1400" b="1" i="0" lang="es-ES">
                <a:solidFill>
                  <a:srgbClr val="1B2B48"/>
                </a:solidFill>
                <a:latin typeface="Calibri"/>
              </a:rPr>
              <a:t>SPI ≈ 1 al final con SV(t) &lt; 0</a:t>
            </a:r>
            <a:endParaRPr lang="es-ES" sz="1400"/>
          </a:p>
        </p:txBody>
      </p:sp>
      <p:sp>
        <p:nvSpPr>
          <p:cNvPr id="22" name="TextBox 21"/>
          <p:cNvSpPr txBox="1"/>
          <p:nvPr/>
        </p:nvSpPr>
        <p:spPr>
          <a:xfrm>
            <a:off x="4023360" y="3255264"/>
            <a:ext cx="3931920" cy="658368"/>
          </a:xfrm>
          <a:prstGeom prst="rect">
            <a:avLst/>
          </a:prstGeom>
          <a:noFill/>
        </p:spPr>
        <p:txBody>
          <a:bodyPr wrap="square" lIns="0" rIns="0" tIns="0" bIns="0" anchor="ctr">
            <a:noAutofit/>
          </a:bodyPr>
          <a:lstStyle/>
          <a:p>
            <a:pPr algn="l"/>
            <a:r>
              <a:rPr sz="1400" b="0" i="0" lang="es-ES">
                <a:solidFill>
                  <a:srgbClr val="5A6577"/>
                </a:solidFill>
                <a:latin typeface="Calibri"/>
              </a:rPr>
              <a:t>El SPI convergió a 1, pero el proyecto sigue atrasado</a:t>
            </a:r>
            <a:endParaRPr lang="es-ES" sz="1400"/>
          </a:p>
        </p:txBody>
      </p:sp>
      <p:sp>
        <p:nvSpPr>
          <p:cNvPr id="23" name="TextBox 22"/>
          <p:cNvSpPr txBox="1"/>
          <p:nvPr/>
        </p:nvSpPr>
        <p:spPr>
          <a:xfrm>
            <a:off x="8229600" y="3255264"/>
            <a:ext cx="3291840" cy="658368"/>
          </a:xfrm>
          <a:prstGeom prst="rect">
            <a:avLst/>
          </a:prstGeom>
          <a:noFill/>
        </p:spPr>
        <p:txBody>
          <a:bodyPr wrap="square" lIns="0" rIns="0" tIns="0" bIns="0" anchor="ctr">
            <a:noAutofit/>
          </a:bodyPr>
          <a:lstStyle/>
          <a:p>
            <a:pPr algn="l"/>
            <a:r>
              <a:rPr sz="1400" b="0" i="0" lang="es-ES">
                <a:solidFill>
                  <a:srgbClr val="1B2B48"/>
                </a:solidFill>
                <a:latin typeface="Calibri"/>
              </a:rPr>
              <a:t>Informar SV(t) y SPI(t)</a:t>
            </a:r>
            <a:endParaRPr lang="es-ES" sz="1400"/>
          </a:p>
        </p:txBody>
      </p:sp>
      <p:sp>
        <p:nvSpPr>
          <p:cNvPr id="24" name="Rounded Rectangle 23"/>
          <p:cNvSpPr/>
          <p:nvPr/>
        </p:nvSpPr>
        <p:spPr>
          <a:xfrm>
            <a:off x="548640" y="3977639"/>
            <a:ext cx="11064240" cy="658368"/>
          </a:xfrm>
          <a:prstGeom prst="roundRect">
            <a:avLst>
              <a:gd name="adj" fmla="val 11111"/>
            </a:avLst>
          </a:prstGeom>
          <a:solidFill>
            <a:srgbClr val="FFFFFF"/>
          </a:solidFill>
          <a:ln w="12700">
            <a:solidFill>
              <a:srgbClr val="D5DBE5"/>
            </a:solidFill>
          </a:ln>
        </p:spPr>
        <p:txBody>
          <a:bodyPr rtlCol="0" anchor="ctr" wrap="square" lIns="73152" rIns="73152" tIns="73152" bIns="73152">
            <a:noAutofit/>
          </a:bodyPr>
          <a:lstStyle/>
          <a:p>
            <a:pPr algn="ctr"/>
          </a:p>
        </p:txBody>
      </p:sp>
      <p:sp>
        <p:nvSpPr>
          <p:cNvPr id="25" name="Oval 24"/>
          <p:cNvSpPr/>
          <p:nvPr/>
        </p:nvSpPr>
        <p:spPr>
          <a:xfrm>
            <a:off x="685800" y="4187952"/>
            <a:ext cx="237744" cy="237744"/>
          </a:xfrm>
          <a:prstGeom prst="ellipse">
            <a:avLst/>
          </a:prstGeom>
          <a:solidFill>
            <a:srgbClr val="F2C14E"/>
          </a:solidFill>
          <a:ln>
            <a:noFill/>
          </a:ln>
        </p:spPr>
        <p:txBody>
          <a:bodyPr rtlCol="0" anchor="ctr" wrap="square" lIns="0" rIns="0" tIns="0" bIns="0">
            <a:noAutofit/>
          </a:bodyPr>
          <a:lstStyle/>
          <a:p>
            <a:pPr algn="ctr"/>
            <a:r>
              <a:rPr sz="1400" b="1" i="0" lang="es-ES">
                <a:solidFill>
                  <a:srgbClr val="FFFFFF"/>
                </a:solidFill>
                <a:latin typeface="Calibri"/>
              </a:rPr>
              <a:t/>
            </a:r>
            <a:endParaRPr lang="es-ES" sz="1400"/>
          </a:p>
        </p:txBody>
      </p:sp>
      <p:sp>
        <p:nvSpPr>
          <p:cNvPr id="26" name="TextBox 25"/>
          <p:cNvSpPr txBox="1"/>
          <p:nvPr/>
        </p:nvSpPr>
        <p:spPr>
          <a:xfrm>
            <a:off x="1051560" y="3977639"/>
            <a:ext cx="2743200" cy="658368"/>
          </a:xfrm>
          <a:prstGeom prst="rect">
            <a:avLst/>
          </a:prstGeom>
          <a:noFill/>
        </p:spPr>
        <p:txBody>
          <a:bodyPr wrap="square" lIns="0" rIns="0" tIns="0" bIns="0" anchor="ctr">
            <a:noAutofit/>
          </a:bodyPr>
          <a:lstStyle/>
          <a:p>
            <a:pPr algn="l"/>
            <a:r>
              <a:rPr sz="1400" b="1" i="0" lang="es-ES">
                <a:solidFill>
                  <a:srgbClr val="1B2B48"/>
                </a:solidFill>
                <a:latin typeface="Calibri"/>
              </a:rPr>
              <a:t>TCPI (BAC) muy superior al CPI</a:t>
            </a:r>
            <a:endParaRPr lang="es-ES" sz="1400"/>
          </a:p>
        </p:txBody>
      </p:sp>
      <p:sp>
        <p:nvSpPr>
          <p:cNvPr id="27" name="TextBox 26"/>
          <p:cNvSpPr txBox="1"/>
          <p:nvPr/>
        </p:nvSpPr>
        <p:spPr>
          <a:xfrm>
            <a:off x="4023360" y="3977639"/>
            <a:ext cx="3931920" cy="658368"/>
          </a:xfrm>
          <a:prstGeom prst="rect">
            <a:avLst/>
          </a:prstGeom>
          <a:noFill/>
        </p:spPr>
        <p:txBody>
          <a:bodyPr wrap="square" lIns="0" rIns="0" tIns="0" bIns="0" anchor="ctr">
            <a:noAutofit/>
          </a:bodyPr>
          <a:lstStyle/>
          <a:p>
            <a:pPr algn="l"/>
            <a:r>
              <a:rPr sz="1400" b="0" i="0" lang="es-ES">
                <a:solidFill>
                  <a:srgbClr val="5A6577"/>
                </a:solidFill>
                <a:latin typeface="Calibri"/>
              </a:rPr>
              <a:t>Terminar en el BAC exige una eficiencia irreal</a:t>
            </a:r>
            <a:endParaRPr lang="es-ES" sz="1400"/>
          </a:p>
        </p:txBody>
      </p:sp>
      <p:sp>
        <p:nvSpPr>
          <p:cNvPr id="28" name="TextBox 27"/>
          <p:cNvSpPr txBox="1"/>
          <p:nvPr/>
        </p:nvSpPr>
        <p:spPr>
          <a:xfrm>
            <a:off x="8229600" y="3977639"/>
            <a:ext cx="3291840" cy="658368"/>
          </a:xfrm>
          <a:prstGeom prst="rect">
            <a:avLst/>
          </a:prstGeom>
          <a:noFill/>
        </p:spPr>
        <p:txBody>
          <a:bodyPr wrap="square" lIns="0" rIns="0" tIns="0" bIns="0" anchor="ctr">
            <a:noAutofit/>
          </a:bodyPr>
          <a:lstStyle/>
          <a:p>
            <a:pPr algn="l"/>
            <a:r>
              <a:rPr sz="1400" b="0" i="0" lang="es-ES">
                <a:solidFill>
                  <a:srgbClr val="1B2B48"/>
                </a:solidFill>
                <a:latin typeface="Calibri"/>
              </a:rPr>
              <a:t>Informar el EAC; evaluar cambio de línea base</a:t>
            </a:r>
            <a:endParaRPr lang="es-ES" sz="1400"/>
          </a:p>
        </p:txBody>
      </p:sp>
      <p:sp>
        <p:nvSpPr>
          <p:cNvPr id="29" name="Rounded Rectangle 28"/>
          <p:cNvSpPr/>
          <p:nvPr/>
        </p:nvSpPr>
        <p:spPr>
          <a:xfrm>
            <a:off x="548640" y="4700016"/>
            <a:ext cx="11064240" cy="658368"/>
          </a:xfrm>
          <a:prstGeom prst="roundRect">
            <a:avLst>
              <a:gd name="adj" fmla="val 11111"/>
            </a:avLst>
          </a:prstGeom>
          <a:solidFill>
            <a:srgbClr val="F3F5F9"/>
          </a:solidFill>
          <a:ln>
            <a:noFill/>
          </a:ln>
        </p:spPr>
        <p:txBody>
          <a:bodyPr rtlCol="0" anchor="ctr" wrap="square" lIns="73152" rIns="73152" tIns="73152" bIns="73152">
            <a:noAutofit/>
          </a:bodyPr>
          <a:lstStyle/>
          <a:p>
            <a:pPr algn="ctr"/>
          </a:p>
        </p:txBody>
      </p:sp>
      <p:sp>
        <p:nvSpPr>
          <p:cNvPr id="30" name="Oval 29"/>
          <p:cNvSpPr/>
          <p:nvPr/>
        </p:nvSpPr>
        <p:spPr>
          <a:xfrm>
            <a:off x="685800" y="4910328"/>
            <a:ext cx="237744" cy="237744"/>
          </a:xfrm>
          <a:prstGeom prst="ellipse">
            <a:avLst/>
          </a:prstGeom>
          <a:solidFill>
            <a:srgbClr val="F2C14E"/>
          </a:solidFill>
          <a:ln>
            <a:noFill/>
          </a:ln>
        </p:spPr>
        <p:txBody>
          <a:bodyPr rtlCol="0" anchor="ctr" wrap="square" lIns="0" rIns="0" tIns="0" bIns="0">
            <a:noAutofit/>
          </a:bodyPr>
          <a:lstStyle/>
          <a:p>
            <a:pPr algn="ctr"/>
            <a:r>
              <a:rPr sz="1400" b="1" i="0" lang="es-ES">
                <a:solidFill>
                  <a:srgbClr val="FFFFFF"/>
                </a:solidFill>
                <a:latin typeface="Calibri"/>
              </a:rPr>
              <a:t/>
            </a:r>
            <a:endParaRPr lang="es-ES" sz="1400"/>
          </a:p>
        </p:txBody>
      </p:sp>
      <p:sp>
        <p:nvSpPr>
          <p:cNvPr id="31" name="TextBox 30"/>
          <p:cNvSpPr txBox="1"/>
          <p:nvPr/>
        </p:nvSpPr>
        <p:spPr>
          <a:xfrm>
            <a:off x="1051560" y="4700016"/>
            <a:ext cx="2743200" cy="658368"/>
          </a:xfrm>
          <a:prstGeom prst="rect">
            <a:avLst/>
          </a:prstGeom>
          <a:noFill/>
        </p:spPr>
        <p:txBody>
          <a:bodyPr wrap="square" lIns="0" rIns="0" tIns="0" bIns="0" anchor="ctr">
            <a:noAutofit/>
          </a:bodyPr>
          <a:lstStyle/>
          <a:p>
            <a:pPr algn="l"/>
            <a:r>
              <a:rPr sz="1400" b="1" i="0" lang="es-ES">
                <a:solidFill>
                  <a:srgbClr val="1B2B48"/>
                </a:solidFill>
                <a:latin typeface="Calibri"/>
              </a:rPr>
              <a:t>CPI o SPI &gt; 1,05</a:t>
            </a:r>
            <a:endParaRPr lang="es-ES" sz="1400"/>
          </a:p>
        </p:txBody>
      </p:sp>
      <p:sp>
        <p:nvSpPr>
          <p:cNvPr id="32" name="TextBox 31"/>
          <p:cNvSpPr txBox="1"/>
          <p:nvPr/>
        </p:nvSpPr>
        <p:spPr>
          <a:xfrm>
            <a:off x="4023360" y="4700016"/>
            <a:ext cx="3931920" cy="658368"/>
          </a:xfrm>
          <a:prstGeom prst="rect">
            <a:avLst/>
          </a:prstGeom>
          <a:noFill/>
        </p:spPr>
        <p:txBody>
          <a:bodyPr wrap="square" lIns="0" rIns="0" tIns="0" bIns="0" anchor="ctr">
            <a:noAutofit/>
          </a:bodyPr>
          <a:lstStyle/>
          <a:p>
            <a:pPr algn="l"/>
            <a:r>
              <a:rPr sz="1400" b="0" i="0" lang="es-ES">
                <a:solidFill>
                  <a:srgbClr val="5A6577"/>
                </a:solidFill>
                <a:latin typeface="Calibri"/>
              </a:rPr>
              <a:t>Fuera del rango verde: ¿ahorro real o AC incompleto?</a:t>
            </a:r>
            <a:endParaRPr lang="es-ES" sz="1400"/>
          </a:p>
        </p:txBody>
      </p:sp>
      <p:sp>
        <p:nvSpPr>
          <p:cNvPr id="33" name="TextBox 32"/>
          <p:cNvSpPr txBox="1"/>
          <p:nvPr/>
        </p:nvSpPr>
        <p:spPr>
          <a:xfrm>
            <a:off x="8229600" y="4700016"/>
            <a:ext cx="3291840" cy="658368"/>
          </a:xfrm>
          <a:prstGeom prst="rect">
            <a:avLst/>
          </a:prstGeom>
          <a:noFill/>
        </p:spPr>
        <p:txBody>
          <a:bodyPr wrap="square" lIns="0" rIns="0" tIns="0" bIns="0" anchor="ctr">
            <a:noAutofit/>
          </a:bodyPr>
          <a:lstStyle/>
          <a:p>
            <a:pPr algn="l"/>
            <a:r>
              <a:rPr sz="1400" b="0" i="0" lang="es-ES">
                <a:solidFill>
                  <a:srgbClr val="1B2B48"/>
                </a:solidFill>
                <a:latin typeface="Calibri"/>
              </a:rPr>
              <a:t>Verificar AC, avance y métodos</a:t>
            </a:r>
            <a:endParaRPr lang="es-ES" sz="1400"/>
          </a:p>
        </p:txBody>
      </p:sp>
      <p:sp>
        <p:nvSpPr>
          <p:cNvPr id="34" name="Rounded Rectangle 33"/>
          <p:cNvSpPr/>
          <p:nvPr/>
        </p:nvSpPr>
        <p:spPr>
          <a:xfrm>
            <a:off x="548640" y="5422392"/>
            <a:ext cx="11064240" cy="658368"/>
          </a:xfrm>
          <a:prstGeom prst="roundRect">
            <a:avLst>
              <a:gd name="adj" fmla="val 11111"/>
            </a:avLst>
          </a:prstGeom>
          <a:solidFill>
            <a:srgbClr val="FFFFFF"/>
          </a:solidFill>
          <a:ln w="12700">
            <a:solidFill>
              <a:srgbClr val="D5DBE5"/>
            </a:solidFill>
          </a:ln>
        </p:spPr>
        <p:txBody>
          <a:bodyPr rtlCol="0" anchor="ctr" wrap="square" lIns="73152" rIns="73152" tIns="73152" bIns="73152">
            <a:noAutofit/>
          </a:bodyPr>
          <a:lstStyle/>
          <a:p>
            <a:pPr algn="ctr"/>
          </a:p>
        </p:txBody>
      </p:sp>
      <p:sp>
        <p:nvSpPr>
          <p:cNvPr id="35" name="Oval 34"/>
          <p:cNvSpPr/>
          <p:nvPr/>
        </p:nvSpPr>
        <p:spPr>
          <a:xfrm>
            <a:off x="685800" y="5632704"/>
            <a:ext cx="237744" cy="237744"/>
          </a:xfrm>
          <a:prstGeom prst="ellipse">
            <a:avLst/>
          </a:prstGeom>
          <a:solidFill>
            <a:srgbClr val="F2C14E"/>
          </a:solidFill>
          <a:ln>
            <a:noFill/>
          </a:ln>
        </p:spPr>
        <p:txBody>
          <a:bodyPr rtlCol="0" anchor="ctr" wrap="square" lIns="0" rIns="0" tIns="0" bIns="0">
            <a:noAutofit/>
          </a:bodyPr>
          <a:lstStyle/>
          <a:p>
            <a:pPr algn="ctr"/>
            <a:r>
              <a:rPr sz="1400" b="1" i="0" lang="es-ES">
                <a:solidFill>
                  <a:srgbClr val="FFFFFF"/>
                </a:solidFill>
                <a:latin typeface="Calibri"/>
              </a:rPr>
              <a:t/>
            </a:r>
            <a:endParaRPr lang="es-ES" sz="1400"/>
          </a:p>
        </p:txBody>
      </p:sp>
      <p:sp>
        <p:nvSpPr>
          <p:cNvPr id="36" name="TextBox 35"/>
          <p:cNvSpPr txBox="1"/>
          <p:nvPr/>
        </p:nvSpPr>
        <p:spPr>
          <a:xfrm>
            <a:off x="1051560" y="5422392"/>
            <a:ext cx="2743200" cy="658368"/>
          </a:xfrm>
          <a:prstGeom prst="rect">
            <a:avLst/>
          </a:prstGeom>
          <a:noFill/>
        </p:spPr>
        <p:txBody>
          <a:bodyPr wrap="square" lIns="0" rIns="0" tIns="0" bIns="0" anchor="ctr">
            <a:noAutofit/>
          </a:bodyPr>
          <a:lstStyle/>
          <a:p>
            <a:pPr algn="l"/>
            <a:r>
              <a:rPr sz="1400" b="1" i="0" lang="es-ES">
                <a:solidFill>
                  <a:srgbClr val="1B2B48"/>
                </a:solidFill>
                <a:latin typeface="Calibri"/>
              </a:rPr>
              <a:t>EV &gt; 0 con AC = 0</a:t>
            </a:r>
            <a:endParaRPr lang="es-ES" sz="1400"/>
          </a:p>
        </p:txBody>
      </p:sp>
      <p:sp>
        <p:nvSpPr>
          <p:cNvPr id="37" name="TextBox 36"/>
          <p:cNvSpPr txBox="1"/>
          <p:nvPr/>
        </p:nvSpPr>
        <p:spPr>
          <a:xfrm>
            <a:off x="4023360" y="5422392"/>
            <a:ext cx="3931920" cy="658368"/>
          </a:xfrm>
          <a:prstGeom prst="rect">
            <a:avLst/>
          </a:prstGeom>
          <a:noFill/>
        </p:spPr>
        <p:txBody>
          <a:bodyPr wrap="square" lIns="0" rIns="0" tIns="0" bIns="0" anchor="ctr">
            <a:noAutofit/>
          </a:bodyPr>
          <a:lstStyle/>
          <a:p>
            <a:pPr algn="l"/>
            <a:r>
              <a:rPr sz="1400" b="0" i="0" lang="es-ES">
                <a:solidFill>
                  <a:srgbClr val="5A6577"/>
                </a:solidFill>
                <a:latin typeface="Calibri"/>
              </a:rPr>
              <a:t>Costo real aún no registrado</a:t>
            </a:r>
            <a:endParaRPr lang="es-ES" sz="1400"/>
          </a:p>
        </p:txBody>
      </p:sp>
      <p:sp>
        <p:nvSpPr>
          <p:cNvPr id="38" name="TextBox 37"/>
          <p:cNvSpPr txBox="1"/>
          <p:nvPr/>
        </p:nvSpPr>
        <p:spPr>
          <a:xfrm>
            <a:off x="8229600" y="5422392"/>
            <a:ext cx="3291840" cy="658368"/>
          </a:xfrm>
          <a:prstGeom prst="rect">
            <a:avLst/>
          </a:prstGeom>
          <a:noFill/>
        </p:spPr>
        <p:txBody>
          <a:bodyPr wrap="square" lIns="0" rIns="0" tIns="0" bIns="0" anchor="ctr">
            <a:noAutofit/>
          </a:bodyPr>
          <a:lstStyle/>
          <a:p>
            <a:pPr algn="l"/>
            <a:r>
              <a:rPr sz="1400" b="0" i="0" lang="es-ES">
                <a:solidFill>
                  <a:srgbClr val="1B2B48"/>
                </a:solidFill>
                <a:latin typeface="Calibri"/>
              </a:rPr>
              <a:t>Completar el AC devengado del mes</a:t>
            </a:r>
            <a:endParaRPr lang="es-ES" sz="140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Análisis de desviaciones: cada desviación, explicada</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INTERPRETAR</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35</a:t>
            </a:fld>
            <a:endParaRPr lang="es-ES" sz="1000"/>
          </a:p>
        </p:txBody>
      </p:sp>
      <p:sp>
        <p:nvSpPr>
          <p:cNvPr id="22" name="Rounded Rectangle 21"/>
          <p:cNvSpPr/>
          <p:nvPr/>
        </p:nvSpPr>
        <p:spPr>
          <a:xfrm>
            <a:off x="548640" y="4279076"/>
            <a:ext cx="3566160" cy="1005840"/>
          </a:xfrm>
          <a:prstGeom prst="roundRect">
            <a:avLst>
              <a:gd name="adj" fmla="val 11428"/>
            </a:avLst>
          </a:prstGeom>
          <a:solidFill>
            <a:srgbClr val="F3F5F9"/>
          </a:solidFill>
          <a:ln>
            <a:noFill/>
          </a:ln>
        </p:spPr>
        <p:txBody>
          <a:bodyPr rtlCol="0" anchor="ctr" wrap="square" lIns="164592" rIns="164592" tIns="164592" bIns="164592">
            <a:noAutofit/>
          </a:bodyPr>
          <a:lstStyle/>
          <a:p>
            <a:pPr algn="l">
              <a:spcAft>
                <a:spcPts val="200"/>
              </a:spcAft>
            </a:pPr>
            <a:r>
              <a:rPr sz="1500" b="1" i="0" lang="es-ES">
                <a:solidFill>
                  <a:srgbClr val="1B2B48"/>
                </a:solidFill>
                <a:latin typeface="Calibri"/>
              </a:rPr>
              <a:t>Qué lista</a:t>
            </a:r>
            <a:endParaRPr lang="es-ES" sz="1300"/>
          </a:p>
          <a:p>
            <a:pPr algn="l"/>
            <a:r>
              <a:rPr sz="1300" b="0" i="0" lang="es-ES">
                <a:solidFill>
                  <a:srgbClr val="5A6577"/>
                </a:solidFill>
                <a:latin typeface="Calibri"/>
              </a:rPr>
              <a:t>Paquetes con SPI o CPI fuera del rango verde, por debajo o por encima</a:t>
            </a:r>
            <a:endParaRPr lang="es-ES" sz="1300"/>
          </a:p>
        </p:txBody>
      </p:sp>
      <p:sp>
        <p:nvSpPr>
          <p:cNvPr id="23" name="Rounded Rectangle 22"/>
          <p:cNvSpPr/>
          <p:nvPr/>
        </p:nvSpPr>
        <p:spPr>
          <a:xfrm>
            <a:off x="4270248" y="4279076"/>
            <a:ext cx="3566160" cy="1005840"/>
          </a:xfrm>
          <a:prstGeom prst="roundRect">
            <a:avLst>
              <a:gd name="adj" fmla="val 11428"/>
            </a:avLst>
          </a:prstGeom>
          <a:solidFill>
            <a:srgbClr val="F3F5F9"/>
          </a:solidFill>
          <a:ln>
            <a:noFill/>
          </a:ln>
        </p:spPr>
        <p:txBody>
          <a:bodyPr rtlCol="0" anchor="ctr" wrap="square" lIns="164592" rIns="164592" tIns="164592" bIns="164592">
            <a:noAutofit/>
          </a:bodyPr>
          <a:lstStyle/>
          <a:p>
            <a:pPr algn="l">
              <a:spcAft>
                <a:spcPts val="200"/>
              </a:spcAft>
            </a:pPr>
            <a:r>
              <a:rPr sz="1500" b="1" i="0" lang="es-ES">
                <a:solidFill>
                  <a:srgbClr val="1B2B48"/>
                </a:solidFill>
                <a:latin typeface="Calibri"/>
              </a:rPr>
              <a:t>Qué se completa</a:t>
            </a:r>
            <a:endParaRPr lang="es-ES" sz="1300"/>
          </a:p>
          <a:p>
            <a:pPr algn="l"/>
            <a:r>
              <a:rPr sz="1300" b="0" i="0" lang="es-ES">
                <a:solidFill>
                  <a:srgbClr val="5A6577"/>
                </a:solidFill>
                <a:latin typeface="Calibri"/>
              </a:rPr>
              <a:t>Causa, impacto, acción correctiva, responsable y fecha compromiso</a:t>
            </a:r>
            <a:endParaRPr lang="es-ES" sz="1300"/>
          </a:p>
        </p:txBody>
      </p:sp>
      <p:sp>
        <p:nvSpPr>
          <p:cNvPr id="24" name="Rounded Rectangle 23"/>
          <p:cNvSpPr/>
          <p:nvPr/>
        </p:nvSpPr>
        <p:spPr>
          <a:xfrm>
            <a:off x="7991856" y="4279076"/>
            <a:ext cx="3566160" cy="1005840"/>
          </a:xfrm>
          <a:prstGeom prst="roundRect">
            <a:avLst>
              <a:gd name="adj" fmla="val 11428"/>
            </a:avLst>
          </a:prstGeom>
          <a:solidFill>
            <a:srgbClr val="F3F5F9"/>
          </a:solidFill>
          <a:ln>
            <a:noFill/>
          </a:ln>
        </p:spPr>
        <p:txBody>
          <a:bodyPr rtlCol="0" anchor="ctr" wrap="square" lIns="164592" rIns="164592" tIns="164592" bIns="164592">
            <a:noAutofit/>
          </a:bodyPr>
          <a:lstStyle/>
          <a:p>
            <a:pPr algn="l">
              <a:spcAft>
                <a:spcPts val="200"/>
              </a:spcAft>
            </a:pPr>
            <a:r>
              <a:rPr sz="1500" b="1" i="0" lang="es-ES">
                <a:solidFill>
                  <a:srgbClr val="1B2B48"/>
                </a:solidFill>
                <a:latin typeface="Calibri"/>
              </a:rPr>
              <a:t>Qué se conserva</a:t>
            </a:r>
            <a:endParaRPr lang="es-ES" sz="1300"/>
          </a:p>
          <a:p>
            <a:pPr algn="l"/>
            <a:r>
              <a:rPr sz="1300" b="0" i="0" lang="es-ES">
                <a:solidFill>
                  <a:srgbClr val="5A6577"/>
                </a:solidFill>
                <a:latin typeface="Calibri"/>
              </a:rPr>
              <a:t>El texto, al actualizar y al regenerar; el del mes anterior se copia para revisarlo</a:t>
            </a:r>
            <a:endParaRPr lang="es-ES" sz="1300"/>
          </a:p>
        </p:txBody>
      </p:sp>
      <p:sp>
        <p:nvSpPr>
          <p:cNvPr id="25" name="TextBox 24"/>
          <p:cNvSpPr txBox="1"/>
          <p:nvPr/>
        </p:nvSpPr>
        <p:spPr>
          <a:xfrm>
            <a:off x="548640" y="5449508"/>
            <a:ext cx="11064240" cy="365760"/>
          </a:xfrm>
          <a:prstGeom prst="rect">
            <a:avLst/>
          </a:prstGeom>
          <a:noFill/>
        </p:spPr>
        <p:txBody>
          <a:bodyPr wrap="square" lIns="0" rIns="0" tIns="0" bIns="0" anchor="t">
            <a:noAutofit/>
          </a:bodyPr>
          <a:lstStyle/>
          <a:p>
            <a:pPr algn="l"/>
            <a:r>
              <a:rPr sz="1400" b="1" i="0" lang="es-ES">
                <a:solidFill>
                  <a:srgbClr val="1B2B48"/>
                </a:solidFill>
                <a:latin typeface="Consolas"/>
              </a:rPr>
              <a:t>analizar</a:t>
            </a:r>
            <a:r>
              <a:rPr sz="1400" b="0" i="0" lang="es-ES">
                <a:solidFill>
                  <a:srgbClr val="1B2B48"/>
                </a:solidFill>
                <a:latin typeface="Calibri"/>
              </a:rPr>
              <a:t> vuelve a calcular la lista sin leer MS Project, después de cargar a mano el AC del ERP</a:t>
            </a:r>
            <a:endParaRPr lang="es-ES" sz="1400"/>
          </a:p>
        </p:txBody>
      </p:sp>
      <p:pic>
        <p:nvPicPr>
          <p:cNvPr id="26" name="Picture 25" descr="analisis-desviaciones.png"/>
          <p:cNvPicPr>
            <a:picLocks noChangeAspect="1"/>
          </p:cNvPicPr>
          <p:nvPr/>
        </p:nvPicPr>
        <p:blipFill>
          <a:blip r:embed="rId4"/>
          <a:stretch>
            <a:fillRect/>
          </a:stretch>
        </p:blipFill>
        <p:spPr>
          <a:xfrm>
            <a:off x="548640" y="1417320"/>
            <a:ext cx="11064240" cy="2633156"/>
          </a:xfrm>
          <a:prstGeom prst="rect">
            <a:avLst/>
          </a:prstGeom>
          <a:ln w="9525">
            <a:solidFill>
              <a:srgbClr val="D9D9D9"/>
            </a:solidFill>
          </a:ln>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1B2B48"/>
                </a:solidFill>
                <a:latin typeface="Calibri"/>
              </a:rPr>
              <a:t>El cierre mensual: calendario y responsables</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8A5A00"/>
                </a:solidFill>
                <a:latin typeface="Calibri"/>
              </a:rPr>
              <a:t>PROCESO</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5A6577"/>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5A6577"/>
                </a:solidFill>
                <a:latin typeface="Calibri"/>
              </a:rPr>
              <a:t>36</a:t>
            </a:fld>
            <a:endParaRPr lang="es-ES" sz="1000"/>
          </a:p>
        </p:txBody>
      </p:sp>
      <p:sp>
        <p:nvSpPr>
          <p:cNvPr id="6" name="TextBox 5"/>
          <p:cNvSpPr txBox="1"/>
          <p:nvPr/>
        </p:nvSpPr>
        <p:spPr>
          <a:xfrm>
            <a:off x="4937760" y="1463040"/>
            <a:ext cx="950976" cy="320040"/>
          </a:xfrm>
          <a:prstGeom prst="rect">
            <a:avLst/>
          </a:prstGeom>
          <a:noFill/>
        </p:spPr>
        <p:txBody>
          <a:bodyPr wrap="square" lIns="0" rIns="0" tIns="0" bIns="0" anchor="t">
            <a:noAutofit/>
          </a:bodyPr>
          <a:lstStyle/>
          <a:p>
            <a:pPr algn="ctr"/>
            <a:r>
              <a:rPr sz="1300" b="1" i="0" lang="es-ES">
                <a:solidFill>
                  <a:srgbClr val="5A6577"/>
                </a:solidFill>
                <a:latin typeface="Calibri"/>
              </a:rPr>
              <a:t>D+1</a:t>
            </a:r>
            <a:endParaRPr lang="es-ES" sz="1300"/>
          </a:p>
        </p:txBody>
      </p:sp>
      <p:sp>
        <p:nvSpPr>
          <p:cNvPr id="7" name="TextBox 6"/>
          <p:cNvSpPr txBox="1"/>
          <p:nvPr/>
        </p:nvSpPr>
        <p:spPr>
          <a:xfrm>
            <a:off x="5888736" y="1463040"/>
            <a:ext cx="950976" cy="320040"/>
          </a:xfrm>
          <a:prstGeom prst="rect">
            <a:avLst/>
          </a:prstGeom>
          <a:noFill/>
        </p:spPr>
        <p:txBody>
          <a:bodyPr wrap="square" lIns="0" rIns="0" tIns="0" bIns="0" anchor="t">
            <a:noAutofit/>
          </a:bodyPr>
          <a:lstStyle/>
          <a:p>
            <a:pPr algn="ctr"/>
            <a:r>
              <a:rPr sz="1300" b="1" i="0" lang="es-ES">
                <a:solidFill>
                  <a:srgbClr val="5A6577"/>
                </a:solidFill>
                <a:latin typeface="Calibri"/>
              </a:rPr>
              <a:t>D+2</a:t>
            </a:r>
            <a:endParaRPr lang="es-ES" sz="1300"/>
          </a:p>
        </p:txBody>
      </p:sp>
      <p:cxnSp>
        <p:nvCxnSpPr>
          <p:cNvPr id="8" name="Connector 7"/>
          <p:cNvCxnSpPr/>
          <p:nvPr/>
        </p:nvCxnSpPr>
        <p:spPr>
          <a:xfrm>
            <a:off x="5888736" y="1828800"/>
            <a:ext cx="0" cy="3840480"/>
          </a:xfrm>
          <a:prstGeom prst="line">
            <a:avLst/>
          </a:prstGeom>
          <a:ln w="12700">
            <a:solidFill>
              <a:srgbClr val="E8ECF2"/>
            </a:solidFill>
          </a:ln>
        </p:spPr>
      </p:cxnSp>
      <p:sp>
        <p:nvSpPr>
          <p:cNvPr id="9" name="TextBox 8"/>
          <p:cNvSpPr txBox="1"/>
          <p:nvPr/>
        </p:nvSpPr>
        <p:spPr>
          <a:xfrm>
            <a:off x="6839712" y="1463040"/>
            <a:ext cx="950976" cy="320040"/>
          </a:xfrm>
          <a:prstGeom prst="rect">
            <a:avLst/>
          </a:prstGeom>
          <a:noFill/>
        </p:spPr>
        <p:txBody>
          <a:bodyPr wrap="square" lIns="0" rIns="0" tIns="0" bIns="0" anchor="t">
            <a:noAutofit/>
          </a:bodyPr>
          <a:lstStyle/>
          <a:p>
            <a:pPr algn="ctr"/>
            <a:r>
              <a:rPr sz="1300" b="1" i="0" lang="es-ES">
                <a:solidFill>
                  <a:srgbClr val="5A6577"/>
                </a:solidFill>
                <a:latin typeface="Calibri"/>
              </a:rPr>
              <a:t>D+3</a:t>
            </a:r>
            <a:endParaRPr lang="es-ES" sz="1300"/>
          </a:p>
        </p:txBody>
      </p:sp>
      <p:cxnSp>
        <p:nvCxnSpPr>
          <p:cNvPr id="10" name="Connector 9"/>
          <p:cNvCxnSpPr/>
          <p:nvPr/>
        </p:nvCxnSpPr>
        <p:spPr>
          <a:xfrm>
            <a:off x="6839712" y="1828800"/>
            <a:ext cx="0" cy="3840480"/>
          </a:xfrm>
          <a:prstGeom prst="line">
            <a:avLst/>
          </a:prstGeom>
          <a:ln w="12700">
            <a:solidFill>
              <a:srgbClr val="E8ECF2"/>
            </a:solidFill>
          </a:ln>
        </p:spPr>
      </p:cxnSp>
      <p:sp>
        <p:nvSpPr>
          <p:cNvPr id="11" name="TextBox 10"/>
          <p:cNvSpPr txBox="1"/>
          <p:nvPr/>
        </p:nvSpPr>
        <p:spPr>
          <a:xfrm>
            <a:off x="7790688" y="1463040"/>
            <a:ext cx="950976" cy="320040"/>
          </a:xfrm>
          <a:prstGeom prst="rect">
            <a:avLst/>
          </a:prstGeom>
          <a:noFill/>
        </p:spPr>
        <p:txBody>
          <a:bodyPr wrap="square" lIns="0" rIns="0" tIns="0" bIns="0" anchor="t">
            <a:noAutofit/>
          </a:bodyPr>
          <a:lstStyle/>
          <a:p>
            <a:pPr algn="ctr"/>
            <a:r>
              <a:rPr sz="1300" b="1" i="0" lang="es-ES">
                <a:solidFill>
                  <a:srgbClr val="5A6577"/>
                </a:solidFill>
                <a:latin typeface="Calibri"/>
              </a:rPr>
              <a:t>D+4</a:t>
            </a:r>
            <a:endParaRPr lang="es-ES" sz="1300"/>
          </a:p>
        </p:txBody>
      </p:sp>
      <p:cxnSp>
        <p:nvCxnSpPr>
          <p:cNvPr id="12" name="Connector 11"/>
          <p:cNvCxnSpPr/>
          <p:nvPr/>
        </p:nvCxnSpPr>
        <p:spPr>
          <a:xfrm>
            <a:off x="7790688" y="1828800"/>
            <a:ext cx="0" cy="3840480"/>
          </a:xfrm>
          <a:prstGeom prst="line">
            <a:avLst/>
          </a:prstGeom>
          <a:ln w="12700">
            <a:solidFill>
              <a:srgbClr val="E8ECF2"/>
            </a:solidFill>
          </a:ln>
        </p:spPr>
      </p:cxnSp>
      <p:sp>
        <p:nvSpPr>
          <p:cNvPr id="13" name="TextBox 12"/>
          <p:cNvSpPr txBox="1"/>
          <p:nvPr/>
        </p:nvSpPr>
        <p:spPr>
          <a:xfrm>
            <a:off x="8741664" y="1463040"/>
            <a:ext cx="950976" cy="320040"/>
          </a:xfrm>
          <a:prstGeom prst="rect">
            <a:avLst/>
          </a:prstGeom>
          <a:noFill/>
        </p:spPr>
        <p:txBody>
          <a:bodyPr wrap="square" lIns="0" rIns="0" tIns="0" bIns="0" anchor="t">
            <a:noAutofit/>
          </a:bodyPr>
          <a:lstStyle/>
          <a:p>
            <a:pPr algn="ctr"/>
            <a:r>
              <a:rPr sz="1300" b="1" i="0" lang="es-ES">
                <a:solidFill>
                  <a:srgbClr val="5A6577"/>
                </a:solidFill>
                <a:latin typeface="Calibri"/>
              </a:rPr>
              <a:t>D+5</a:t>
            </a:r>
            <a:endParaRPr lang="es-ES" sz="1300"/>
          </a:p>
        </p:txBody>
      </p:sp>
      <p:cxnSp>
        <p:nvCxnSpPr>
          <p:cNvPr id="14" name="Connector 13"/>
          <p:cNvCxnSpPr/>
          <p:nvPr/>
        </p:nvCxnSpPr>
        <p:spPr>
          <a:xfrm>
            <a:off x="8741664" y="1828800"/>
            <a:ext cx="0" cy="3840480"/>
          </a:xfrm>
          <a:prstGeom prst="line">
            <a:avLst/>
          </a:prstGeom>
          <a:ln w="12700">
            <a:solidFill>
              <a:srgbClr val="E8ECF2"/>
            </a:solidFill>
          </a:ln>
        </p:spPr>
      </p:cxnSp>
      <p:sp>
        <p:nvSpPr>
          <p:cNvPr id="15" name="TextBox 14"/>
          <p:cNvSpPr txBox="1"/>
          <p:nvPr/>
        </p:nvSpPr>
        <p:spPr>
          <a:xfrm>
            <a:off x="9692640" y="1463040"/>
            <a:ext cx="950976" cy="320040"/>
          </a:xfrm>
          <a:prstGeom prst="rect">
            <a:avLst/>
          </a:prstGeom>
          <a:noFill/>
        </p:spPr>
        <p:txBody>
          <a:bodyPr wrap="square" lIns="0" rIns="0" tIns="0" bIns="0" anchor="t">
            <a:noAutofit/>
          </a:bodyPr>
          <a:lstStyle/>
          <a:p>
            <a:pPr algn="ctr"/>
            <a:r>
              <a:rPr sz="1300" b="1" i="0" lang="es-ES">
                <a:solidFill>
                  <a:srgbClr val="5A6577"/>
                </a:solidFill>
                <a:latin typeface="Calibri"/>
              </a:rPr>
              <a:t>D+6</a:t>
            </a:r>
            <a:endParaRPr lang="es-ES" sz="1300"/>
          </a:p>
        </p:txBody>
      </p:sp>
      <p:cxnSp>
        <p:nvCxnSpPr>
          <p:cNvPr id="16" name="Connector 15"/>
          <p:cNvCxnSpPr/>
          <p:nvPr/>
        </p:nvCxnSpPr>
        <p:spPr>
          <a:xfrm>
            <a:off x="9692640" y="1828800"/>
            <a:ext cx="0" cy="3840480"/>
          </a:xfrm>
          <a:prstGeom prst="line">
            <a:avLst/>
          </a:prstGeom>
          <a:ln w="12700">
            <a:solidFill>
              <a:srgbClr val="E8ECF2"/>
            </a:solidFill>
          </a:ln>
        </p:spPr>
      </p:cxnSp>
      <p:sp>
        <p:nvSpPr>
          <p:cNvPr id="17" name="TextBox 16"/>
          <p:cNvSpPr txBox="1"/>
          <p:nvPr/>
        </p:nvSpPr>
        <p:spPr>
          <a:xfrm>
            <a:off x="10643616" y="1463040"/>
            <a:ext cx="950976" cy="320040"/>
          </a:xfrm>
          <a:prstGeom prst="rect">
            <a:avLst/>
          </a:prstGeom>
          <a:noFill/>
        </p:spPr>
        <p:txBody>
          <a:bodyPr wrap="square" lIns="0" rIns="0" tIns="0" bIns="0" anchor="t">
            <a:noAutofit/>
          </a:bodyPr>
          <a:lstStyle/>
          <a:p>
            <a:pPr algn="ctr"/>
            <a:r>
              <a:rPr sz="1300" b="1" i="0" lang="es-ES">
                <a:solidFill>
                  <a:srgbClr val="5A6577"/>
                </a:solidFill>
                <a:latin typeface="Calibri"/>
              </a:rPr>
              <a:t>D+7</a:t>
            </a:r>
            <a:endParaRPr lang="es-ES" sz="1300"/>
          </a:p>
        </p:txBody>
      </p:sp>
      <p:cxnSp>
        <p:nvCxnSpPr>
          <p:cNvPr id="18" name="Connector 17"/>
          <p:cNvCxnSpPr/>
          <p:nvPr/>
        </p:nvCxnSpPr>
        <p:spPr>
          <a:xfrm>
            <a:off x="10643616" y="1828800"/>
            <a:ext cx="0" cy="3840480"/>
          </a:xfrm>
          <a:prstGeom prst="line">
            <a:avLst/>
          </a:prstGeom>
          <a:ln w="12700">
            <a:solidFill>
              <a:srgbClr val="E8ECF2"/>
            </a:solidFill>
          </a:ln>
        </p:spPr>
      </p:cxnSp>
      <p:sp>
        <p:nvSpPr>
          <p:cNvPr id="19" name="TextBox 18"/>
          <p:cNvSpPr txBox="1"/>
          <p:nvPr/>
        </p:nvSpPr>
        <p:spPr>
          <a:xfrm>
            <a:off x="548640" y="1874519"/>
            <a:ext cx="4297680" cy="566928"/>
          </a:xfrm>
          <a:prstGeom prst="rect">
            <a:avLst/>
          </a:prstGeom>
          <a:noFill/>
        </p:spPr>
        <p:txBody>
          <a:bodyPr wrap="square" lIns="0" rIns="0" tIns="0" bIns="0" anchor="ctr">
            <a:noAutofit/>
          </a:bodyPr>
          <a:lstStyle/>
          <a:p>
            <a:pPr algn="l"/>
            <a:r>
              <a:rPr sz="1400" b="1" i="0" lang="es-ES">
                <a:solidFill>
                  <a:srgbClr val="1B2B48"/>
                </a:solidFill>
                <a:latin typeface="Calibri"/>
              </a:rPr>
              <a:t>Avance físico de los paquetes</a:t>
            </a:r>
            <a:endParaRPr lang="es-ES" sz="1400"/>
          </a:p>
          <a:p>
            <a:pPr algn="l"/>
            <a:r>
              <a:rPr sz="1200" b="0" i="0" lang="es-ES">
                <a:solidFill>
                  <a:srgbClr val="5A6577"/>
                </a:solidFill>
                <a:latin typeface="Calibri"/>
              </a:rPr>
              <a:t>Responsables de paquete</a:t>
            </a:r>
            <a:endParaRPr lang="es-ES" sz="1400"/>
          </a:p>
        </p:txBody>
      </p:sp>
      <p:sp>
        <p:nvSpPr>
          <p:cNvPr id="20" name="Rounded Rectangle 19"/>
          <p:cNvSpPr/>
          <p:nvPr/>
        </p:nvSpPr>
        <p:spPr>
          <a:xfrm>
            <a:off x="4983480" y="1984248"/>
            <a:ext cx="1810512" cy="384048"/>
          </a:xfrm>
          <a:prstGeom prst="roundRect">
            <a:avLst>
              <a:gd name="adj" fmla="val 23809"/>
            </a:avLst>
          </a:prstGeom>
          <a:solidFill>
            <a:srgbClr val="2F5597"/>
          </a:solidFill>
          <a:ln>
            <a:noFill/>
          </a:ln>
        </p:spPr>
        <p:txBody>
          <a:bodyPr rtlCol="0" anchor="ctr" wrap="square" lIns="73152" rIns="73152" tIns="73152" bIns="73152">
            <a:noAutofit/>
          </a:bodyPr>
          <a:lstStyle/>
          <a:p>
            <a:pPr algn="ctr"/>
          </a:p>
        </p:txBody>
      </p:sp>
      <p:sp>
        <p:nvSpPr>
          <p:cNvPr id="21" name="TextBox 20"/>
          <p:cNvSpPr txBox="1"/>
          <p:nvPr/>
        </p:nvSpPr>
        <p:spPr>
          <a:xfrm>
            <a:off x="548640" y="2514600"/>
            <a:ext cx="4297680" cy="566928"/>
          </a:xfrm>
          <a:prstGeom prst="rect">
            <a:avLst/>
          </a:prstGeom>
          <a:noFill/>
        </p:spPr>
        <p:txBody>
          <a:bodyPr wrap="square" lIns="0" rIns="0" tIns="0" bIns="0" anchor="ctr">
            <a:noAutofit/>
          </a:bodyPr>
          <a:lstStyle/>
          <a:p>
            <a:pPr algn="l"/>
            <a:r>
              <a:rPr sz="1400" b="1" i="0" lang="es-ES">
                <a:solidFill>
                  <a:srgbClr val="1B2B48"/>
                </a:solidFill>
                <a:latin typeface="Calibri"/>
              </a:rPr>
              <a:t>Costo real devengado (ERP)</a:t>
            </a:r>
            <a:endParaRPr lang="es-ES" sz="1400"/>
          </a:p>
          <a:p>
            <a:pPr algn="l"/>
            <a:r>
              <a:rPr sz="1200" b="0" i="0" lang="es-ES">
                <a:solidFill>
                  <a:srgbClr val="5A6577"/>
                </a:solidFill>
                <a:latin typeface="Calibri"/>
              </a:rPr>
              <a:t>Finanzas</a:t>
            </a:r>
            <a:endParaRPr lang="es-ES" sz="1400"/>
          </a:p>
        </p:txBody>
      </p:sp>
      <p:sp>
        <p:nvSpPr>
          <p:cNvPr id="22" name="Rounded Rectangle 21"/>
          <p:cNvSpPr/>
          <p:nvPr/>
        </p:nvSpPr>
        <p:spPr>
          <a:xfrm>
            <a:off x="4983480" y="2624328"/>
            <a:ext cx="2761488" cy="384048"/>
          </a:xfrm>
          <a:prstGeom prst="roundRect">
            <a:avLst>
              <a:gd name="adj" fmla="val 23809"/>
            </a:avLst>
          </a:prstGeom>
          <a:solidFill>
            <a:srgbClr val="2F5597"/>
          </a:solidFill>
          <a:ln>
            <a:noFill/>
          </a:ln>
        </p:spPr>
        <p:txBody>
          <a:bodyPr rtlCol="0" anchor="ctr" wrap="square" lIns="73152" rIns="73152" tIns="73152" bIns="73152">
            <a:noAutofit/>
          </a:bodyPr>
          <a:lstStyle/>
          <a:p>
            <a:pPr algn="ctr"/>
          </a:p>
        </p:txBody>
      </p:sp>
      <p:sp>
        <p:nvSpPr>
          <p:cNvPr id="23" name="TextBox 22"/>
          <p:cNvSpPr txBox="1"/>
          <p:nvPr/>
        </p:nvSpPr>
        <p:spPr>
          <a:xfrm>
            <a:off x="548640" y="3154679"/>
            <a:ext cx="4297680" cy="566928"/>
          </a:xfrm>
          <a:prstGeom prst="rect">
            <a:avLst/>
          </a:prstGeom>
          <a:noFill/>
        </p:spPr>
        <p:txBody>
          <a:bodyPr wrap="square" lIns="0" rIns="0" tIns="0" bIns="0" anchor="ctr">
            <a:noAutofit/>
          </a:bodyPr>
          <a:lstStyle/>
          <a:p>
            <a:pPr algn="l"/>
            <a:r>
              <a:rPr sz="1400" b="1" i="0" lang="es-ES">
                <a:solidFill>
                  <a:srgbClr val="1B2B48"/>
                </a:solidFill>
                <a:latin typeface="Calibri"/>
              </a:rPr>
              <a:t>Fecha de estado, avance y validar</a:t>
            </a:r>
            <a:endParaRPr lang="es-ES" sz="1400"/>
          </a:p>
          <a:p>
            <a:pPr algn="l"/>
            <a:r>
              <a:rPr sz="1200" b="0" i="0" lang="es-ES">
                <a:solidFill>
                  <a:srgbClr val="5A6577"/>
                </a:solidFill>
                <a:latin typeface="Calibri"/>
              </a:rPr>
              <a:t>PMO / planificador</a:t>
            </a:r>
            <a:endParaRPr lang="es-ES" sz="1400"/>
          </a:p>
        </p:txBody>
      </p:sp>
      <p:sp>
        <p:nvSpPr>
          <p:cNvPr id="24" name="Rounded Rectangle 23"/>
          <p:cNvSpPr/>
          <p:nvPr/>
        </p:nvSpPr>
        <p:spPr>
          <a:xfrm>
            <a:off x="6885432" y="3264408"/>
            <a:ext cx="859536" cy="384048"/>
          </a:xfrm>
          <a:prstGeom prst="roundRect">
            <a:avLst>
              <a:gd name="adj" fmla="val 23809"/>
            </a:avLst>
          </a:prstGeom>
          <a:solidFill>
            <a:srgbClr val="2F5597"/>
          </a:solidFill>
          <a:ln>
            <a:noFill/>
          </a:ln>
        </p:spPr>
        <p:txBody>
          <a:bodyPr rtlCol="0" anchor="ctr" wrap="square" lIns="73152" rIns="73152" tIns="73152" bIns="73152">
            <a:noAutofit/>
          </a:bodyPr>
          <a:lstStyle/>
          <a:p>
            <a:pPr algn="ctr"/>
          </a:p>
        </p:txBody>
      </p:sp>
      <p:sp>
        <p:nvSpPr>
          <p:cNvPr id="25" name="TextBox 24"/>
          <p:cNvSpPr txBox="1"/>
          <p:nvPr/>
        </p:nvSpPr>
        <p:spPr>
          <a:xfrm>
            <a:off x="548640" y="3794759"/>
            <a:ext cx="4297680" cy="566928"/>
          </a:xfrm>
          <a:prstGeom prst="rect">
            <a:avLst/>
          </a:prstGeom>
          <a:noFill/>
        </p:spPr>
        <p:txBody>
          <a:bodyPr wrap="square" lIns="0" rIns="0" tIns="0" bIns="0" anchor="ctr">
            <a:noAutofit/>
          </a:bodyPr>
          <a:lstStyle/>
          <a:p>
            <a:pPr algn="l"/>
            <a:r>
              <a:rPr sz="1400" b="1" i="0" lang="es-ES">
                <a:solidFill>
                  <a:srgbClr val="1B2B48"/>
                </a:solidFill>
                <a:latin typeface="Calibri"/>
              </a:rPr>
              <a:t>actualizar, carga del AC y analizar</a:t>
            </a:r>
            <a:endParaRPr lang="es-ES" sz="1400"/>
          </a:p>
          <a:p>
            <a:pPr algn="l"/>
            <a:r>
              <a:rPr sz="1200" b="0" i="0" lang="es-ES">
                <a:solidFill>
                  <a:srgbClr val="5A6577"/>
                </a:solidFill>
                <a:latin typeface="Calibri"/>
              </a:rPr>
              <a:t>PMO / planificador</a:t>
            </a:r>
            <a:endParaRPr lang="es-ES" sz="1400"/>
          </a:p>
        </p:txBody>
      </p:sp>
      <p:sp>
        <p:nvSpPr>
          <p:cNvPr id="26" name="Rounded Rectangle 25"/>
          <p:cNvSpPr/>
          <p:nvPr/>
        </p:nvSpPr>
        <p:spPr>
          <a:xfrm>
            <a:off x="7836408" y="3904487"/>
            <a:ext cx="859536" cy="384048"/>
          </a:xfrm>
          <a:prstGeom prst="roundRect">
            <a:avLst>
              <a:gd name="adj" fmla="val 23809"/>
            </a:avLst>
          </a:prstGeom>
          <a:solidFill>
            <a:srgbClr val="F2B134"/>
          </a:solidFill>
          <a:ln>
            <a:noFill/>
          </a:ln>
        </p:spPr>
        <p:txBody>
          <a:bodyPr rtlCol="0" anchor="ctr" wrap="square" lIns="73152" rIns="73152" tIns="73152" bIns="73152">
            <a:noAutofit/>
          </a:bodyPr>
          <a:lstStyle/>
          <a:p>
            <a:pPr algn="ctr"/>
          </a:p>
        </p:txBody>
      </p:sp>
      <p:sp>
        <p:nvSpPr>
          <p:cNvPr id="27" name="TextBox 26"/>
          <p:cNvSpPr txBox="1"/>
          <p:nvPr/>
        </p:nvSpPr>
        <p:spPr>
          <a:xfrm>
            <a:off x="548640" y="4434840"/>
            <a:ext cx="4297680" cy="566928"/>
          </a:xfrm>
          <a:prstGeom prst="rect">
            <a:avLst/>
          </a:prstGeom>
          <a:noFill/>
        </p:spPr>
        <p:txBody>
          <a:bodyPr wrap="square" lIns="0" rIns="0" tIns="0" bIns="0" anchor="ctr">
            <a:noAutofit/>
          </a:bodyPr>
          <a:lstStyle/>
          <a:p>
            <a:pPr algn="l"/>
            <a:r>
              <a:rPr sz="1400" b="1" i="0" lang="es-ES">
                <a:solidFill>
                  <a:srgbClr val="1B2B48"/>
                </a:solidFill>
                <a:latin typeface="Calibri"/>
              </a:rPr>
              <a:t>Análisis de desviaciones y EAC</a:t>
            </a:r>
            <a:endParaRPr lang="es-ES" sz="1400"/>
          </a:p>
          <a:p>
            <a:pPr algn="l"/>
            <a:r>
              <a:rPr sz="1200" b="0" i="0" lang="es-ES">
                <a:solidFill>
                  <a:srgbClr val="5A6577"/>
                </a:solidFill>
                <a:latin typeface="Calibri"/>
              </a:rPr>
              <a:t>Jefe de Proyecto y responsables</a:t>
            </a:r>
            <a:endParaRPr lang="es-ES" sz="1400"/>
          </a:p>
        </p:txBody>
      </p:sp>
      <p:sp>
        <p:nvSpPr>
          <p:cNvPr id="28" name="Rounded Rectangle 27"/>
          <p:cNvSpPr/>
          <p:nvPr/>
        </p:nvSpPr>
        <p:spPr>
          <a:xfrm>
            <a:off x="8787384" y="4544568"/>
            <a:ext cx="1810512" cy="384048"/>
          </a:xfrm>
          <a:prstGeom prst="roundRect">
            <a:avLst>
              <a:gd name="adj" fmla="val 23809"/>
            </a:avLst>
          </a:prstGeom>
          <a:solidFill>
            <a:srgbClr val="4E8A3E"/>
          </a:solidFill>
          <a:ln>
            <a:noFill/>
          </a:ln>
        </p:spPr>
        <p:txBody>
          <a:bodyPr rtlCol="0" anchor="ctr" wrap="square" lIns="73152" rIns="73152" tIns="73152" bIns="73152">
            <a:noAutofit/>
          </a:bodyPr>
          <a:lstStyle/>
          <a:p>
            <a:pPr algn="ctr"/>
          </a:p>
        </p:txBody>
      </p:sp>
      <p:sp>
        <p:nvSpPr>
          <p:cNvPr id="29" name="TextBox 28"/>
          <p:cNvSpPr txBox="1"/>
          <p:nvPr/>
        </p:nvSpPr>
        <p:spPr>
          <a:xfrm>
            <a:off x="548640" y="5074920"/>
            <a:ext cx="4297680" cy="566928"/>
          </a:xfrm>
          <a:prstGeom prst="rect">
            <a:avLst/>
          </a:prstGeom>
          <a:noFill/>
        </p:spPr>
        <p:txBody>
          <a:bodyPr wrap="square" lIns="0" rIns="0" tIns="0" bIns="0" anchor="ctr">
            <a:noAutofit/>
          </a:bodyPr>
          <a:lstStyle/>
          <a:p>
            <a:pPr algn="l"/>
            <a:r>
              <a:rPr sz="1400" b="1" i="0" lang="es-ES">
                <a:solidFill>
                  <a:srgbClr val="1B2B48"/>
                </a:solidFill>
                <a:latin typeface="Calibri"/>
              </a:rPr>
              <a:t>Informe y reunión de seguimiento</a:t>
            </a:r>
            <a:endParaRPr lang="es-ES" sz="1400"/>
          </a:p>
          <a:p>
            <a:pPr algn="l"/>
            <a:r>
              <a:rPr sz="1200" b="0" i="0" lang="es-ES">
                <a:solidFill>
                  <a:srgbClr val="5A6577"/>
                </a:solidFill>
                <a:latin typeface="Calibri"/>
              </a:rPr>
              <a:t>Jefe de Proyecto</a:t>
            </a:r>
            <a:endParaRPr lang="es-ES" sz="1400"/>
          </a:p>
        </p:txBody>
      </p:sp>
      <p:sp>
        <p:nvSpPr>
          <p:cNvPr id="30" name="Rounded Rectangle 29"/>
          <p:cNvSpPr/>
          <p:nvPr/>
        </p:nvSpPr>
        <p:spPr>
          <a:xfrm>
            <a:off x="10689336" y="5184648"/>
            <a:ext cx="859536" cy="384048"/>
          </a:xfrm>
          <a:prstGeom prst="roundRect">
            <a:avLst>
              <a:gd name="adj" fmla="val 23809"/>
            </a:avLst>
          </a:prstGeom>
          <a:solidFill>
            <a:srgbClr val="4E8A3E"/>
          </a:solidFill>
          <a:ln>
            <a:noFill/>
          </a:ln>
        </p:spPr>
        <p:txBody>
          <a:bodyPr rtlCol="0" anchor="ctr" wrap="square" lIns="73152" rIns="73152" tIns="73152" bIns="73152">
            <a:noAutofit/>
          </a:bodyPr>
          <a:lstStyle/>
          <a:p>
            <a:pPr algn="ctr"/>
          </a:p>
        </p:txBody>
      </p:sp>
      <p:sp>
        <p:nvSpPr>
          <p:cNvPr id="31" name="Rounded Rectangle 30"/>
          <p:cNvSpPr/>
          <p:nvPr/>
        </p:nvSpPr>
        <p:spPr>
          <a:xfrm>
            <a:off x="548640" y="5833872"/>
            <a:ext cx="274320" cy="274320"/>
          </a:xfrm>
          <a:prstGeom prst="roundRect">
            <a:avLst>
              <a:gd name="adj" fmla="val 16666"/>
            </a:avLst>
          </a:prstGeom>
          <a:solidFill>
            <a:srgbClr val="2F5597"/>
          </a:solidFill>
          <a:ln>
            <a:noFill/>
          </a:ln>
        </p:spPr>
        <p:txBody>
          <a:bodyPr rtlCol="0" anchor="ctr" wrap="square" lIns="73152" rIns="73152" tIns="73152" bIns="73152">
            <a:noAutofit/>
          </a:bodyPr>
          <a:lstStyle/>
          <a:p>
            <a:pPr algn="ctr"/>
          </a:p>
        </p:txBody>
      </p:sp>
      <p:sp>
        <p:nvSpPr>
          <p:cNvPr id="32" name="TextBox 31"/>
          <p:cNvSpPr txBox="1"/>
          <p:nvPr/>
        </p:nvSpPr>
        <p:spPr>
          <a:xfrm>
            <a:off x="914400" y="5788152"/>
            <a:ext cx="2194560" cy="365760"/>
          </a:xfrm>
          <a:prstGeom prst="rect">
            <a:avLst/>
          </a:prstGeom>
          <a:noFill/>
        </p:spPr>
        <p:txBody>
          <a:bodyPr wrap="square" lIns="0" rIns="0" tIns="0" bIns="0" anchor="ctr">
            <a:noAutofit/>
          </a:bodyPr>
          <a:lstStyle/>
          <a:p>
            <a:pPr algn="l"/>
            <a:r>
              <a:rPr sz="1300" b="0" i="0" lang="es-ES">
                <a:solidFill>
                  <a:srgbClr val="5A6577"/>
                </a:solidFill>
                <a:latin typeface="Calibri"/>
              </a:rPr>
              <a:t>Datos</a:t>
            </a:r>
            <a:endParaRPr lang="es-ES" sz="1300"/>
          </a:p>
        </p:txBody>
      </p:sp>
      <p:sp>
        <p:nvSpPr>
          <p:cNvPr id="33" name="Rounded Rectangle 32"/>
          <p:cNvSpPr/>
          <p:nvPr/>
        </p:nvSpPr>
        <p:spPr>
          <a:xfrm>
            <a:off x="1828800" y="5833872"/>
            <a:ext cx="274320" cy="274320"/>
          </a:xfrm>
          <a:prstGeom prst="roundRect">
            <a:avLst>
              <a:gd name="adj" fmla="val 16666"/>
            </a:avLst>
          </a:prstGeom>
          <a:solidFill>
            <a:srgbClr val="F2B134"/>
          </a:solidFill>
          <a:ln>
            <a:noFill/>
          </a:ln>
        </p:spPr>
        <p:txBody>
          <a:bodyPr rtlCol="0" anchor="ctr" wrap="square" lIns="73152" rIns="73152" tIns="73152" bIns="73152">
            <a:noAutofit/>
          </a:bodyPr>
          <a:lstStyle/>
          <a:p>
            <a:pPr algn="ctr"/>
          </a:p>
        </p:txBody>
      </p:sp>
      <p:sp>
        <p:nvSpPr>
          <p:cNvPr id="34" name="TextBox 33"/>
          <p:cNvSpPr txBox="1"/>
          <p:nvPr/>
        </p:nvSpPr>
        <p:spPr>
          <a:xfrm>
            <a:off x="2194560" y="5788152"/>
            <a:ext cx="2194560" cy="365760"/>
          </a:xfrm>
          <a:prstGeom prst="rect">
            <a:avLst/>
          </a:prstGeom>
          <a:noFill/>
        </p:spPr>
        <p:txBody>
          <a:bodyPr wrap="square" lIns="0" rIns="0" tIns="0" bIns="0" anchor="ctr">
            <a:noAutofit/>
          </a:bodyPr>
          <a:lstStyle/>
          <a:p>
            <a:pPr algn="l"/>
            <a:r>
              <a:rPr sz="1300" b="0" i="0" lang="es-ES">
                <a:solidFill>
                  <a:srgbClr val="5A6577"/>
                </a:solidFill>
                <a:latin typeface="Calibri"/>
              </a:rPr>
              <a:t>Cálculo</a:t>
            </a:r>
            <a:endParaRPr lang="es-ES" sz="1300"/>
          </a:p>
        </p:txBody>
      </p:sp>
      <p:sp>
        <p:nvSpPr>
          <p:cNvPr id="35" name="Rounded Rectangle 34"/>
          <p:cNvSpPr/>
          <p:nvPr/>
        </p:nvSpPr>
        <p:spPr>
          <a:xfrm>
            <a:off x="3291840" y="5833872"/>
            <a:ext cx="274320" cy="274320"/>
          </a:xfrm>
          <a:prstGeom prst="roundRect">
            <a:avLst>
              <a:gd name="adj" fmla="val 16666"/>
            </a:avLst>
          </a:prstGeom>
          <a:solidFill>
            <a:srgbClr val="4E8A3E"/>
          </a:solidFill>
          <a:ln>
            <a:noFill/>
          </a:ln>
        </p:spPr>
        <p:txBody>
          <a:bodyPr rtlCol="0" anchor="ctr" wrap="square" lIns="73152" rIns="73152" tIns="73152" bIns="73152">
            <a:noAutofit/>
          </a:bodyPr>
          <a:lstStyle/>
          <a:p>
            <a:pPr algn="ctr"/>
          </a:p>
        </p:txBody>
      </p:sp>
      <p:sp>
        <p:nvSpPr>
          <p:cNvPr id="36" name="TextBox 35"/>
          <p:cNvSpPr txBox="1"/>
          <p:nvPr/>
        </p:nvSpPr>
        <p:spPr>
          <a:xfrm>
            <a:off x="3657600" y="5788152"/>
            <a:ext cx="2194560" cy="365760"/>
          </a:xfrm>
          <a:prstGeom prst="rect">
            <a:avLst/>
          </a:prstGeom>
          <a:noFill/>
        </p:spPr>
        <p:txBody>
          <a:bodyPr wrap="square" lIns="0" rIns="0" tIns="0" bIns="0" anchor="ctr">
            <a:noAutofit/>
          </a:bodyPr>
          <a:lstStyle/>
          <a:p>
            <a:pPr algn="l"/>
            <a:r>
              <a:rPr sz="1300" b="0" i="0" lang="es-ES">
                <a:solidFill>
                  <a:srgbClr val="5A6577"/>
                </a:solidFill>
                <a:latin typeface="Calibri"/>
              </a:rPr>
              <a:t>Análisis e informe</a:t>
            </a:r>
            <a:endParaRPr lang="es-ES" sz="1300"/>
          </a:p>
        </p:txBody>
      </p:sp>
      <p:sp>
        <p:nvSpPr>
          <p:cNvPr id="37" name="TextBox 36"/>
          <p:cNvSpPr txBox="1"/>
          <p:nvPr/>
        </p:nvSpPr>
        <p:spPr>
          <a:xfrm>
            <a:off x="4937760" y="5788152"/>
            <a:ext cx="6675120" cy="365760"/>
          </a:xfrm>
          <a:prstGeom prst="rect">
            <a:avLst/>
          </a:prstGeom>
          <a:noFill/>
        </p:spPr>
        <p:txBody>
          <a:bodyPr wrap="square" lIns="0" rIns="0" tIns="0" bIns="0" anchor="ctr">
            <a:noAutofit/>
          </a:bodyPr>
          <a:lstStyle/>
          <a:p>
            <a:pPr algn="r"/>
            <a:r>
              <a:rPr sz="1200" b="0" i="1" lang="es-ES">
                <a:solidFill>
                  <a:srgbClr val="5A6577"/>
                </a:solidFill>
                <a:latin typeface="Calibri"/>
              </a:rPr>
              <a:t>Días hábiles tras el fin de mes; adaptar a los plazos de contabilidad.</a:t>
            </a:r>
            <a:endParaRPr lang="es-ES" sz="1200"/>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B2B48"/>
        </a:solidFill>
        <a:effectLst/>
      </p:bgPr>
    </p:bg>
    <p:spTree>
      <p:nvGrpSpPr>
        <p:cNvPr id="1" name=""/>
        <p:cNvGrpSpPr/>
        <p:nvPr/>
      </p:nvGrpSpPr>
      <p:grpSpPr/>
      <p:sp>
        <p:nvSpPr>
          <p:cNvPr id="2" name="Title 1"/>
          <p:cNvSpPr>
            <a:spLocks noGrp="1"/>
          </p:cNvSpPr>
          <p:nvPr>
            <p:ph type="title"/>
          </p:nvPr>
        </p:nvSpPr>
        <p:spPr>
          <a:xfrm>
            <a:off x="548640" y="566928"/>
            <a:ext cx="11064240" cy="685800"/>
          </a:xfrm>
        </p:spPr>
        <p:txBody>
          <a:bodyPr wrap="square" lIns="0" rIns="0" tIns="0" bIns="0" anchor="t">
            <a:noAutofit/>
          </a:bodyPr>
          <a:lstStyle/>
          <a:p>
            <a:pPr algn="l"/>
            <a:r>
              <a:rPr sz="3200" b="1" i="0" lang="es-ES">
                <a:solidFill>
                  <a:srgbClr val="FFFFFF"/>
                </a:solidFill>
                <a:latin typeface="Calibri"/>
              </a:rPr>
              <a:t>Para llevarse</a:t>
            </a:r>
            <a:endParaRPr lang="es-ES" sz="3200"/>
          </a:p>
        </p:txBody>
      </p:sp>
      <p:sp>
        <p:nvSpPr>
          <p:cNvPr id="3" name="TextBox 2"/>
          <p:cNvSpPr txBox="1"/>
          <p:nvPr/>
        </p:nvSpPr>
        <p:spPr>
          <a:xfrm>
            <a:off x="548640" y="274320"/>
            <a:ext cx="7315200" cy="274320"/>
          </a:xfrm>
          <a:prstGeom prst="rect">
            <a:avLst/>
          </a:prstGeom>
          <a:noFill/>
        </p:spPr>
        <p:txBody>
          <a:bodyPr wrap="square" lIns="0" rIns="0" tIns="0" bIns="0" anchor="t">
            <a:noAutofit/>
          </a:bodyPr>
          <a:lstStyle/>
          <a:p>
            <a:pPr algn="l"/>
            <a:r>
              <a:rPr sz="1100" b="1" i="0" lang="es-ES" spc="120">
                <a:solidFill>
                  <a:srgbClr val="F2B134"/>
                </a:solidFill>
                <a:latin typeface="Calibri"/>
              </a:rPr>
              <a:t>RESUMEN</a:t>
            </a:r>
            <a:endParaRPr lang="es-ES" sz="1100"/>
          </a:p>
        </p:txBody>
      </p:sp>
      <p:sp>
        <p:nvSpPr>
          <p:cNvPr id="4" name="TextBox 3"/>
          <p:cNvSpPr txBox="1"/>
          <p:nvPr/>
        </p:nvSpPr>
        <p:spPr>
          <a:xfrm>
            <a:off x="548640" y="6400800"/>
            <a:ext cx="7315200" cy="274320"/>
          </a:xfrm>
          <a:prstGeom prst="rect">
            <a:avLst/>
          </a:prstGeom>
          <a:noFill/>
        </p:spPr>
        <p:txBody>
          <a:bodyPr wrap="square" lIns="0" rIns="0" tIns="0" bIns="0" anchor="t">
            <a:noAutofit/>
          </a:bodyPr>
          <a:lstStyle/>
          <a:p>
            <a:pPr algn="l"/>
            <a:r>
              <a:rPr sz="1000" b="0" i="0" lang="es-ES">
                <a:solidFill>
                  <a:srgbClr val="C9D3E3"/>
                </a:solidFill>
                <a:latin typeface="Calibri"/>
              </a:rPr>
              <a:t>Exportador EVM · Sesión para equipo de proyecto</a:t>
            </a:r>
            <a:endParaRPr lang="es-ES" sz="1000"/>
          </a:p>
        </p:txBody>
      </p:sp>
      <p:sp>
        <p:nvSpPr>
          <p:cNvPr id="5" name="TextBox 4"/>
          <p:cNvSpPr txBox="1"/>
          <p:nvPr/>
        </p:nvSpPr>
        <p:spPr>
          <a:xfrm>
            <a:off x="10725912" y="6400800"/>
            <a:ext cx="914400" cy="274320"/>
          </a:xfrm>
          <a:prstGeom prst="rect">
            <a:avLst/>
          </a:prstGeom>
          <a:noFill/>
        </p:spPr>
        <p:txBody>
          <a:bodyPr wrap="square" lIns="0" rIns="0" tIns="0" bIns="0" anchor="t">
            <a:noAutofit/>
          </a:bodyPr>
          <a:lstStyle/>
          <a:p>
            <a:pPr algn="r"/>
            <a:fld id="{B6F15528-21DE-4FAA-801E-634DDDAF4B2B}" type="slidenum">
              <a:rPr lang="es-ES" sz="1000">
                <a:solidFill>
                  <a:srgbClr val="C9D3E3"/>
                </a:solidFill>
                <a:latin typeface="Calibri"/>
              </a:rPr>
              <a:t>37</a:t>
            </a:fld>
            <a:endParaRPr lang="es-ES" sz="1000"/>
          </a:p>
        </p:txBody>
      </p:sp>
      <p:sp>
        <p:nvSpPr>
          <p:cNvPr id="6" name="Oval 5"/>
          <p:cNvSpPr/>
          <p:nvPr/>
        </p:nvSpPr>
        <p:spPr>
          <a:xfrm>
            <a:off x="585215" y="1545336"/>
            <a:ext cx="566928" cy="566928"/>
          </a:xfrm>
          <a:prstGeom prst="ellipse">
            <a:avLst/>
          </a:prstGeom>
          <a:solidFill>
            <a:srgbClr val="F2B134"/>
          </a:solidFill>
          <a:ln>
            <a:noFill/>
          </a:ln>
        </p:spPr>
        <p:txBody>
          <a:bodyPr rtlCol="0" anchor="ctr" wrap="square" lIns="0" rIns="0" tIns="0" bIns="0">
            <a:noAutofit/>
          </a:bodyPr>
          <a:lstStyle/>
          <a:p>
            <a:pPr algn="ctr"/>
            <a:r>
              <a:rPr sz="1800" b="1" i="0" lang="es-ES">
                <a:solidFill>
                  <a:srgbClr val="1B2B48"/>
                </a:solidFill>
                <a:latin typeface="Calibri"/>
              </a:rPr>
              <a:t>1</a:t>
            </a:r>
            <a:endParaRPr lang="es-ES" sz="1800"/>
          </a:p>
        </p:txBody>
      </p:sp>
      <p:sp>
        <p:nvSpPr>
          <p:cNvPr id="7" name="TextBox 6"/>
          <p:cNvSpPr txBox="1"/>
          <p:nvPr/>
        </p:nvSpPr>
        <p:spPr>
          <a:xfrm>
            <a:off x="1371600" y="1508760"/>
            <a:ext cx="5760720" cy="685800"/>
          </a:xfrm>
          <a:prstGeom prst="rect">
            <a:avLst/>
          </a:prstGeom>
          <a:noFill/>
        </p:spPr>
        <p:txBody>
          <a:bodyPr wrap="square" lIns="0" rIns="0" tIns="0" bIns="0" anchor="ctr">
            <a:noAutofit/>
          </a:bodyPr>
          <a:lstStyle/>
          <a:p>
            <a:pPr algn="l"/>
            <a:r>
              <a:rPr sz="1600" b="0" i="0" lang="es-ES">
                <a:solidFill>
                  <a:srgbClr val="FFFFFF"/>
                </a:solidFill>
                <a:latin typeface="Calibri"/>
              </a:rPr>
              <a:t>La línea base define el PV: se guarda una vez y solo cambia por control de cambios</a:t>
            </a:r>
            <a:endParaRPr lang="es-ES" sz="1600"/>
          </a:p>
        </p:txBody>
      </p:sp>
      <p:sp>
        <p:nvSpPr>
          <p:cNvPr id="8" name="Oval 7"/>
          <p:cNvSpPr/>
          <p:nvPr/>
        </p:nvSpPr>
        <p:spPr>
          <a:xfrm>
            <a:off x="585215" y="2414015"/>
            <a:ext cx="566928" cy="566928"/>
          </a:xfrm>
          <a:prstGeom prst="ellipse">
            <a:avLst/>
          </a:prstGeom>
          <a:solidFill>
            <a:srgbClr val="F2B134"/>
          </a:solidFill>
          <a:ln>
            <a:noFill/>
          </a:ln>
        </p:spPr>
        <p:txBody>
          <a:bodyPr rtlCol="0" anchor="ctr" wrap="square" lIns="0" rIns="0" tIns="0" bIns="0">
            <a:noAutofit/>
          </a:bodyPr>
          <a:lstStyle/>
          <a:p>
            <a:pPr algn="ctr"/>
            <a:r>
              <a:rPr sz="1800" b="1" i="0" lang="es-ES">
                <a:solidFill>
                  <a:srgbClr val="1B2B48"/>
                </a:solidFill>
                <a:latin typeface="Calibri"/>
              </a:rPr>
              <a:t>2</a:t>
            </a:r>
            <a:endParaRPr lang="es-ES" sz="1800"/>
          </a:p>
        </p:txBody>
      </p:sp>
      <p:sp>
        <p:nvSpPr>
          <p:cNvPr id="9" name="TextBox 8"/>
          <p:cNvSpPr txBox="1"/>
          <p:nvPr/>
        </p:nvSpPr>
        <p:spPr>
          <a:xfrm>
            <a:off x="1371600" y="2377439"/>
            <a:ext cx="5760720" cy="685800"/>
          </a:xfrm>
          <a:prstGeom prst="rect">
            <a:avLst/>
          </a:prstGeom>
          <a:noFill/>
        </p:spPr>
        <p:txBody>
          <a:bodyPr wrap="square" lIns="0" rIns="0" tIns="0" bIns="0" anchor="ctr">
            <a:noAutofit/>
          </a:bodyPr>
          <a:lstStyle/>
          <a:p>
            <a:pPr algn="l"/>
            <a:r>
              <a:rPr sz="1600" b="0" i="0" lang="es-ES">
                <a:solidFill>
                  <a:srgbClr val="FFFFFF"/>
                </a:solidFill>
                <a:latin typeface="Calibri"/>
              </a:rPr>
              <a:t>Sin importes en el cronograma: el BAC se ingresa en el libro</a:t>
            </a:r>
            <a:endParaRPr lang="es-ES" sz="1600"/>
          </a:p>
        </p:txBody>
      </p:sp>
      <p:sp>
        <p:nvSpPr>
          <p:cNvPr id="10" name="Oval 9"/>
          <p:cNvSpPr/>
          <p:nvPr/>
        </p:nvSpPr>
        <p:spPr>
          <a:xfrm>
            <a:off x="585215" y="3282696"/>
            <a:ext cx="566928" cy="566928"/>
          </a:xfrm>
          <a:prstGeom prst="ellipse">
            <a:avLst/>
          </a:prstGeom>
          <a:solidFill>
            <a:srgbClr val="F2B134"/>
          </a:solidFill>
          <a:ln>
            <a:noFill/>
          </a:ln>
        </p:spPr>
        <p:txBody>
          <a:bodyPr rtlCol="0" anchor="ctr" wrap="square" lIns="0" rIns="0" tIns="0" bIns="0">
            <a:noAutofit/>
          </a:bodyPr>
          <a:lstStyle/>
          <a:p>
            <a:pPr algn="ctr"/>
            <a:r>
              <a:rPr sz="1800" b="1" i="0" lang="es-ES">
                <a:solidFill>
                  <a:srgbClr val="1B2B48"/>
                </a:solidFill>
                <a:latin typeface="Calibri"/>
              </a:rPr>
              <a:t>3</a:t>
            </a:r>
            <a:endParaRPr lang="es-ES" sz="1800"/>
          </a:p>
        </p:txBody>
      </p:sp>
      <p:sp>
        <p:nvSpPr>
          <p:cNvPr id="11" name="TextBox 10"/>
          <p:cNvSpPr txBox="1"/>
          <p:nvPr/>
        </p:nvSpPr>
        <p:spPr>
          <a:xfrm>
            <a:off x="1371600" y="3246120"/>
            <a:ext cx="5760720" cy="685800"/>
          </a:xfrm>
          <a:prstGeom prst="rect">
            <a:avLst/>
          </a:prstGeom>
          <a:noFill/>
        </p:spPr>
        <p:txBody>
          <a:bodyPr wrap="square" lIns="0" rIns="0" tIns="0" bIns="0" anchor="ctr">
            <a:noAutofit/>
          </a:bodyPr>
          <a:lstStyle/>
          <a:p>
            <a:pPr algn="l"/>
            <a:r>
              <a:rPr sz="1600" b="0" i="0" lang="es-ES">
                <a:solidFill>
                  <a:srgbClr val="FFFFFF"/>
                </a:solidFill>
                <a:latin typeface="Calibri"/>
              </a:rPr>
              <a:t>Un método de medición objetivo por paquete, definido antes de empezar</a:t>
            </a:r>
            <a:endParaRPr lang="es-ES" sz="1600"/>
          </a:p>
        </p:txBody>
      </p:sp>
      <p:sp>
        <p:nvSpPr>
          <p:cNvPr id="12" name="Oval 11"/>
          <p:cNvSpPr/>
          <p:nvPr/>
        </p:nvSpPr>
        <p:spPr>
          <a:xfrm>
            <a:off x="585215" y="4151376"/>
            <a:ext cx="566928" cy="566928"/>
          </a:xfrm>
          <a:prstGeom prst="ellipse">
            <a:avLst/>
          </a:prstGeom>
          <a:solidFill>
            <a:srgbClr val="F2B134"/>
          </a:solidFill>
          <a:ln>
            <a:noFill/>
          </a:ln>
        </p:spPr>
        <p:txBody>
          <a:bodyPr rtlCol="0" anchor="ctr" wrap="square" lIns="0" rIns="0" tIns="0" bIns="0">
            <a:noAutofit/>
          </a:bodyPr>
          <a:lstStyle/>
          <a:p>
            <a:pPr algn="ctr"/>
            <a:r>
              <a:rPr sz="1800" b="1" i="0" lang="es-ES">
                <a:solidFill>
                  <a:srgbClr val="1B2B48"/>
                </a:solidFill>
                <a:latin typeface="Calibri"/>
              </a:rPr>
              <a:t>4</a:t>
            </a:r>
            <a:endParaRPr lang="es-ES" sz="1800"/>
          </a:p>
        </p:txBody>
      </p:sp>
      <p:sp>
        <p:nvSpPr>
          <p:cNvPr id="13" name="TextBox 12"/>
          <p:cNvSpPr txBox="1"/>
          <p:nvPr/>
        </p:nvSpPr>
        <p:spPr>
          <a:xfrm>
            <a:off x="1371600" y="4114800"/>
            <a:ext cx="5760720" cy="685800"/>
          </a:xfrm>
          <a:prstGeom prst="rect">
            <a:avLst/>
          </a:prstGeom>
          <a:noFill/>
        </p:spPr>
        <p:txBody>
          <a:bodyPr wrap="square" lIns="0" rIns="0" tIns="0" bIns="0" anchor="ctr">
            <a:noAutofit/>
          </a:bodyPr>
          <a:lstStyle/>
          <a:p>
            <a:pPr algn="l"/>
            <a:r>
              <a:rPr sz="1600" b="0" i="0" lang="es-ES">
                <a:solidFill>
                  <a:srgbClr val="FFFFFF"/>
                </a:solidFill>
                <a:latin typeface="Calibri"/>
              </a:rPr>
              <a:t>Fecha de estado = último día del mes; avance con evidencia</a:t>
            </a:r>
            <a:endParaRPr lang="es-ES" sz="1600"/>
          </a:p>
        </p:txBody>
      </p:sp>
      <p:sp>
        <p:nvSpPr>
          <p:cNvPr id="14" name="Oval 13"/>
          <p:cNvSpPr/>
          <p:nvPr/>
        </p:nvSpPr>
        <p:spPr>
          <a:xfrm>
            <a:off x="585215" y="5020055"/>
            <a:ext cx="566928" cy="566928"/>
          </a:xfrm>
          <a:prstGeom prst="ellipse">
            <a:avLst/>
          </a:prstGeom>
          <a:solidFill>
            <a:srgbClr val="F2B134"/>
          </a:solidFill>
          <a:ln>
            <a:noFill/>
          </a:ln>
        </p:spPr>
        <p:txBody>
          <a:bodyPr rtlCol="0" anchor="ctr" wrap="square" lIns="0" rIns="0" tIns="0" bIns="0">
            <a:noAutofit/>
          </a:bodyPr>
          <a:lstStyle/>
          <a:p>
            <a:pPr algn="ctr"/>
            <a:r>
              <a:rPr sz="1800" b="1" i="0" lang="es-ES">
                <a:solidFill>
                  <a:srgbClr val="1B2B48"/>
                </a:solidFill>
                <a:latin typeface="Calibri"/>
              </a:rPr>
              <a:t>5</a:t>
            </a:r>
            <a:endParaRPr lang="es-ES" sz="1800"/>
          </a:p>
        </p:txBody>
      </p:sp>
      <p:sp>
        <p:nvSpPr>
          <p:cNvPr id="15" name="TextBox 14"/>
          <p:cNvSpPr txBox="1"/>
          <p:nvPr/>
        </p:nvSpPr>
        <p:spPr>
          <a:xfrm>
            <a:off x="1371600" y="4983479"/>
            <a:ext cx="5760720" cy="685800"/>
          </a:xfrm>
          <a:prstGeom prst="rect">
            <a:avLst/>
          </a:prstGeom>
          <a:noFill/>
        </p:spPr>
        <p:txBody>
          <a:bodyPr wrap="square" lIns="0" rIns="0" tIns="0" bIns="0" anchor="ctr">
            <a:noAutofit/>
          </a:bodyPr>
          <a:lstStyle/>
          <a:p>
            <a:pPr algn="l"/>
            <a:r>
              <a:rPr sz="1600" b="0" i="0" lang="es-ES">
                <a:solidFill>
                  <a:srgbClr val="FFFFFF"/>
                </a:solidFill>
                <a:latin typeface="Calibri"/>
              </a:rPr>
              <a:t>Validar, simular, actualizar… y dedicar el cierre a analizar</a:t>
            </a:r>
            <a:endParaRPr lang="es-ES" sz="1600"/>
          </a:p>
        </p:txBody>
      </p:sp>
      <p:sp>
        <p:nvSpPr>
          <p:cNvPr id="16" name="Rounded Rectangle 15"/>
          <p:cNvSpPr/>
          <p:nvPr/>
        </p:nvSpPr>
        <p:spPr>
          <a:xfrm>
            <a:off x="7589520" y="1508760"/>
            <a:ext cx="4023360" cy="2926080"/>
          </a:xfrm>
          <a:prstGeom prst="roundRect">
            <a:avLst>
              <a:gd name="adj" fmla="val 3750"/>
            </a:avLst>
          </a:prstGeom>
          <a:solidFill>
            <a:srgbClr val="FFFFFF"/>
          </a:solidFill>
          <a:ln>
            <a:noFill/>
          </a:ln>
        </p:spPr>
        <p:txBody>
          <a:bodyPr rtlCol="0" anchor="t" wrap="square" lIns="228600" rIns="228600" tIns="228600" bIns="228600">
            <a:noAutofit/>
          </a:bodyPr>
          <a:lstStyle/>
          <a:p>
            <a:pPr algn="l">
              <a:spcAft>
                <a:spcPts val="800"/>
              </a:spcAft>
            </a:pPr>
            <a:r>
              <a:rPr sz="1800" b="1" i="0" lang="es-ES">
                <a:solidFill>
                  <a:srgbClr val="1B2B48"/>
                </a:solidFill>
                <a:latin typeface="Calibri"/>
              </a:rPr>
              <a:t>Para empezar</a:t>
            </a:r>
            <a:endParaRPr lang="es-ES" sz="1500"/>
          </a:p>
          <a:p>
            <a:pPr algn="l">
              <a:spcAft>
                <a:spcPts val="200"/>
              </a:spcAft>
            </a:pPr>
            <a:r>
              <a:rPr sz="1500" b="1" i="0" lang="es-ES">
                <a:solidFill>
                  <a:srgbClr val="2F5597"/>
                </a:solidFill>
                <a:latin typeface="Calibri"/>
                <a:hlinkClick r:id="rId2"/>
              </a:rPr>
              <a:t>Tutorial con el proyecto de ejemplo</a:t>
            </a:r>
            <a:endParaRPr lang="es-ES" sz="1500"/>
          </a:p>
          <a:p>
            <a:pPr algn="l">
              <a:spcAft>
                <a:spcPts val="800"/>
              </a:spcAft>
            </a:pPr>
            <a:r>
              <a:rPr sz="1300" b="0" i="0" lang="es-ES">
                <a:solidFill>
                  <a:srgbClr val="5A6577"/>
                </a:solidFill>
                <a:latin typeface="Calibri"/>
              </a:rPr>
              <a:t>Ciclo completo sin MS Project</a:t>
            </a:r>
            <a:endParaRPr lang="es-ES" sz="1500"/>
          </a:p>
          <a:p>
            <a:pPr algn="l">
              <a:spcAft>
                <a:spcPts val="200"/>
              </a:spcAft>
            </a:pPr>
            <a:r>
              <a:rPr sz="1500" b="1" i="0" lang="es-ES">
                <a:solidFill>
                  <a:srgbClr val="2F5597"/>
                </a:solidFill>
                <a:latin typeface="Calibri"/>
                <a:hlinkClick r:id="rId3"/>
              </a:rPr>
              <a:t>Preparación en MS Project</a:t>
            </a:r>
            <a:endParaRPr lang="es-ES" sz="1500"/>
          </a:p>
          <a:p>
            <a:pPr algn="l">
              <a:spcAft>
                <a:spcPts val="800"/>
              </a:spcAft>
            </a:pPr>
            <a:r>
              <a:rPr sz="1300" b="0" i="0" lang="es-ES">
                <a:solidFill>
                  <a:srgbClr val="5A6577"/>
                </a:solidFill>
                <a:latin typeface="Calibri"/>
              </a:rPr>
              <a:t>EDT, campos, línea base y avance</a:t>
            </a:r>
            <a:endParaRPr lang="es-ES" sz="1500"/>
          </a:p>
          <a:p>
            <a:pPr algn="l">
              <a:spcAft>
                <a:spcPts val="200"/>
              </a:spcAft>
            </a:pPr>
            <a:r>
              <a:rPr sz="1500" b="1" i="0" lang="es-ES">
                <a:solidFill>
                  <a:srgbClr val="2F5597"/>
                </a:solidFill>
                <a:latin typeface="Calibri"/>
                <a:hlinkClick r:id="rId4"/>
              </a:rPr>
              <a:t>Proceso de reporte EVM</a:t>
            </a:r>
            <a:endParaRPr lang="es-ES" sz="1500"/>
          </a:p>
          <a:p>
            <a:pPr algn="l"/>
            <a:r>
              <a:rPr sz="1300" b="0" i="0" lang="es-ES">
                <a:solidFill>
                  <a:srgbClr val="5A6577"/>
                </a:solidFill>
                <a:latin typeface="Calibri"/>
              </a:rPr>
              <a:t>Cierre mensual y lista de control</a:t>
            </a:r>
            <a:endParaRPr lang="es-ES" sz="1500"/>
          </a:p>
        </p:txBody>
      </p:sp>
      <p:sp>
        <p:nvSpPr>
          <p:cNvPr id="17" name="TextBox 16"/>
          <p:cNvSpPr txBox="1"/>
          <p:nvPr/>
        </p:nvSpPr>
        <p:spPr>
          <a:xfrm>
            <a:off x="7589520" y="4572000"/>
            <a:ext cx="4023360" cy="320040"/>
          </a:xfrm>
          <a:prstGeom prst="rect">
            <a:avLst/>
          </a:prstGeom>
          <a:noFill/>
        </p:spPr>
        <p:txBody>
          <a:bodyPr wrap="square" lIns="0" rIns="0" tIns="0" bIns="0" anchor="t">
            <a:noAutofit/>
          </a:bodyPr>
          <a:lstStyle/>
          <a:p>
            <a:pPr algn="l"/>
            <a:r>
              <a:rPr sz="1200" b="0" i="0" lang="es-ES">
                <a:solidFill>
                  <a:srgbClr val="C9D3E3"/>
                </a:solidFill>
                <a:latin typeface="Calibri"/>
              </a:rPr>
              <a:t>Documentación completa: carpeta docs del repositorio</a:t>
            </a:r>
            <a:endParaRPr lang="es-ES" sz="1200"/>
          </a:p>
        </p:txBody>
      </p:sp>
      <p:sp>
        <p:nvSpPr>
          <p:cNvPr id="18" name="TextBox 17"/>
          <p:cNvSpPr txBox="1"/>
          <p:nvPr/>
        </p:nvSpPr>
        <p:spPr>
          <a:xfrm>
            <a:off x="7589520" y="5166360"/>
            <a:ext cx="4023360" cy="914400"/>
          </a:xfrm>
          <a:prstGeom prst="rect">
            <a:avLst/>
          </a:prstGeom>
          <a:noFill/>
        </p:spPr>
        <p:txBody>
          <a:bodyPr wrap="square" lIns="0" rIns="0" tIns="0" bIns="0" anchor="t">
            <a:noAutofit/>
          </a:bodyPr>
          <a:lstStyle/>
          <a:p>
            <a:pPr algn="l"/>
            <a:r>
              <a:rPr sz="4000" b="1" i="0" lang="es-ES">
                <a:solidFill>
                  <a:srgbClr val="FFFFFF"/>
                </a:solidFill>
                <a:latin typeface="Calibri"/>
              </a:rPr>
              <a:t>¿Preguntas?</a:t>
            </a:r>
            <a:endParaRPr lang="es-ES" sz="4000"/>
          </a:p>
        </p:txBody>
      </p:sp>
    </p:spTree>
  </p:cSld>
  <p:clrMapOvr>
    <a:masterClrMapping/>
  </p:clrMapOvr>
</p:sld>
</file>

<file path=ppt/theme/theme1.xml><?xml version="1.0" encoding="utf-8"?>
<a:theme xmlns:a="http://schemas.openxmlformats.org/drawingml/2006/main" name="Valor Ganado">
  <a:themeElements>
    <a:clrScheme name="Valor Ganado">
      <a:dk1>
        <a:srgbClr val="1B2B48"/>
      </a:dk1>
      <a:lt1>
        <a:srgbClr val="FFFFFF"/>
      </a:lt1>
      <a:dk2>
        <a:srgbClr val="1B2B48"/>
      </a:dk2>
      <a:lt2>
        <a:srgbClr val="F3F5F9"/>
      </a:lt2>
      <a:accent1>
        <a:srgbClr val="2F5597"/>
      </a:accent1>
      <a:accent2>
        <a:srgbClr val="4E8A3E"/>
      </a:accent2>
      <a:accent3>
        <a:srgbClr val="C0392B"/>
      </a:accent3>
      <a:accent4>
        <a:srgbClr val="F2B134"/>
      </a:accent4>
      <a:accent5>
        <a:srgbClr val="5A6577"/>
      </a:accent5>
      <a:accent6>
        <a:srgbClr val="7FA7D9"/>
      </a:accent6>
      <a:hlink>
        <a:srgbClr val="2F5597"/>
      </a:hlink>
      <a:folHlink>
        <a:srgbClr val="6B4E9B"/>
      </a:folHlink>
    </a:clrScheme>
    <a:fontScheme name="Valor Ganad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Valor Ganad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Application>Microsoft Office PowerPoint</Application>
  <PresentationFormat>Panorámica</PresentationFormat>
  <Slides>35</Slides>
  <Notes>35</Notes>
  <HiddenSlides>0</HiddenSlides>
  <MMClips>0</MMClip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 cronograma al informe EVM</dc:title>
  <dc:subject>MS Project y el Exportador EVM: planificación, costos e informe mensual en Excel</dc:subject>
  <dc:creator>Marcelo Salazar</dc:creator>
  <cp:keywords>EVM; Earned Value; MS Project; Excel; Equipo de proyecto</cp:keywords>
  <dc:description/>
  <cp:lastModifiedBy>Marcelo Salazar</cp:lastModifiedBy>
  <cp:revision>1</cp:revision>
  <dcterms:created xsi:type="dcterms:W3CDTF">2026-10-17T16:56:02Z</dcterms:created>
  <dcterms:modified xsi:type="dcterms:W3CDTF">2026-10-17T16:56:02Z</dcterms:modified>
  <cp:category>Formación</cp:category>
  <dc:language>es-ES</dc:language>
</cp:coreProperties>
</file>