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5:20 min</a:t>
            </a:r>
          </a:p>
          <a:p/>
          <a:p>
            <a:r>
              <a:rPr lang="es-ES"/>
              <a:t>Cuatro indicadores, todos calculados con PV, EV y AC. Las cifras son las del proyecto de ejemplo a diciembre de 2027.</a:t>
            </a:r>
          </a:p>
          <a:p/>
          <a:p>
            <a:r>
              <a:rPr lang="es-ES"/>
              <a:t>- Variaciones, en euros: SV (Schedule Variance) = EV − PV y CV (Cost Variance) = EV − AC. Negativo es malo en ambos casos. Ojo: la SV mide el atraso en valor, no en tiempo.</a:t>
            </a:r>
          </a:p>
          <a:p>
            <a:r>
              <a:rPr lang="es-ES"/>
              <a:t>- Índices de eficiencia: SPI (Schedule Performance Index) = EV / PV y CPI (Cost Performance Index) = EV / AC. Menor que 1 es malo. CPI 0,76 significa que por cada euro gastado se obtuvieron 76 céntimos de trabajo presupuestado.</a:t>
            </a:r>
          </a:p>
          <a:p/>
          <a:p>
            <a:r>
              <a:rPr lang="es-ES"/>
              <a:t>El semáforo del libro usa por defecto 0,95 y 0,90 como umbrales; se pueden ajustar en la configuración (sección [semaforo]).</a:t>
            </a:r>
          </a:p>
          <a:p/>
          <a:p>
            <a:r>
              <a:rPr lang="es-ES"/>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las fechas y el costo de cada tarea. MS Project la guarda en los campos "previstos": Comienzo previsto, Fin previsto y Costo previsto, con su reparto en el tiempo.</a:t>
            </a:r>
          </a:p>
          <a:p/>
          <a:p>
            <a:r>
              <a:rPr lang="es-ES"/>
              <a:t>Relación con el EVM (franja inferior):</a:t>
            </a:r>
          </a:p>
          <a:p>
            <a:r>
              <a:rPr lang="es-ES"/>
              <a:t>- Las fechas previstas dicen cuándo debía hacerse cada tarea.</a:t>
            </a:r>
          </a:p>
          <a:p>
            <a:r>
              <a:rPr lang="es-ES"/>
              <a:t>- El Costo previsto repartido por meses es el PV: lo que se debía haber ejecutado cada mes.</a:t>
            </a:r>
          </a:p>
          <a:p>
            <a:r>
              <a:rPr lang="es-ES"/>
              <a:t>- La suma del Costo previsto es el BAC.</a:t>
            </a:r>
          </a:p>
          <a:p>
            <a:r>
              <a:rPr lang="es-ES"/>
              <a:t>Sin línea base no hay PV ni BAC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costos en tareas de detalle;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el Costo previsto de la tarea resumen del proyecto (tabla Costo) es el BAC; la vista Uso de tareas con el detalle Costo previsto por meses es el PV. Después, ejecutar generar y revisar la hoja Validación.</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historial de EV y AC,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4,5 millones por debajo del PV; SPI 0,69.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16:15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(300.000 €) terminada, los planos (400.000 €) a la mitad y las especificaciones (200.000 €)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se suma lo hecho de cada subtarea según su presupuesto: 300.000 al 100 % (300.000) + 400.000 al 50 % (200.000) + 200.000 al 0 % (0) = 500.000 €, el 55,6 % del BAC.</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17:05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17:35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19:20 min</a:t>
            </a:r>
          </a:p>
          <a:p/>
          <a:p>
            <a:r>
              <a:rPr lang="es-ES"/>
              <a:t>El flujo completo:</a:t>
            </a:r>
          </a:p>
          <a:p>
            <a:r>
              <a:rPr lang="es-ES"/>
              <a:t>- generar: se ejecuta una vez por línea base. Lee la EDT y la línea base de MS Project y crea el libro Excel con el PV mensual de cada elemento de la EDT (120 meses por defecto) y el BAC.</a:t>
            </a:r>
          </a:p>
          <a:p>
            <a:r>
              <a:rPr lang="es-ES"/>
              <a:t>- actualizar: se ejecuta cada mes. Lee el avance a la fecha de estado, calcula el EV y el AC acumulados de cada paquete según su método y escribe el valor del mes en el libro. Indicadores y gráficos se recalculan solos.</a:t>
            </a:r>
          </a:p>
          <a:p/>
          <a:p>
            <a:r>
              <a:rPr lang="es-ES"/>
              <a:t>Requisitos: Windows con Python.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rPr lang="es-ES"/>
              <a:t>La configuración (config.toml) indica los nombres de los campos: Item EDT, Método EVM, Peso hito, la planificación a exportar y los umbrales del semáforo.</a:t>
            </a:r>
          </a:p>
          <a:p/>
          <a:p>
            <a:r>
              <a:rPr lang="es-ES"/>
              <a:t>Opcional: modo multi-empresa, con el PV, EV y AC de dos empresas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21:10 min</a:t>
            </a:r>
          </a:p>
          <a:p/>
          <a:p>
            <a:r>
              <a:rPr lang="es-ES"/>
              <a:t>Cada mes, con el avance registrado y la fecha de estado en el último día del mes:</a:t>
            </a:r>
          </a:p>
          <a:p>
            <a:r>
              <a:rPr lang="es-ES"/>
              <a:t>1. Primero "actualizar --simular": calcula todo y lo muestra en pantalla, pero no modifica el libro.</a:t>
            </a:r>
          </a:p>
          <a:p>
            <a:r>
              <a:rPr lang="es-ES"/>
              <a:t>2. Revisar las observaciones por fila: métodos no definidos, valores del mes negativos (por ejemplo, una corrección de avance), tareas con costo sin fila, diferencias de AC con MS Project. Si algo no es razonable, se corrige en MS Project y se vuelve a simular.</a:t>
            </a:r>
          </a:p>
          <a:p>
            <a:r>
              <a:rPr lang="es-ES"/>
              <a:t>3. "actualizar" sin --simular: escribe el valor del mes en las hojas EV y AC. Si el AC viene del ERP, se usa "--solo ev" y el AC se carga a mano en la hoja AC.</a:t>
            </a:r>
          </a:p>
          <a:p/>
          <a:p>
            <a:r>
              <a:rPr lang="es-ES"/>
              <a:t>Detalles que dan tranquilidad: repetir actualizar para el mismo mes reemplaza el valor, no lo duplica; antes de modificar el libro se guarda una copia de respaldo; y si el libro está abierto en Excel, avisa.</a:t>
            </a:r>
          </a:p>
          <a:p/>
          <a:p>
            <a:r>
              <a:rPr lang="es-ES"/>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21:50 min</a:t>
            </a:r>
          </a:p>
          <a:p/>
          <a:p>
            <a:r>
              <a:rPr lang="es-ES"/>
              <a:t>Las pestañas del libro, por colores:</a:t>
            </a:r>
          </a:p>
          <a:p>
            <a:r>
              <a:rPr lang="es-ES"/>
              <a:t>- Azul: resultados calculados con fórmulas (Cuadro de Mando, Resumen, Evolución mensual, Indicadores EDT).</a:t>
            </a:r>
          </a:p>
          <a:p>
            <a:r>
              <a:rPr lang="es-ES"/>
              <a:t>- Ámbar: datos. PV lo crea generar; en EV y AC, las celdas amarillas contienen el valor de cada mes (no el acumulado) y las completa actualizar, o se cargan a mano, por ejemplo el AC del ERP.</a:t>
            </a:r>
          </a:p>
          <a:p>
            <a:r>
              <a:rPr lang="es-ES"/>
              <a:t>- Gris: control (Validación y Listas de métodos).</a:t>
            </a:r>
          </a:p>
          <a:p/>
          <a:p>
            <a:r>
              <a:rPr lang="es-ES"/>
              <a:t>Reglas de uso (derecha): no insertar, borrar ni ordenar filas o columnas, porque actualizar ubica cada fila por su posición; para cambiar la EDT se cambia MS Project y se regenera con --migrar-desde. No escribir sobre subtotales ni fórmulas. El método de medición se puede cambiar en la columna C de la hoja PV.</a:t>
            </a:r>
          </a:p>
          <a:p/>
          <a:p>
            <a:r>
              <a:rPr lang="es-ES"/>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23:00 min</a:t>
            </a:r>
          </a:p>
          <a:p/>
          <a:p>
            <a:r>
              <a:rPr lang="es-ES"/>
              <a:t>El Cuadro de Mando es la hoja principal y se imprime en una página, lista para adjuntar al informe mensual.</a:t>
            </a:r>
          </a:p>
          <a:p/>
          <a:p>
            <a:r>
              <a:rPr lang="es-ES"/>
              <a:t>Zonas (números rojos de la imagen):</a:t>
            </a:r>
          </a:p>
          <a:p>
            <a:r>
              <a:rPr lang="es-ES"/>
              <a:t>1. Mes de reporte (celda amarilla): actualizar lo fija en el mes de corte, pero se puede elegir cualquier mes anterior para revisar un informe pasado; todo el tablero cambia a ese mes.</a:t>
            </a:r>
          </a:p>
          <a:p>
            <a:r>
              <a:rPr lang="es-ES"/>
              <a:t>2. Método EAC (celda amarilla): BAC / CPI por defecto; las otras dos fórmulas que vimos.</a:t>
            </a:r>
          </a:p>
          <a:p>
            <a:r>
              <a:rPr lang="es-ES"/>
              <a:t>3. Valores acumulados: BAC, PV, EV y AC con su porcentaje del BAC.</a:t>
            </a:r>
          </a:p>
          <a:p>
            <a:r>
              <a:rPr lang="es-ES"/>
              <a:t>4. Desviaciones e índices con semáforo.</a:t>
            </a:r>
          </a:p>
          <a:p>
            <a:r>
              <a:rPr lang="es-ES"/>
              <a:t>5. Pronósticos: ETC, EAC, VAC y TCPI.</a:t>
            </a:r>
          </a:p>
          <a:p>
            <a:r>
              <a:rPr lang="es-ES"/>
              <a:t>6. Curva S.</a:t>
            </a:r>
          </a:p>
          <a:p>
            <a:r>
              <a:rPr lang="es-ES"/>
              <a:t>7. Evolución de CPI y SPI sobre las zonas roja, amarilla y verde: mirar la tendencia más que el valor puntual. En los primeros meses los índices oscilan mucho porque los importes son pequeños.</a:t>
            </a:r>
          </a:p>
          <a:p>
            <a:r>
              <a:rPr lang="es-ES"/>
              <a:t>8 y 9. Desempeño por elemento EDT: lo vemos en la siguiente diapositiva.</a:t>
            </a:r>
          </a:p>
          <a:p/>
          <a:p>
            <a:r>
              <a:rPr lang="es-ES"/>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23:45 min</a:t>
            </a:r>
          </a:p>
          <a:p/>
          <a:p>
            <a:r>
              <a:rPr lang="es-ES"/>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rPr lang="es-ES"/>
              <a:t>Lectura del ejemplo:</a:t>
            </a:r>
          </a:p>
          <a:p>
            <a:r>
              <a:rPr lang="es-ES"/>
              <a:t>- 3.0.0 Construcción (CPI 0,54, SPI 0,50) es el que arrastra al proyecto: hay que bajar a sus paquetes en la hoja Indicadores EDT.</a:t>
            </a:r>
          </a:p>
          <a:p>
            <a:r>
              <a:rPr lang="es-ES"/>
              <a:t>- 1.1.0 Dirección y control está exactamente en SPI = 1: es LOE, nunca muestra atraso.</a:t>
            </a:r>
          </a:p>
          <a:p>
            <a:r>
              <a:rPr lang="es-ES"/>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rPr lang="es-ES"/>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24:35 min</a:t>
            </a:r>
          </a:p>
          <a:p/>
          <a:p>
            <a:r>
              <a:rPr lang="es-ES"/>
              <a:t>Tabla de referencia rápida (está completa en la documentación, Cuadro de Mando e indicadores):</a:t>
            </a:r>
          </a:p>
          <a:p>
            <a:r>
              <a:rPr lang="es-ES"/>
              <a:t>- CPI menor que 0,90 de forma sostenida: el sobrecosto no es puntual. Los estudios sobre grandes contratos muestran que, superado el 20 % de avance, el CPI acumulado rara vez mejora de forma significativa. Revisar EAC y causas por paquete.</a:t>
            </a:r>
          </a:p>
          <a:p>
            <a:r>
              <a:rPr lang="es-ES"/>
              <a:t>- SPI menor que 0,90 y SV(t) creciente: atraso que se acumula. Revisar el camino crítico en MS Project: el SPI no dice si el atraso afecta a la fecha de fin.</a:t>
            </a:r>
          </a:p>
          <a:p>
            <a:r>
              <a:rPr lang="es-ES"/>
              <a:t>- SPI cerca de 1 al final pero SV(t) negativo: el SPI convergió, el proyecto sigue atrasado. Informar SV(t) y SPI(t).</a:t>
            </a:r>
          </a:p>
          <a:p>
            <a:r>
              <a:rPr lang="es-ES"/>
              <a:t>- TCPI muy superior al CPI: terminar en el BAC exige una eficiencia irreal; una regla práctica es una diferencia mayor de 0,05 a 0,10. Informar el EAC y evaluar un cambio de línea base o de alcance.</a:t>
            </a:r>
          </a:p>
          <a:p>
            <a:r>
              <a:rPr lang="es-ES"/>
              <a:t>- CPI y SPI mayores que 1: buena noticia... o métodos subjetivos o AC incompleto. Verificar antes de celebrar.</a:t>
            </a:r>
          </a:p>
          <a:p>
            <a:r>
              <a:rPr lang="es-ES"/>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25:20 min</a:t>
            </a:r>
          </a:p>
          <a:p/>
          <a:p>
            <a:r>
              <a:rPr lang="es-ES"/>
              <a:t>Calendario orientativo en días hábiles después del fin de mes (D+n); hay que adaptarlo a los plazos de contabilidad de cada organización.</a:t>
            </a:r>
          </a:p>
          <a:p/>
          <a:p>
            <a:r>
              <a:rPr lang="es-ES"/>
              <a:t>- D+1 a D+2: los responsables de paquete informan el avance físico con evidencia objetiva (entregables, hitos, cantidades).</a:t>
            </a:r>
          </a:p>
          <a:p>
            <a:r>
              <a:rPr lang="es-ES"/>
              <a:t>- D+1 a D+3: Finanzas entrega el costo real devengado del mes (no pagos ni compromisos), con la misma fecha de corte.</a:t>
            </a:r>
          </a:p>
          <a:p>
            <a:r>
              <a:rPr lang="es-ES"/>
              <a:t>- D+3: el planificador (PMO) registra el avance en MS Project y fija la fecha de estado.</a:t>
            </a:r>
          </a:p>
          <a:p>
            <a:r>
              <a:rPr lang="es-ES"/>
              <a:t>- D+4: actualizar --simular, revisión de observaciones, actualizar y carga del AC si viene del ERP.</a:t>
            </a:r>
          </a:p>
          <a:p>
            <a:r>
              <a:rPr lang="es-ES"/>
              <a:t>- D+5 a D+6: el Jefe de Proyecto analiza las desviaciones fuera de umbral con los responsables (causa, impacto, acción con responsable y fecha) y revisa el EAC.</a:t>
            </a:r>
          </a:p>
          <a:p>
            <a:r>
              <a:rPr lang="es-ES"/>
              <a:t>- D+7: informe y reunión de seguimiento.</a:t>
            </a:r>
          </a:p>
          <a:p/>
          <a:p>
            <a:r>
              <a:rPr lang="es-ES"/>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26:00 min</a:t>
            </a:r>
          </a:p>
          <a:p/>
          <a:p>
            <a:r>
              <a:rPr lang="es-ES"/>
              <a:t>Cinco ideas para llevarse (leerlas o pedir a alguien de la sala que elija la que le parezca más difícil de aplicar en su proyecto):</a:t>
            </a:r>
          </a:p>
          <a:p>
            <a:r>
              <a:rPr lang="es-ES"/>
              <a:t>1. La línea base define el PV: se guarda una vez y solo cambia por control de cambios.</a:t>
            </a:r>
          </a:p>
          <a:p>
            <a:r>
              <a:rPr lang="es-ES"/>
              <a:t>2. Costos solo en tareas de detalle, dentro de la EDT exportada.</a:t>
            </a:r>
          </a:p>
          <a:p>
            <a:r>
              <a:rPr lang="es-ES"/>
              <a:t>3. Un método de medición objetivo por paquete, definido antes de empezar.</a:t>
            </a:r>
          </a:p>
          <a:p>
            <a:r>
              <a:rPr lang="es-ES"/>
              <a:t>4. Fecha de estado en el último día del mes y avance con evidencia.</a:t>
            </a:r>
          </a:p>
          <a:p>
            <a:r>
              <a:rPr lang="es-ES"/>
              <a:t>5. Simular, revisar y actualizar; y dedicar el tiempo del cierre a analizar.</a:t>
            </a:r>
          </a:p>
          <a:p/>
          <a:p>
            <a:r>
              <a:rPr lang="es-ES"/>
              <a:t>Para empezar: el tutorial de la documentación recorre todo el ciclo con el proyecto de ejemplo, sin necesidad de MS Project. Después, la guía de preparación en MS Project y el proceso de reporte mensual.</a:t>
            </a:r>
          </a:p>
          <a:p/>
          <a:p>
            <a:r>
              <a:rPr lang="es-ES"/>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lectura de indicadores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(Costo previsto en MS Project)</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−4,52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0,69</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51460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10058400" y="2148840"/>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 0,95</a:t>
            </a:r>
            <a:endParaRPr lang="es-ES" sz="1500"/>
          </a:p>
        </p:txBody>
      </p:sp>
      <p:sp>
        <p:nvSpPr>
          <p:cNvPr id="32" name="Oval 31"/>
          <p:cNvSpPr/>
          <p:nvPr/>
        </p:nvSpPr>
        <p:spPr>
          <a:xfrm>
            <a:off x="8311896" y="2724912"/>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15768"/>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10058400" y="2715768"/>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0,90 – 0,95</a:t>
            </a:r>
            <a:endParaRPr lang="es-ES" sz="1500"/>
          </a:p>
        </p:txBody>
      </p:sp>
      <p:sp>
        <p:nvSpPr>
          <p:cNvPr id="35" name="Oval 34"/>
          <p:cNvSpPr/>
          <p:nvPr/>
        </p:nvSpPr>
        <p:spPr>
          <a:xfrm>
            <a:off x="8311896" y="3291840"/>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282696"/>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10058400" y="3282696"/>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&lt; 0,90</a:t>
            </a:r>
            <a:endParaRPr lang="es-ES" sz="1500"/>
          </a:p>
        </p:txBody>
      </p:sp>
      <p:sp>
        <p:nvSpPr>
          <p:cNvPr id="38" name="Rounded Rectangle 37"/>
          <p:cNvSpPr/>
          <p:nvPr/>
        </p:nvSpPr>
        <p:spPr>
          <a:xfrm>
            <a:off x="8001000" y="4160520"/>
            <a:ext cx="3611880" cy="20116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por mes</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total</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fechas y costo de cada tarea.</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Fin y Costo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BAC,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costos en tareas de detalle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BAC en la tabla Costo y PV en Uso de tareas; después, generar</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costos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−4,5 M€ · SPI 0,69: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300.000 €</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400.000 €</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200.000 €</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300.000 × 100 % + 400.000 × 50 % + 200.000 × 0 %</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25</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26</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 Python</a:t>
            </a:r>
            <a:endParaRPr lang="es-ES" sz="1300"/>
          </a:p>
          <a:p>
            <a:pPr algn="l"/>
            <a:r>
              <a:rPr sz="1300" b="0" i="0" lang="es-ES">
                <a:solidFill>
                  <a:srgbClr val="5A6577"/>
                </a:solidFill>
                <a:latin typeface="Calibri"/>
              </a:rPr>
              <a:t>3.11 o posterior; instalación una vez</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y el semáforo</a:t>
            </a:r>
            <a:endParaRPr lang="es-ES"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valor del mes en EV y AC; --solo ev si el AC viene del ERP</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Round Same Side Corner Rectangle 5"/>
          <p:cNvSpPr/>
          <p:nvPr/>
        </p:nvSpPr>
        <p:spPr>
          <a:xfrm>
            <a:off x="548640" y="1508760"/>
            <a:ext cx="172821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Cuadro de Mando</a:t>
            </a:r>
            <a:endParaRPr lang="es-ES" sz="1200"/>
          </a:p>
        </p:txBody>
      </p:sp>
      <p:sp>
        <p:nvSpPr>
          <p:cNvPr id="7" name="Round Same Side Corner Rectangle 6"/>
          <p:cNvSpPr/>
          <p:nvPr/>
        </p:nvSpPr>
        <p:spPr>
          <a:xfrm>
            <a:off x="2331720" y="1508760"/>
            <a:ext cx="101132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Resumen</a:t>
            </a:r>
            <a:endParaRPr lang="es-ES" sz="1200"/>
          </a:p>
        </p:txBody>
      </p:sp>
      <p:sp>
        <p:nvSpPr>
          <p:cNvPr id="8" name="Round Same Side Corner Rectangle 7"/>
          <p:cNvSpPr/>
          <p:nvPr/>
        </p:nvSpPr>
        <p:spPr>
          <a:xfrm>
            <a:off x="3397910"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PV</a:t>
            </a:r>
            <a:endParaRPr lang="es-ES" sz="1200"/>
          </a:p>
        </p:txBody>
      </p:sp>
      <p:sp>
        <p:nvSpPr>
          <p:cNvPr id="9" name="Round Same Side Corner Rectangle 8"/>
          <p:cNvSpPr/>
          <p:nvPr/>
        </p:nvSpPr>
        <p:spPr>
          <a:xfrm>
            <a:off x="4016044"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EV</a:t>
            </a:r>
            <a:endParaRPr lang="es-ES" sz="1200"/>
          </a:p>
        </p:txBody>
      </p:sp>
      <p:sp>
        <p:nvSpPr>
          <p:cNvPr id="10" name="Round Same Side Corner Rectangle 9"/>
          <p:cNvSpPr/>
          <p:nvPr/>
        </p:nvSpPr>
        <p:spPr>
          <a:xfrm>
            <a:off x="4634179"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AC</a:t>
            </a:r>
            <a:endParaRPr lang="es-ES" sz="1200"/>
          </a:p>
        </p:txBody>
      </p:sp>
      <p:sp>
        <p:nvSpPr>
          <p:cNvPr id="11" name="Round Same Side Corner Rectangle 10"/>
          <p:cNvSpPr/>
          <p:nvPr/>
        </p:nvSpPr>
        <p:spPr>
          <a:xfrm>
            <a:off x="5252313" y="1508760"/>
            <a:ext cx="19074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Evolución mensual</a:t>
            </a:r>
            <a:endParaRPr lang="es-ES" sz="1200"/>
          </a:p>
        </p:txBody>
      </p:sp>
      <p:sp>
        <p:nvSpPr>
          <p:cNvPr id="12" name="Round Same Side Corner Rectangle 11"/>
          <p:cNvSpPr/>
          <p:nvPr/>
        </p:nvSpPr>
        <p:spPr>
          <a:xfrm>
            <a:off x="7214616" y="1508760"/>
            <a:ext cx="172821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Indicadores EDT</a:t>
            </a:r>
            <a:endParaRPr lang="es-ES" sz="1200"/>
          </a:p>
        </p:txBody>
      </p:sp>
      <p:sp>
        <p:nvSpPr>
          <p:cNvPr id="13" name="Round Same Side Corner Rectangle 12"/>
          <p:cNvSpPr/>
          <p:nvPr/>
        </p:nvSpPr>
        <p:spPr>
          <a:xfrm>
            <a:off x="8997696" y="1508760"/>
            <a:ext cx="1280160"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200" b="1" i="0" lang="es-ES">
                <a:solidFill>
                  <a:srgbClr val="1B2B48"/>
                </a:solidFill>
                <a:latin typeface="Calibri"/>
              </a:rPr>
              <a:t>Validación</a:t>
            </a:r>
            <a:endParaRPr lang="es-ES" sz="1200"/>
          </a:p>
        </p:txBody>
      </p:sp>
      <p:sp>
        <p:nvSpPr>
          <p:cNvPr id="14" name="Round Same Side Corner Rectangle 13"/>
          <p:cNvSpPr/>
          <p:nvPr/>
        </p:nvSpPr>
        <p:spPr>
          <a:xfrm>
            <a:off x="10332720" y="1508760"/>
            <a:ext cx="921715"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2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editable</a:t>
            </a:r>
            <a:endParaRPr lang="es-ES" sz="1400"/>
          </a:p>
          <a:p>
            <a:pPr algn="l"/>
            <a:r>
              <a:rPr sz="1300" b="0" i="0" lang="es-ES">
                <a:solidFill>
                  <a:srgbClr val="5A6577"/>
                </a:solidFill>
                <a:latin typeface="Calibri"/>
              </a:rPr>
              <a:t>en la columna C de la hoja PV</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0" name="Rounded Rectangle 9"/>
          <p:cNvSpPr/>
          <p:nvPr/>
        </p:nvSpPr>
        <p:spPr>
          <a:xfrm>
            <a:off x="6958583"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31</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7220" cy="4892040"/>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3"/>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a:t>
            </a:r>
            <a:endParaRPr lang="es-ES" sz="1400"/>
          </a:p>
          <a:p>
            <a:pPr algn="l"/>
            <a:r>
              <a:rPr sz="1400" b="0" i="0" lang="es-ES">
                <a:solidFill>
                  <a:srgbClr val="1B2B48"/>
                </a:solidFill>
                <a:latin typeface="Calibri"/>
              </a:rPr>
              <a:t>LOE: nunca muestra atraso y diluye el SPI del proyecto.</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y SPI &gt; 1</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¿Ahorro real, o métodos subjetivos y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métodos y costos no registrados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35</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