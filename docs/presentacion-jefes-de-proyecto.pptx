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92" r:id="rId44"/>
    <p:sldId id="279" r:id="rId30"/>
    <p:sldId id="280" r:id="rId31"/>
    <p:sldId id="281" r:id="rId32"/>
    <p:sldId id="282" r:id="rId33"/>
    <p:sldId id="283" r:id="rId34"/>
    <p:sldId id="284" r:id="rId35"/>
    <p:sldId id="285" r:id="rId36"/>
    <p:sldId id="286" r:id="rId37"/>
    <p:sldId id="287" r:id="rId38"/>
    <p:sldId id="288" r:id="rId39"/>
    <p:sldId id="291" r:id="rId43"/>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notesMaster" Target="notesMasters/notesMaster1.xml"/><Relationship Id="rId43" Type="http://schemas.openxmlformats.org/officeDocument/2006/relationships/slide" Target="slides/slide35.xml"/><Relationship Id="rId44"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2026.0</c:v>
                </c:pt>
                <c:pt idx="1">
                  <c:v>2026.0833333333333</c:v>
                </c:pt>
                <c:pt idx="2">
                  <c:v>2026.1666666666667</c:v>
                </c:pt>
                <c:pt idx="3">
                  <c:v>2026.25</c:v>
                </c:pt>
                <c:pt idx="4">
                  <c:v>2026.3333333333333</c:v>
                </c:pt>
                <c:pt idx="5">
                  <c:v>2026.4166666666667</c:v>
                </c:pt>
                <c:pt idx="6">
                  <c:v>2026.5</c:v>
                </c:pt>
                <c:pt idx="7">
                  <c:v>2026.5833333333333</c:v>
                </c:pt>
                <c:pt idx="8">
                  <c:v>2026.6666666666667</c:v>
                </c:pt>
                <c:pt idx="9">
                  <c:v>2026.75</c:v>
                </c:pt>
                <c:pt idx="10">
                  <c:v>2026.8333333333333</c:v>
                </c:pt>
                <c:pt idx="11">
                  <c:v>2026.9166666666667</c:v>
                </c:pt>
                <c:pt idx="12">
                  <c:v>2027.0</c:v>
                </c:pt>
                <c:pt idx="13">
                  <c:v>2027.0833333333333</c:v>
                </c:pt>
                <c:pt idx="14">
                  <c:v>2027.1666666666667</c:v>
                </c:pt>
                <c:pt idx="15">
                  <c:v>2027.25</c:v>
                </c:pt>
                <c:pt idx="16">
                  <c:v>2027.3333333333333</c:v>
                </c:pt>
                <c:pt idx="17">
                  <c:v>2027.4166666666667</c:v>
                </c:pt>
                <c:pt idx="18">
                  <c:v>2027.5</c:v>
                </c:pt>
                <c:pt idx="19">
                  <c:v>2027.5833333333333</c:v>
                </c:pt>
                <c:pt idx="20">
                  <c:v>2027.6666666666667</c:v>
                </c:pt>
                <c:pt idx="21">
                  <c:v>2027.75</c:v>
                </c:pt>
                <c:pt idx="22">
                  <c:v>2027.8333333333333</c:v>
                </c:pt>
                <c:pt idx="23">
                  <c:v>2027.9166666666667</c:v>
                </c:pt>
                <c:pt idx="24">
                  <c:v>2028.0</c:v>
                </c:pt>
                <c:pt idx="25">
                  <c:v>2028.0833333333333</c:v>
                </c:pt>
                <c:pt idx="26">
                  <c:v>2028.1666666666667</c:v>
                </c:pt>
                <c:pt idx="27">
                  <c:v>2028.25</c:v>
                </c:pt>
                <c:pt idx="28">
                  <c:v>2028.3333333333333</c:v>
                </c:pt>
                <c:pt idx="29">
                  <c:v>2028.4166666666667</c:v>
                </c:pt>
                <c:pt idx="30">
                  <c:v>2028.5</c:v>
                </c:pt>
                <c:pt idx="31">
                  <c:v>2028.5833333333333</c:v>
                </c:pt>
                <c:pt idx="32">
                  <c:v>2028.6666666666667</c:v>
                </c:pt>
                <c:pt idx="33">
                  <c:v>2028.75</c:v>
                </c:pt>
                <c:pt idx="34">
                  <c:v>2028.8333333333333</c:v>
                </c:pt>
                <c:pt idx="35">
                  <c:v>2028.9166666666667</c:v>
                </c:pt>
                <c:pt idx="36">
                  <c:v>2029.0</c:v>
                </c:pt>
                <c:pt idx="37">
                  <c:v>2029.0833333333333</c:v>
                </c:pt>
                <c:pt idx="38">
                  <c:v>2029.1666666666667</c:v>
                </c:pt>
                <c:pt idx="39">
                  <c:v>2029.25</c:v>
                </c:pt>
                <c:pt idx="40">
                  <c:v>2029.3333333333333</c:v>
                </c:pt>
                <c:pt idx="41">
                  <c:v>2029.4166666666667</c:v>
                </c:pt>
                <c:pt idx="42">
                  <c:v>2029.5</c:v>
                </c:pt>
                <c:pt idx="43">
                  <c:v>2029.5833333333333</c:v>
                </c:pt>
                <c:pt idx="44">
                  <c:v>2029.6666666666667</c:v>
                </c:pt>
                <c:pt idx="45">
                  <c:v>2029.75</c:v>
                </c:pt>
                <c:pt idx="46">
                  <c:v>2029.8333333333333</c:v>
                </c:pt>
                <c:pt idx="47">
                  <c:v>2029.9166666666667</c:v>
                </c:pt>
                <c:pt idx="48">
                  <c:v>2030.0</c:v>
                </c:pt>
                <c:pt idx="49">
                  <c:v>2030.0833333333333</c:v>
                </c:pt>
                <c:pt idx="50">
                  <c:v>2030.1666666666667</c:v>
                </c:pt>
                <c:pt idx="51">
                  <c:v>2030.25</c:v>
                </c:pt>
                <c:pt idx="52">
                  <c:v>2030.3333333333333</c:v>
                </c:pt>
                <c:pt idx="53">
                  <c:v>2030.4166666666667</c:v>
                </c:pt>
                <c:pt idx="54">
                  <c:v>2030.5</c:v>
                </c:pt>
                <c:pt idx="55">
                  <c:v>2030.5833333333333</c:v>
                </c:pt>
                <c:pt idx="56">
                  <c:v>2030.6666666666667</c:v>
                </c:pt>
                <c:pt idx="57">
                  <c:v>2030.75</c:v>
                </c:pt>
                <c:pt idx="58">
                  <c:v>2030.8333333333333</c:v>
                </c:pt>
                <c:pt idx="59">
                  <c:v>2030.9166666666667</c:v>
                </c:pt>
                <c:pt idx="60">
                  <c:v>2031.0</c:v>
                </c:pt>
              </c:numCache>
            </c:numRef>
          </c:xVal>
          <c:yVal>
            <c:numRef>
              <c:f>Sheet1!$B$2:$B$62</c:f>
              <c:numCache>
                <c:formatCode>General</c:formatCode>
                <c:ptCount val="6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pt idx="31">
                  <c:v>21.467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2026.0</c:v>
                </c:pt>
                <c:pt idx="1">
                  <c:v>2031.0</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66,9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66.93</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24.0</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22.56</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22.56</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24.0</c:v>
                </c:pt>
                <c:pt idx="1">
                  <c:v>24.0</c:v>
                </c:pt>
              </c:numCache>
            </c:numRef>
          </c:xVal>
          <c:yVal>
            <c:numRef>
              <c:f>Sheet1!$B$45:$B$46</c:f>
              <c:numCache>
                <c:formatCode>General</c:formatCode>
                <c:ptCount val="2"/>
                <c:pt idx="0">
                  <c:v>0.0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22.56</c:v>
                </c:pt>
                <c:pt idx="1">
                  <c:v>22.56</c:v>
                </c:pt>
              </c:numCache>
            </c:numRef>
          </c:xVal>
          <c:yVal>
            <c:numRef>
              <c:f>Sheet1!$B$49:$B$50</c:f>
              <c:numCache>
                <c:formatCode>General</c:formatCode>
                <c:ptCount val="2"/>
                <c:pt idx="0">
                  <c:v>0.0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numCache>
            </c:numRef>
          </c:xVal>
          <c:yVal>
            <c:numRef>
              <c:f>Sheet1!$B$2:$B$26</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en dos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que no necesita importes, y produce un libro Excel con el % planificado y el % ganado de cada elemento de la EDT. Con el BAC que se ingresa en el libro se obtienen el PV y el EV; con el AC del mes,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vas justo de tiempo, las diapositivas marcadas como opcionales en estas notas (Earned Schedule, Forma de la curva PV e Hitos ponderados) se pueden pasar en 15 segundos cada 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se ingresa en el libro Excel.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66,9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vas justo de tiempo: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22,56 (ES). Vamos 1,44 meses tarde: SV(t) = ES − AT = −1,44 meses, y SPI(t) = ES / AT = 0,94.</a:t>
            </a:r>
          </a:p>
          <a:p/>
          <a:p>
            <a:r>
              <a:rPr lang="es-ES"/>
              <a:t>Con una duración planificada de 58 meses, la duración estimada es 58 / 0,94 ≈ 62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las duraciones, los pesos de los hitos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cada condición que no se cumple aparece como aviso en la hoja Validación del libro, así que no hay que revisarlo todo a mano.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ingresan el BAC y el AC, y donde se calcula el EV.</a:t>
            </a:r>
          </a:p>
          <a:p>
            <a:r>
              <a:rPr lang="es-ES"/>
              <a:t>- Lo que está debajo (actividades, hitos) no necesita código: se suma en su paquete.</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 del BAC del paquete que vale cada hito; se usa en el % planificado y en el método de hitos ponderados.</a:t>
            </a:r>
          </a:p>
          <a:p>
            <a:r>
              <a:rPr lang="es-ES"/>
              <a:t>(Opcional: Empresa y % Reparto si el proyecto se ejecuta entre dos empresas.)</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El cronograma de MS Project no lleva importes. El presupuesto se arma con tres piezas:</a:t>
            </a:r>
          </a:p>
          <a:p>
            <a:r>
              <a:rPr lang="es-ES"/>
              <a:t>A. Duración de las tareas: cada tarea de detalle pesa dentro de su paquete según su duración de la línea base, repartida entre los meses que abarcan sus fechas. Por eso la duración debe reflejar el trabajo: una tarea larga de poco valor pesa más que una corta de mucho valor.</a:t>
            </a:r>
          </a:p>
          <a:p>
            <a:r>
              <a:rPr lang="es-ES"/>
              <a:t>B. Peso de los hitos: el campo Peso hito es el % del BAC del paquete que se planifica en el mes del hito; el resto se reparte entre las tareas por duración. Con pesos que suman 100, el paquete solo tiene valor en sus hitos.</a:t>
            </a:r>
          </a:p>
          <a:p>
            <a:r>
              <a:rPr lang="es-ES"/>
              <a:t>C. BAC en el libro: el presupuesto de cada paquete se escribe en las celdas amarillas de la columna D de la hoja PV (con dos empresas, uno por empresa). El PV de cada mes es ese BAC × el % planificado.</a:t>
            </a:r>
          </a:p>
          <a:p>
            <a:r>
              <a:rPr lang="es-ES"/>
              <a:t>D. Cronograma sin importes: como el presupuesto está en el libro, el cronograma se puede compartir con el cliente o entre las empresas que ejecutan el proyecto sin mostrar importes. Si el proyecto tiene recursos o costos cargados en MS Project, el programa no los usa.</a:t>
            </a:r>
          </a:p>
          <a:p/>
          <a:p>
            <a:r>
              <a:rPr lang="es-ES"/>
              <a:t>Regla de oro: el cronograma no lleva importes, y la duración de cada tarea debe reflejar su trabajo.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vas justo de tiempo.)</a:t>
            </a:r>
          </a:p>
          <a:p/>
          <a:p>
            <a:r>
              <a:rPr lang="es-ES"/>
              <a:t>El mismo importe puede dar curvas PV muy distintas. Ejemplo: un paquete de 300.000 € de tres meses.</a:t>
            </a:r>
          </a:p>
          <a:p>
            <a:r>
              <a:rPr lang="es-ES"/>
              <a:t>- Una tarea de tres meses: 100.000 € cada mes, porque su peso se reparte según su duración.</a:t>
            </a:r>
          </a:p>
          <a:p>
            <a:r>
              <a:rPr lang="es-ES"/>
              <a:t>- Un hito con Peso hito 100 en el primer mes (por ejemplo, un anticipo): los 300.000 € el primer mes.</a:t>
            </a:r>
          </a:p>
          <a:p>
            <a:r>
              <a:rPr lang="es-ES"/>
              <a:t>- Un hito con Peso hito 100 al final (una entrega): los 300.000 € el último mes.</a:t>
            </a:r>
          </a:p>
          <a:p/>
          <a:p>
            <a:r>
              <a:rPr lang="es-ES"/>
              <a:t>Para que el PV tenga la forma real se divide el paquete en tareas con sus fechas, o se combinan tareas e hitos: por ejemplo, hitos con pesos 10 y 20, y el 70 % restante repartido entre las tareas según su duración.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y sus fechas. MS Project la guarda en los campos "previstos": Comienzo previsto y Fin previsto.</a:t>
            </a:r>
          </a:p>
          <a:p/>
          <a:p>
            <a:r>
              <a:rPr lang="es-ES"/>
              <a:t>Relación con el EVM (franja inferior):</a:t>
            </a:r>
          </a:p>
          <a:p>
            <a:r>
              <a:rPr lang="es-ES"/>
              <a:t>- Las fechas previstas dicen cuándo debía hacerse cada tarea.</a:t>
            </a:r>
          </a:p>
          <a:p>
            <a:r>
              <a:rPr lang="es-ES"/>
              <a:t>- Con esas fechas y las duraciones, el programa calcula el % planificado de cada mes; multiplicado por el BAC del libro, es el PV: lo que se debía haber ejecutado cada mes.</a:t>
            </a:r>
          </a:p>
          <a:p>
            <a:r>
              <a:rPr lang="es-ES"/>
              <a:t>- El BAC es el presupuesto de cada paquete, que se ingresa en el libro.</a:t>
            </a:r>
          </a:p>
          <a:p>
            <a:r>
              <a:rPr lang="es-ES"/>
              <a:t>Sin línea base no hay PV y, por tanto, tampoco SV, SPI ni EAC.</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hitos con su Peso hito;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ejecutar generar, ingresar el BAC de cada paquete en el libro y revisar la hoja Validación y la hoja % PV (cada paquete suma 100 %).</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pesos de hitos.</a:t>
            </a:r>
          </a:p>
          <a:p>
            <a:r>
              <a:rPr lang="es-ES"/>
              <a:t>5. Seleccionar solo las tareas nuevas o modificadas y guardar la línea base con "Tareas seleccionadas" y "Resumir líneas base: Para todas las tareas de resumen". El resto de la línea base no cambia.</a:t>
            </a:r>
          </a:p>
          <a:p>
            <a:r>
              <a:rPr lang="es-ES"/>
              <a:t>6. Generar el libro nuevo con --migrar-desde, que conserva el BAC ingresado y el historial de EV y AC, escribir el BAC nuevo de los paquetes afectados y registrar en el informe la fecha, el motivo y la variación del BAC.</a:t>
            </a:r>
          </a:p>
          <a:p/>
          <a:p>
            <a:r>
              <a:rPr lang="es-ES"/>
              <a:t>Ojo: en las tareas cuya línea base se vuelve a guardar cambia también el PV de los meses ya informados; por eso se conserva el libro anterior como registro de lo informado.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1,9 millones por debajo del PV; SPI 0,84.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Todos se detectan en la hoja Validación del libro o al actualizar, así que no hay que buscarlos a mano: basta con leer los avisos.</a:t>
            </a:r>
          </a:p>
          <a:p/>
          <a:p>
            <a:r>
              <a:rPr lang="es-ES"/>
              <a:t>Recorrer las filas rápidamente. Insistir en dos:</a:t>
            </a:r>
          </a:p>
          <a:p>
            <a:r>
              <a:rPr lang="es-ES"/>
              <a:t>- La duración pesa: el PV de un paquete se reparte según la duración de sus tareas. Una tarea larga de poco valor (por ejemplo, una gestión de doce meses) se lleva gran parte del paquete: conviene separarla en su propio paquete o usar hitos con peso.</a:t>
            </a:r>
          </a:p>
          <a:p>
            <a:r>
              <a:rPr lang="es-ES"/>
              <a:t>- El BAC sin ingresar: después de generar hay que escribir el BAC de cada paquete; si falta, el PV y el EV quedan en 0 y actualizar lo avisa.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16:05 min</a:t>
            </a:r>
          </a:p>
          <a:p/>
          <a:p>
            <a:r>
              <a:rPr lang="es-ES"/>
              <a:t>El método de medición convierte el avance de un paquete en EV. Se elige uno por paquete al planificar y se mantiene durante toda su ejecución.</a:t>
            </a:r>
          </a:p>
          <a:p/>
          <a:p>
            <a:r>
              <a:rPr lang="es-ES"/>
              <a:t>El ejemplo (franja superior, de la documentación): un paquete con un BAC de 900.000 € que comenzó y no terminó. Tiene tres subtareas: la memoria de cálculo (30 días) terminada, los planos (40 días) a la mitad y las especificaciones (20 días)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cada subtarea pesa según su duración: (30 días al 100 % + 40 al 50 % + 20 al 0 %) / 90 días = 55,6 % del BAC = 500.000 €.</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16:45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17:05 min</a:t>
            </a:r>
          </a:p>
          <a:p/>
          <a:p>
            <a:r>
              <a:rPr lang="es-ES"/>
              <a:t>(Opcional si vas justo de tiempo: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peso va en el campo Peso hito y es el % del BAC del paquete: en un paquete medido solo con hitos, los pesos suman 100 y su PV queda en los meses de los hitos.</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18:25 min</a:t>
            </a:r>
          </a:p>
          <a:p/>
          <a:p>
            <a:r>
              <a:rPr lang="es-ES"/>
              <a:t>Cuatro pasos cada mes, en este orden:</a:t>
            </a:r>
          </a:p>
          <a:p>
            <a:r>
              <a:rPr lang="es-ES"/>
              <a:t>1. Registrar el avance a la fecha de estado (no a la fecha en que se actualiza): % completado o duración real, % físico completado, comienzo y fin reales, y los hitos cumplidos al 100 %.</a:t>
            </a:r>
          </a:p>
          <a:p>
            <a:r>
              <a:rPr lang="es-ES"/>
              <a:t>2. Reprogramar el trabajo pendiente para que empiece después de la fecha de estado (Proyecto &gt; Actualizar proyecto). Así las fechas futuras siguen siendo una previsión realista. No cambia la línea base ni el PV.</a:t>
            </a:r>
          </a:p>
          <a:p>
            <a:r>
              <a:rPr lang="es-ES"/>
              <a:t>3. Costo real: se toma del ERP (devengado, con la misma fecha de corte y en la misma base que el BAC) y se carga en la hoja AC del libro, o en las de cada empresa.</a:t>
            </a:r>
          </a:p>
          <a:p>
            <a:r>
              <a:rPr lang="es-ES"/>
              <a:t>4. Fijar la fecha de estado en el último día del mes (Proyecto &gt; Fecha de estado). Si se trabaja con XML, guardar el XML después de fijarla.</a:t>
            </a:r>
          </a:p>
          <a:p/>
          <a:p>
            <a:r>
              <a:rPr lang="es-ES"/>
              <a:t>Aunque el informe sea bimestral, conviene registrar el estado todos los meses: la curva S es mensual y las desviaciones se detectan antes.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dos comandos que se copian y se ajustan.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 planificado de cada elemento de la EDT y mes (120 meses por defecto). Después se escribe el BAC de cada paquete en el libro: el PV es el BAC × el %.</a:t>
            </a:r>
          </a:p>
          <a:p>
            <a:r>
              <a:t>- actualizar: se ejecuta cada mes. Lee el avance a la fecha de estado, calcula el % ganado acumulado de cada paquete según su método y escribe el % del mes en el libro; el EV es el BAC × el %. El AC del mes se carga a mano. Indicadores y gráficos se recalculan solos.</a:t>
            </a:r>
          </a:p>
          <a:p/>
          <a:p>
            <a:r>
              <a:t>Requisitos: Windows. Lo más simple es el instalador de cada versión, en las publicaciones del repositorio en GitHub: no necesita Python ni permisos de administrador, y el comando pasa a ser evm_export. También se puede usar con Python 3.11 o posterior.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a:t>
            </a:r>
          </a:p>
          <a:p/>
          <a:p>
            <a:r>
              <a:t>Opcional: multi-empresa, con el BAC, el PV, el EV y el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La salida en pantalla resume lo leído: planificación, filas de la EDT, horizonte de meses y el recordatorio de ingresar el BAC, más observaciones informativas.</a:t>
            </a:r>
          </a:p>
          <a:p/>
          <a:p>
            <a:r>
              <a:rPr lang="es-ES"/>
              <a:t>En el ejemplo: 36 filas EDT, 24 de ellas de ingreso (paquetes); 14 tareas sin código (actividades e hitos) que se sumaron en su paquete, que es lo esperado; y una fila sin método de medición, que hay que completar.</a:t>
            </a:r>
          </a:p>
          <a:p/>
          <a:p>
            <a:r>
              <a:rPr lang="es-ES"/>
              <a:t>Después de generar, tres pasos (derecha):</a:t>
            </a:r>
          </a:p>
          <a:p>
            <a:r>
              <a:rPr lang="es-ES"/>
              <a:t>1. Ingresar el BAC de cada paquete en las celdas amarillas de la columna D de la hoja PV (con dos empresas, en la hoja de cada una); la fila TOTAL debe coincidir con el presupuesto aprobado.</a:t>
            </a:r>
          </a:p>
          <a:p>
            <a:r>
              <a:rPr lang="es-ES"/>
              <a:t>2. Revisar la hoja % PV: cada paquete suma 100 %, repartido según la duración de sus tareas y el peso de sus hitos.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sin fila, filas con avance y sin BAC. Si algo no es razonable, se corrige en MS Project y se vuelve a simular.</a:t>
            </a:r>
          </a:p>
          <a:p>
            <a:r>
              <a:t>3. "actualizar" sin --simular: escribe el % ganado del mes en la hoja % EV (el EV es el BAC × ese %). El AC del mes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la real del ejemplo a diciembre de 2027: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En PV se ingresa el BAC de cada paquete (celdas amarillas); el PV y el EV de cada mes son el BAC × el % de las hojas % PV y % EV, que calculan generar y actualizar. En AC, las celdas amarillas contienen el costo real de cada mes (no el acumulado), que se carga a mano desde el ERP.</a:t>
            </a:r>
          </a:p>
          <a:p>
            <a:r>
              <a:t>- Gris: control (Validación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define en MS Project: generar lo copia a la columna C de la hoja PV, que es la que usa actualizar. La columna C solo se edita para aplicar un cambio de método aprobado, que se escribe también en MS Project; si no, los dos quedan distintos y el programa no lo advierte.</a:t>
            </a:r>
          </a:p>
          <a:p/>
          <a:p>
            <a:r>
              <a:t>Las hojas ocultas (_graficos, _estructura, _meta)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22:55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Curva S.</a:t>
            </a:r>
          </a:p>
          <a:p>
            <a:r>
              <a:t>7. Evolución de CPI y SPI sobre las zonas del semáforo (roja, amarilla, verde, amarilla y roja): mirar la tendencia más que el valor puntual. En los primeros meses los índices oscilan mucho porque los importes son pequeños.</a:t>
            </a:r>
          </a:p>
          <a:p>
            <a:r>
              <a:t>8 y 9.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23:35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0,85) es el que arrastra el costo del proyecto: hay que bajar a sus paquetes en la hoja Indicadores EDT. En plazo, el más alejado es 1.2.0 Gestión de contratos (SPI 0,51): las licitaciones no terminaron.</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no aparece en el gráfico: su suministro de equipos se mide con hitos ponderados (pesos que suman 100), su PV está en los meses de los hitos, en 2028, y todavía no cumplió ninguno: tiene costo real pero PV y EV cero. Es el comportamiento esperado del método, no un error. Los valores están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24:15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Revisar el camino crítico en MS Project: el SPI no dice si el atraso afecta a la fecha de fin.</a:t>
            </a:r>
          </a:p>
          <a:p>
            <a:r>
              <a:t>- SPI cerca de 1 al final pero SV(t) negativo: el SPI convergió, el proyecto sigue atrasado. Informar SV(t) y SPI(t).</a:t>
            </a:r>
          </a:p>
          <a:p>
            <a:r>
              <a:t>- TCPI muy superior al CPI: terminar en el BAC exige una eficiencia irreal; una regla práctica es una diferencia mayor de 0,05 a 0,10.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registra el avance en MS Project y fija la fecha de estado.</a:t>
            </a:r>
          </a:p>
          <a:p>
            <a:r>
              <a:t>- D+4: actualizar --simular, revisión de observaciones, actualizar, carga del AC del ERP en el libro y analizar.</a:t>
            </a:r>
          </a:p>
          <a:p>
            <a:r>
              <a:t>- D+5 a D+6: el Jefe de Proyecto analiza las desviaciones fuera de umbral con los responsables, en la hoja Análisis de desviaciones (causa, impacto, acción con responsable y fecha) y revisa el EAC.</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El cronograma no lleva importes: las duraciones y los pesos de los hitos reparten el BAC, que se ingresa en el libro.</a:t>
            </a:r>
          </a:p>
          <a:p>
            <a:r>
              <a:t>3. Un método de medición objetivo por paquete, definido antes de empezar.</a:t>
            </a:r>
          </a:p>
          <a:p>
            <a:r>
              <a:t>4. Fecha de estado en el último día del mes y avance con evidencia.</a:t>
            </a:r>
          </a:p>
          <a:p>
            <a:r>
              <a:t>5. Simular, revisar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(3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25:00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1,10 de la PMO, con puestos sin cubrir). Los valores son fórmulas sobre las hojas PV, EV y AC.</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17:45 min</a:t>
            </a:r>
          </a:p>
          <a:p/>
          <a:p>
            <a:r>
              <a:t>El método no lo decide una sola persona: se define durante la planificación, antes de guardar la línea base, y se aprueba con ella. Cinco pasos, cada uno con su responsable (el color del círculo: azul el PMO, ámbar el responsable de paquete y verde el Jefe de Proyecto):</a:t>
            </a:r>
          </a:p>
          <a:p>
            <a:r>
              <a:t>1. Revisar los paquetes (PMO): el método se asigna al paquete de trabajo, no a sus tareas ni a sus hitos. Cada paquete con responsable, presupuesto y duración acotada. Un paquete largo sin entregables intermedios conviene dividirlo antes de recurrir a un porcentaje estimado.</a:t>
            </a:r>
          </a:p>
          <a:p>
            <a:r>
              <a:t>2. Proponer el método (PMO), con la guía que acabamos de ver.</a:t>
            </a:r>
          </a:p>
          <a:p>
            <a:r>
              <a:t>3. Definir el criterio de medición (responsable de paquete): con hitos ponderados, qué hitos, qué pesos y qué evidencia da cada uno por cumplido; con % físico o unidades, qué se mide y de dónde sale la medición; con LOE, por qué el paquete no tiene entregables medibles.</a:t>
            </a:r>
          </a:p>
          <a:p>
            <a:r>
              <a:t>4. Aprobar con la línea base (Jefe de Proyecto). Antes se revisa el conjunto: cuánto del BAC queda en LOE y en % completado (conviene acordar un tope), al menos un hito por mes y ningún paquete largo con 0/100. Si el EVM se informa al cliente, conviene acordar con él los criterios de medición.</a:t>
            </a:r>
          </a:p>
          <a:p>
            <a:r>
              <a:t>5. Cargar y verificar (PMO): el método en el campo Método EVM, los pesos en Peso hito y el criterio en las Notas del paquete o del hito. Después de generar, la hoja Validación no debe mostrar métodos por definir.</a:t>
            </a:r>
          </a:p>
          <a:p/>
          <a:p>
            <a:r>
              <a:t>Registro: una tabla en el plan de gestión con paquete, responsable, BAC, método y criterio de medición. Es la referencia para medir cada mes y para explicar el informe.</a:t>
            </a:r>
          </a:p>
          <a:p/>
          <a:p>
            <a:r>
              <a:t>Cambio de método: solo por control de cambios, como la línea base. Se cambia en MS Project y también en la columna C de la hoja PV, que es la que usa actualizar. El EV del paquete se recalcula con el método nuevo y toda la diferencia cae en el mes del cambio: hay que explicarlo en el informe.</a:t>
            </a:r>
          </a:p>
          <a:p/>
          <a:p>
            <a:r>
              <a:t>Detalle en la documentación: Métodos de medición, sección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 Id="rId4"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planificación y costos,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19" name="Versión"/>
          <p:cNvSpPr txBox="1"/>
          <p:nvPr/>
        </p:nvSpPr>
        <p:spPr>
          <a:xfrm>
            <a:off x="548640" y="621792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Versión 2.0.0</a:t>
            </a:r>
            <a:r>
              <a:rPr sz="1400" b="0" i="0" lang="es-ES">
                <a:solidFill>
                  <a:srgbClr val="C9D3E3"/>
                </a:solidFill>
                <a:latin typeface="Calibri"/>
              </a:rPr>
              <a:t>  ·  Exportador EVM</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55"/>
                </a:lnTo>
                <a:lnTo>
                  <a:pt x="137160" y="3178817"/>
                </a:lnTo>
                <a:lnTo>
                  <a:pt x="205740" y="3165327"/>
                </a:lnTo>
                <a:lnTo>
                  <a:pt x="274320" y="3150684"/>
                </a:lnTo>
                <a:lnTo>
                  <a:pt x="342900" y="3125869"/>
                </a:lnTo>
                <a:lnTo>
                  <a:pt x="411480" y="3122406"/>
                </a:lnTo>
                <a:lnTo>
                  <a:pt x="480060" y="3088719"/>
                </a:lnTo>
                <a:lnTo>
                  <a:pt x="548640" y="3050198"/>
                </a:lnTo>
                <a:lnTo>
                  <a:pt x="617220" y="3025672"/>
                </a:lnTo>
                <a:lnTo>
                  <a:pt x="685800" y="3000641"/>
                </a:lnTo>
                <a:lnTo>
                  <a:pt x="754380" y="2976114"/>
                </a:lnTo>
                <a:lnTo>
                  <a:pt x="822960" y="2949208"/>
                </a:lnTo>
                <a:lnTo>
                  <a:pt x="891540" y="2923311"/>
                </a:lnTo>
                <a:lnTo>
                  <a:pt x="960120" y="2900949"/>
                </a:lnTo>
                <a:lnTo>
                  <a:pt x="1028700" y="2866540"/>
                </a:lnTo>
                <a:lnTo>
                  <a:pt x="1097280" y="2831770"/>
                </a:lnTo>
                <a:lnTo>
                  <a:pt x="1165860" y="2798588"/>
                </a:lnTo>
                <a:lnTo>
                  <a:pt x="1234440" y="2763818"/>
                </a:lnTo>
                <a:lnTo>
                  <a:pt x="1303020" y="2701637"/>
                </a:lnTo>
                <a:lnTo>
                  <a:pt x="1371600" y="2635128"/>
                </a:lnTo>
                <a:lnTo>
                  <a:pt x="1440180" y="2568618"/>
                </a:lnTo>
                <a:lnTo>
                  <a:pt x="1508760" y="2505139"/>
                </a:lnTo>
                <a:lnTo>
                  <a:pt x="1577340" y="2413887"/>
                </a:lnTo>
                <a:lnTo>
                  <a:pt x="1645920" y="2316864"/>
                </a:lnTo>
                <a:lnTo>
                  <a:pt x="1714500" y="2226838"/>
                </a:lnTo>
                <a:lnTo>
                  <a:pt x="1783080" y="2169634"/>
                </a:lnTo>
                <a:lnTo>
                  <a:pt x="1851660" y="2124549"/>
                </a:lnTo>
                <a:lnTo>
                  <a:pt x="1920240" y="2085379"/>
                </a:lnTo>
                <a:lnTo>
                  <a:pt x="1988820" y="2004659"/>
                </a:lnTo>
                <a:lnTo>
                  <a:pt x="2057400" y="1721165"/>
                </a:lnTo>
                <a:lnTo>
                  <a:pt x="2125980" y="1640589"/>
                </a:lnTo>
                <a:lnTo>
                  <a:pt x="2194560" y="1253723"/>
                </a:lnTo>
                <a:lnTo>
                  <a:pt x="2263140" y="1181083"/>
                </a:lnTo>
                <a:lnTo>
                  <a:pt x="2331720" y="1111327"/>
                </a:lnTo>
                <a:lnTo>
                  <a:pt x="2400300" y="1022744"/>
                </a:lnTo>
                <a:lnTo>
                  <a:pt x="2468880" y="936397"/>
                </a:lnTo>
                <a:lnTo>
                  <a:pt x="2537460" y="841899"/>
                </a:lnTo>
                <a:lnTo>
                  <a:pt x="2606040" y="759664"/>
                </a:lnTo>
                <a:lnTo>
                  <a:pt x="2674620" y="669206"/>
                </a:lnTo>
                <a:lnTo>
                  <a:pt x="2743200" y="582859"/>
                </a:lnTo>
                <a:lnTo>
                  <a:pt x="2811780" y="488361"/>
                </a:lnTo>
                <a:lnTo>
                  <a:pt x="2880360" y="403889"/>
                </a:lnTo>
                <a:lnTo>
                  <a:pt x="2948940" y="354693"/>
                </a:lnTo>
                <a:lnTo>
                  <a:pt x="3017520" y="303332"/>
                </a:lnTo>
                <a:lnTo>
                  <a:pt x="3086100" y="258608"/>
                </a:lnTo>
                <a:lnTo>
                  <a:pt x="3154680" y="217057"/>
                </a:lnTo>
                <a:lnTo>
                  <a:pt x="3223260" y="175002"/>
                </a:lnTo>
                <a:lnTo>
                  <a:pt x="3291840" y="139150"/>
                </a:lnTo>
                <a:lnTo>
                  <a:pt x="3360420" y="113326"/>
                </a:lnTo>
                <a:lnTo>
                  <a:pt x="3429000" y="89088"/>
                </a:lnTo>
                <a:lnTo>
                  <a:pt x="3497580" y="56555"/>
                </a:lnTo>
                <a:lnTo>
                  <a:pt x="3566160" y="41839"/>
                </a:lnTo>
                <a:lnTo>
                  <a:pt x="3634740" y="24743"/>
                </a:lnTo>
                <a:lnTo>
                  <a:pt x="3703320" y="17313"/>
                </a:lnTo>
                <a:lnTo>
                  <a:pt x="3771900" y="9306"/>
                </a:lnTo>
                <a:lnTo>
                  <a:pt x="3840480" y="5194"/>
                </a:lnTo>
                <a:lnTo>
                  <a:pt x="3909060" y="1948"/>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 planificado y ganado leídos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 la EDT y los pesos</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presupuesto,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(se ingresa en el libro Excel)</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12,1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27 %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−1,90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0,84</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0,84 €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Si usas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22,56</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−1,44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0,94</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0,94 ≈ 62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Duraciones y pesos realistas</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La duración pesa; los hitos, con Peso hito</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cada condición incumplida aparece como aviso en la hoja </a:t>
            </a:r>
            <a:r>
              <a:rPr sz="1500" b="1" i="0" lang="es-ES">
                <a:solidFill>
                  <a:srgbClr val="1B2B48"/>
                </a:solidFill>
                <a:latin typeface="Calibri"/>
              </a:rPr>
              <a:t>Validación</a:t>
            </a:r>
            <a:r>
              <a:rPr sz="1500" b="0" i="0" lang="es-ES">
                <a:solidFill>
                  <a:srgbClr val="1B2B48"/>
                </a:solidFill>
                <a:latin typeface="Calibri"/>
              </a:rPr>
              <a:t> del libro Excel, con la tarea afectada.</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 del BAC en el mes del hito</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presupuesto: BAC en el libro, % desde MS Project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Duración de las tareas</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Duración de la línea base</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las fechas de cada tarea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Todas las tareas de detalle</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Peso de los hitos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Peso hito = % del BAC</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Entero en el mes del hito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Entregas, pruebas, certificaciones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BAC en el libro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Presupuesto de cada paquete</a:t>
            </a:r>
            <a:endParaRPr lang="es-ES" sz="1400"/>
          </a:p>
          <a:p>
            <a:pPr algn="l">
              <a:spcAft>
                <a:spcPts val="300"/>
              </a:spcAft>
            </a:pPr>
            <a:r>
              <a:rPr sz="1400" b="1" i="0" lang="es-ES">
                <a:solidFill>
                  <a:srgbClr val="5A6577"/>
                </a:solidFill>
                <a:latin typeface="Calibri"/>
              </a:rPr>
              <a:t>Dónde: </a:t>
            </a:r>
            <a:r>
              <a:rPr sz="1400" b="0" i="0" lang="es-ES">
                <a:solidFill>
                  <a:srgbClr val="1B2B48"/>
                </a:solidFill>
                <a:latin typeface="Calibri"/>
              </a:rPr>
              <a:t>Columna D de la hoja PV</a:t>
            </a:r>
            <a:endParaRPr lang="es-ES" sz="1400"/>
          </a:p>
          <a:p>
            <a:pPr algn="l">
              <a:spcAft>
                <a:spcPts val="300"/>
              </a:spcAft>
            </a:pPr>
            <a:r>
              <a:rPr sz="1400" b="1" i="0" lang="es-ES">
                <a:solidFill>
                  <a:srgbClr val="5A6577"/>
                </a:solidFill>
                <a:latin typeface="Calibri"/>
              </a:rPr>
              <a:t>Dos empresas: </a:t>
            </a:r>
            <a:r>
              <a:rPr sz="1400" b="0" i="0" lang="es-ES">
                <a:solidFill>
                  <a:srgbClr val="1B2B48"/>
                </a:solidFill>
                <a:latin typeface="Calibri"/>
              </a:rPr>
              <a:t>Un BAC por empresa</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Cronograma sin importes</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En MS Project: </a:t>
            </a:r>
            <a:r>
              <a:rPr sz="1400" b="0" i="0" lang="es-ES">
                <a:solidFill>
                  <a:srgbClr val="1B2B48"/>
                </a:solidFill>
                <a:latin typeface="Calibri"/>
              </a:rPr>
              <a:t>Sin recursos ni costos</a:t>
            </a:r>
            <a:endParaRPr lang="es-ES" sz="1400"/>
          </a:p>
          <a:p>
            <a:pPr algn="l">
              <a:spcAft>
                <a:spcPts val="300"/>
              </a:spcAft>
            </a:pPr>
            <a:r>
              <a:rPr sz="1400" b="1" i="0" lang="es-ES">
                <a:solidFill>
                  <a:srgbClr val="5A6577"/>
                </a:solidFill>
                <a:latin typeface="Calibri"/>
              </a:rPr>
              <a:t>Se comparte: </a:t>
            </a:r>
            <a:r>
              <a:rPr sz="1400" b="0" i="0" lang="es-ES">
                <a:solidFill>
                  <a:srgbClr val="1B2B48"/>
                </a:solidFill>
                <a:latin typeface="Calibri"/>
              </a:rPr>
              <a:t>Con el cliente y entre empresas</a:t>
            </a:r>
            <a:endParaRPr lang="es-ES" sz="1400"/>
          </a:p>
          <a:p>
            <a:pPr algn="l">
              <a:spcAft>
                <a:spcPts val="300"/>
              </a:spcAft>
            </a:pPr>
            <a:r>
              <a:rPr sz="1400" b="1" i="0" lang="es-ES">
                <a:solidFill>
                  <a:srgbClr val="5A6577"/>
                </a:solidFill>
                <a:latin typeface="Calibri"/>
              </a:rPr>
              <a:t>Si tiene costos: </a:t>
            </a:r>
            <a:r>
              <a:rPr sz="1400" b="0" i="0" lang="es-ES">
                <a:solidFill>
                  <a:srgbClr val="1B2B48"/>
                </a:solidFill>
                <a:latin typeface="Calibri"/>
              </a:rPr>
              <a:t>No se usan</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el cronograma no lleva importes; la duración de cada tarea debe reflejar su trabajo</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duración y los hitos deciden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paquete de 300.000 € y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Una tarea de 3 meses</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por duración</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1</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final</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3</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Para la forma real: </a:t>
            </a:r>
            <a:r>
              <a:rPr sz="1500" b="0" i="0" lang="es-ES">
                <a:solidFill>
                  <a:srgbClr val="1B2B48"/>
                </a:solidFill>
                <a:latin typeface="Calibri"/>
              </a:rPr>
              <a:t>dividir el paquete en tareas con sus fechas o usar hitos con peso (anticipos, entregas, certificaciones).</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 planificado × BAC</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BAC ingresado en el libro</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Copia aprobada y congelada del plan: tareas de la EDT y sus fechas.</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y Fin previstos</a:t>
            </a:r>
            <a:r>
              <a:rPr sz="1400" b="0" i="0" lang="es-ES">
                <a:solidFill>
                  <a:srgbClr val="1B2B48"/>
                </a:solidFill>
                <a:latin typeface="Calibri"/>
              </a:rPr>
              <a:t>.</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hitos con peso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generar, ingresar el BAC y revisar la hoja % PV</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pesos de hitos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−1,9 M€ · SPI 0,84: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cambia con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al preparar el cronograma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Hitos con pesos que suman más de 100</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escalan a 100 %; las tareas quedan sin PV</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Revisar los pesos: que sumen 100 o menos</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usan sus fechas actuales (aviso)</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largas de poco valor</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curva PV pesa la duración, no el valor</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Dividir el paquete o usar hitos con peso</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BAC sin ingresar en el libro</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PV y EV en 0; actualizar avisa</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Ingresarlo en la columna D (celdas amarillas)</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 días</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 días</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 días</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 × 100 % + 40 × 50 % + 20 × 0 %) / 90 × 900.000</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del proyecto.</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se define el método de cada paquete</a:t>
            </a:r>
            <a:endParaRPr lang="es-ES" sz="3200"/>
          </a:p>
        </p:txBody>
      </p:sp>
      <p:sp>
        <p:nvSpPr>
          <p:cNvPr id="4"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5"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6"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7" name="Paso 1 número"/>
          <p:cNvSpPr/>
          <p:nvPr/>
        </p:nvSpPr>
        <p:spPr>
          <a:xfrm>
            <a:off x="54864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1</a:t>
            </a:r>
            <a:endParaRPr lang="es-ES" sz="1800"/>
          </a:p>
        </p:txBody>
      </p:sp>
      <p:cxnSp>
        <p:nvCxnSpPr>
          <p:cNvPr id="8" name="Paso 1 flecha"/>
          <p:cNvCxnSpPr/>
          <p:nvPr/>
        </p:nvCxnSpPr>
        <p:spPr>
          <a:xfrm>
            <a:off x="1225296" y="1837944"/>
            <a:ext cx="1453896" cy="0"/>
          </a:xfrm>
          <a:prstGeom prst="line">
            <a:avLst/>
          </a:prstGeom>
          <a:ln w="25400">
            <a:solidFill>
              <a:srgbClr val="D5DBE5"/>
            </a:solidFill>
            <a:tailEnd type="triangle" w="med" len="med"/>
          </a:ln>
        </p:spPr>
      </p:cxnSp>
      <p:sp>
        <p:nvSpPr>
          <p:cNvPr id="9" name="Paso 1 título"/>
          <p:cNvSpPr txBox="1"/>
          <p:nvPr/>
        </p:nvSpPr>
        <p:spPr>
          <a:xfrm>
            <a:off x="54864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Revisar los paquetes</a:t>
            </a:r>
            <a:endParaRPr lang="es-ES" sz="1700"/>
          </a:p>
        </p:txBody>
      </p:sp>
      <p:sp>
        <p:nvSpPr>
          <p:cNvPr id="10" name="Paso 1 rol"/>
          <p:cNvSpPr txBox="1"/>
          <p:nvPr/>
        </p:nvSpPr>
        <p:spPr>
          <a:xfrm>
            <a:off x="54864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1" name="Paso 1 detalle"/>
          <p:cNvSpPr txBox="1"/>
          <p:nvPr/>
        </p:nvSpPr>
        <p:spPr>
          <a:xfrm>
            <a:off x="54864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Nivel 3 de la EDT, con responsable, presupuesto y duración acotada</a:t>
            </a:r>
            <a:endParaRPr lang="es-ES" sz="1400"/>
          </a:p>
        </p:txBody>
      </p:sp>
      <p:sp>
        <p:nvSpPr>
          <p:cNvPr id="12" name="Paso 2 número"/>
          <p:cNvSpPr/>
          <p:nvPr/>
        </p:nvSpPr>
        <p:spPr>
          <a:xfrm>
            <a:off x="278892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2</a:t>
            </a:r>
            <a:endParaRPr lang="es-ES" sz="1800"/>
          </a:p>
        </p:txBody>
      </p:sp>
      <p:cxnSp>
        <p:nvCxnSpPr>
          <p:cNvPr id="13" name="Paso 2 flecha"/>
          <p:cNvCxnSpPr/>
          <p:nvPr/>
        </p:nvCxnSpPr>
        <p:spPr>
          <a:xfrm>
            <a:off x="3465576" y="1837944"/>
            <a:ext cx="1453896" cy="0"/>
          </a:xfrm>
          <a:prstGeom prst="line">
            <a:avLst/>
          </a:prstGeom>
          <a:ln w="25400">
            <a:solidFill>
              <a:srgbClr val="D5DBE5"/>
            </a:solidFill>
            <a:tailEnd type="triangle" w="med" len="med"/>
          </a:ln>
        </p:spPr>
      </p:cxnSp>
      <p:sp>
        <p:nvSpPr>
          <p:cNvPr id="14" name="Paso 2 título"/>
          <p:cNvSpPr txBox="1"/>
          <p:nvPr/>
        </p:nvSpPr>
        <p:spPr>
          <a:xfrm>
            <a:off x="278892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Proponer el método</a:t>
            </a:r>
            <a:endParaRPr lang="es-ES" sz="1700"/>
          </a:p>
        </p:txBody>
      </p:sp>
      <p:sp>
        <p:nvSpPr>
          <p:cNvPr id="15" name="Paso 2 rol"/>
          <p:cNvSpPr txBox="1"/>
          <p:nvPr/>
        </p:nvSpPr>
        <p:spPr>
          <a:xfrm>
            <a:off x="278892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6" name="Paso 2 detalle"/>
          <p:cNvSpPr txBox="1"/>
          <p:nvPr/>
        </p:nvSpPr>
        <p:spPr>
          <a:xfrm>
            <a:off x="278892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 la guía, según la duración y el tipo de trabajo</a:t>
            </a:r>
            <a:endParaRPr lang="es-ES" sz="1400"/>
          </a:p>
        </p:txBody>
      </p:sp>
      <p:sp>
        <p:nvSpPr>
          <p:cNvPr id="17" name="Paso 3 número"/>
          <p:cNvSpPr/>
          <p:nvPr/>
        </p:nvSpPr>
        <p:spPr>
          <a:xfrm>
            <a:off x="5029200" y="1554480"/>
            <a:ext cx="566928" cy="566928"/>
          </a:xfrm>
          <a:prstGeom prst="ellipse">
            <a:avLst/>
          </a:prstGeom>
          <a:solidFill>
            <a:srgbClr val="F2B134"/>
          </a:solidFill>
          <a:ln>
            <a:noFill/>
          </a:ln>
        </p:spPr>
        <p:txBody>
          <a:bodyPr wrap="square" lIns="0" rIns="0" tIns="0" bIns="0" anchor="ctr">
            <a:noAutofit/>
          </a:bodyPr>
          <a:lstStyle/>
          <a:p>
            <a:pPr algn="ctr"/>
            <a:r>
              <a:rPr sz="1800" b="1" i="0" lang="es-ES">
                <a:solidFill>
                  <a:srgbClr val="1B2B48"/>
                </a:solidFill>
                <a:latin typeface="Calibri"/>
              </a:rPr>
              <a:t>3</a:t>
            </a:r>
            <a:endParaRPr lang="es-ES" sz="1800"/>
          </a:p>
        </p:txBody>
      </p:sp>
      <p:cxnSp>
        <p:nvCxnSpPr>
          <p:cNvPr id="18" name="Paso 3 flecha"/>
          <p:cNvCxnSpPr/>
          <p:nvPr/>
        </p:nvCxnSpPr>
        <p:spPr>
          <a:xfrm>
            <a:off x="5705856" y="1837944"/>
            <a:ext cx="1453896" cy="0"/>
          </a:xfrm>
          <a:prstGeom prst="line">
            <a:avLst/>
          </a:prstGeom>
          <a:ln w="25400">
            <a:solidFill>
              <a:srgbClr val="D5DBE5"/>
            </a:solidFill>
            <a:tailEnd type="triangle" w="med" len="med"/>
          </a:ln>
        </p:spPr>
      </p:cxnSp>
      <p:sp>
        <p:nvSpPr>
          <p:cNvPr id="19" name="Paso 3 título"/>
          <p:cNvSpPr txBox="1"/>
          <p:nvPr/>
        </p:nvSpPr>
        <p:spPr>
          <a:xfrm>
            <a:off x="502920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Definir el criterio de medición</a:t>
            </a:r>
            <a:endParaRPr lang="es-ES" sz="1700"/>
          </a:p>
        </p:txBody>
      </p:sp>
      <p:sp>
        <p:nvSpPr>
          <p:cNvPr id="20" name="Paso 3 rol"/>
          <p:cNvSpPr txBox="1"/>
          <p:nvPr/>
        </p:nvSpPr>
        <p:spPr>
          <a:xfrm>
            <a:off x="5029200" y="2907792"/>
            <a:ext cx="2103120" cy="292608"/>
          </a:xfrm>
          <a:prstGeom prst="rect">
            <a:avLst/>
          </a:prstGeom>
          <a:noFill/>
        </p:spPr>
        <p:txBody>
          <a:bodyPr wrap="square" lIns="0" rIns="0" tIns="0" bIns="0" anchor="t">
            <a:noAutofit/>
          </a:bodyPr>
          <a:lstStyle/>
          <a:p>
            <a:pPr algn="l"/>
            <a:r>
              <a:rPr sz="1300" b="1" i="0" lang="es-ES">
                <a:solidFill>
                  <a:srgbClr val="8A5A00"/>
                </a:solidFill>
                <a:latin typeface="Calibri"/>
              </a:rPr>
              <a:t>Responsable de paquete</a:t>
            </a:r>
            <a:endParaRPr lang="es-ES" sz="1300"/>
          </a:p>
        </p:txBody>
      </p:sp>
      <p:sp>
        <p:nvSpPr>
          <p:cNvPr id="21" name="Paso 3 detalle"/>
          <p:cNvSpPr txBox="1"/>
          <p:nvPr/>
        </p:nvSpPr>
        <p:spPr>
          <a:xfrm>
            <a:off x="502920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Hitos, pesos y evidencia; o qué se mide y de dónde sale la medición</a:t>
            </a:r>
            <a:endParaRPr lang="es-ES" sz="1400"/>
          </a:p>
        </p:txBody>
      </p:sp>
      <p:sp>
        <p:nvSpPr>
          <p:cNvPr id="22" name="Paso 4 número"/>
          <p:cNvSpPr/>
          <p:nvPr/>
        </p:nvSpPr>
        <p:spPr>
          <a:xfrm>
            <a:off x="7269480" y="1554480"/>
            <a:ext cx="566928" cy="566928"/>
          </a:xfrm>
          <a:prstGeom prst="ellipse">
            <a:avLst/>
          </a:prstGeom>
          <a:solidFill>
            <a:srgbClr val="4E8A3E"/>
          </a:solidFill>
          <a:ln>
            <a:noFill/>
          </a:ln>
        </p:spPr>
        <p:txBody>
          <a:bodyPr wrap="square" lIns="0" rIns="0" tIns="0" bIns="0" anchor="ctr">
            <a:noAutofit/>
          </a:bodyPr>
          <a:lstStyle/>
          <a:p>
            <a:pPr algn="ctr"/>
            <a:r>
              <a:rPr sz="1800" b="1" i="0" lang="es-ES">
                <a:solidFill>
                  <a:srgbClr val="FFFFFF"/>
                </a:solidFill>
                <a:latin typeface="Calibri"/>
              </a:rPr>
              <a:t>4</a:t>
            </a:r>
            <a:endParaRPr lang="es-ES" sz="1800"/>
          </a:p>
        </p:txBody>
      </p:sp>
      <p:cxnSp>
        <p:nvCxnSpPr>
          <p:cNvPr id="23" name="Paso 4 flecha"/>
          <p:cNvCxnSpPr/>
          <p:nvPr/>
        </p:nvCxnSpPr>
        <p:spPr>
          <a:xfrm>
            <a:off x="7946136" y="1837944"/>
            <a:ext cx="1453896" cy="0"/>
          </a:xfrm>
          <a:prstGeom prst="line">
            <a:avLst/>
          </a:prstGeom>
          <a:ln w="25400">
            <a:solidFill>
              <a:srgbClr val="D5DBE5"/>
            </a:solidFill>
            <a:tailEnd type="triangle" w="med" len="med"/>
          </a:ln>
        </p:spPr>
      </p:cxnSp>
      <p:sp>
        <p:nvSpPr>
          <p:cNvPr id="24" name="Paso 4 título"/>
          <p:cNvSpPr txBox="1"/>
          <p:nvPr/>
        </p:nvSpPr>
        <p:spPr>
          <a:xfrm>
            <a:off x="726948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Aprobar con la línea base</a:t>
            </a:r>
            <a:endParaRPr lang="es-ES" sz="1700"/>
          </a:p>
        </p:txBody>
      </p:sp>
      <p:sp>
        <p:nvSpPr>
          <p:cNvPr id="25" name="Paso 4 rol"/>
          <p:cNvSpPr txBox="1"/>
          <p:nvPr/>
        </p:nvSpPr>
        <p:spPr>
          <a:xfrm>
            <a:off x="7269480" y="2907792"/>
            <a:ext cx="2103120" cy="292608"/>
          </a:xfrm>
          <a:prstGeom prst="rect">
            <a:avLst/>
          </a:prstGeom>
          <a:noFill/>
        </p:spPr>
        <p:txBody>
          <a:bodyPr wrap="square" lIns="0" rIns="0" tIns="0" bIns="0" anchor="t">
            <a:noAutofit/>
          </a:bodyPr>
          <a:lstStyle/>
          <a:p>
            <a:pPr algn="l"/>
            <a:r>
              <a:rPr sz="1300" b="1" i="0" lang="es-ES">
                <a:solidFill>
                  <a:srgbClr val="4E8A3E"/>
                </a:solidFill>
                <a:latin typeface="Calibri"/>
              </a:rPr>
              <a:t>Jefe de Proyecto</a:t>
            </a:r>
            <a:endParaRPr lang="es-ES" sz="1300"/>
          </a:p>
        </p:txBody>
      </p:sp>
      <p:sp>
        <p:nvSpPr>
          <p:cNvPr id="26" name="Paso 4 detalle"/>
          <p:cNvSpPr txBox="1"/>
          <p:nvPr/>
        </p:nvSpPr>
        <p:spPr>
          <a:xfrm>
            <a:off x="726948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Conjunto revisado: LOE acotado y al menos un hito por mes</a:t>
            </a:r>
            <a:endParaRPr lang="es-ES" sz="1400"/>
          </a:p>
        </p:txBody>
      </p:sp>
      <p:sp>
        <p:nvSpPr>
          <p:cNvPr id="27" name="Paso 5 número"/>
          <p:cNvSpPr/>
          <p:nvPr/>
        </p:nvSpPr>
        <p:spPr>
          <a:xfrm>
            <a:off x="950976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5</a:t>
            </a:r>
            <a:endParaRPr lang="es-ES" sz="1800"/>
          </a:p>
        </p:txBody>
      </p:sp>
      <p:sp>
        <p:nvSpPr>
          <p:cNvPr id="28" name="Paso 5 título"/>
          <p:cNvSpPr txBox="1"/>
          <p:nvPr/>
        </p:nvSpPr>
        <p:spPr>
          <a:xfrm>
            <a:off x="950976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Cargar y verificar</a:t>
            </a:r>
            <a:endParaRPr lang="es-ES" sz="1700"/>
          </a:p>
        </p:txBody>
      </p:sp>
      <p:sp>
        <p:nvSpPr>
          <p:cNvPr id="29" name="Paso 5 rol"/>
          <p:cNvSpPr txBox="1"/>
          <p:nvPr/>
        </p:nvSpPr>
        <p:spPr>
          <a:xfrm>
            <a:off x="950976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30" name="Paso 5 detalle"/>
          <p:cNvSpPr txBox="1"/>
          <p:nvPr/>
        </p:nvSpPr>
        <p:spPr>
          <a:xfrm>
            <a:off x="950976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Método EVM y Peso hito en MS Project, criterio en Notas; Validación sin métodos por definir</a:t>
            </a:r>
            <a:endParaRPr lang="es-ES" sz="1400"/>
          </a:p>
        </p:txBody>
      </p:sp>
      <p:sp>
        <p:nvSpPr>
          <p:cNvPr id="31" name="Registro"/>
          <p:cNvSpPr/>
          <p:nvPr/>
        </p:nvSpPr>
        <p:spPr>
          <a:xfrm>
            <a:off x="548640" y="4617720"/>
            <a:ext cx="5440680" cy="1417320"/>
          </a:xfrm>
          <a:prstGeom prst="roundRect">
            <a:avLst>
              <a:gd name="adj" fmla="val 12000"/>
            </a:avLst>
          </a:prstGeom>
          <a:solidFill>
            <a:srgbClr val="F3F5F9"/>
          </a:solidFill>
          <a:ln>
            <a:noFill/>
          </a:ln>
        </p:spPr>
        <p:txBody>
          <a:bodyPr wrap="square" lIns="201168" rIns="201168" tIns="201168" bIns="201168" anchor="ctr">
            <a:noAutofit/>
          </a:bodyPr>
          <a:lstStyle/>
          <a:p>
            <a:pPr algn="l"/>
            <a:r>
              <a:rPr sz="1400" b="1" i="0" lang="es-ES">
                <a:solidFill>
                  <a:srgbClr val="1B2B48"/>
                </a:solidFill>
                <a:latin typeface="Calibri"/>
              </a:rPr>
              <a:t>Registro: </a:t>
            </a:r>
            <a:r>
              <a:rPr sz="1400" b="0" i="0" lang="es-ES">
                <a:solidFill>
                  <a:srgbClr val="1B2B48"/>
                </a:solidFill>
                <a:latin typeface="Calibri"/>
              </a:rPr>
              <a:t>una tabla del plan de gestión con paquete, responsable, BAC, método y criterio de medición. Es la referencia para medir cada mes y para explicar el informe.</a:t>
            </a:r>
            <a:endParaRPr lang="es-ES" sz="1400"/>
          </a:p>
        </p:txBody>
      </p:sp>
      <p:sp>
        <p:nvSpPr>
          <p:cNvPr id="32" name="Cambio de método"/>
          <p:cNvSpPr/>
          <p:nvPr/>
        </p:nvSpPr>
        <p:spPr>
          <a:xfrm>
            <a:off x="6172200" y="4617720"/>
            <a:ext cx="5440680" cy="1417320"/>
          </a:xfrm>
          <a:prstGeom prst="roundRect">
            <a:avLst>
              <a:gd name="adj" fmla="val 12000"/>
            </a:avLst>
          </a:prstGeom>
          <a:solidFill>
            <a:srgbClr val="FFF4D9"/>
          </a:solidFill>
          <a:ln>
            <a:noFill/>
          </a:ln>
        </p:spPr>
        <p:txBody>
          <a:bodyPr wrap="square" lIns="201168" rIns="201168" tIns="201168" bIns="201168" anchor="ctr">
            <a:noAutofit/>
          </a:bodyPr>
          <a:lstStyle/>
          <a:p>
            <a:pPr algn="l"/>
            <a:r>
              <a:rPr sz="1400" b="1" i="0" lang="es-ES">
                <a:solidFill>
                  <a:srgbClr val="1B2B48"/>
                </a:solidFill>
                <a:latin typeface="Calibri"/>
              </a:rPr>
              <a:t>Cambiar el método = control de cambios. </a:t>
            </a:r>
            <a:r>
              <a:rPr sz="1400" b="0" i="0" lang="es-ES">
                <a:solidFill>
                  <a:srgbClr val="1B2B48"/>
                </a:solidFill>
                <a:latin typeface="Calibri"/>
              </a:rPr>
              <a:t>Se cambia en MS Project y en la columna C de la hoja PV. El EV del paquete se recalcula: el salto cae en el mes del cambio y se explica en el informe.</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25</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Costo real del mes</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Del ERP (costo devengado): se carga en la hoja AC del libro</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después</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26</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Dos comandos: generar una vez,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dos comandos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pesos de hitos</a:t>
            </a:r>
            <a:endParaRPr lang="es-ES" sz="1400"/>
          </a:p>
          <a:p>
            <a:pPr algn="l" marL="201168" indent="-201168">
              <a:spcAft>
                <a:spcPts val="400"/>
              </a:spcAft>
              <a:buFont typeface="Arial"/>
              <a:buChar char="•"/>
            </a:pPr>
            <a:r>
              <a:rPr sz="1400" b="0" i="0" lang="es-ES">
                <a:solidFill>
                  <a:srgbClr val="1B2B48"/>
                </a:solidFill>
                <a:latin typeface="Calibri"/>
              </a:rPr>
              <a:t>Línea base (fechas)</a:t>
            </a:r>
            <a:endParaRPr lang="es-ES" sz="1400"/>
          </a:p>
          <a:p>
            <a:pPr algn="l" marL="201168" indent="-201168">
              <a:spcAft>
                <a:spcPts val="400"/>
              </a:spcAft>
              <a:buFont typeface="Arial"/>
              <a:buChar char="•"/>
            </a:pPr>
            <a:r>
              <a:rPr sz="1400" b="0" i="0" lang="es-ES">
                <a:solidFill>
                  <a:srgbClr val="1B2B48"/>
                </a:solidFill>
                <a:latin typeface="Calibri"/>
              </a:rPr>
              <a:t>Avance</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 planificado</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 ganado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instalador</a:t>
            </a:r>
            <a:endParaRPr lang="es-ES" sz="1300"/>
          </a:p>
          <a:p>
            <a:pPr algn="l"/>
            <a:r>
              <a:rPr sz="1300" b="0" i="0" lang="es-ES">
                <a:solidFill>
                  <a:srgbClr val="5A6577"/>
                </a:solidFill>
                <a:latin typeface="Calibri"/>
              </a:rPr>
              <a:t>Sin Python ni permisos de administrador; o con Python 3.11 o posterior</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el semáforo y, si hay varios, los archivos de MS Project</a:t>
            </a:r>
            <a:endParaRPr lang="es-ES" sz="14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 planificado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se debe ingresar el BAC de cada fila</a:t>
            </a:r>
            <a:endParaRPr lang="es-ES" sz="1200"/>
          </a:p>
          <a:p>
            <a:pPr algn="l">
              <a:spcAft>
                <a:spcPts val="100"/>
              </a:spcAft>
            </a:pPr>
            <a:r>
              <a:rPr sz="1200" b="0" i="0" lang="es-ES">
                <a:solidFill>
                  <a:srgbClr val="9BD48A"/>
                </a:solidFill>
                <a:latin typeface="Consolas"/>
              </a:rPr>
              <a:t>      en la columna D de PV (celdas amarillas)</a:t>
            </a:r>
            <a:endParaRPr lang="es-ES" sz="1200"/>
          </a:p>
          <a:p>
            <a:pPr algn="l">
              <a:spcAft>
                <a:spcPts val="100"/>
              </a:spcAft>
            </a:pPr>
            <a:r>
              <a:rPr sz="1200" b="0" i="0" lang="es-ES">
                <a:solidFill>
                  <a:srgbClr val="D7DEE9"/>
                </a:solidFill>
                <a:latin typeface="Consolas"/>
              </a:rPr>
              <a:t>  [i] 14 tareas sin código EDT se agregaron en su</a:t>
            </a:r>
            <a:endParaRPr lang="es-ES" sz="1200"/>
          </a:p>
          <a:p>
            <a:pPr algn="l">
              <a:spcAft>
                <a:spcPts val="100"/>
              </a:spcAft>
            </a:pPr>
            <a:r>
              <a:rPr sz="1200" b="0" i="0" lang="es-ES">
                <a:solidFill>
                  <a:srgbClr val="D7DEE9"/>
                </a:solidFill>
                <a:latin typeface="Consolas"/>
              </a:rPr>
              <a:t>      elemento EDT superior</a:t>
            </a:r>
            <a:endParaRPr lang="es-ES" sz="1200"/>
          </a:p>
          <a:p>
            <a:pPr algn="l">
              <a:spcAft>
                <a:spcPts val="100"/>
              </a:spcAft>
            </a:pPr>
            <a:r>
              <a:rPr sz="1200" b="0" i="0" lang="es-ES">
                <a:solidFill>
                  <a:srgbClr val="F5C26B"/>
                </a:solidFill>
                <a:latin typeface="Consolas"/>
              </a:rPr>
              <a:t>  [i]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Ingresar el BAC </a:t>
            </a:r>
            <a:r>
              <a:rPr sz="1400" b="0" i="0" lang="es-ES">
                <a:solidFill>
                  <a:srgbClr val="5A6577"/>
                </a:solidFill>
                <a:latin typeface="Calibri"/>
              </a:rPr>
              <a:t>de cada paquete (columna D de PV)</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 PV: </a:t>
            </a:r>
            <a:r>
              <a:rPr sz="1400" b="0" i="0" lang="es-ES">
                <a:solidFill>
                  <a:srgbClr val="5A6577"/>
                </a:solidFill>
                <a:latin typeface="Calibri"/>
              </a:rPr>
              <a:t>cada paquete suma 100 %</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Tareas sin fechas de línea base: se usan las actuales</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Pesos de hitos que suman más de 100: se escalan</a:t>
            </a:r>
            <a:endParaRPr lang="es-ES" sz="12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 ganado y EV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valores del mes negativos, tareas sin fila, filas sin BAC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el % ganado del mes y lista las desviaciones. Luego se carga el AC del ERP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4.2.2 Cierre administrativo: método no definido</a:t>
            </a:r>
            <a:endParaRPr lang="es-ES" sz="1200"/>
          </a:p>
          <a:p>
            <a:pPr algn="l">
              <a:spcAft>
                <a:spcPts val="100"/>
              </a:spcAft>
            </a:pPr>
            <a:r>
              <a:rPr sz="1200" b="0" i="0" lang="es-ES">
                <a:solidFill>
                  <a:srgbClr val="D7DEE9"/>
                </a:solidFill>
                <a:latin typeface="Consolas"/>
              </a:rPr>
              <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12,092,032   % planificado 27.4 %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-1,901,492   SPI = 0.84</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30</a:t>
            </a:fld>
            <a:endParaRPr lang="es-ES" sz="1000"/>
          </a:p>
        </p:txBody>
      </p:sp>
      <p:sp>
        <p:nvSpPr>
          <p:cNvPr id="6" name="Round Same Side Corner Rectangle 5"/>
          <p:cNvSpPr/>
          <p:nvPr/>
        </p:nvSpPr>
        <p:spPr>
          <a:xfrm>
            <a:off x="548640"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Cuadro de Mando</a:t>
            </a:r>
            <a:endParaRPr lang="es-ES" sz="1200"/>
          </a:p>
        </p:txBody>
      </p:sp>
      <p:sp>
        <p:nvSpPr>
          <p:cNvPr id="7" name="Round Same Side Corner Rectangle 6"/>
          <p:cNvSpPr/>
          <p:nvPr/>
        </p:nvSpPr>
        <p:spPr>
          <a:xfrm>
            <a:off x="2050865" y="1508760"/>
            <a:ext cx="830538"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Resumen</a:t>
            </a:r>
            <a:endParaRPr lang="es-ES" sz="1200"/>
          </a:p>
        </p:txBody>
      </p:sp>
      <p:sp>
        <p:nvSpPr>
          <p:cNvPr id="8" name="Round Same Side Corner Rectangle 7"/>
          <p:cNvSpPr/>
          <p:nvPr/>
        </p:nvSpPr>
        <p:spPr>
          <a:xfrm>
            <a:off x="2927123"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PV</a:t>
            </a:r>
            <a:endParaRPr lang="es-ES" sz="1200"/>
          </a:p>
        </p:txBody>
      </p:sp>
      <p:sp>
        <p:nvSpPr>
          <p:cNvPr id="9" name="Round Same Side Corner Rectangle 8"/>
          <p:cNvSpPr/>
          <p:nvPr/>
        </p:nvSpPr>
        <p:spPr>
          <a:xfrm>
            <a:off x="3412152"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EV</a:t>
            </a:r>
            <a:endParaRPr lang="es-ES" sz="1200"/>
          </a:p>
        </p:txBody>
      </p:sp>
      <p:sp>
        <p:nvSpPr>
          <p:cNvPr id="10" name="Round Same Side Corner Rectangle 9"/>
          <p:cNvSpPr/>
          <p:nvPr/>
        </p:nvSpPr>
        <p:spPr>
          <a:xfrm>
            <a:off x="3897180"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AC</a:t>
            </a:r>
            <a:endParaRPr lang="es-ES" sz="1200"/>
          </a:p>
        </p:txBody>
      </p:sp>
      <p:sp>
        <p:nvSpPr>
          <p:cNvPr id="11" name="Round Same Side Corner Rectangle 10"/>
          <p:cNvSpPr/>
          <p:nvPr/>
        </p:nvSpPr>
        <p:spPr>
          <a:xfrm>
            <a:off x="4382209" y="1508760"/>
            <a:ext cx="1612997"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Evolución mensual</a:t>
            </a:r>
            <a:endParaRPr lang="es-ES" sz="1200"/>
          </a:p>
        </p:txBody>
      </p:sp>
      <p:sp>
        <p:nvSpPr>
          <p:cNvPr id="12" name="Round Same Side Corner Rectangle 11"/>
          <p:cNvSpPr/>
          <p:nvPr/>
        </p:nvSpPr>
        <p:spPr>
          <a:xfrm>
            <a:off x="6040926"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Indicadores EDT</a:t>
            </a:r>
            <a:endParaRPr lang="es-ES" sz="1200"/>
          </a:p>
        </p:txBody>
      </p:sp>
      <p:sp>
        <p:nvSpPr>
          <p:cNvPr id="33" name="Round Same Side Corner Rectangle 11 copia 33"/>
          <p:cNvSpPr/>
          <p:nvPr/>
        </p:nvSpPr>
        <p:spPr>
          <a:xfrm>
            <a:off x="7543152" y="1508760"/>
            <a:ext cx="2160719"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Análisis de desviaciones</a:t>
            </a:r>
            <a:endParaRPr lang="es-ES" sz="1200"/>
          </a:p>
        </p:txBody>
      </p:sp>
      <p:sp>
        <p:nvSpPr>
          <p:cNvPr id="13" name="Round Same Side Corner Rectangle 12"/>
          <p:cNvSpPr/>
          <p:nvPr/>
        </p:nvSpPr>
        <p:spPr>
          <a:xfrm>
            <a:off x="9749591" y="1508760"/>
            <a:ext cx="1065276"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Validación</a:t>
            </a:r>
            <a:endParaRPr lang="es-ES" sz="1200"/>
          </a:p>
        </p:txBody>
      </p:sp>
      <p:sp>
        <p:nvSpPr>
          <p:cNvPr id="14" name="Round Same Side Corner Rectangle 13"/>
          <p:cNvSpPr/>
          <p:nvPr/>
        </p:nvSpPr>
        <p:spPr>
          <a:xfrm>
            <a:off x="10860587" y="1508760"/>
            <a:ext cx="752292"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BAC y AC a mano; % PV y % EV</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BAC y AC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las hojas de datos</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en MS Project</a:t>
            </a:r>
            <a:endParaRPr lang="es-ES" sz="1400"/>
          </a:p>
          <a:p>
            <a:pPr algn="l"/>
            <a:r>
              <a:rPr sz="1300" b="0" i="0" lang="es-ES">
                <a:solidFill>
                  <a:srgbClr val="5A6577"/>
                </a:solidFill>
                <a:latin typeface="Calibri"/>
              </a:rPr>
              <a:t>columna C solo para cambios aprobados</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31</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Cuadro de Mando del libro de ejemplo con las zonas numeradas"/>
          <p:cNvPicPr>
            <a:picLocks noChangeAspect="1"/>
          </p:cNvPicPr>
          <p:nvPr/>
        </p:nvPicPr>
        <p:blipFill>
          <a:blip r:embed="rId4"/>
          <a:stretch>
            <a:fillRect/>
          </a:stretch>
        </p:blipFill>
        <p:spPr>
          <a:xfrm>
            <a:off x="548640" y="1371600"/>
            <a:ext cx="3474720"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
        <p:nvSpPr>
          <p:cNvPr id="28" name="Rounded Rectangle 27"/>
          <p:cNvSpPr/>
          <p:nvPr/>
        </p:nvSpPr>
        <p:spPr>
          <a:xfrm>
            <a:off x="8092440" y="4206240"/>
            <a:ext cx="3520440" cy="1965960"/>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de los últimos meses, </a:t>
            </a:r>
            <a:r>
              <a:rPr sz="1400" b="0" i="0" lang="es-ES">
                <a:solidFill>
                  <a:srgbClr val="1B2B48"/>
                </a:solidFill>
                <a:latin typeface="Calibri"/>
              </a:rPr>
              <a:t>no solo el valor acumulado.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pic>
        <p:nvPicPr>
          <p:cNvPr id="6" name="Picture 5" descr="Gráfico CPI vs SPI por elemento EDT y tabla del ejemplo"/>
          <p:cNvPicPr>
            <a:picLocks noChangeAspect="1"/>
          </p:cNvPicPr>
          <p:nvPr/>
        </p:nvPicPr>
        <p:blipFill>
          <a:blip r:embed="rId4"/>
          <a:stretch>
            <a:fillRect/>
          </a:stretch>
        </p:blipFill>
        <p:spPr>
          <a:xfrm>
            <a:off x="548640" y="1463040"/>
            <a:ext cx="6858000"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0,85</a:t>
            </a:r>
            <a:endParaRPr lang="es-ES" sz="1400"/>
          </a:p>
          <a:p>
            <a:pPr algn="l"/>
            <a:r>
              <a:rPr sz="1400" b="0" i="0" lang="es-ES">
                <a:solidFill>
                  <a:srgbClr val="1B2B48"/>
                </a:solidFill>
                <a:latin typeface="Calibri"/>
              </a:rPr>
              <a:t>Explica el sobrecosto: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SPI = 1,00  ·  CPI = 1,10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sin punto en el gráfico</a:t>
            </a:r>
            <a:endParaRPr lang="es-ES" sz="1400"/>
          </a:p>
          <a:p>
            <a:pPr algn="l"/>
            <a:r>
              <a:rPr sz="1400" b="0" i="0" lang="es-ES">
                <a:solidFill>
                  <a:srgbClr val="1B2B48"/>
                </a:solidFill>
                <a:latin typeface="Calibri"/>
              </a:rPr>
              <a:t>Su PV está en los meses de sus hitos (2028): SPI sin valor y CPI 0.</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¿ahorro real o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analisis-desviaciones.png"/>
          <p:cNvPicPr>
            <a:picLocks noChangeAspect="1"/>
          </p:cNvPicPr>
          <p:nvPr/>
        </p:nvPicPr>
        <p:blipFill>
          <a:blip r:embed="rId4"/>
          <a:stretch>
            <a:fillRect/>
          </a:stretch>
        </p:blipFill>
        <p:spPr>
          <a:xfrm>
            <a:off x="548640" y="1417320"/>
            <a:ext cx="11064240" cy="2633156"/>
          </a:xfrm>
          <a:prstGeom prst="rect">
            <a:avLst/>
          </a:prstGeom>
          <a:ln w="9525">
            <a:solidFill>
              <a:srgbClr val="D9D9D9"/>
            </a:solidFill>
          </a:ln>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36</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Registro del avance y fecha de estado</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carga del AC y analizar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37</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Sin importes en el cronograma: el BAC se ingresa en el libro</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Simular, revisar,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costos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