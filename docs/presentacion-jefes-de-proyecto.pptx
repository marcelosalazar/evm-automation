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y unos pocos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veamos cómo se reparte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el tiempo es justo, las diapositivas marcadas como opcionales en estas notas (Earned Schedule, Forma de la curva PV e Hitos ponderados) se pueden pasar en 15 segundos cada una.</a:t>
            </a:r>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 se guardan en el libro al generarlo, así que un cambio exige regenerar el libro con --migrar-desde.</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Con un CPI menor que 1,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el tiempo es justo: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validar revisa en la terminal el archivo de MS Project (códigos EDT, fechas y duraciones, pesos, métodos, avance a la fecha de estado y lógica del cronograma), y generar deja en la hoja Validación los avisos que afectan al libro, así que no hay que revisarlo todo a mano. Lo que ningún control puede juzgar es si las duraciones y los pesos son realistas: eso es tarea del equipo.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r>
              <a:rPr lang="es-ES"/>
              <a:t>validar y la hoja Validación comprueban que el código de cada tarea dependa del de su tarea superior: bajo 2.1.0 van 2.1.1, 2.1.2...; un 1.14.2 bajo 1.2.0 es un error.</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(Opcionales: Empresa y % Reparto si el proyecto se ejecuta entre dos empresas, y Visible para mostrar más o menos detalle en cada rama.)</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el tiempo es justo.)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el programa usa las fechas actuales y lo advierte: el PV se movería con cada reprogramación y la SV y el SPI perderían sentido.</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validar y corregir en MS Project los errores (códigos EDT, fechas, pesos, métodos); después,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 Si se entregaron fichas de tareas al cliente, se vuelven a crear con generar-fichas.</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Casi todos se detectan con validar antes de generar, o en la hoja Validación y al actualizar, así que no hay que buscarlos a mano: basta con leer los avisos. Las tareas largas de poco valor no las detecta ningún control: se revisan al planificar.</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si los hitos no tuvieran Peso hito, cada subtarea pesaría según su duración: (30 días al 100 % + 40 al 50 % + 20 al 0 %) / 90 días = 55,6 % del BAC = 500.000 €. Con los pesos de este paquete (30, 30 y 40, que suman 100) las tareas no pesan y el % Completado daría lo mismo que los hitos ponderados: 540.000 €.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el tiempo es justo: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Fijar la fecha de estado en el último día del mes (Proyecto &gt; Fecha de estado).</a:t>
            </a:r>
          </a:p>
          <a:p>
            <a:r>
              <a:rPr lang="es-ES"/>
              <a:t>2. Registrar el avance a la fecha de estado (no a la fecha en que se actualiza): % completado o duración real, % físico completado, comienzo y fin reales, y los hitos cumplidos al 100 %.</a:t>
            </a:r>
          </a:p>
          <a:p>
            <a:r>
              <a:rPr lang="es-ES"/>
              <a:t>3. Reprogramar el trabajo pendiente para que empiece después de la fecha de estado (Proyecto &gt; Actualizar proyecto). Así las fechas futuras siguen siendo una previsión realista. No cambia la línea base ni el PV. Si se trabaja con XML, guardar el XML al terminar.</a:t>
            </a:r>
          </a:p>
          <a:p>
            <a:r>
              <a:rPr lang="es-ES"/>
              <a:t>4. Ejecutar validar: revisa en la terminal, sin crear archivos, los códigos EDT, las fechas, los pesos y los métodos, el avance a la fecha de estado (tareas sin actualizar, fechas reales incoherentes, índice BEI) y la lógica del cronograma. Se corrige en MS Project hasta que no queden errores ni trabajo pendiente antes de la fecha de estado.</a:t>
            </a:r>
          </a:p>
          <a:p>
            <a:r>
              <a:rPr lang="es-ES"/>
              <a:t>El costo real no se registra en MS Project: Finanzas lo entrega del ERP (devengado, con la misma fecha de corte y en la misma base que el BAC) y se carga en la hoja AC del libro, o en las de cada empresa, después de actualizar (bloque siguiente).</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pocos comandos que se copian y se ajustan: validar, generar y actualizar; analizar y generar-fichas son de apoyo.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r>
              <a:t>- validar: antes de generar y antes de cada actualizar. Revisa el archivo de MS Project sin crear archivos: códigos EDT, fechas y duraciones, pesos de los hitos, método frente a la duración del paquete, avance a la fecha de estado y lógica del cronograma (criterios DCMA). Termina con código 1 si hay errores.</a:t>
            </a:r>
          </a:p>
          <a:p>
            <a:r>
              <a:t>- generar-fichas (opcional): crea un documento Markdown con la ficha de cada elemento EDT del libro (fechas y duración de la línea base, predecesoras y sucesoras) para el cliente, sin importes.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y de revisar el archivo con validar. La salida en pantalla resume lo leído: planificación, filas de la EDT, horizonte de meses y el recordatorio de ingresar el BAC, más observaciones informativas y avisos, por ejemplo de paquetes demasiado largos para su método (0/100, 50/50...).</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un extracto real del ejemplo a diciembre de 2027, con el AC del mes ya cargado: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fija la fecha de estado, registra el avance en MS Project y ejecuta validar (sin errores ni trabajo pendiente antes de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Validar, simular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(4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validar y, después de generar, la hoja Validación no deben mostrar métodos por definir. validar también avisa si un 0/100 dura más de 1 mes o un 50/50, 25/75 o 20/80 más de 2 meses (umbrales de la sección [validacion]), si un paquete de hitos ponderados no tiene hitos o si un método no se reconoce.</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planificar y medir el avance,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2.2.0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calculados con los datos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del cronograma y del libro</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validar,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Con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validar revisa el archivo de MS Project antes de exportar y generar deja los avisos del libro en la hoja </a:t>
            </a:r>
            <a:r>
              <a:rPr sz="1500" b="1" i="0" lang="es-ES">
                <a:solidFill>
                  <a:srgbClr val="1B2B48"/>
                </a:solidFill>
                <a:latin typeface="Calibri"/>
              </a:rPr>
              <a:t>Validación</a:t>
            </a:r>
            <a:r>
              <a:rPr sz="1500" b="0" i="0" lang="es-ES">
                <a:solidFill>
                  <a:srgbClr val="1B2B48"/>
                </a:solidFill>
                <a:latin typeface="Calibri"/>
              </a:rPr>
              <a:t>,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 Visible (más o menos detalle por rama)</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validar, generar, ingresar el BAC y revisar las hojas Validación y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PREPARACIÓN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a:p>
            <a:pPr algn="l"/>
            <a:r>
              <a:rPr sz="1100" b="0" i="0" lang="es-ES">
                <a:solidFill>
                  <a:srgbClr val="5A6577"/>
                </a:solidFill>
                <a:latin typeface="Calibri"/>
              </a:rPr>
              <a:t>si los hitos no tuvieran peso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validar sin avisos de método</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al terminar</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Revisar con validar</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Sin errores ni trabajo pendiente antes de la fecha de estado</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Validar el cronograma, generar una vez y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validar, generar y actualizar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
        <p:nvSpPr>
          <p:cNvPr id="26" name="validar"/>
          <p:cNvSpPr txBox="1"/>
          <p:nvPr/>
        </p:nvSpPr>
        <p:spPr>
          <a:xfrm>
            <a:off x="777240" y="3703320"/>
            <a:ext cx="2450000" cy="320040"/>
          </a:xfrm>
          <a:prstGeom prst="rect">
            <a:avLst/>
          </a:prstGeom>
          <a:noFill/>
        </p:spPr>
        <p:txBody>
          <a:bodyPr wrap="square" lIns="0" rIns="0">
            <a:spAutoFit/>
          </a:bodyPr>
          <a:lstStyle/>
          <a:p>
            <a:r>
              <a:rPr b="1" sz="1400">
                <a:solidFill>
                  <a:srgbClr val="8A5A00"/>
                </a:solidFill>
                <a:latin typeface="Consolas"/>
              </a:rPr>
              <a:t>validar</a:t>
            </a:r>
            <a:r>
              <a:rPr sz="1200">
                <a:solidFill>
                  <a:srgbClr val="5A6577"/>
                </a:solidFill>
                <a:latin typeface="Calibri"/>
              </a:rPr>
              <a:t>  antes de cada comando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F5C26B"/>
                </a:solidFill>
                <a:latin typeface="Consolas"/>
              </a:rPr>
              <a:t>        se usó % completado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340819"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1926035" y="1508760"/>
            <a:ext cx="7377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700326"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PV</a:t>
            </a:r>
            <a:endParaRPr lang="es-ES" sz="1200"/>
          </a:p>
        </p:txBody>
      </p:sp>
      <p:sp>
        <p:nvSpPr>
          <p:cNvPr id="34" name="Pestaña % PV"/>
          <p:cNvSpPr/>
          <p:nvPr/>
        </p:nvSpPr>
        <p:spPr>
          <a:xfrm>
            <a:off x="3097677" y="1508760"/>
            <a:ext cx="511551"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 PV</a:t>
            </a:r>
            <a:endParaRPr lang="es-ES" sz="1200"/>
          </a:p>
        </p:txBody>
      </p:sp>
      <p:sp>
        <p:nvSpPr>
          <p:cNvPr id="9" name="Round Same Side Corner Rectangle 8"/>
          <p:cNvSpPr/>
          <p:nvPr/>
        </p:nvSpPr>
        <p:spPr>
          <a:xfrm>
            <a:off x="3645804"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EV</a:t>
            </a:r>
            <a:endParaRPr lang="es-ES" sz="1200"/>
          </a:p>
        </p:txBody>
      </p:sp>
      <p:sp>
        <p:nvSpPr>
          <p:cNvPr id="35" name="Pestaña % EV"/>
          <p:cNvSpPr/>
          <p:nvPr/>
        </p:nvSpPr>
        <p:spPr>
          <a:xfrm>
            <a:off x="4043155" y="1508760"/>
            <a:ext cx="511551"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 EV</a:t>
            </a:r>
            <a:endParaRPr lang="es-ES" sz="1200"/>
          </a:p>
        </p:txBody>
      </p:sp>
      <p:sp>
        <p:nvSpPr>
          <p:cNvPr id="10" name="Round Same Side Corner Rectangle 9"/>
          <p:cNvSpPr/>
          <p:nvPr/>
        </p:nvSpPr>
        <p:spPr>
          <a:xfrm>
            <a:off x="4591282"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988633" y="1508760"/>
            <a:ext cx="149159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516804" y="1508760"/>
            <a:ext cx="1340819"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894199" y="1508760"/>
            <a:ext cx="2019311"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950086" y="1508760"/>
            <a:ext cx="963879"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950541" y="1508760"/>
            <a:ext cx="662338"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CPI 1,10  ·  SPI 1,00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Fecha de estado, avance y validar</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Validar, simular,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