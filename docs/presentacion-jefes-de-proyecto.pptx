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44261D6F-928F-4590-99A6-1079D2057B4B}">
          <p14:sldIdLst>
            <p14:sldId id="256"/>
            <p14:sldId id="257"/>
            <p14:sldId id="258"/>
          </p14:sldIdLst>
        </p14:section>
        <p14:section name="1. Valor Ganado" id="{64D4796F-D01C-4C2F-9703-F673CBBED414}">
          <p14:sldIdLst>
            <p14:sldId id="259"/>
            <p14:sldId id="260"/>
            <p14:sldId id="261"/>
            <p14:sldId id="262"/>
            <p14:sldId id="263"/>
            <p14:sldId id="264"/>
          </p14:sldIdLst>
        </p14:section>
        <p14:section name="2. MS Project" id="{529DE192-2A0C-44E3-8006-B59A22EC9933}">
          <p14:sldIdLst>
            <p14:sldId id="265"/>
            <p14:sldId id="266"/>
            <p14:sldId id="267"/>
            <p14:sldId id="268"/>
            <p14:sldId id="269"/>
            <p14:sldId id="270"/>
            <p14:sldId id="271"/>
            <p14:sldId id="272"/>
            <p14:sldId id="273"/>
            <p14:sldId id="274"/>
            <p14:sldId id="275"/>
            <p14:sldId id="276"/>
          </p14:sldIdLst>
        </p14:section>
        <p14:section name="3. Exportador EVM" id="{5AA57F50-48D2-4362-8F8B-0A71BAD39F4D}">
          <p14:sldIdLst>
            <p14:sldId id="277"/>
            <p14:sldId id="278"/>
            <p14:sldId id="279"/>
            <p14:sldId id="280"/>
            <p14:sldId id="281"/>
          </p14:sldIdLst>
        </p14:section>
        <p14:section name="4. Interpretar y actuar" id="{E2A7DBFD-9692-476B-9932-3866E0897496}">
          <p14:sldIdLst>
            <p14:sldId id="282"/>
            <p14:sldId id="283"/>
            <p14:sldId id="284"/>
            <p14:sldId id="285"/>
            <p14:sldId id="286"/>
            <p14:sldId id="28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pt idx="25">
                  <c:v>2028.0833</c:v>
                </c:pt>
                <c:pt idx="26">
                  <c:v>2028.1667</c:v>
                </c:pt>
                <c:pt idx="27">
                  <c:v>2028.25</c:v>
                </c:pt>
                <c:pt idx="28">
                  <c:v>2028.3333</c:v>
                </c:pt>
                <c:pt idx="29">
                  <c:v>2028.4167</c:v>
                </c:pt>
                <c:pt idx="30">
                  <c:v>2028.5</c:v>
                </c:pt>
                <c:pt idx="31">
                  <c:v>2028.5833</c:v>
                </c:pt>
                <c:pt idx="32">
                  <c:v>2028.6667</c:v>
                </c:pt>
                <c:pt idx="33">
                  <c:v>2028.75</c:v>
                </c:pt>
                <c:pt idx="34">
                  <c:v>2028.8333</c:v>
                </c:pt>
                <c:pt idx="35">
                  <c:v>2028.9167</c:v>
                </c:pt>
                <c:pt idx="36">
                  <c:v>2029.0</c:v>
                </c:pt>
                <c:pt idx="37">
                  <c:v>2029.0833</c:v>
                </c:pt>
                <c:pt idx="38">
                  <c:v>2029.1667</c:v>
                </c:pt>
                <c:pt idx="39">
                  <c:v>2029.25</c:v>
                </c:pt>
                <c:pt idx="40">
                  <c:v>2029.3333</c:v>
                </c:pt>
                <c:pt idx="41">
                  <c:v>2029.4167</c:v>
                </c:pt>
                <c:pt idx="42">
                  <c:v>2029.5</c:v>
                </c:pt>
                <c:pt idx="43">
                  <c:v>2029.5833</c:v>
                </c:pt>
                <c:pt idx="44">
                  <c:v>2029.6667</c:v>
                </c:pt>
                <c:pt idx="45">
                  <c:v>2029.75</c:v>
                </c:pt>
                <c:pt idx="46">
                  <c:v>2029.8333</c:v>
                </c:pt>
                <c:pt idx="47">
                  <c:v>2029.9167</c:v>
                </c:pt>
                <c:pt idx="48">
                  <c:v>2030.0</c:v>
                </c:pt>
                <c:pt idx="49">
                  <c:v>2030.0833</c:v>
                </c:pt>
                <c:pt idx="50">
                  <c:v>2030.1667</c:v>
                </c:pt>
                <c:pt idx="51">
                  <c:v>2030.25</c:v>
                </c:pt>
                <c:pt idx="52">
                  <c:v>2030.3333</c:v>
                </c:pt>
                <c:pt idx="53">
                  <c:v>2030.4167</c:v>
                </c:pt>
                <c:pt idx="54">
                  <c:v>2030.5</c:v>
                </c:pt>
                <c:pt idx="55">
                  <c:v>2030.5833</c:v>
                </c:pt>
                <c:pt idx="56">
                  <c:v>2030.6667</c:v>
                </c:pt>
                <c:pt idx="57">
                  <c:v>2030.75</c:v>
                </c:pt>
                <c:pt idx="58">
                  <c:v>2030.8333</c:v>
                </c:pt>
                <c:pt idx="59">
                  <c:v>2030.9167</c:v>
                </c:pt>
                <c:pt idx="60">
                  <c:v>2031.0</c:v>
                </c:pt>
              </c:numCache>
            </c:numRef>
          </c:xVal>
          <c:yVal>
            <c:numRef>
              <c:f>Sheet1!$B$2:$B$62</c:f>
              <c:numCache>
                <c:formatCode>General</c:formatCode>
                <c:ptCount val="6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pt idx="31">
                  <c:v>25.517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c:v>
                </c:pt>
                <c:pt idx="1">
                  <c:v>2031</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78,5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78.52</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c:v>
                </c:pt>
                <c:pt idx="1">
                  <c:v>0.069</c:v>
                </c:pt>
                <c:pt idx="2">
                  <c:v>0.143</c:v>
                </c:pt>
                <c:pt idx="3">
                  <c:v>0.33</c:v>
                </c:pt>
                <c:pt idx="4">
                  <c:v>0.67</c:v>
                </c:pt>
                <c:pt idx="5">
                  <c:v>0.974</c:v>
                </c:pt>
                <c:pt idx="6">
                  <c:v>1.166</c:v>
                </c:pt>
                <c:pt idx="7">
                  <c:v>1.578</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9.172</c:v>
                </c:pt>
                <c:pt idx="22">
                  <c:v>10.682</c:v>
                </c:pt>
                <c:pt idx="23">
                  <c:v>12.683</c:v>
                </c:pt>
                <c:pt idx="24">
                  <c:v>14.714</c:v>
                </c:pt>
                <c:pt idx="25">
                  <c:v>16.52</c:v>
                </c:pt>
                <c:pt idx="26">
                  <c:v>17.943</c:v>
                </c:pt>
                <c:pt idx="27">
                  <c:v>19.258</c:v>
                </c:pt>
                <c:pt idx="28">
                  <c:v>20.401</c:v>
                </c:pt>
                <c:pt idx="29">
                  <c:v>22.21</c:v>
                </c:pt>
                <c:pt idx="30">
                  <c:v>23.928</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21.67</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21.67</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c:v>
                </c:pt>
                <c:pt idx="1">
                  <c:v>24</c:v>
                </c:pt>
              </c:numCache>
            </c:numRef>
          </c:xVal>
          <c:yVal>
            <c:numRef>
              <c:f>Sheet1!$B$45:$B$46</c:f>
              <c:numCache>
                <c:formatCode>General</c:formatCode>
                <c:ptCount val="2"/>
                <c:pt idx="0">
                  <c:v>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21.67</c:v>
                </c:pt>
                <c:pt idx="1">
                  <c:v>21.67</c:v>
                </c:pt>
              </c:numCache>
            </c:numRef>
          </c:xVal>
          <c:yVal>
            <c:numRef>
              <c:f>Sheet1!$B$49:$B$50</c:f>
              <c:numCache>
                <c:formatCode>General</c:formatCode>
                <c:ptCount val="2"/>
                <c:pt idx="0">
                  <c:v>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EV (miles de €)</c:v>
                </c:pt>
              </c:strCache>
            </c:strRef>
          </c:tx>
          <c:spPr>
            <a:solidFill>
              <a:srgbClr val="4E8A3E"/>
            </a:solidFill>
          </c:spPr>
          <c:cat>
            <c:strRef>
              <c:f>Sheet1!$A$2:$A$6</c:f>
              <c:strCache>
                <c:ptCount val="5"/>
                <c:pt idx="0">
                  <c:v>0/100</c:v>
                </c:pt>
                <c:pt idx="1">
                  <c:v>20/80</c:v>
                </c:pt>
                <c:pt idx="2">
                  <c:v>50/50</c:v>
                </c:pt>
                <c:pt idx="3">
                  <c:v>% Completado</c:v>
                </c:pt>
                <c:pt idx="4">
                  <c:v>Hitos ponderados</c:v>
                </c:pt>
              </c:strCache>
            </c:strRef>
          </c:cat>
          <c:val>
            <c:numRef>
              <c:f>Sheet1!$B$2:$B$6</c:f>
              <c:numCache>
                <c:formatCode>General</c:formatCode>
                <c:ptCount val="5"/>
                <c:pt idx="0">
                  <c:v>0</c:v>
                </c:pt>
                <c:pt idx="1">
                  <c:v>180</c:v>
                </c:pt>
                <c:pt idx="2">
                  <c:v>450</c:v>
                </c:pt>
                <c:pt idx="3">
                  <c:v>500</c:v>
                </c:pt>
                <c:pt idx="4">
                  <c:v>540</c:v>
                </c:pt>
              </c:numCache>
            </c:numRef>
          </c:val>
        </c:ser>
        <c:dLbls>
          <c:numFmt formatCode="#,##0&quot; k€&quot;"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90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0:30 min</a:t>
            </a:r>
          </a:p>
          <a:p/>
          <a:p>
            <a:r>
              <a:rPr lang="es-ES"/>
              <a:t>Bienvenida. Objetivo: que al terminar sepan qué hay que preparar en MS Project para que el informe de Valor Ganado (EVM) sea fiable, y cómo se obtiene ese informe en Excel con el Exportador EVM en dos comandos.</a:t>
            </a:r>
          </a:p>
          <a:p/>
          <a:p>
            <a:r>
              <a:rPr lang="es-ES"/>
              <a:t>Las tres curvas de la portada son las del proyecto de ejemplo que usaremos durante toda la sesión: azul lo planificado (PV), verde lo ganado (EV) y rojo lo gastado (AC). Al final de la sesión deberían poder leerlas sin ayuda.</a:t>
            </a:r>
          </a:p>
          <a:p/>
          <a:p>
            <a:r>
              <a:rPr lang="es-ES"/>
              <a:t>Duración: unos 27 minutos de contenido y 3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1:15 min  ·  Acumulado: 1:45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y produce un libro Excel con el PV mensual de cada elemento de la EDT, el EV y el AC de cada paquete,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un tercio de la sesión es MS Project.</a:t>
            </a:r>
          </a:p>
          <a:p/>
          <a:p>
            <a:r>
              <a:rPr lang="es-ES"/>
              <a:t>Transición: antes de ver la herramienta, repasemos en cinco minutos el vocabulario del Valor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2:15 min</a:t>
            </a:r>
          </a:p>
          <a:p/>
          <a:p>
            <a:r>
              <a:rPr lang="es-ES"/>
              <a:t>Cuatro bloques. El bloque de MS Project es el más largo porque es donde se decide la calidad del informe: la herramienta solo puede leer lo que el cronograma contiene.</a:t>
            </a:r>
          </a:p>
          <a:p/>
          <a:p>
            <a:r>
              <a:rPr lang="es-ES"/>
              <a:t>La barra inferior muestra el reparto del tiempo. Las preguntas se dejan para el final; si surge una duda rápida, se puede responder en el momento.</a:t>
            </a:r>
          </a:p>
          <a:p/>
          <a:p>
            <a:r>
              <a:rPr lang="es-ES"/>
              <a:t>Si vas justo de tiempo, las diapositivas marcadas como opcionales en estas notas (Cronograma ganado, Acumulación de costos e Hitos ponderados) se pueden pasar en 15 segundos cada 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2:25 min</a:t>
            </a:r>
          </a:p>
          <a:p/>
          <a:p>
            <a:r>
              <a:rPr lang="es-ES"/>
              <a:t>Primer bloque: el vocabulario mínimo. Seguramente muchos ya lo conocen; el objetivo es que todos usemos las mismas siglas y sepamos cómo las llama MS Project en español, que usa nombres distintos.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1:15 min  ·  Acumulado: 3:40 min</a:t>
            </a:r>
          </a:p>
          <a:p/>
          <a:p>
            <a:r>
              <a:rPr lang="es-ES"/>
              <a:t>Todo el Valor Ganado se basa en comparar tres cantidades, todas en euros.</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Atención a los nombres en MS Project en español: CPTP es el PV, CPTR es el EV (MS Project lo llama "valor acumulado") y CRTR es el AC. El BAC es el presupuesto total: la suma del PV de todos los meses, que en MS Project es el Costo previsto de la línea 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1:15 min  ·  Acumulado: 4:55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variación del cronograma (SV); entre EV y AC, la variación del costo (CV).</a:t>
            </a:r>
          </a:p>
          <a:p/>
          <a:p>
            <a:r>
              <a:rPr lang="es-ES"/>
              <a:t>Dato práctico: si alguien vuelve a guardar la línea base de todo el proyecto cada mes, la curva azul se "pega" a la real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1:15 min  ·  Acumulado: 6:10 min</a:t>
            </a:r>
          </a:p>
          <a:p/>
          <a:p>
            <a:r>
              <a:rPr lang="es-ES"/>
              <a:t>Cuatro indicadores, todos calculados con PV, EV y AC. Las cifras son las del proyecto de ejemplo a diciembre de 2027.</a:t>
            </a:r>
          </a:p>
          <a:p/>
          <a:p>
            <a:r>
              <a:rPr lang="es-ES"/>
              <a:t>- Variaciones (en euros): SV = EV − PV y CV = EV − AC. Negativo es malo en ambos casos. Ojo: la SV mide el atraso en valor, no en tiempo.</a:t>
            </a:r>
          </a:p>
          <a:p>
            <a:r>
              <a:rPr lang="es-ES"/>
              <a:t>- Índices (eficiencia): SPI = EV / PV y CPI = EV / AC. Menor que 1 es malo. CPI 0,76 significa que por cada euro gastado se obtuvieron 76 céntimos de trabajo presupuestado.</a:t>
            </a:r>
          </a:p>
          <a:p/>
          <a:p>
            <a:r>
              <a:rPr lang="es-ES"/>
              <a:t>El semáforo del libro usa por defecto 0,95 y 0,90 como umbrales; se pueden ajustar en la configuración (sección [semaforo]).</a:t>
            </a:r>
          </a:p>
          <a:p/>
          <a:p>
            <a:r>
              <a:rPr lang="es-ES"/>
              <a:t>Trampa importante: en MS Project en español "VP" es la variación del cronograma (la SV), no el valor planificado. El valor planificado es el CPTP. Es una confusión muy frecuente al leer las tablas de valor acumulado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7:10 min</a:t>
            </a:r>
          </a:p>
          <a:p/>
          <a:p>
            <a:r>
              <a:rPr lang="es-ES"/>
              <a:t>El EAC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Es el más optimista.</a:t>
            </a:r>
          </a:p>
          <a:p>
            <a:r>
              <a:rPr lang="es-ES"/>
              <a:t>- AC + (BAC − EV) / (CPI × SPI): el atraso también encarece lo que falta. Suele ser el más pesimista.</a:t>
            </a:r>
          </a:p>
          <a:p/>
          <a:p>
            <a:r>
              <a:rPr lang="es-ES"/>
              <a:t>En el ejemplo, el rango va de 47,5 a 78,5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8:00 min</a:t>
            </a:r>
          </a:p>
          <a:p/>
          <a:p>
            <a:r>
              <a:rPr lang="es-ES"/>
              <a:t>(Opcional si vas justo de tiempo: quedarse solo con la frase "el SPI tiende a 1 al final; el SPI(t) no".)</a:t>
            </a:r>
          </a:p>
          <a:p/>
          <a:p>
            <a:r>
              <a:rPr lang="es-ES"/>
              <a:t>El SPI compara euros, no tiempo. Al final de cualquier proyecto, aunque termine tarde, EV = PV = BAC y el SPI vuelve a 1. Por eso el libro calcula también el Cronograma Ganado (Earned Schedule).</a:t>
            </a:r>
          </a:p>
          <a:p/>
          <a:p>
            <a:r>
              <a:rPr lang="es-ES"/>
              <a:t>Cómo se lee el gráfico: a diciembre de 2027 (mes 24, AT) llevamos ganados 10,19 M€. El plan preveía alcanzar ese valor en el mes 21,67 (ES). Vamos 2,33 meses tarde: SV(t) = ES − AT = −2,33 meses, y SPI(t) = ES / AT = 0,90.</a:t>
            </a:r>
          </a:p>
          <a:p/>
          <a:p>
            <a:r>
              <a:rPr lang="es-ES"/>
              <a:t>Con una duración planificada de 58 meses, la duración estimada es 58 / 0,90 ≈ 64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8:10 min</a:t>
            </a:r>
          </a:p>
          <a:p/>
          <a:p>
            <a:r>
              <a:rPr lang="es-ES"/>
              <a:t>Segundo bloque, el más importante. La herramienta solo puede leer lo que el cronograma contiene. Si la EDT, los costos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8:55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cada condición que no se cumple aparece como aviso en la hoja Validación del libro, así que no hay que revisarlo todo a mano.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9:55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cargan EV y AC.</a:t>
            </a:r>
          </a:p>
          <a:p>
            <a:r>
              <a:rPr lang="es-ES"/>
              <a:t>- Lo que está debajo (actividades, hitos) no necesita código: se suma en su paquete.</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10:40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peso de cada hito para el método de hitos ponderados.</a:t>
            </a:r>
          </a:p>
          <a:p>
            <a:r>
              <a:rPr lang="es-ES"/>
              <a:t>(Opcional: Empresa y % Reparto si el proyecto se ejecuta entre dos empresas.)</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11:50 min</a:t>
            </a:r>
          </a:p>
          <a:p/>
          <a:p>
            <a:r>
              <a:rPr lang="es-ES"/>
              <a:t>El costo de una tarea en MS Project es la suma de sus asignaciones de recursos más su costo fijo. Hay cuatro formas de cargarlo y se pueden combinar:</a:t>
            </a:r>
          </a:p>
          <a:p>
            <a:r>
              <a:rPr lang="es-ES"/>
              <a:t>A. Recursos de trabajo: horas × tarifa. Ingeniería y personal propio. El PV sigue al trabajo planificado y el costo real sale de las horas reales. Para revisiones de tarifas, usar tablas de tasas de costo con fecha.</a:t>
            </a:r>
          </a:p>
          <a:p>
            <a:r>
              <a:rPr lang="es-ES"/>
              <a:t>B. Recursos materiales: cantidad × precio. Hormigón, acero, equipos. Facilita medir por unidades.</a:t>
            </a:r>
          </a:p>
          <a:p>
            <a:r>
              <a:rPr lang="es-ES"/>
              <a:t>C. Recursos de costo: un monto por partida. Subcontratos, suministros, licencias, viajes. Es la forma más directa de pasar un presupuesto existente (oferta, ERP) al cronograma; conviene un recurso de costo por cuenta del ERP.</a:t>
            </a:r>
          </a:p>
          <a:p>
            <a:r>
              <a:rPr lang="es-ES"/>
              <a:t>D. Costo fijo de la tarea: un monto único, sin desglose. Tasas, permisos.</a:t>
            </a:r>
          </a:p>
          <a:p/>
          <a:p>
            <a:r>
              <a:rPr lang="es-ES"/>
              <a:t>Recomendación típica: proyectos de ingeniería y servicios, opción A; construcción o EPC, opción C para subcontratos y suministros más A para el personal propio.</a:t>
            </a:r>
          </a:p>
          <a:p/>
          <a:p>
            <a:r>
              <a:rPr lang="es-ES"/>
              <a:t>Regla de oro: costos solo en tareas de detalle. Un costo en una tarea resumen genera una fila "-D Otros costos" y un aviso.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12:30 min</a:t>
            </a:r>
          </a:p>
          <a:p/>
          <a:p>
            <a:r>
              <a:rPr lang="es-ES"/>
              <a:t>(Opcional si vas justo de tiempo.)</a:t>
            </a:r>
          </a:p>
          <a:p/>
          <a:p>
            <a:r>
              <a:rPr lang="es-ES"/>
              <a:t>El mismo importe puede dar curvas PV muy distintas. Ejemplo: un subcontrato de 300.000 € en una tarea de tres meses, cargado como recurso de costo o costo fijo.</a:t>
            </a:r>
          </a:p>
          <a:p>
            <a:r>
              <a:rPr lang="es-ES"/>
              <a:t>- Prorrateo: 100.000 € cada mes. Es la opción recomendada para tarifas.</a:t>
            </a:r>
          </a:p>
          <a:p>
            <a:r>
              <a:rPr lang="es-ES"/>
              <a:t>- Al comienzo: los 300.000 € el primer mes.</a:t>
            </a:r>
          </a:p>
          <a:p>
            <a:r>
              <a:rPr lang="es-ES"/>
              <a:t>- Al fin: los 300.000 € el último mes.</a:t>
            </a:r>
          </a:p>
          <a:p/>
          <a:p>
            <a:r>
              <a:rPr lang="es-ES"/>
              <a:t>Dónde se configura: en la Hoja de recursos, columna Acumular, para los recursos; en la tabla Costo, columna Acumulación de costos fijos, para el costo fijo.</a:t>
            </a:r>
          </a:p>
          <a:p/>
          <a:p>
            <a:r>
              <a:rPr lang="es-ES"/>
              <a:t>Si hay hitos de pago (anticipos, certificaciones), no hay que forzar la acumulación: se divide la partida en varias tareas o asignaciones, cada una con su fecha. Así el PV tiene la forma real del gasto previsto.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13:30 min</a:t>
            </a:r>
          </a:p>
          <a:p/>
          <a:p>
            <a:r>
              <a:rPr lang="es-ES"/>
              <a:t>El Costo previsto y su distribución en el tiempo solo existen después de guardar la línea base. Sin línea base, el programa usa el programa actual y lo advierte: sirve para una primera revisión, pero no para informar.</a:t>
            </a:r>
          </a:p>
          <a:p/>
          <a:p>
            <a:r>
              <a:rPr lang="es-ES"/>
              <a:t>1. Línea base inicial: Proyecto &gt; Establecer línea base &gt; Establecer línea base, "Para: Proyecto completo".</a:t>
            </a:r>
          </a:p>
          <a:p>
            <a:r>
              <a:rPr lang="es-ES"/>
              <a:t>2 y 3. Cuando se aprueba un cambio que agrega tareas: seleccionar solo esas tareas, "Tareas seleccionadas" y marcar "Resumir líneas base: Para todas las tareas de resumen". Así el presupuesto nuevo se suma sin tocar la línea base del resto.</a:t>
            </a:r>
          </a:p>
          <a:p/>
          <a:p>
            <a:r>
              <a:rPr lang="es-ES"/>
              <a:t>Historial: antes de cambiar la línea base vigente, copiarla en Línea base 1..10 con "Establecer plan provisional".</a:t>
            </a:r>
          </a:p>
          <a:p/>
          <a:p>
            <a:r>
              <a:rPr lang="es-ES"/>
              <a:t>Lo más importante (recuadro rojo): no volver a guardar la línea base de todo el proyecto cada mes. El PV pasaría a coincidir con el avance real y la SV dejaría de medir el atraso. La línea base solo cambia por cambios aprobados de alcance, plazo o costo.</a:t>
            </a:r>
          </a:p>
          <a:p/>
          <a:p>
            <a:r>
              <a:rPr lang="es-ES"/>
              <a:t>En el libro, una nueva línea base se incorpora con "generar --migrar-desde", que conserva el historial de EV y AC ya cargado.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14:20 min</a:t>
            </a:r>
          </a:p>
          <a:p/>
          <a:p>
            <a:r>
              <a:rPr lang="es-ES"/>
              <a:t>Estos son los errores que más se repiten al preparar un proyecto. Todos se detectan en la hoja Validación del libro, así que no hay que buscarlos a mano: basta con leer los avisos después de "generar".</a:t>
            </a:r>
          </a:p>
          <a:p/>
          <a:p>
            <a:r>
              <a:rPr lang="es-ES"/>
              <a:t>Recorrer las filas rápidamente. Insistir en dos:</a:t>
            </a:r>
          </a:p>
          <a:p>
            <a:r>
              <a:rPr lang="es-ES"/>
              <a:t>- Costos en tareas resumen: muy habitual cuando se pone un costo fijo de gestión en la tarea resumen. Solución: crear una tarea de detalle "Gestión del paquete".</a:t>
            </a:r>
          </a:p>
          <a:p>
            <a:r>
              <a:rPr lang="es-ES"/>
              <a:t>- Tareas agregadas después de guardar la línea base: no tienen costo previsto, así que no aportan PV ni BAC. Si el cambio está aprobado, guardar la línea base solo de esas tareas.</a:t>
            </a:r>
          </a:p>
          <a:p/>
          <a:p>
            <a:r>
              <a:rPr lang="es-ES"/>
              <a:t>Otro caso: los "recursos presupuestarios" de MS Project no sirven para el BAC; sus montos no forman parte del costo de las tareas.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15:20 min</a:t>
            </a:r>
          </a:p>
          <a:p/>
          <a:p>
            <a:r>
              <a:rPr lang="es-ES"/>
              <a:t>El método de medición convierte el avance de un paquete en valor ganado. Se elige uno por paquete al planificar y se mantiene durante toda su ejecución.</a:t>
            </a:r>
          </a:p>
          <a:p/>
          <a:p>
            <a:r>
              <a:rPr lang="es-ES"/>
              <a:t>Ejemplo de la documentación: un paquete de 900.000 € con tres subtareas. La memoria está terminada, los planos a la mitad y las especificaciones sin empezar. Dos de sus tres hitos están cumplidos.</a:t>
            </a:r>
          </a:p>
          <a:p>
            <a:r>
              <a:rPr lang="es-ES"/>
              <a:t>Con exactamente el mismo avance registrado, el EV va de 0 a 540.000 € según el método:</a:t>
            </a:r>
          </a:p>
          <a:p>
            <a:r>
              <a:rPr lang="es-ES"/>
              <a:t>- % Completado: 500.000 € (avance ponderado por el costo de cada subtarea).</a:t>
            </a:r>
          </a:p>
          <a:p>
            <a:r>
              <a:rPr lang="es-ES"/>
              <a:t>- 0/100: 0, porque el paquete no terminó.</a:t>
            </a:r>
          </a:p>
          <a:p>
            <a:r>
              <a:rPr lang="es-ES"/>
              <a:t>- 50/50: 450.000 €, porque comenzó. 20/80: 180.000 €.</a:t>
            </a:r>
          </a:p>
          <a:p>
            <a:r>
              <a:rPr lang="es-ES"/>
              <a:t>- Hitos ponderados (pesos 30/30/40): 540.000 €.</a:t>
            </a:r>
          </a:p>
          <a:p/>
          <a:p>
            <a:r>
              <a:rPr lang="es-ES"/>
              <a:t>Por eso el método se decide antes de empezar y no se cambia para "mejorar" el informe. MS Project no tiene de forma nativa 0/100, 50/50 ni hitos ponderados: los calcula la herramienta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16:15 min</a:t>
            </a:r>
          </a:p>
          <a:p/>
          <a:p>
            <a:r>
              <a:rPr lang="es-ES"/>
              <a:t>Guía práctica para elegir el método de cada paquete (es la de la documentación):</a:t>
            </a:r>
          </a:p>
          <a:p>
            <a:r>
              <a:rPr lang="es-ES"/>
              <a:t>- Trabajo de soporte sin entregables medibles (dirección, PMO, control): Avance lineal (LOE). EV = PV, así que nunca muestra atraso; limitarlo a lo indispensable porque "diluye" el SPI del proyecto.</a:t>
            </a:r>
          </a:p>
          <a:p>
            <a:r>
              <a:rPr lang="es-ES"/>
              <a:t>- Paquetes de un mes: 0/100.</a:t>
            </a:r>
          </a:p>
          <a:p>
            <a:r>
              <a:rPr lang="es-ES"/>
              <a:t>- De dos meses: 50/50, o 25/75 y 20/80 si el valor se concentra al final (por ejemplo, una prueba).</a:t>
            </a:r>
          </a:p>
          <a:p>
            <a:r>
              <a:rPr lang="es-ES"/>
              <a:t>- De tres meses o más con entregables intermedios verificables: hitos ponderados, el más recomendado porque es objetivo.</a:t>
            </a:r>
          </a:p>
          <a:p>
            <a:r>
              <a:rPr lang="es-ES"/>
              <a:t>- Si se mide en cantidades: unidades completadas. Si no: % físico completado, con un criterio de medición escrito en las Notas de la tarea.</a:t>
            </a:r>
          </a:p>
          <a:p/>
          <a:p>
            <a:r>
              <a:rPr lang="es-ES"/>
              <a:t>Preferir siempre métodos objetivos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16:55 min</a:t>
            </a:r>
          </a:p>
          <a:p/>
          <a:p>
            <a:r>
              <a:rPr lang="es-ES"/>
              <a:t>(Opcional si vas justo de tiempo: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presupuesto se carga en las actividades, no en los hitos.</a:t>
            </a:r>
          </a:p>
          <a:p>
            <a:r>
              <a:rPr lang="es-ES"/>
              <a:t>- El peso va en el campo Peso hito; conviene que sumen 100 y que sean proporcionales al trabajo.</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17:55 min</a:t>
            </a:r>
          </a:p>
          <a:p/>
          <a:p>
            <a:r>
              <a:rPr lang="es-ES"/>
              <a:t>Cuatro pasos cada mes, en este orden:</a:t>
            </a:r>
          </a:p>
          <a:p>
            <a:r>
              <a:rPr lang="es-ES"/>
              <a:t>1. Registrar el avance a la fecha de estado (no a la fecha en que se actualiza): % completado o duración real, % físico completado, comienzo y fin reales, y los hitos cumplidos al 100 %.</a:t>
            </a:r>
          </a:p>
          <a:p>
            <a:r>
              <a:rPr lang="es-ES"/>
              <a:t>2. Reprogramar el trabajo pendiente para que empiece después de la fecha de estado (Proyecto &gt; Actualizar proyecto). Así las fechas futuras siguen siendo una previsión realista. No cambia la línea base ni el PV.</a:t>
            </a:r>
          </a:p>
          <a:p>
            <a:r>
              <a:rPr lang="es-ES"/>
              <a:t>3. Costo real: por defecto MS Project lo calcula con el trabajo real y las tarifas. Si el costo real viene del ERP, hay dos opciones: escribirlo en MS Project (desmarcando "Los costos reales siempre se calculan por Project") o, más simple, cargarlo en la hoja AC del libro y ejecutar "actualizar --solo ev".</a:t>
            </a:r>
          </a:p>
          <a:p>
            <a:r>
              <a:rPr lang="es-ES"/>
              <a:t>4. Fijar la fecha de estado en el último día del mes (Proyecto &gt; Fecha de estado). Si se trabaja con XML, guardar el XML después de fijarla.</a:t>
            </a:r>
          </a:p>
          <a:p/>
          <a:p>
            <a:r>
              <a:rPr lang="es-ES"/>
              <a:t>Aunque el informe sea bimestral, conviene registrar el estado todos los meses: la curva S es mensual y las desviaciones se detectan antes.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18:05 min</a:t>
            </a:r>
          </a:p>
          <a:p/>
          <a:p>
            <a:r>
              <a:rPr lang="es-ES"/>
              <a:t>Tercer bloque: la herramienta. Es un programa en Python que se ejecuta en Windows desde la línea de comandos. No hace falta saber programar: son dos comandos que se copian y se ajustan.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18:55 min</a:t>
            </a:r>
          </a:p>
          <a:p/>
          <a:p>
            <a:r>
              <a:rPr lang="es-ES"/>
              <a:t>El flujo completo:</a:t>
            </a:r>
          </a:p>
          <a:p>
            <a:r>
              <a:rPr lang="es-ES"/>
              <a:t>- generar: se ejecuta una vez por línea base. Lee la EDT y la línea base de MS Project y crea el libro Excel con el PV mensual de cada elemento de la EDT (120 meses por defecto) y el BAC.</a:t>
            </a:r>
          </a:p>
          <a:p>
            <a:r>
              <a:rPr lang="es-ES"/>
              <a:t>- actualizar: se ejecuta cada mes. Lee el avance a la fecha de estado, calcula el EV y el AC acumulados de cada paquete según su método y escribe el valor del mes en el libro. Indicadores y gráficos se recalculan solos.</a:t>
            </a:r>
          </a:p>
          <a:p/>
          <a:p>
            <a:r>
              <a:rPr lang="es-ES"/>
              <a:t>Requisitos: Windows con Python.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rPr lang="es-ES"/>
              <a:t>La configuración (config.toml) indica los nombres de los campos: Item EDT, Método EVM, Peso hito, la planificación a exportar y los umbrales del semáforo.</a:t>
            </a:r>
          </a:p>
          <a:p/>
          <a:p>
            <a:r>
              <a:rPr lang="es-ES"/>
              <a:t>Opcional: modo multi-empresa, con el PV, EV y AC de dos empresas por separado.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20:00 min</a:t>
            </a:r>
          </a:p>
          <a:p/>
          <a:p>
            <a:r>
              <a:rPr lang="es-ES"/>
              <a:t>Se ejecuta una vez, después de guardar la línea base. La salida en pantalla resume lo leído: planificación, filas de la EDT, horizonte de meses y BAC total, más observaciones informativas.</a:t>
            </a:r>
          </a:p>
          <a:p/>
          <a:p>
            <a:r>
              <a:rPr lang="es-ES"/>
              <a:t>En el ejemplo: 36 filas EDT, 24 de ellas de ingreso (paquetes); 14 tareas sin código (actividades e hitos) que se sumaron en su paquete, que es lo esperado; y una fila sin método de medición, que hay que completar.</a:t>
            </a:r>
          </a:p>
          <a:p/>
          <a:p>
            <a:r>
              <a:rPr lang="es-ES"/>
              <a:t>Después de generar, tres comprobaciones (derecha):</a:t>
            </a:r>
          </a:p>
          <a:p>
            <a:r>
              <a:rPr lang="es-ES"/>
              <a:t>1. El BAC total del libro coincide con el Costo previsto de la tarea resumen en la tabla Costo de MS Project.</a:t>
            </a:r>
          </a:p>
          <a:p>
            <a:r>
              <a:rPr lang="es-ES"/>
              <a:t>2. El PV de algunos meses coincide con la vista Uso de tareas (detalle Costo previsto, escala en meses).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21:05 min</a:t>
            </a:r>
          </a:p>
          <a:p/>
          <a:p>
            <a:r>
              <a:rPr lang="es-ES"/>
              <a:t>Cada mes, con el avance registrado y la fecha de estado en el último día del mes:</a:t>
            </a:r>
          </a:p>
          <a:p>
            <a:r>
              <a:rPr lang="es-ES"/>
              <a:t>1. Primero "actualizar --simular": calcula todo y lo muestra en pantalla, pero no modifica el libro.</a:t>
            </a:r>
          </a:p>
          <a:p>
            <a:r>
              <a:rPr lang="es-ES"/>
              <a:t>2. Revisar las observaciones por fila: métodos no definidos, valores del mes negativos (por ejemplo, una corrección de avance), tareas con costo sin fila, diferencias de AC con MS Project. Si algo no es razonable, se corrige en MS Project y se vuelve a simular.</a:t>
            </a:r>
          </a:p>
          <a:p>
            <a:r>
              <a:rPr lang="es-ES"/>
              <a:t>3. "actualizar" sin --simular: escribe el valor del mes en las hojas EV y AC. Si el AC viene del ERP, se usa "--solo ev" y el AC se carga a mano en la hoja AC.</a:t>
            </a:r>
          </a:p>
          <a:p/>
          <a:p>
            <a:r>
              <a:rPr lang="es-ES"/>
              <a:t>Detalles que dan tranquilidad: repetir actualizar para el mismo mes reemplaza el valor, no lo duplica; antes de modificar el libro se guarda una copia de respaldo; y si el libro está abierto en Excel, avisa.</a:t>
            </a:r>
          </a:p>
          <a:p/>
          <a:p>
            <a:r>
              <a:rPr lang="es-ES"/>
              <a:t>La salida de la derecha es la real del ejemplo a diciembre de 2027: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21:55 min</a:t>
            </a:r>
          </a:p>
          <a:p/>
          <a:p>
            <a:r>
              <a:rPr lang="es-ES"/>
              <a:t>Las pestañas del libro, por colores:</a:t>
            </a:r>
          </a:p>
          <a:p>
            <a:r>
              <a:rPr lang="es-ES"/>
              <a:t>- Azul: resultados calculados con fórmulas (Cuadro de Mando, Resumen, Evolución mensual, Indicadores EDT).</a:t>
            </a:r>
          </a:p>
          <a:p>
            <a:r>
              <a:rPr lang="es-ES"/>
              <a:t>- Ámbar: datos. PV lo crea generar; en EV y AC, las celdas amarillas contienen el valor de cada mes (no el acumulado) y las completa actualizar, o se cargan a mano, por ejemplo el AC del ERP.</a:t>
            </a:r>
          </a:p>
          <a:p>
            <a:r>
              <a:rPr lang="es-ES"/>
              <a:t>- Gris: control (Validación y Listas de métodos).</a:t>
            </a:r>
          </a:p>
          <a:p/>
          <a:p>
            <a:r>
              <a:rPr lang="es-ES"/>
              <a:t>Reglas de uso (derecha): no insertar, borrar ni ordenar filas o columnas, porque actualizar ubica cada fila por su posición; para cambiar la EDT se cambia MS Project y se regenera con --migrar-desde. No escribir sobre subtotales ni fórmulas. El método de medición se puede cambiar en la columna C de la hoja PV.</a:t>
            </a:r>
          </a:p>
          <a:p/>
          <a:p>
            <a:r>
              <a:rPr lang="es-ES"/>
              <a:t>Las hojas ocultas (_graficos, _estructura, _meta)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22:05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23:15 min</a:t>
            </a:r>
          </a:p>
          <a:p/>
          <a:p>
            <a:r>
              <a:rPr lang="es-ES"/>
              <a:t>El Cuadro de Mando es la hoja principal y se imprime en una página, lista para adjuntar al informe mensual.</a:t>
            </a:r>
          </a:p>
          <a:p/>
          <a:p>
            <a:r>
              <a:rPr lang="es-ES"/>
              <a:t>Zonas (números rojos de la imagen):</a:t>
            </a:r>
          </a:p>
          <a:p>
            <a:r>
              <a:rPr lang="es-ES"/>
              <a:t>1. Mes de reporte (celda amarilla): actualizar lo fija en el mes de corte, pero se puede elegir cualquier mes anterior para revisar un informe pasado; todo el tablero cambia a ese mes.</a:t>
            </a:r>
          </a:p>
          <a:p>
            <a:r>
              <a:rPr lang="es-ES"/>
              <a:t>2. Método EAC (celda amarilla): BAC / CPI por defecto; las otras dos fórmulas que vimos.</a:t>
            </a:r>
          </a:p>
          <a:p>
            <a:r>
              <a:rPr lang="es-ES"/>
              <a:t>3. Valores acumulados: BAC, PV, EV y AC con su porcentaje del BAC.</a:t>
            </a:r>
          </a:p>
          <a:p>
            <a:r>
              <a:rPr lang="es-ES"/>
              <a:t>4. Desviaciones e índices con semáforo.</a:t>
            </a:r>
          </a:p>
          <a:p>
            <a:r>
              <a:rPr lang="es-ES"/>
              <a:t>5. Pronósticos: ETC, EAC, VAC y TCPI.</a:t>
            </a:r>
          </a:p>
          <a:p>
            <a:r>
              <a:rPr lang="es-ES"/>
              <a:t>6. Curva S.</a:t>
            </a:r>
          </a:p>
          <a:p>
            <a:r>
              <a:rPr lang="es-ES"/>
              <a:t>7. Evolución de CPI y SPI sobre las zonas roja, amarilla y verde: mirar la tendencia más que el valor puntual. En los primeros meses los índices oscilan mucho porque los importes son pequeños.</a:t>
            </a:r>
          </a:p>
          <a:p>
            <a:r>
              <a:rPr lang="es-ES"/>
              <a:t>8 y 9. Desempeño por elemento EDT: lo vemos en la siguiente diapositiva.</a:t>
            </a:r>
          </a:p>
          <a:p/>
          <a:p>
            <a:r>
              <a:rPr lang="es-ES"/>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24:10 min</a:t>
            </a:r>
          </a:p>
          <a:p/>
          <a:p>
            <a:r>
              <a:rPr lang="es-ES"/>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rPr lang="es-ES"/>
              <a:t>Lectura del ejemplo:</a:t>
            </a:r>
          </a:p>
          <a:p>
            <a:r>
              <a:rPr lang="es-ES"/>
              <a:t>- 3.0.0 Construcción (CPI 0,54, SPI 0,50) es el que arrastra al proyecto: hay que bajar a sus paquetes en la hoja Indicadores EDT.</a:t>
            </a:r>
          </a:p>
          <a:p>
            <a:r>
              <a:rPr lang="es-ES"/>
              <a:t>- 1.1.0 Dirección y control está exactamente en SPI = 1: es LOE, nunca muestra atraso.</a:t>
            </a:r>
          </a:p>
          <a:p>
            <a:r>
              <a:rPr lang="es-ES"/>
              <a:t>- 3.2.0 Montaje aparece en el límite del gráfico porque su suministro de equipos se mide con hitos ponderados y todavía no cumplió ningún hito: tiene costo real pero EV cero. Es el comportamiento esperado del método, no un error. El valor exacto está en la tabla.</a:t>
            </a:r>
          </a:p>
          <a:p/>
          <a:p>
            <a:r>
              <a:rPr lang="es-ES"/>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25:10 min</a:t>
            </a:r>
          </a:p>
          <a:p/>
          <a:p>
            <a:r>
              <a:rPr lang="es-ES"/>
              <a:t>Tabla de referencia rápida (está completa en la documentación, Cuadro de Mando e indicadores):</a:t>
            </a:r>
          </a:p>
          <a:p>
            <a:r>
              <a:rPr lang="es-ES"/>
              <a:t>- CPI menor que 0,90 de forma sostenida: el sobrecosto no es puntual. Los estudios sobre grandes contratos muestran que, superado el 20 % de avance, el CPI acumulado rara vez mejora de forma significativa. Revisar EAC y causas por paquete.</a:t>
            </a:r>
          </a:p>
          <a:p>
            <a:r>
              <a:rPr lang="es-ES"/>
              <a:t>- SPI menor que 0,90 y SV(t) creciente: atraso que se acumula. Revisar el camino crítico en MS Project: el SPI no dice si el atraso afecta a la fecha de fin.</a:t>
            </a:r>
          </a:p>
          <a:p>
            <a:r>
              <a:rPr lang="es-ES"/>
              <a:t>- SPI cerca de 1 al final pero SV(t) negativo: el SPI convergió, el proyecto sigue atrasado. Informar SV(t) y SPI(t).</a:t>
            </a:r>
          </a:p>
          <a:p>
            <a:r>
              <a:rPr lang="es-ES"/>
              <a:t>- TCPI muy superior al CPI: terminar en el BAC exige una eficiencia irreal; una regla práctica es una diferencia mayor de 0,05 a 0,10. Informar el EAC y evaluar un cambio de línea base o de alcance.</a:t>
            </a:r>
          </a:p>
          <a:p>
            <a:r>
              <a:rPr lang="es-ES"/>
              <a:t>- CPI y SPI mayores que 1: buena noticia... o métodos subjetivos o AC incompleto. Verificar antes de celebrar.</a:t>
            </a:r>
          </a:p>
          <a:p>
            <a:r>
              <a:rPr lang="es-ES"/>
              <a:t>- EV con AC cero en una fila: costo real aún no registrado (facturas pendientes, AC del ERP).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26:05 min</a:t>
            </a:r>
          </a:p>
          <a:p/>
          <a:p>
            <a:r>
              <a:rPr lang="es-ES"/>
              <a:t>Calendario orientativo en días hábiles después del fin de mes (D+n); hay que adaptarlo a los plazos de contabilidad de cada organización.</a:t>
            </a:r>
          </a:p>
          <a:p/>
          <a:p>
            <a:r>
              <a:rPr lang="es-ES"/>
              <a:t>- D+1 a D+2: los responsables de paquete informan el avance físico con evidencia objetiva (entregables, hitos, cantidades).</a:t>
            </a:r>
          </a:p>
          <a:p>
            <a:r>
              <a:rPr lang="es-ES"/>
              <a:t>- D+1 a D+3: Finanzas entrega el costo real devengado del mes (no pagos ni compromisos), con la misma fecha de corte.</a:t>
            </a:r>
          </a:p>
          <a:p>
            <a:r>
              <a:rPr lang="es-ES"/>
              <a:t>- D+3: el planificador (PMO) registra el avance en MS Project y fija la fecha de estado.</a:t>
            </a:r>
          </a:p>
          <a:p>
            <a:r>
              <a:rPr lang="es-ES"/>
              <a:t>- D+4: actualizar --simular, revisión de observaciones, actualizar y carga del AC si viene del ERP.</a:t>
            </a:r>
          </a:p>
          <a:p>
            <a:r>
              <a:rPr lang="es-ES"/>
              <a:t>- D+5 a D+6: el Jefe de Proyecto analiza las desviaciones fuera de umbral con los responsables (causa, impacto, acción con responsable y fecha) y revisa el EAC.</a:t>
            </a:r>
          </a:p>
          <a:p>
            <a:r>
              <a:rPr lang="es-ES"/>
              <a:t>- D+7: informe y reunión de seguimiento.</a:t>
            </a:r>
          </a:p>
          <a:p/>
          <a:p>
            <a:r>
              <a:rPr lang="es-ES"/>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26:50 min</a:t>
            </a:r>
          </a:p>
          <a:p/>
          <a:p>
            <a:r>
              <a:rPr lang="es-ES"/>
              <a:t>Cinco ideas para llevarse (leerlas o pedir a alguien de la sala que elija la que le parezca más difícil de aplicar en su proyecto):</a:t>
            </a:r>
          </a:p>
          <a:p>
            <a:r>
              <a:rPr lang="es-ES"/>
              <a:t>1. La línea base define el PV: se guarda una vez y solo cambia por control de cambios.</a:t>
            </a:r>
          </a:p>
          <a:p>
            <a:r>
              <a:rPr lang="es-ES"/>
              <a:t>2. Costos solo en tareas de detalle, dentro de la EDT exportada.</a:t>
            </a:r>
          </a:p>
          <a:p>
            <a:r>
              <a:rPr lang="es-ES"/>
              <a:t>3. Un método de medición objetivo por paquete, definido antes de empezar.</a:t>
            </a:r>
          </a:p>
          <a:p>
            <a:r>
              <a:rPr lang="es-ES"/>
              <a:t>4. Fecha de estado en el último día del mes y avance con evidencia.</a:t>
            </a:r>
          </a:p>
          <a:p>
            <a:r>
              <a:rPr lang="es-ES"/>
              <a:t>5. Simular, revisar y actualizar; y dedicar el tiempo del cierre a analizar.</a:t>
            </a:r>
          </a:p>
          <a:p/>
          <a:p>
            <a:r>
              <a:rPr lang="es-ES"/>
              <a:t>Para empezar: el tutorial de la documentación recorre todo el ciclo con el proyecto de ejemplo, sin necesidad de MS Project. Después, la guía de preparación en MS Project y el proceso de reporte mensual.</a:t>
            </a:r>
          </a:p>
          <a:p/>
          <a:p>
            <a:r>
              <a:rPr lang="es-ES"/>
              <a:t>Abrir turno de preguntas (3 minutos).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Valor Ganado</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JEFES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planificación y costos, y el Exportador EVM para generar el informe mensual en Excel</a:t>
            </a:r>
            <a:endParaRPr lang="es-ES" sz="1800"/>
          </a:p>
        </p:txBody>
      </p:sp>
      <p:sp>
        <p:nvSpPr>
          <p:cNvPr id="5" name="TextBox 4"/>
          <p:cNvSpPr txBox="1"/>
          <p:nvPr/>
        </p:nvSpPr>
        <p:spPr>
          <a:xfrm>
            <a:off x="548640" y="525780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6"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7" name="Connector 6"/>
          <p:cNvCxnSpPr/>
          <p:nvPr/>
        </p:nvCxnSpPr>
        <p:spPr>
          <a:xfrm>
            <a:off x="7086600" y="4937759"/>
            <a:ext cx="4114800" cy="0"/>
          </a:xfrm>
          <a:prstGeom prst="line">
            <a:avLst/>
          </a:prstGeom>
          <a:ln w="9525">
            <a:solidFill>
              <a:srgbClr val="3A4F78"/>
            </a:solidFill>
          </a:ln>
        </p:spPr>
      </p:cxnSp>
      <p:cxnSp>
        <p:nvCxnSpPr>
          <p:cNvPr id="8" name="Connector 7"/>
          <p:cNvCxnSpPr/>
          <p:nvPr/>
        </p:nvCxnSpPr>
        <p:spPr>
          <a:xfrm>
            <a:off x="7086600" y="4126229"/>
            <a:ext cx="4114800" cy="0"/>
          </a:xfrm>
          <a:prstGeom prst="line">
            <a:avLst/>
          </a:prstGeom>
          <a:ln w="9525">
            <a:solidFill>
              <a:srgbClr val="3A4F78"/>
            </a:solidFill>
          </a:ln>
        </p:spPr>
      </p:cxnSp>
      <p:cxnSp>
        <p:nvCxnSpPr>
          <p:cNvPr id="9" name="Connector 8"/>
          <p:cNvCxnSpPr/>
          <p:nvPr/>
        </p:nvCxnSpPr>
        <p:spPr>
          <a:xfrm>
            <a:off x="7086600" y="3314699"/>
            <a:ext cx="4114800" cy="0"/>
          </a:xfrm>
          <a:prstGeom prst="line">
            <a:avLst/>
          </a:prstGeom>
          <a:ln w="9525">
            <a:solidFill>
              <a:srgbClr val="3A4F78"/>
            </a:solidFill>
          </a:ln>
        </p:spPr>
      </p:cxnSp>
      <p:cxnSp>
        <p:nvCxnSpPr>
          <p:cNvPr id="10" name="Connector 9"/>
          <p:cNvCxnSpPr/>
          <p:nvPr/>
        </p:nvCxnSpPr>
        <p:spPr>
          <a:xfrm>
            <a:off x="7086600" y="2503170"/>
            <a:ext cx="4114800" cy="0"/>
          </a:xfrm>
          <a:prstGeom prst="line">
            <a:avLst/>
          </a:prstGeom>
          <a:ln w="9525">
            <a:solidFill>
              <a:srgbClr val="3A4F78"/>
            </a:solidFill>
          </a:ln>
        </p:spPr>
      </p:cxnSp>
      <p:cxnSp>
        <p:nvCxnSpPr>
          <p:cNvPr id="11" name="Connector 10"/>
          <p:cNvCxnSpPr/>
          <p:nvPr/>
        </p:nvCxnSpPr>
        <p:spPr>
          <a:xfrm>
            <a:off x="7086600" y="1691639"/>
            <a:ext cx="4114800" cy="0"/>
          </a:xfrm>
          <a:prstGeom prst="line">
            <a:avLst/>
          </a:prstGeom>
          <a:ln w="9525">
            <a:solidFill>
              <a:srgbClr val="3A4F78"/>
            </a:solidFill>
          </a:ln>
        </p:spPr>
      </p:cxnSp>
      <p:sp>
        <p:nvSpPr>
          <p:cNvPr id="12" name="Freeform 11"/>
          <p:cNvSpPr/>
          <p:nvPr/>
        </p:nvSpPr>
        <p:spPr>
          <a:xfrm>
            <a:off x="7086600" y="1748627"/>
            <a:ext cx="4114800" cy="3189132"/>
          </a:xfrm>
          <a:custGeom>
            <a:avLst/>
            <a:gdLst/>
            <a:ahLst/>
            <a:cxnLst/>
            <a:rect l="l" t="t" r="r" b="b"/>
            <a:pathLst>
              <a:path w="4114800" h="3189132">
                <a:moveTo>
                  <a:pt x="0" y="3189132"/>
                </a:moveTo>
                <a:lnTo>
                  <a:pt x="68580" y="3184141"/>
                </a:lnTo>
                <a:lnTo>
                  <a:pt x="137160" y="3178824"/>
                </a:lnTo>
                <a:lnTo>
                  <a:pt x="205740" y="3165362"/>
                </a:lnTo>
                <a:lnTo>
                  <a:pt x="274320" y="3140782"/>
                </a:lnTo>
                <a:lnTo>
                  <a:pt x="342900" y="3118868"/>
                </a:lnTo>
                <a:lnTo>
                  <a:pt x="411479" y="3105046"/>
                </a:lnTo>
                <a:lnTo>
                  <a:pt x="480060" y="3075274"/>
                </a:lnTo>
                <a:lnTo>
                  <a:pt x="548640" y="3050226"/>
                </a:lnTo>
                <a:lnTo>
                  <a:pt x="617220" y="3025677"/>
                </a:lnTo>
                <a:lnTo>
                  <a:pt x="685800" y="3000610"/>
                </a:lnTo>
                <a:lnTo>
                  <a:pt x="754379" y="2976136"/>
                </a:lnTo>
                <a:lnTo>
                  <a:pt x="822960" y="2949232"/>
                </a:lnTo>
                <a:lnTo>
                  <a:pt x="891540" y="2923326"/>
                </a:lnTo>
                <a:lnTo>
                  <a:pt x="960120" y="2900957"/>
                </a:lnTo>
                <a:lnTo>
                  <a:pt x="1028700" y="2866558"/>
                </a:lnTo>
                <a:lnTo>
                  <a:pt x="1097279" y="2831787"/>
                </a:lnTo>
                <a:lnTo>
                  <a:pt x="1165860" y="2798596"/>
                </a:lnTo>
                <a:lnTo>
                  <a:pt x="1234440" y="2763825"/>
                </a:lnTo>
                <a:lnTo>
                  <a:pt x="1303020" y="2701641"/>
                </a:lnTo>
                <a:lnTo>
                  <a:pt x="1371600" y="2635130"/>
                </a:lnTo>
                <a:lnTo>
                  <a:pt x="1440180" y="2527501"/>
                </a:lnTo>
                <a:lnTo>
                  <a:pt x="1508760" y="2418568"/>
                </a:lnTo>
                <a:lnTo>
                  <a:pt x="1577340" y="2274241"/>
                </a:lnTo>
                <a:lnTo>
                  <a:pt x="1645920" y="2127721"/>
                </a:lnTo>
                <a:lnTo>
                  <a:pt x="1714500" y="1997412"/>
                </a:lnTo>
                <a:lnTo>
                  <a:pt x="1783080" y="1894809"/>
                </a:lnTo>
                <a:lnTo>
                  <a:pt x="1851660" y="1799948"/>
                </a:lnTo>
                <a:lnTo>
                  <a:pt x="1920240" y="1717460"/>
                </a:lnTo>
                <a:lnTo>
                  <a:pt x="1988820" y="1586963"/>
                </a:lnTo>
                <a:lnTo>
                  <a:pt x="2057400" y="1463080"/>
                </a:lnTo>
                <a:lnTo>
                  <a:pt x="2125980" y="1348442"/>
                </a:lnTo>
                <a:lnTo>
                  <a:pt x="2194560" y="1253725"/>
                </a:lnTo>
                <a:lnTo>
                  <a:pt x="2263140" y="1181116"/>
                </a:lnTo>
                <a:lnTo>
                  <a:pt x="2331720" y="1111309"/>
                </a:lnTo>
                <a:lnTo>
                  <a:pt x="2400300" y="1022747"/>
                </a:lnTo>
                <a:lnTo>
                  <a:pt x="2468880" y="936419"/>
                </a:lnTo>
                <a:lnTo>
                  <a:pt x="2537460" y="841870"/>
                </a:lnTo>
                <a:lnTo>
                  <a:pt x="2606040" y="759654"/>
                </a:lnTo>
                <a:lnTo>
                  <a:pt x="2674620" y="669216"/>
                </a:lnTo>
                <a:lnTo>
                  <a:pt x="2743200" y="582888"/>
                </a:lnTo>
                <a:lnTo>
                  <a:pt x="2811780" y="488339"/>
                </a:lnTo>
                <a:lnTo>
                  <a:pt x="2880360" y="403888"/>
                </a:lnTo>
                <a:lnTo>
                  <a:pt x="2948940" y="354711"/>
                </a:lnTo>
                <a:lnTo>
                  <a:pt x="3017520" y="303300"/>
                </a:lnTo>
                <a:lnTo>
                  <a:pt x="3086100" y="258594"/>
                </a:lnTo>
                <a:lnTo>
                  <a:pt x="3154680" y="217032"/>
                </a:lnTo>
                <a:lnTo>
                  <a:pt x="3223260" y="175035"/>
                </a:lnTo>
                <a:lnTo>
                  <a:pt x="3291840" y="139167"/>
                </a:lnTo>
                <a:lnTo>
                  <a:pt x="3360420" y="113343"/>
                </a:lnTo>
                <a:lnTo>
                  <a:pt x="3429000" y="89110"/>
                </a:lnTo>
                <a:lnTo>
                  <a:pt x="3497580" y="56572"/>
                </a:lnTo>
                <a:lnTo>
                  <a:pt x="3566160" y="41818"/>
                </a:lnTo>
                <a:lnTo>
                  <a:pt x="3634740" y="24711"/>
                </a:lnTo>
                <a:lnTo>
                  <a:pt x="3703320" y="17310"/>
                </a:lnTo>
                <a:lnTo>
                  <a:pt x="3771900" y="9339"/>
                </a:lnTo>
                <a:lnTo>
                  <a:pt x="3840480" y="5166"/>
                </a:lnTo>
                <a:lnTo>
                  <a:pt x="3909060" y="1979"/>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3" name="Freeform 12"/>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4" name="Freeform 13"/>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5" name="TextBox 14"/>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6" name="TextBox 15"/>
          <p:cNvSpPr txBox="1"/>
          <p:nvPr/>
        </p:nvSpPr>
        <p:spPr>
          <a:xfrm>
            <a:off x="6949440" y="5257800"/>
            <a:ext cx="4389120" cy="274320"/>
          </a:xfrm>
          <a:prstGeom prst="rect">
            <a:avLst/>
          </a:prstGeom>
          <a:noFill/>
        </p:spPr>
        <p:txBody>
          <a:bodyPr wrap="square" lIns="0" rIns="0" tIns="0" bIns="0" anchor="t">
            <a:noAutofit/>
          </a:bodyPr>
          <a:lstStyle/>
          <a:p>
            <a:pPr algn="l"/>
            <a:r>
              <a:rPr sz="1200" b="1" i="0" lang="es-ES">
                <a:solidFill>
                  <a:srgbClr val="8FB3EA"/>
                </a:solidFill>
                <a:latin typeface="Calibri"/>
              </a:rPr>
              <a:t>PV planificado</a:t>
            </a:r>
            <a:r>
              <a:rPr sz="1200" b="0" i="0" lang="es-ES">
                <a:solidFill>
                  <a:srgbClr val="C9D3E3"/>
                </a:solidFill>
                <a:latin typeface="Calibri"/>
              </a:rPr>
              <a:t>   ·   </a:t>
            </a:r>
            <a:r>
              <a:rPr sz="1200" b="1" i="0" lang="es-ES">
                <a:solidFill>
                  <a:srgbClr val="93D07F"/>
                </a:solidFill>
                <a:latin typeface="Calibri"/>
              </a:rPr>
              <a:t>EV ganado</a:t>
            </a:r>
            <a:r>
              <a:rPr sz="1200" b="0" i="0" lang="es-ES">
                <a:solidFill>
                  <a:srgbClr val="C9D3E3"/>
                </a:solidFill>
                <a:latin typeface="Calibri"/>
              </a:rPr>
              <a:t>   ·   </a:t>
            </a:r>
            <a:r>
              <a:rPr sz="1200" b="1" i="0" lang="es-ES">
                <a:solidFill>
                  <a:srgbClr val="F08A7E"/>
                </a:solidFill>
                <a:latin typeface="Calibri"/>
              </a:rPr>
              <a:t>AC real</a:t>
            </a:r>
            <a:endParaRPr lang="es-ES" sz="1200"/>
          </a:p>
        </p:txBody>
      </p:sp>
      <p:sp>
        <p:nvSpPr>
          <p:cNvPr id="17" name="TextBox 16"/>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valor ganado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PV mensual leído de la línea base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y AC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 la EDT y los costos</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Valor Ganado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índices, pronósticos y cronograma ganado</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6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costos,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10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generar,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lectura de indicadores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2176272"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Valor Ganado · 6'</a:t>
            </a:r>
            <a:endParaRPr lang="es-ES" sz="1200"/>
          </a:p>
        </p:txBody>
      </p:sp>
      <p:sp>
        <p:nvSpPr>
          <p:cNvPr id="28" name="Rectangle 27"/>
          <p:cNvSpPr/>
          <p:nvPr/>
        </p:nvSpPr>
        <p:spPr>
          <a:xfrm>
            <a:off x="3499104" y="5257800"/>
            <a:ext cx="3651504"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10'</a:t>
            </a:r>
            <a:endParaRPr lang="es-ES" sz="1200"/>
          </a:p>
        </p:txBody>
      </p:sp>
      <p:sp>
        <p:nvSpPr>
          <p:cNvPr id="29" name="Rectangle 28"/>
          <p:cNvSpPr/>
          <p:nvPr/>
        </p:nvSpPr>
        <p:spPr>
          <a:xfrm>
            <a:off x="7187183" y="5257800"/>
            <a:ext cx="1438656"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4'</a:t>
            </a:r>
            <a:endParaRPr lang="es-ES" sz="1200"/>
          </a:p>
        </p:txBody>
      </p:sp>
      <p:sp>
        <p:nvSpPr>
          <p:cNvPr id="30" name="Rectangle 29"/>
          <p:cNvSpPr/>
          <p:nvPr/>
        </p:nvSpPr>
        <p:spPr>
          <a:xfrm>
            <a:off x="8662416" y="5257800"/>
            <a:ext cx="1807464"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5'</a:t>
            </a:r>
            <a:endParaRPr lang="es-ES" sz="1200"/>
          </a:p>
        </p:txBody>
      </p:sp>
      <p:sp>
        <p:nvSpPr>
          <p:cNvPr id="31" name="Rectangle 30"/>
          <p:cNvSpPr/>
          <p:nvPr/>
        </p:nvSpPr>
        <p:spPr>
          <a:xfrm>
            <a:off x="10506455" y="5257800"/>
            <a:ext cx="1069848"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3'</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Valor Ganado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MS Project para Jefes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8229600" cy="548640"/>
          </a:xfrm>
          <a:prstGeom prst="rect">
            <a:avLst/>
          </a:prstGeom>
          <a:noFill/>
        </p:spPr>
        <p:txBody>
          <a:bodyPr wrap="square" lIns="0" rIns="0" tIns="0" bIns="0" anchor="t">
            <a:noAutofit/>
          </a:bodyPr>
          <a:lstStyle/>
          <a:p>
            <a:pPr algn="l"/>
            <a:r>
              <a:rPr sz="2000" b="0" i="0" lang="es-ES">
                <a:solidFill>
                  <a:srgbClr val="C9D3E3"/>
                </a:solidFill>
                <a:latin typeface="Calibri"/>
              </a:rPr>
              <a:t>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Índices</a:t>
            </a:r>
            <a:endParaRPr lang="es-ES" sz="1300"/>
          </a:p>
        </p:txBody>
      </p:sp>
      <p:sp>
        <p:nvSpPr>
          <p:cNvPr id="10" name="Rounded Rectangle 9"/>
          <p:cNvSpPr/>
          <p:nvPr/>
        </p:nvSpPr>
        <p:spPr>
          <a:xfrm>
            <a:off x="484632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Pronósticos</a:t>
            </a:r>
            <a:endParaRPr lang="es-ES" sz="1300"/>
          </a:p>
        </p:txBody>
      </p:sp>
      <p:sp>
        <p:nvSpPr>
          <p:cNvPr id="11" name="Rounded Rectangle 10"/>
          <p:cNvSpPr/>
          <p:nvPr/>
        </p:nvSpPr>
        <p:spPr>
          <a:xfrm>
            <a:off x="6547104"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Cronograma ganado</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VALOR GANADO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828800"/>
            <a:ext cx="2103120" cy="548640"/>
          </a:xfrm>
          <a:prstGeom prst="rect">
            <a:avLst/>
          </a:prstGeom>
          <a:noFill/>
        </p:spPr>
        <p:txBody>
          <a:bodyPr wrap="square" lIns="0" rIns="0" tIns="0" bIns="0" anchor="ctr">
            <a:noAutofit/>
          </a:bodyPr>
          <a:lstStyle/>
          <a:p>
            <a:pPr algn="l"/>
            <a:r>
              <a:rPr sz="2000" b="1" i="0" lang="es-ES">
                <a:solidFill>
                  <a:srgbClr val="2F5597"/>
                </a:solidFill>
                <a:latin typeface="Calibri"/>
              </a:rPr>
              <a:t>Valor planificado</a:t>
            </a:r>
            <a:endParaRPr lang="es-ES" sz="2000"/>
          </a:p>
        </p:txBody>
      </p:sp>
      <p:sp>
        <p:nvSpPr>
          <p:cNvPr id="9" name="Rounded Rectangle 8"/>
          <p:cNvSpPr/>
          <p:nvPr/>
        </p:nvSpPr>
        <p:spPr>
          <a:xfrm>
            <a:off x="1828800" y="2331720"/>
            <a:ext cx="1691640" cy="292608"/>
          </a:xfrm>
          <a:prstGeom prst="roundRect">
            <a:avLst>
              <a:gd name="adj" fmla="val 50000"/>
            </a:avLst>
          </a:prstGeom>
          <a:solidFill>
            <a:srgbClr val="E5ECF7"/>
          </a:solidFill>
          <a:ln>
            <a:noFill/>
          </a:ln>
        </p:spPr>
        <p:txBody>
          <a:bodyPr rtlCol="0" anchor="ctr" wrap="square" lIns="0" rIns="0" tIns="0" bIns="0">
            <a:noAutofit/>
          </a:bodyPr>
          <a:lstStyle/>
          <a:p>
            <a:pPr algn="ctr"/>
            <a:r>
              <a:rPr sz="1200" b="0" i="0" lang="es-ES">
                <a:solidFill>
                  <a:srgbClr val="5A6577"/>
                </a:solidFill>
                <a:latin typeface="Calibri"/>
              </a:rPr>
              <a:t>MS Project: </a:t>
            </a:r>
            <a:r>
              <a:rPr sz="1200" b="1" i="0" lang="es-ES">
                <a:solidFill>
                  <a:srgbClr val="1B2B48"/>
                </a:solidFill>
                <a:latin typeface="Calibri"/>
              </a:rPr>
              <a:t>CPTP</a:t>
            </a:r>
            <a:endParaRPr lang="es-ES" sz="12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56432"/>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16052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389120"/>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Rounded Rectangle 13"/>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6" name="TextBox 15"/>
          <p:cNvSpPr txBox="1"/>
          <p:nvPr/>
        </p:nvSpPr>
        <p:spPr>
          <a:xfrm>
            <a:off x="5605271" y="1828800"/>
            <a:ext cx="2103120" cy="548640"/>
          </a:xfrm>
          <a:prstGeom prst="rect">
            <a:avLst/>
          </a:prstGeom>
          <a:noFill/>
        </p:spPr>
        <p:txBody>
          <a:bodyPr wrap="square" lIns="0" rIns="0" tIns="0" bIns="0" anchor="ctr">
            <a:noAutofit/>
          </a:bodyPr>
          <a:lstStyle/>
          <a:p>
            <a:pPr algn="l"/>
            <a:r>
              <a:rPr sz="2000" b="1" i="0" lang="es-ES">
                <a:solidFill>
                  <a:srgbClr val="4E8A3E"/>
                </a:solidFill>
                <a:latin typeface="Calibri"/>
              </a:rPr>
              <a:t>Valor ganado</a:t>
            </a:r>
            <a:endParaRPr lang="es-ES" sz="2000"/>
          </a:p>
        </p:txBody>
      </p:sp>
      <p:sp>
        <p:nvSpPr>
          <p:cNvPr id="17" name="Rounded Rectangle 16"/>
          <p:cNvSpPr/>
          <p:nvPr/>
        </p:nvSpPr>
        <p:spPr>
          <a:xfrm>
            <a:off x="5605271" y="2331720"/>
            <a:ext cx="1691640" cy="292608"/>
          </a:xfrm>
          <a:prstGeom prst="roundRect">
            <a:avLst>
              <a:gd name="adj" fmla="val 50000"/>
            </a:avLst>
          </a:prstGeom>
          <a:solidFill>
            <a:srgbClr val="E4F1DF"/>
          </a:solidFill>
          <a:ln>
            <a:noFill/>
          </a:ln>
        </p:spPr>
        <p:txBody>
          <a:bodyPr rtlCol="0" anchor="ctr" wrap="square" lIns="0" rIns="0" tIns="0" bIns="0">
            <a:noAutofit/>
          </a:bodyPr>
          <a:lstStyle/>
          <a:p>
            <a:pPr algn="ctr"/>
            <a:r>
              <a:rPr sz="1200" b="0" i="0" lang="es-ES">
                <a:solidFill>
                  <a:srgbClr val="5A6577"/>
                </a:solidFill>
                <a:latin typeface="Calibri"/>
              </a:rPr>
              <a:t>MS Project: </a:t>
            </a:r>
            <a:r>
              <a:rPr sz="1200" b="1" i="0" lang="es-ES">
                <a:solidFill>
                  <a:srgbClr val="1B2B48"/>
                </a:solidFill>
                <a:latin typeface="Calibri"/>
              </a:rPr>
              <a:t>CPTR</a:t>
            </a:r>
            <a:endParaRPr lang="es-ES" sz="1200"/>
          </a:p>
        </p:txBody>
      </p:sp>
      <p:sp>
        <p:nvSpPr>
          <p:cNvPr id="18" name="TextBox 17"/>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19" name="TextBox 18"/>
          <p:cNvSpPr txBox="1"/>
          <p:nvPr/>
        </p:nvSpPr>
        <p:spPr>
          <a:xfrm>
            <a:off x="4645151" y="3456432"/>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0" name="TextBox 19"/>
          <p:cNvSpPr txBox="1"/>
          <p:nvPr/>
        </p:nvSpPr>
        <p:spPr>
          <a:xfrm>
            <a:off x="4645151" y="416052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1" name="TextBox 20"/>
          <p:cNvSpPr txBox="1"/>
          <p:nvPr/>
        </p:nvSpPr>
        <p:spPr>
          <a:xfrm>
            <a:off x="4645151" y="4389120"/>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2" name="Rounded Rectangle 21"/>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3" name="Oval 22"/>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4" name="TextBox 23"/>
          <p:cNvSpPr txBox="1"/>
          <p:nvPr/>
        </p:nvSpPr>
        <p:spPr>
          <a:xfrm>
            <a:off x="9381744" y="1828800"/>
            <a:ext cx="2103120" cy="548640"/>
          </a:xfrm>
          <a:prstGeom prst="rect">
            <a:avLst/>
          </a:prstGeom>
          <a:noFill/>
        </p:spPr>
        <p:txBody>
          <a:bodyPr wrap="square" lIns="0" rIns="0" tIns="0" bIns="0" anchor="ctr">
            <a:noAutofit/>
          </a:bodyPr>
          <a:lstStyle/>
          <a:p>
            <a:pPr algn="l"/>
            <a:r>
              <a:rPr sz="2000" b="1" i="0" lang="es-ES">
                <a:solidFill>
                  <a:srgbClr val="C0392B"/>
                </a:solidFill>
                <a:latin typeface="Calibri"/>
              </a:rPr>
              <a:t>Costo real</a:t>
            </a:r>
            <a:endParaRPr lang="es-ES" sz="2000"/>
          </a:p>
        </p:txBody>
      </p:sp>
      <p:sp>
        <p:nvSpPr>
          <p:cNvPr id="25" name="Rounded Rectangle 24"/>
          <p:cNvSpPr/>
          <p:nvPr/>
        </p:nvSpPr>
        <p:spPr>
          <a:xfrm>
            <a:off x="9381744" y="2331720"/>
            <a:ext cx="1691640" cy="292608"/>
          </a:xfrm>
          <a:prstGeom prst="roundRect">
            <a:avLst>
              <a:gd name="adj" fmla="val 50000"/>
            </a:avLst>
          </a:prstGeom>
          <a:solidFill>
            <a:srgbClr val="FBE4E1"/>
          </a:solidFill>
          <a:ln>
            <a:noFill/>
          </a:ln>
        </p:spPr>
        <p:txBody>
          <a:bodyPr rtlCol="0" anchor="ctr" wrap="square" lIns="0" rIns="0" tIns="0" bIns="0">
            <a:noAutofit/>
          </a:bodyPr>
          <a:lstStyle/>
          <a:p>
            <a:pPr algn="ctr"/>
            <a:r>
              <a:rPr sz="1200" b="0" i="0" lang="es-ES">
                <a:solidFill>
                  <a:srgbClr val="5A6577"/>
                </a:solidFill>
                <a:latin typeface="Calibri"/>
              </a:rPr>
              <a:t>MS Project: </a:t>
            </a:r>
            <a:r>
              <a:rPr sz="1200" b="1" i="0" lang="es-ES">
                <a:solidFill>
                  <a:srgbClr val="1B2B48"/>
                </a:solidFill>
                <a:latin typeface="Calibri"/>
              </a:rPr>
              <a:t>CRTR</a:t>
            </a:r>
            <a:endParaRPr lang="es-ES" sz="1200"/>
          </a:p>
        </p:txBody>
      </p:sp>
      <p:sp>
        <p:nvSpPr>
          <p:cNvPr id="26" name="TextBox 25"/>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7" name="TextBox 26"/>
          <p:cNvSpPr txBox="1"/>
          <p:nvPr/>
        </p:nvSpPr>
        <p:spPr>
          <a:xfrm>
            <a:off x="8421624" y="3456432"/>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28" name="TextBox 27"/>
          <p:cNvSpPr txBox="1"/>
          <p:nvPr/>
        </p:nvSpPr>
        <p:spPr>
          <a:xfrm>
            <a:off x="8421624" y="416052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9" name="TextBox 28"/>
          <p:cNvSpPr txBox="1"/>
          <p:nvPr/>
        </p:nvSpPr>
        <p:spPr>
          <a:xfrm>
            <a:off x="8421624" y="4389120"/>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0" name="Rounded Rectangle 29"/>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Presupuesto a la conclusión: suma del PV de todos los meses (Costo previsto de la línea base)</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VALOR GANADO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14,7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33 %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Desviaciones e índices: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VALOR GANADO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64208"/>
            <a:ext cx="2377440" cy="411480"/>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Rounded Rectangle 7"/>
          <p:cNvSpPr/>
          <p:nvPr/>
        </p:nvSpPr>
        <p:spPr>
          <a:xfrm>
            <a:off x="3154680" y="1691640"/>
            <a:ext cx="594360" cy="310896"/>
          </a:xfrm>
          <a:prstGeom prst="roundRect">
            <a:avLst>
              <a:gd name="adj" fmla="val 50000"/>
            </a:avLst>
          </a:prstGeom>
          <a:solidFill>
            <a:srgbClr val="F3F5F9"/>
          </a:solidFill>
          <a:ln>
            <a:noFill/>
          </a:ln>
        </p:spPr>
        <p:txBody>
          <a:bodyPr rtlCol="0" anchor="ctr" wrap="square" lIns="0" rIns="0" tIns="0" bIns="0">
            <a:noAutofit/>
          </a:bodyPr>
          <a:lstStyle/>
          <a:p>
            <a:pPr algn="ctr"/>
            <a:r>
              <a:rPr sz="1100" b="1" i="0" lang="es-ES">
                <a:solidFill>
                  <a:srgbClr val="5A6577"/>
                </a:solidFill>
                <a:latin typeface="Calibri"/>
              </a:rPr>
              <a:t>VP</a:t>
            </a:r>
            <a:endParaRPr lang="es-ES" sz="1100"/>
          </a:p>
        </p:txBody>
      </p:sp>
      <p:sp>
        <p:nvSpPr>
          <p:cNvPr id="9" name="TextBox 8"/>
          <p:cNvSpPr txBox="1"/>
          <p:nvPr/>
        </p:nvSpPr>
        <p:spPr>
          <a:xfrm>
            <a:off x="822959" y="2148840"/>
            <a:ext cx="2926080" cy="594360"/>
          </a:xfrm>
          <a:prstGeom prst="rect">
            <a:avLst/>
          </a:prstGeom>
          <a:noFill/>
        </p:spPr>
        <p:txBody>
          <a:bodyPr wrap="square" lIns="0" rIns="0" tIns="0" bIns="0" anchor="t">
            <a:noAutofit/>
          </a:bodyPr>
          <a:lstStyle/>
          <a:p>
            <a:pPr algn="l"/>
            <a:r>
              <a:rPr sz="3200" b="1" i="0" lang="es-ES">
                <a:solidFill>
                  <a:srgbClr val="C0392B"/>
                </a:solidFill>
                <a:latin typeface="Calibri"/>
              </a:rPr>
              <a:t>−4,52 M€</a:t>
            </a:r>
            <a:endParaRPr lang="es-ES" sz="3200"/>
          </a:p>
        </p:txBody>
      </p:sp>
      <p:sp>
        <p:nvSpPr>
          <p:cNvPr id="10" name="TextBox 9"/>
          <p:cNvSpPr txBox="1"/>
          <p:nvPr/>
        </p:nvSpPr>
        <p:spPr>
          <a:xfrm>
            <a:off x="822959" y="278892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64208"/>
            <a:ext cx="2377440" cy="411480"/>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Rounded Rectangle 12"/>
          <p:cNvSpPr/>
          <p:nvPr/>
        </p:nvSpPr>
        <p:spPr>
          <a:xfrm>
            <a:off x="6766560" y="1691640"/>
            <a:ext cx="594360" cy="310896"/>
          </a:xfrm>
          <a:prstGeom prst="roundRect">
            <a:avLst>
              <a:gd name="adj" fmla="val 50000"/>
            </a:avLst>
          </a:prstGeom>
          <a:solidFill>
            <a:srgbClr val="F3F5F9"/>
          </a:solidFill>
          <a:ln>
            <a:noFill/>
          </a:ln>
        </p:spPr>
        <p:txBody>
          <a:bodyPr rtlCol="0" anchor="ctr" wrap="square" lIns="0" rIns="0" tIns="0" bIns="0">
            <a:noAutofit/>
          </a:bodyPr>
          <a:lstStyle/>
          <a:p>
            <a:pPr algn="ctr"/>
            <a:r>
              <a:rPr sz="1100" b="1" i="0" lang="es-ES">
                <a:solidFill>
                  <a:srgbClr val="5A6577"/>
                </a:solidFill>
                <a:latin typeface="Calibri"/>
              </a:rPr>
              <a:t>VC</a:t>
            </a:r>
            <a:endParaRPr lang="es-ES" sz="1100"/>
          </a:p>
        </p:txBody>
      </p:sp>
      <p:sp>
        <p:nvSpPr>
          <p:cNvPr id="14" name="TextBox 13"/>
          <p:cNvSpPr txBox="1"/>
          <p:nvPr/>
        </p:nvSpPr>
        <p:spPr>
          <a:xfrm>
            <a:off x="4434840" y="2148840"/>
            <a:ext cx="2926080" cy="594360"/>
          </a:xfrm>
          <a:prstGeom prst="rect">
            <a:avLst/>
          </a:prstGeom>
          <a:noFill/>
        </p:spPr>
        <p:txBody>
          <a:bodyPr wrap="square" lIns="0" rIns="0" tIns="0" bIns="0" anchor="t">
            <a:noAutofit/>
          </a:bodyPr>
          <a:lstStyle/>
          <a:p>
            <a:pPr algn="l"/>
            <a:r>
              <a:rPr sz="3200" b="1" i="0" lang="es-ES">
                <a:solidFill>
                  <a:srgbClr val="C0392B"/>
                </a:solidFill>
                <a:latin typeface="Calibri"/>
              </a:rPr>
              <a:t>−3,30 M€</a:t>
            </a:r>
            <a:endParaRPr lang="es-ES" sz="3200"/>
          </a:p>
        </p:txBody>
      </p:sp>
      <p:sp>
        <p:nvSpPr>
          <p:cNvPr id="15" name="TextBox 14"/>
          <p:cNvSpPr txBox="1"/>
          <p:nvPr/>
        </p:nvSpPr>
        <p:spPr>
          <a:xfrm>
            <a:off x="4434840" y="278892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67328"/>
            <a:ext cx="2377440" cy="411480"/>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Rounded Rectangle 17"/>
          <p:cNvSpPr/>
          <p:nvPr/>
        </p:nvSpPr>
        <p:spPr>
          <a:xfrm>
            <a:off x="3154680" y="3794760"/>
            <a:ext cx="594360" cy="310896"/>
          </a:xfrm>
          <a:prstGeom prst="roundRect">
            <a:avLst>
              <a:gd name="adj" fmla="val 50000"/>
            </a:avLst>
          </a:prstGeom>
          <a:solidFill>
            <a:srgbClr val="F3F5F9"/>
          </a:solidFill>
          <a:ln>
            <a:noFill/>
          </a:ln>
        </p:spPr>
        <p:txBody>
          <a:bodyPr rtlCol="0" anchor="ctr" wrap="square" lIns="0" rIns="0" tIns="0" bIns="0">
            <a:noAutofit/>
          </a:bodyPr>
          <a:lstStyle/>
          <a:p>
            <a:pPr algn="ctr"/>
            <a:r>
              <a:rPr sz="1100" b="1" i="0" lang="es-ES">
                <a:solidFill>
                  <a:srgbClr val="5A6577"/>
                </a:solidFill>
                <a:latin typeface="Calibri"/>
              </a:rPr>
              <a:t>IRP</a:t>
            </a:r>
            <a:endParaRPr lang="es-ES" sz="1100"/>
          </a:p>
        </p:txBody>
      </p:sp>
      <p:sp>
        <p:nvSpPr>
          <p:cNvPr id="19" name="TextBox 18"/>
          <p:cNvSpPr txBox="1"/>
          <p:nvPr/>
        </p:nvSpPr>
        <p:spPr>
          <a:xfrm>
            <a:off x="822959" y="4251960"/>
            <a:ext cx="2926080" cy="594360"/>
          </a:xfrm>
          <a:prstGeom prst="rect">
            <a:avLst/>
          </a:prstGeom>
          <a:noFill/>
        </p:spPr>
        <p:txBody>
          <a:bodyPr wrap="square" lIns="0" rIns="0" tIns="0" bIns="0" anchor="t">
            <a:noAutofit/>
          </a:bodyPr>
          <a:lstStyle/>
          <a:p>
            <a:pPr algn="l"/>
            <a:r>
              <a:rPr sz="3200" b="1" i="0" lang="es-ES">
                <a:solidFill>
                  <a:srgbClr val="1B2B48"/>
                </a:solidFill>
                <a:latin typeface="Calibri"/>
              </a:rPr>
              <a:t>0,69</a:t>
            </a:r>
            <a:endParaRPr lang="es-ES" sz="3200"/>
          </a:p>
        </p:txBody>
      </p:sp>
      <p:sp>
        <p:nvSpPr>
          <p:cNvPr id="20" name="TextBox 19"/>
          <p:cNvSpPr txBox="1"/>
          <p:nvPr/>
        </p:nvSpPr>
        <p:spPr>
          <a:xfrm>
            <a:off x="822959" y="48920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0,69 €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67328"/>
            <a:ext cx="2377440" cy="411480"/>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Rounded Rectangle 22"/>
          <p:cNvSpPr/>
          <p:nvPr/>
        </p:nvSpPr>
        <p:spPr>
          <a:xfrm>
            <a:off x="6766560" y="3794760"/>
            <a:ext cx="594360" cy="310896"/>
          </a:xfrm>
          <a:prstGeom prst="roundRect">
            <a:avLst>
              <a:gd name="adj" fmla="val 50000"/>
            </a:avLst>
          </a:prstGeom>
          <a:solidFill>
            <a:srgbClr val="F3F5F9"/>
          </a:solidFill>
          <a:ln>
            <a:noFill/>
          </a:ln>
        </p:spPr>
        <p:txBody>
          <a:bodyPr rtlCol="0" anchor="ctr" wrap="square" lIns="0" rIns="0" tIns="0" bIns="0">
            <a:noAutofit/>
          </a:bodyPr>
          <a:lstStyle/>
          <a:p>
            <a:pPr algn="ctr"/>
            <a:r>
              <a:rPr sz="1100" b="1" i="0" lang="es-ES">
                <a:solidFill>
                  <a:srgbClr val="5A6577"/>
                </a:solidFill>
                <a:latin typeface="Calibri"/>
              </a:rPr>
              <a:t>IRC</a:t>
            </a:r>
            <a:endParaRPr lang="es-ES" sz="1100"/>
          </a:p>
        </p:txBody>
      </p:sp>
      <p:sp>
        <p:nvSpPr>
          <p:cNvPr id="24" name="TextBox 23"/>
          <p:cNvSpPr txBox="1"/>
          <p:nvPr/>
        </p:nvSpPr>
        <p:spPr>
          <a:xfrm>
            <a:off x="4434840" y="4251960"/>
            <a:ext cx="2926080" cy="594360"/>
          </a:xfrm>
          <a:prstGeom prst="rect">
            <a:avLst/>
          </a:prstGeom>
          <a:noFill/>
        </p:spPr>
        <p:txBody>
          <a:bodyPr wrap="square" lIns="0" rIns="0" tIns="0" bIns="0" anchor="t">
            <a:noAutofit/>
          </a:bodyPr>
          <a:lstStyle/>
          <a:p>
            <a:pPr algn="l"/>
            <a:r>
              <a:rPr sz="3200" b="1" i="0" lang="es-ES">
                <a:solidFill>
                  <a:srgbClr val="1B2B48"/>
                </a:solidFill>
                <a:latin typeface="Calibri"/>
              </a:rPr>
              <a:t>0,76</a:t>
            </a:r>
            <a:endParaRPr lang="es-ES" sz="3200"/>
          </a:p>
        </p:txBody>
      </p:sp>
      <p:sp>
        <p:nvSpPr>
          <p:cNvPr id="25" name="TextBox 24"/>
          <p:cNvSpPr txBox="1"/>
          <p:nvPr/>
        </p:nvSpPr>
        <p:spPr>
          <a:xfrm>
            <a:off x="4434840" y="48920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  </a:t>
            </a:r>
            <a:r>
              <a:rPr sz="1200" b="0" i="0" lang="es-ES">
                <a:solidFill>
                  <a:srgbClr val="5A6577"/>
                </a:solidFill>
                <a:latin typeface="Calibri"/>
              </a:rPr>
              <a:t>En gris, el nombre del campo en MS Project en español.</a:t>
            </a:r>
            <a:endParaRPr lang="es-ES" sz="1200"/>
          </a:p>
        </p:txBody>
      </p:sp>
      <p:sp>
        <p:nvSpPr>
          <p:cNvPr id="27" name="Rounded Rectangle 26"/>
          <p:cNvSpPr/>
          <p:nvPr/>
        </p:nvSpPr>
        <p:spPr>
          <a:xfrm>
            <a:off x="8001000" y="1463040"/>
            <a:ext cx="3611880" cy="251460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10058400" y="2148840"/>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 0,95</a:t>
            </a:r>
            <a:endParaRPr lang="es-ES" sz="1500"/>
          </a:p>
        </p:txBody>
      </p:sp>
      <p:sp>
        <p:nvSpPr>
          <p:cNvPr id="32" name="Oval 31"/>
          <p:cNvSpPr/>
          <p:nvPr/>
        </p:nvSpPr>
        <p:spPr>
          <a:xfrm>
            <a:off x="8311896" y="2724912"/>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15768"/>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10058400" y="2715768"/>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0,90 – 0,95</a:t>
            </a:r>
            <a:endParaRPr lang="es-ES" sz="1500"/>
          </a:p>
        </p:txBody>
      </p:sp>
      <p:sp>
        <p:nvSpPr>
          <p:cNvPr id="35" name="Oval 34"/>
          <p:cNvSpPr/>
          <p:nvPr/>
        </p:nvSpPr>
        <p:spPr>
          <a:xfrm>
            <a:off x="8311896" y="3291840"/>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282696"/>
            <a:ext cx="128016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10058400" y="3282696"/>
            <a:ext cx="1371600" cy="411480"/>
          </a:xfrm>
          <a:prstGeom prst="rect">
            <a:avLst/>
          </a:prstGeom>
          <a:noFill/>
        </p:spPr>
        <p:txBody>
          <a:bodyPr wrap="square" lIns="0" rIns="0" tIns="0" bIns="0" anchor="ctr">
            <a:noAutofit/>
          </a:bodyPr>
          <a:lstStyle/>
          <a:p>
            <a:pPr algn="l"/>
            <a:r>
              <a:rPr sz="1500" b="0" i="0" lang="es-ES">
                <a:solidFill>
                  <a:srgbClr val="1B2B48"/>
                </a:solidFill>
                <a:latin typeface="Calibri"/>
              </a:rPr>
              <a:t>&lt; 0,90</a:t>
            </a:r>
            <a:endParaRPr lang="es-ES" sz="1500"/>
          </a:p>
        </p:txBody>
      </p:sp>
      <p:sp>
        <p:nvSpPr>
          <p:cNvPr id="38" name="Rounded Rectangle 37"/>
          <p:cNvSpPr/>
          <p:nvPr/>
        </p:nvSpPr>
        <p:spPr>
          <a:xfrm>
            <a:off x="8001000" y="4160520"/>
            <a:ext cx="3611880" cy="2011680"/>
          </a:xfrm>
          <a:prstGeom prst="roundRect">
            <a:avLst>
              <a:gd name="adj" fmla="val 5454"/>
            </a:avLst>
          </a:prstGeom>
          <a:solidFill>
            <a:srgbClr val="FBE4E1"/>
          </a:solidFill>
          <a:ln>
            <a:noFill/>
          </a:ln>
        </p:spPr>
        <p:txBody>
          <a:bodyPr rtlCol="0" anchor="t" wrap="square" lIns="201168" rIns="201168" tIns="201168" bIns="201168">
            <a:noAutofit/>
          </a:bodyPr>
          <a:lstStyle/>
          <a:p>
            <a:pPr algn="l">
              <a:spcAft>
                <a:spcPts val="600"/>
              </a:spcAft>
            </a:pPr>
            <a:r>
              <a:rPr sz="1600" b="1" i="0" lang="es-ES">
                <a:solidFill>
                  <a:srgbClr val="C0392B"/>
                </a:solidFill>
                <a:latin typeface="Calibri"/>
              </a:rPr>
              <a:t>Trampa frecuente</a:t>
            </a:r>
            <a:endParaRPr lang="es-ES" sz="1400"/>
          </a:p>
          <a:p>
            <a:pPr algn="l"/>
            <a:r>
              <a:rPr sz="1400" b="0" i="0" lang="es-ES">
                <a:solidFill>
                  <a:srgbClr val="1B2B48"/>
                </a:solidFill>
                <a:latin typeface="Calibri"/>
              </a:rPr>
              <a:t>En MS Project en español, </a:t>
            </a:r>
            <a:r>
              <a:rPr sz="1400" b="1" i="0" lang="es-ES">
                <a:solidFill>
                  <a:srgbClr val="1B2B48"/>
                </a:solidFill>
                <a:latin typeface="Calibri"/>
              </a:rPr>
              <a:t>VP</a:t>
            </a:r>
            <a:r>
              <a:rPr sz="1400" b="0" i="0" lang="es-ES">
                <a:solidFill>
                  <a:srgbClr val="1B2B48"/>
                </a:solidFill>
                <a:latin typeface="Calibri"/>
              </a:rPr>
              <a:t> es la variación del cronograma (SV), no el valor planificado. El valor planificado es el </a:t>
            </a:r>
            <a:r>
              <a:rPr sz="1400" b="1" i="0" lang="es-ES">
                <a:solidFill>
                  <a:srgbClr val="1B2B48"/>
                </a:solidFill>
                <a:latin typeface="Calibri"/>
              </a:rPr>
              <a:t>CPTP</a:t>
            </a:r>
            <a:r>
              <a:rPr sz="1400" b="0" i="0" lang="es-ES">
                <a:solidFill>
                  <a:srgbClr val="1B2B48"/>
                </a:solidFill>
                <a:latin typeface="Calibri"/>
              </a:rPr>
              <a:t>.</a:t>
            </a:r>
            <a:endParaRPr lang="es-ES" sz="14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Pronósticos: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VALOR GANADO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Cronograma ganado: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VALOR GANADO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21,67</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−2,33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0,90</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0,90 ≈ 64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MS Project para Jefes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82296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Costos en tareas de detalle</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Nunca en tareas resumen</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guardada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cada condición incumplida aparece como aviso en la hoja </a:t>
            </a:r>
            <a:r>
              <a:rPr sz="1500" b="1" i="0" lang="es-ES">
                <a:solidFill>
                  <a:srgbClr val="1B2B48"/>
                </a:solidFill>
                <a:latin typeface="Calibri"/>
              </a:rPr>
              <a:t>Validación</a:t>
            </a:r>
            <a:r>
              <a:rPr sz="1500" b="0" i="0" lang="es-ES">
                <a:solidFill>
                  <a:srgbClr val="1B2B48"/>
                </a:solidFill>
                <a:latin typeface="Calibri"/>
              </a:rPr>
              <a:t> del libro Excel, con la tarea afectada y su costo.</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Peso de cada hito del paquete</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Cuatro formas de cargar el presupuesto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trabajo</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Horas × tarifa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al trabajo planificado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Ingeniería, servicios, personal propio</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materiales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Cantidad × precio</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 cantidad planificada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Consumibles medidos en unidades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Recursos de costo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asignación</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Subcontratos, suministros, gastos</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Costo fijo de la tarea</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Monto por tarea</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Prorrateo, al comienzo o al fin</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Montos puntuales sin desglose</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costos solo en tareas de detalle, nunca en tareas resumen</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acumulación decide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subcontrato de 300.000 € en una tarea de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Prorrateo</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Recomendado para tarifas</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primer mes</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Al fin</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Todo el último mes</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Hitos de pago (anticipos, certificaciones): </a:t>
            </a:r>
            <a:r>
              <a:rPr sz="1500" b="0" i="0" lang="es-ES">
                <a:solidFill>
                  <a:srgbClr val="1B2B48"/>
                </a:solidFill>
                <a:latin typeface="Calibri"/>
              </a:rPr>
              <a:t>dividir la partida en tareas o asignaciones con su propia fecha.</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la referencia del PV y del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pic>
        <p:nvPicPr>
          <p:cNvPr id="6" name="Picture 5" descr="Esquema del cuadro Establecer línea base: proyecto completo, y tareas seleccionadas con resumen"/>
          <p:cNvPicPr>
            <a:picLocks noChangeAspect="1"/>
          </p:cNvPicPr>
          <p:nvPr/>
        </p:nvPicPr>
        <p:blipFill>
          <a:blip r:embed="rId2"/>
          <a:stretch>
            <a:fillRect/>
          </a:stretch>
        </p:blipFill>
        <p:spPr>
          <a:xfrm>
            <a:off x="548640" y="1463040"/>
            <a:ext cx="6766560" cy="3325692"/>
          </a:xfrm>
          <a:prstGeom prst="rect">
            <a:avLst/>
          </a:prstGeom>
          <a:ln w="9525">
            <a:solidFill>
              <a:srgbClr val="D5DBE5"/>
            </a:solidFill>
          </a:ln>
        </p:spPr>
      </p:pic>
      <p:sp>
        <p:nvSpPr>
          <p:cNvPr id="7" name="Oval 6"/>
          <p:cNvSpPr/>
          <p:nvPr/>
        </p:nvSpPr>
        <p:spPr>
          <a:xfrm>
            <a:off x="585215" y="4937760"/>
            <a:ext cx="329184" cy="329184"/>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8" name="TextBox 7"/>
          <p:cNvSpPr txBox="1"/>
          <p:nvPr/>
        </p:nvSpPr>
        <p:spPr>
          <a:xfrm>
            <a:off x="1051560" y="4937760"/>
            <a:ext cx="6217920" cy="347472"/>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9" name="Oval 8"/>
          <p:cNvSpPr/>
          <p:nvPr/>
        </p:nvSpPr>
        <p:spPr>
          <a:xfrm>
            <a:off x="585215" y="5349240"/>
            <a:ext cx="329184" cy="329184"/>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10" name="TextBox 9"/>
          <p:cNvSpPr txBox="1"/>
          <p:nvPr/>
        </p:nvSpPr>
        <p:spPr>
          <a:xfrm>
            <a:off x="1051560" y="5349240"/>
            <a:ext cx="6217920" cy="347472"/>
          </a:xfrm>
          <a:prstGeom prst="rect">
            <a:avLst/>
          </a:prstGeom>
          <a:noFill/>
        </p:spPr>
        <p:txBody>
          <a:bodyPr wrap="square" lIns="0" rIns="0" tIns="0" bIns="0" anchor="ctr">
            <a:noAutofit/>
          </a:bodyPr>
          <a:lstStyle/>
          <a:p>
            <a:pPr algn="l"/>
            <a:r>
              <a:rPr sz="1400" b="0" i="0" lang="es-ES">
                <a:solidFill>
                  <a:srgbClr val="1B2B48"/>
                </a:solidFill>
                <a:latin typeface="Calibri"/>
              </a:rPr>
              <a:t>Tareas nuevas aprobadas: Tareas seleccionadas</a:t>
            </a:r>
            <a:endParaRPr lang="es-ES" sz="1400"/>
          </a:p>
        </p:txBody>
      </p:sp>
      <p:sp>
        <p:nvSpPr>
          <p:cNvPr id="11" name="Oval 10"/>
          <p:cNvSpPr/>
          <p:nvPr/>
        </p:nvSpPr>
        <p:spPr>
          <a:xfrm>
            <a:off x="585215" y="5760720"/>
            <a:ext cx="329184" cy="329184"/>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12" name="TextBox 11"/>
          <p:cNvSpPr txBox="1"/>
          <p:nvPr/>
        </p:nvSpPr>
        <p:spPr>
          <a:xfrm>
            <a:off x="1051560" y="5760720"/>
            <a:ext cx="6217920" cy="347472"/>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13" name="Rounded Rectangle 12"/>
          <p:cNvSpPr/>
          <p:nvPr/>
        </p:nvSpPr>
        <p:spPr>
          <a:xfrm>
            <a:off x="7680960" y="1463040"/>
            <a:ext cx="3931920" cy="1371600"/>
          </a:xfrm>
          <a:prstGeom prst="roundRect">
            <a:avLst>
              <a:gd name="adj" fmla="val 8000"/>
            </a:avLst>
          </a:prstGeom>
          <a:solidFill>
            <a:srgbClr val="F3F5F9"/>
          </a:solidFill>
          <a:ln>
            <a:noFill/>
          </a:ln>
        </p:spPr>
        <p:txBody>
          <a:bodyPr rtlCol="0" anchor="t" wrap="square" lIns="201168" rIns="201168" tIns="201168" bIns="201168">
            <a:noAutofit/>
          </a:bodyPr>
          <a:lstStyle/>
          <a:p>
            <a:pPr algn="l">
              <a:spcAft>
                <a:spcPts val="400"/>
              </a:spcAft>
            </a:pPr>
            <a:r>
              <a:rPr sz="1600" b="1" i="0" lang="es-ES">
                <a:solidFill>
                  <a:srgbClr val="1B2B48"/>
                </a:solidFill>
                <a:latin typeface="Calibri"/>
              </a:rPr>
              <a:t>Historial</a:t>
            </a:r>
            <a:endParaRPr lang="es-ES" sz="1400"/>
          </a:p>
          <a:p>
            <a:pPr algn="l"/>
            <a:r>
              <a:rPr sz="1400" b="0" i="0" lang="es-ES">
                <a:solidFill>
                  <a:srgbClr val="1B2B48"/>
                </a:solidFill>
                <a:latin typeface="Calibri"/>
              </a:rPr>
              <a:t>Antes de cambiarla, copiar la línea base vigente en Línea base 1..10 (Establecer plan provisional).</a:t>
            </a:r>
            <a:endParaRPr lang="es-ES" sz="1400"/>
          </a:p>
        </p:txBody>
      </p:sp>
      <p:sp>
        <p:nvSpPr>
          <p:cNvPr id="14" name="Rounded Rectangle 13"/>
          <p:cNvSpPr/>
          <p:nvPr/>
        </p:nvSpPr>
        <p:spPr>
          <a:xfrm>
            <a:off x="7680960" y="2971800"/>
            <a:ext cx="3931920" cy="1691640"/>
          </a:xfrm>
          <a:prstGeom prst="roundRect">
            <a:avLst>
              <a:gd name="adj" fmla="val 6486"/>
            </a:avLst>
          </a:prstGeom>
          <a:solidFill>
            <a:srgbClr val="FBE4E1"/>
          </a:solidFill>
          <a:ln>
            <a:noFill/>
          </a:ln>
        </p:spPr>
        <p:txBody>
          <a:bodyPr rtlCol="0" anchor="t" wrap="square" lIns="201168" rIns="201168" tIns="201168" bIns="201168">
            <a:noAutofit/>
          </a:bodyPr>
          <a:lstStyle/>
          <a:p>
            <a:pPr algn="l">
              <a:spcAft>
                <a:spcPts val="400"/>
              </a:spcAft>
            </a:pPr>
            <a:r>
              <a:rPr sz="1600" b="1" i="0" lang="es-ES">
                <a:solidFill>
                  <a:srgbClr val="C0392B"/>
                </a:solidFill>
                <a:latin typeface="Calibri"/>
              </a:rPr>
              <a:t>No volver a guardarla cada mes</a:t>
            </a:r>
            <a:endParaRPr lang="es-ES" sz="1400"/>
          </a:p>
          <a:p>
            <a:pPr algn="l"/>
            <a:r>
              <a:rPr sz="1400" b="0" i="0" lang="es-ES">
                <a:solidFill>
                  <a:srgbClr val="1B2B48"/>
                </a:solidFill>
                <a:latin typeface="Calibri"/>
              </a:rPr>
              <a:t>El PV pasaría a coincidir con el avance real y la SV dejaría de medir el atraso.</a:t>
            </a:r>
            <a:endParaRPr lang="es-ES" sz="1400"/>
          </a:p>
        </p:txBody>
      </p:sp>
      <p:sp>
        <p:nvSpPr>
          <p:cNvPr id="15" name="Rounded Rectangle 14"/>
          <p:cNvSpPr/>
          <p:nvPr/>
        </p:nvSpPr>
        <p:spPr>
          <a:xfrm>
            <a:off x="7680960" y="4800600"/>
            <a:ext cx="3931920" cy="1371600"/>
          </a:xfrm>
          <a:prstGeom prst="roundRect">
            <a:avLst>
              <a:gd name="adj" fmla="val 8000"/>
            </a:avLst>
          </a:prstGeom>
          <a:solidFill>
            <a:srgbClr val="E5ECF7"/>
          </a:solidFill>
          <a:ln>
            <a:noFill/>
          </a:ln>
        </p:spPr>
        <p:txBody>
          <a:bodyPr rtlCol="0" anchor="t" wrap="square" lIns="201168" rIns="201168" tIns="201168" bIns="201168">
            <a:noAutofit/>
          </a:bodyPr>
          <a:lstStyle/>
          <a:p>
            <a:pPr algn="l">
              <a:spcAft>
                <a:spcPts val="400"/>
              </a:spcAft>
            </a:pPr>
            <a:r>
              <a:rPr sz="1600" b="1" i="0" lang="es-ES">
                <a:solidFill>
                  <a:srgbClr val="2F5597"/>
                </a:solidFill>
                <a:latin typeface="Calibri"/>
              </a:rPr>
              <a:t>Cambio aprobado</a:t>
            </a:r>
            <a:endParaRPr lang="es-ES" sz="1400"/>
          </a:p>
          <a:p>
            <a:pPr algn="l"/>
            <a:r>
              <a:rPr sz="1400" b="0" i="0" lang="es-ES">
                <a:solidFill>
                  <a:srgbClr val="1B2B48"/>
                </a:solidFill>
                <a:latin typeface="Calibri"/>
              </a:rPr>
              <a:t>Libro nuevo con </a:t>
            </a:r>
            <a:r>
              <a:rPr sz="1300" b="0" i="0" lang="es-ES">
                <a:solidFill>
                  <a:srgbClr val="1B2B48"/>
                </a:solidFill>
                <a:latin typeface="Consolas"/>
              </a:rPr>
              <a:t>generar --migrar-desde</a:t>
            </a:r>
            <a:r>
              <a:rPr sz="1400" b="0" i="0" lang="es-ES">
                <a:solidFill>
                  <a:srgbClr val="1B2B48"/>
                </a:solidFill>
                <a:latin typeface="Calibri"/>
              </a:rPr>
              <a:t>: conserva el historial de EV y AC.</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en costos y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COSTOS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Costos en tareas resumen</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Fila «-D Otros costos» y aviso</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Moverlos a una tarea de detalle</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PV ni BAC</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Costo previsto escrito a mano</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Sin distribución mensual: reparto lineal</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Cargar el costo en la tarea y guardar la línea base</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Línea base sin resumir</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tarea resumen no suma sus subtareas</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Guardar con «Para todas las tareas de resumen»</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con costo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 con su costo)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4297680" cy="4709160"/>
          </a:xfrm>
          <a:prstGeom prst="roundRect">
            <a:avLst>
              <a:gd name="adj" fmla="val 2553"/>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60" y="1645920"/>
            <a:ext cx="3840480" cy="365760"/>
          </a:xfrm>
          <a:prstGeom prst="rect">
            <a:avLst/>
          </a:prstGeom>
          <a:noFill/>
        </p:spPr>
        <p:txBody>
          <a:bodyPr wrap="square" lIns="0" rIns="0" tIns="0" bIns="0" anchor="t">
            <a:noAutofit/>
          </a:bodyPr>
          <a:lstStyle/>
          <a:p>
            <a:pPr algn="l"/>
            <a:r>
              <a:rPr sz="1900" b="1" i="0" lang="es-ES">
                <a:solidFill>
                  <a:srgbClr val="1B2B48"/>
                </a:solidFill>
                <a:latin typeface="Calibri"/>
              </a:rPr>
              <a:t>Paquete de 900.000 €</a:t>
            </a:r>
            <a:endParaRPr lang="es-ES" sz="1900"/>
          </a:p>
        </p:txBody>
      </p:sp>
      <p:sp>
        <p:nvSpPr>
          <p:cNvPr id="8" name="TextBox 7"/>
          <p:cNvSpPr txBox="1"/>
          <p:nvPr/>
        </p:nvSpPr>
        <p:spPr>
          <a:xfrm>
            <a:off x="822960" y="2011680"/>
            <a:ext cx="3840480" cy="27432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p:txBody>
      </p:sp>
      <p:sp>
        <p:nvSpPr>
          <p:cNvPr id="9" name="TextBox 8"/>
          <p:cNvSpPr txBox="1"/>
          <p:nvPr/>
        </p:nvSpPr>
        <p:spPr>
          <a:xfrm>
            <a:off x="822960" y="2514600"/>
            <a:ext cx="256032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3017520" y="2514600"/>
            <a:ext cx="1600200" cy="320040"/>
          </a:xfrm>
          <a:prstGeom prst="rect">
            <a:avLst/>
          </a:prstGeom>
          <a:noFill/>
        </p:spPr>
        <p:txBody>
          <a:bodyPr wrap="square" lIns="0" rIns="0" tIns="0" bIns="0" anchor="t">
            <a:noAutofit/>
          </a:bodyPr>
          <a:lstStyle/>
          <a:p>
            <a:pPr algn="r"/>
            <a:r>
              <a:rPr sz="1400" b="0" i="0" lang="es-ES">
                <a:solidFill>
                  <a:srgbClr val="5A6577"/>
                </a:solidFill>
                <a:latin typeface="Calibri"/>
              </a:rPr>
              <a:t>300.000 €</a:t>
            </a:r>
            <a:endParaRPr lang="es-ES" sz="1400"/>
          </a:p>
        </p:txBody>
      </p:sp>
      <p:sp>
        <p:nvSpPr>
          <p:cNvPr id="11" name="Rectangle 10"/>
          <p:cNvSpPr/>
          <p:nvPr/>
        </p:nvSpPr>
        <p:spPr>
          <a:xfrm>
            <a:off x="822960" y="2898648"/>
            <a:ext cx="3108960" cy="219456"/>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822960" y="2898648"/>
            <a:ext cx="3108960" cy="219456"/>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4023360" y="2843784"/>
            <a:ext cx="640080" cy="320040"/>
          </a:xfrm>
          <a:prstGeom prst="rect">
            <a:avLst/>
          </a:prstGeom>
          <a:noFill/>
        </p:spPr>
        <p:txBody>
          <a:bodyPr wrap="square" lIns="0" rIns="0" tIns="0" bIns="0" anchor="t">
            <a:noAutofit/>
          </a:bodyPr>
          <a:lstStyle/>
          <a:p>
            <a:pPr algn="r"/>
            <a:r>
              <a:rPr sz="1300" b="1" i="0" lang="es-ES">
                <a:solidFill>
                  <a:srgbClr val="1B2B48"/>
                </a:solidFill>
                <a:latin typeface="Calibri"/>
              </a:rPr>
              <a:t>100 %</a:t>
            </a:r>
            <a:endParaRPr lang="es-ES" sz="1300"/>
          </a:p>
        </p:txBody>
      </p:sp>
      <p:sp>
        <p:nvSpPr>
          <p:cNvPr id="14" name="TextBox 13"/>
          <p:cNvSpPr txBox="1"/>
          <p:nvPr/>
        </p:nvSpPr>
        <p:spPr>
          <a:xfrm>
            <a:off x="822960" y="3383280"/>
            <a:ext cx="256032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5" name="TextBox 14"/>
          <p:cNvSpPr txBox="1"/>
          <p:nvPr/>
        </p:nvSpPr>
        <p:spPr>
          <a:xfrm>
            <a:off x="3017520" y="3383280"/>
            <a:ext cx="1600200" cy="320040"/>
          </a:xfrm>
          <a:prstGeom prst="rect">
            <a:avLst/>
          </a:prstGeom>
          <a:noFill/>
        </p:spPr>
        <p:txBody>
          <a:bodyPr wrap="square" lIns="0" rIns="0" tIns="0" bIns="0" anchor="t">
            <a:noAutofit/>
          </a:bodyPr>
          <a:lstStyle/>
          <a:p>
            <a:pPr algn="r"/>
            <a:r>
              <a:rPr sz="1400" b="0" i="0" lang="es-ES">
                <a:solidFill>
                  <a:srgbClr val="5A6577"/>
                </a:solidFill>
                <a:latin typeface="Calibri"/>
              </a:rPr>
              <a:t>400.000 €</a:t>
            </a:r>
            <a:endParaRPr lang="es-ES" sz="1400"/>
          </a:p>
        </p:txBody>
      </p:sp>
      <p:sp>
        <p:nvSpPr>
          <p:cNvPr id="16" name="Rectangle 15"/>
          <p:cNvSpPr/>
          <p:nvPr/>
        </p:nvSpPr>
        <p:spPr>
          <a:xfrm>
            <a:off x="822960" y="3767328"/>
            <a:ext cx="3108960" cy="219456"/>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7" name="Rectangle 16"/>
          <p:cNvSpPr/>
          <p:nvPr/>
        </p:nvSpPr>
        <p:spPr>
          <a:xfrm>
            <a:off x="822960" y="3767328"/>
            <a:ext cx="1554480" cy="219456"/>
          </a:xfrm>
          <a:prstGeom prst="rect">
            <a:avLst/>
          </a:prstGeom>
          <a:solidFill>
            <a:srgbClr val="4E8A3E"/>
          </a:solidFill>
          <a:ln>
            <a:noFill/>
          </a:ln>
        </p:spPr>
        <p:txBody>
          <a:bodyPr rtlCol="0" anchor="ctr" wrap="square" lIns="73152" rIns="73152" tIns="73152" bIns="73152">
            <a:noAutofit/>
          </a:bodyPr>
          <a:lstStyle/>
          <a:p>
            <a:pPr algn="ctr"/>
          </a:p>
        </p:txBody>
      </p:sp>
      <p:sp>
        <p:nvSpPr>
          <p:cNvPr id="18" name="TextBox 17"/>
          <p:cNvSpPr txBox="1"/>
          <p:nvPr/>
        </p:nvSpPr>
        <p:spPr>
          <a:xfrm>
            <a:off x="4023360" y="3712464"/>
            <a:ext cx="640080" cy="320040"/>
          </a:xfrm>
          <a:prstGeom prst="rect">
            <a:avLst/>
          </a:prstGeom>
          <a:noFill/>
        </p:spPr>
        <p:txBody>
          <a:bodyPr wrap="square" lIns="0" rIns="0" tIns="0" bIns="0" anchor="t">
            <a:noAutofit/>
          </a:bodyPr>
          <a:lstStyle/>
          <a:p>
            <a:pPr algn="r"/>
            <a:r>
              <a:rPr sz="1300" b="1" i="0" lang="es-ES">
                <a:solidFill>
                  <a:srgbClr val="1B2B48"/>
                </a:solidFill>
                <a:latin typeface="Calibri"/>
              </a:rPr>
              <a:t>50 %</a:t>
            </a:r>
            <a:endParaRPr lang="es-ES" sz="1300"/>
          </a:p>
        </p:txBody>
      </p:sp>
      <p:sp>
        <p:nvSpPr>
          <p:cNvPr id="19" name="TextBox 18"/>
          <p:cNvSpPr txBox="1"/>
          <p:nvPr/>
        </p:nvSpPr>
        <p:spPr>
          <a:xfrm>
            <a:off x="822960" y="4251960"/>
            <a:ext cx="256032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20" name="TextBox 19"/>
          <p:cNvSpPr txBox="1"/>
          <p:nvPr/>
        </p:nvSpPr>
        <p:spPr>
          <a:xfrm>
            <a:off x="3017520" y="4251960"/>
            <a:ext cx="1600200" cy="320040"/>
          </a:xfrm>
          <a:prstGeom prst="rect">
            <a:avLst/>
          </a:prstGeom>
          <a:noFill/>
        </p:spPr>
        <p:txBody>
          <a:bodyPr wrap="square" lIns="0" rIns="0" tIns="0" bIns="0" anchor="t">
            <a:noAutofit/>
          </a:bodyPr>
          <a:lstStyle/>
          <a:p>
            <a:pPr algn="r"/>
            <a:r>
              <a:rPr sz="1400" b="0" i="0" lang="es-ES">
                <a:solidFill>
                  <a:srgbClr val="5A6577"/>
                </a:solidFill>
                <a:latin typeface="Calibri"/>
              </a:rPr>
              <a:t>200.000 €</a:t>
            </a:r>
            <a:endParaRPr lang="es-ES" sz="1400"/>
          </a:p>
        </p:txBody>
      </p:sp>
      <p:sp>
        <p:nvSpPr>
          <p:cNvPr id="21" name="Rectangle 20"/>
          <p:cNvSpPr/>
          <p:nvPr/>
        </p:nvSpPr>
        <p:spPr>
          <a:xfrm>
            <a:off x="822960" y="4636008"/>
            <a:ext cx="3108960" cy="219456"/>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023360" y="4581144"/>
            <a:ext cx="640080" cy="320040"/>
          </a:xfrm>
          <a:prstGeom prst="rect">
            <a:avLst/>
          </a:prstGeom>
          <a:noFill/>
        </p:spPr>
        <p:txBody>
          <a:bodyPr wrap="square" lIns="0" rIns="0" tIns="0" bIns="0" anchor="t">
            <a:noAutofit/>
          </a:bodyPr>
          <a:lstStyle/>
          <a:p>
            <a:pPr algn="r"/>
            <a:r>
              <a:rPr sz="1300" b="1" i="0" lang="es-ES">
                <a:solidFill>
                  <a:srgbClr val="1B2B48"/>
                </a:solidFill>
                <a:latin typeface="Calibri"/>
              </a:rPr>
              <a:t>0 %</a:t>
            </a:r>
            <a:endParaRPr lang="es-ES" sz="1300"/>
          </a:p>
        </p:txBody>
      </p:sp>
      <p:sp>
        <p:nvSpPr>
          <p:cNvPr id="23" name="TextBox 22"/>
          <p:cNvSpPr txBox="1"/>
          <p:nvPr/>
        </p:nvSpPr>
        <p:spPr>
          <a:xfrm>
            <a:off x="822960" y="5120640"/>
            <a:ext cx="3840480" cy="914400"/>
          </a:xfrm>
          <a:prstGeom prst="rect">
            <a:avLst/>
          </a:prstGeom>
          <a:noFill/>
        </p:spPr>
        <p:txBody>
          <a:bodyPr wrap="square" lIns="0" rIns="0" tIns="0" bIns="0" anchor="t">
            <a:noAutofit/>
          </a:bodyPr>
          <a:lstStyle/>
          <a:p>
            <a:pPr algn="l"/>
            <a:r>
              <a:rPr sz="1400" b="1" i="0" lang="es-ES">
                <a:solidFill>
                  <a:srgbClr val="1B2B48"/>
                </a:solidFill>
                <a:latin typeface="Calibri"/>
              </a:rPr>
              <a:t>Hitos: </a:t>
            </a:r>
            <a:r>
              <a:rPr sz="1400" b="0" i="0" lang="es-ES">
                <a:solidFill>
                  <a:srgbClr val="1B2B48"/>
                </a:solidFill>
                <a:latin typeface="Calibri"/>
              </a:rPr>
              <a:t>2 de 3 cumplidos (pesos 30 / 30 / 40)</a:t>
            </a:r>
            <a:endParaRPr lang="es-ES" sz="1400"/>
          </a:p>
        </p:txBody>
      </p:sp>
      <p:graphicFrame>
        <p:nvGraphicFramePr>
          <p:cNvPr id="24" name="Chart 23"/>
          <p:cNvGraphicFramePr>
            <a:graphicFrameLocks noGrp="1"/>
          </p:cNvGraphicFramePr>
          <p:nvPr/>
        </p:nvGraphicFramePr>
        <p:xfrm>
          <a:off x="5074920" y="1463040"/>
          <a:ext cx="6583680" cy="4023360"/>
        </p:xfrm>
        <a:graphic>
          <a:graphicData uri="http://schemas.openxmlformats.org/drawingml/2006/chart">
            <c:chart xmlns:c="http://schemas.openxmlformats.org/drawingml/2006/chart" r:id="rId2"/>
          </a:graphicData>
        </a:graphic>
      </p:graphicFrame>
      <p:sp>
        <p:nvSpPr>
          <p:cNvPr id="25" name="TextBox 24"/>
          <p:cNvSpPr txBox="1"/>
          <p:nvPr/>
        </p:nvSpPr>
        <p:spPr>
          <a:xfrm>
            <a:off x="5212080" y="5532120"/>
            <a:ext cx="6400800" cy="640080"/>
          </a:xfrm>
          <a:prstGeom prst="rect">
            <a:avLst/>
          </a:prstGeom>
          <a:noFill/>
        </p:spPr>
        <p:txBody>
          <a:bodyPr wrap="square" lIns="0" rIns="0" tIns="0" bIns="0" anchor="t">
            <a:noAutofit/>
          </a:bodyPr>
          <a:lstStyle/>
          <a:p>
            <a:pPr algn="l"/>
            <a:r>
              <a:rPr sz="1300" b="0" i="0" lang="es-ES">
                <a:solidFill>
                  <a:srgbClr val="5A6577"/>
                </a:solidFill>
                <a:latin typeface="Calibri"/>
              </a:rPr>
              <a:t>EV acumulado en miles de euros con el mismo avance registrado. </a:t>
            </a:r>
            <a:r>
              <a:rPr sz="1300" b="1" i="0" lang="es-ES">
                <a:solidFill>
                  <a:srgbClr val="1B2B48"/>
                </a:solidFill>
                <a:latin typeface="Calibri"/>
              </a:rPr>
              <a:t>El método se decide antes de empezar.</a:t>
            </a:r>
            <a:endParaRPr lang="es-ES" sz="13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del proyecto.</a:t>
            </a:r>
            <a:endParaRPr lang="es-ES" sz="14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Costo real del mes</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Calculado por MS Project o del ERP (en MS Project, o en el libro con actualizar --solo ev)</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después</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MS Project para Jefes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22</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8229600" cy="548640"/>
          </a:xfrm>
          <a:prstGeom prst="rect">
            <a:avLst/>
          </a:prstGeom>
          <a:noFill/>
        </p:spPr>
        <p:txBody>
          <a:bodyPr wrap="square" lIns="0" rIns="0" tIns="0" bIns="0" anchor="t">
            <a:noAutofit/>
          </a:bodyPr>
          <a:lstStyle/>
          <a:p>
            <a:pPr algn="l"/>
            <a:r>
              <a:rPr sz="2000" b="0" i="0" lang="es-ES">
                <a:solidFill>
                  <a:srgbClr val="C9D3E3"/>
                </a:solidFill>
                <a:latin typeface="Calibri"/>
              </a:rPr>
              <a:t>Dos comandos: generar una vez,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dos comandos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costos</a:t>
            </a:r>
            <a:endParaRPr lang="es-ES" sz="1400"/>
          </a:p>
          <a:p>
            <a:pPr algn="l" marL="201168" indent="-201168">
              <a:spcAft>
                <a:spcPts val="400"/>
              </a:spcAft>
              <a:buFont typeface="Arial"/>
              <a:buChar char="•"/>
            </a:pPr>
            <a:r>
              <a:rPr sz="1400" b="0" i="0" lang="es-ES">
                <a:solidFill>
                  <a:srgbClr val="1B2B48"/>
                </a:solidFill>
                <a:latin typeface="Calibri"/>
              </a:rPr>
              <a:t>Línea base</a:t>
            </a:r>
            <a:endParaRPr lang="es-ES" sz="1400"/>
          </a:p>
          <a:p>
            <a:pPr algn="l" marL="201168" indent="-201168">
              <a:spcAft>
                <a:spcPts val="400"/>
              </a:spcAft>
              <a:buFont typeface="Arial"/>
              <a:buChar char="•"/>
            </a:pPr>
            <a:r>
              <a:rPr sz="1400" b="0" i="0" lang="es-ES">
                <a:solidFill>
                  <a:srgbClr val="1B2B48"/>
                </a:solidFill>
                <a:latin typeface="Calibri"/>
              </a:rPr>
              <a:t>Avance y costo real</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PV mensual y BAC</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EV y AC del mes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 Python</a:t>
            </a:r>
            <a:endParaRPr lang="es-ES" sz="1300"/>
          </a:p>
          <a:p>
            <a:pPr algn="l"/>
            <a:r>
              <a:rPr sz="1300" b="0" i="0" lang="es-ES">
                <a:solidFill>
                  <a:srgbClr val="5A6577"/>
                </a:solidFill>
                <a:latin typeface="Calibri"/>
              </a:rPr>
              <a:t>3.11 o posterior; instalación una vez</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y el semáforo</a:t>
            </a:r>
            <a:endParaRPr lang="es-ES" sz="14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PV y el BAC</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total: 44,210,000.00</a:t>
            </a:r>
            <a:endParaRPr lang="es-ES" sz="1200"/>
          </a:p>
          <a:p>
            <a:pPr algn="l">
              <a:spcAft>
                <a:spcPts val="100"/>
              </a:spcAft>
            </a:pPr>
            <a:r>
              <a:rPr sz="1200" b="0" i="0" lang="es-ES">
                <a:solidFill>
                  <a:srgbClr val="D7DEE9"/>
                </a:solidFill>
                <a:latin typeface="Consolas"/>
              </a:rPr>
              <a:t>  [i] 14 tareas sin código EDT se agregaron en su</a:t>
            </a:r>
            <a:endParaRPr lang="es-ES" sz="1200"/>
          </a:p>
          <a:p>
            <a:pPr algn="l">
              <a:spcAft>
                <a:spcPts val="100"/>
              </a:spcAft>
            </a:pPr>
            <a:r>
              <a:rPr sz="1200" b="0" i="0" lang="es-ES">
                <a:solidFill>
                  <a:srgbClr val="D7DEE9"/>
                </a:solidFill>
                <a:latin typeface="Consolas"/>
              </a:rPr>
              <a:t>      elemento EDT superior</a:t>
            </a:r>
            <a:endParaRPr lang="es-ES" sz="1200"/>
          </a:p>
          <a:p>
            <a:pPr algn="l">
              <a:spcAft>
                <a:spcPts val="100"/>
              </a:spcAft>
            </a:pPr>
            <a:r>
              <a:rPr sz="1200" b="0" i="0" lang="es-ES">
                <a:solidFill>
                  <a:srgbClr val="F5C26B"/>
                </a:solidFill>
                <a:latin typeface="Consolas"/>
              </a:rPr>
              <a:t>  [i]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BAC total </a:t>
            </a:r>
            <a:r>
              <a:rPr sz="1400" b="0" i="0" lang="es-ES">
                <a:solidFill>
                  <a:srgbClr val="5A6577"/>
                </a:solidFill>
                <a:latin typeface="Calibri"/>
              </a:rPr>
              <a:t>= Costo previsto del proyecto (tabla Costo)</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PV de algunos meses </a:t>
            </a:r>
            <a:r>
              <a:rPr sz="1400" b="0" i="0" lang="es-ES">
                <a:solidFill>
                  <a:srgbClr val="5A6577"/>
                </a:solidFill>
                <a:latin typeface="Calibri"/>
              </a:rPr>
              <a:t>= vista Uso de tareas, detalle Costo previsto</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Tareas con costo pero sin línea base: no aportan PV</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Tarea resumen con costo propio: fila «-D Otros costos»</a:t>
            </a:r>
            <a:endParaRPr lang="es-ES" sz="12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EV y AC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valores del mes negativos, tareas sin fila, diferencias de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[--solo ev]</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valor del mes en EV y AC; --solo ev si el AC viene del ERP</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4.2.2 Cierre administrativo: método no definido</a:t>
            </a:r>
            <a:endParaRPr lang="es-ES" sz="1200"/>
          </a:p>
          <a:p>
            <a:pPr algn="l">
              <a:spcAft>
                <a:spcPts val="100"/>
              </a:spcAft>
            </a:pPr>
            <a:r>
              <a:rPr sz="1200" b="0" i="0" lang="es-ES">
                <a:solidFill>
                  <a:srgbClr val="D7DEE9"/>
                </a:solidFill>
                <a:latin typeface="Consolas"/>
              </a:rPr>
              <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14,714,032   % planificado 33.3 %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-4,523,492   SPI = 0.69</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26</a:t>
            </a:fld>
            <a:endParaRPr lang="es-ES" sz="1000"/>
          </a:p>
        </p:txBody>
      </p:sp>
      <p:sp>
        <p:nvSpPr>
          <p:cNvPr id="6" name="Round Same Side Corner Rectangle 5"/>
          <p:cNvSpPr/>
          <p:nvPr/>
        </p:nvSpPr>
        <p:spPr>
          <a:xfrm>
            <a:off x="548640" y="1508760"/>
            <a:ext cx="172821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Cuadro de Mando</a:t>
            </a:r>
            <a:endParaRPr lang="es-ES" sz="1200"/>
          </a:p>
        </p:txBody>
      </p:sp>
      <p:sp>
        <p:nvSpPr>
          <p:cNvPr id="7" name="Round Same Side Corner Rectangle 6"/>
          <p:cNvSpPr/>
          <p:nvPr/>
        </p:nvSpPr>
        <p:spPr>
          <a:xfrm>
            <a:off x="2331720" y="1508760"/>
            <a:ext cx="101132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Resumen</a:t>
            </a:r>
            <a:endParaRPr lang="es-ES" sz="1200"/>
          </a:p>
        </p:txBody>
      </p:sp>
      <p:sp>
        <p:nvSpPr>
          <p:cNvPr id="8" name="Round Same Side Corner Rectangle 7"/>
          <p:cNvSpPr/>
          <p:nvPr/>
        </p:nvSpPr>
        <p:spPr>
          <a:xfrm>
            <a:off x="3397910"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PV</a:t>
            </a:r>
            <a:endParaRPr lang="es-ES" sz="1200"/>
          </a:p>
        </p:txBody>
      </p:sp>
      <p:sp>
        <p:nvSpPr>
          <p:cNvPr id="9" name="Round Same Side Corner Rectangle 8"/>
          <p:cNvSpPr/>
          <p:nvPr/>
        </p:nvSpPr>
        <p:spPr>
          <a:xfrm>
            <a:off x="4016044"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EV</a:t>
            </a:r>
            <a:endParaRPr lang="es-ES" sz="1200"/>
          </a:p>
        </p:txBody>
      </p:sp>
      <p:sp>
        <p:nvSpPr>
          <p:cNvPr id="10" name="Round Same Side Corner Rectangle 9"/>
          <p:cNvSpPr/>
          <p:nvPr/>
        </p:nvSpPr>
        <p:spPr>
          <a:xfrm>
            <a:off x="4634179" y="1508760"/>
            <a:ext cx="563270" cy="411480"/>
          </a:xfrm>
          <a:prstGeom prst="round2SameRect">
            <a:avLst>
              <a:gd name="adj1" fmla="val 22222"/>
              <a:gd name="adj2" fmla="val 0"/>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AC</a:t>
            </a:r>
            <a:endParaRPr lang="es-ES" sz="1200"/>
          </a:p>
        </p:txBody>
      </p:sp>
      <p:sp>
        <p:nvSpPr>
          <p:cNvPr id="11" name="Round Same Side Corner Rectangle 10"/>
          <p:cNvSpPr/>
          <p:nvPr/>
        </p:nvSpPr>
        <p:spPr>
          <a:xfrm>
            <a:off x="5252313" y="1508760"/>
            <a:ext cx="1907438"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Evolución mensual</a:t>
            </a:r>
            <a:endParaRPr lang="es-ES" sz="1200"/>
          </a:p>
        </p:txBody>
      </p:sp>
      <p:sp>
        <p:nvSpPr>
          <p:cNvPr id="12" name="Round Same Side Corner Rectangle 11"/>
          <p:cNvSpPr/>
          <p:nvPr/>
        </p:nvSpPr>
        <p:spPr>
          <a:xfrm>
            <a:off x="7214616" y="1508760"/>
            <a:ext cx="1728216" cy="411480"/>
          </a:xfrm>
          <a:prstGeom prst="round2SameRect">
            <a:avLst>
              <a:gd name="adj1" fmla="val 22222"/>
              <a:gd name="adj2" fmla="val 0"/>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Indicadores EDT</a:t>
            </a:r>
            <a:endParaRPr lang="es-ES" sz="1200"/>
          </a:p>
        </p:txBody>
      </p:sp>
      <p:sp>
        <p:nvSpPr>
          <p:cNvPr id="13" name="Round Same Side Corner Rectangle 12"/>
          <p:cNvSpPr/>
          <p:nvPr/>
        </p:nvSpPr>
        <p:spPr>
          <a:xfrm>
            <a:off x="8997696" y="1508760"/>
            <a:ext cx="1280160"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200" b="1" i="0" lang="es-ES">
                <a:solidFill>
                  <a:srgbClr val="1B2B48"/>
                </a:solidFill>
                <a:latin typeface="Calibri"/>
              </a:rPr>
              <a:t>Validación</a:t>
            </a:r>
            <a:endParaRPr lang="es-ES" sz="1200"/>
          </a:p>
        </p:txBody>
      </p:sp>
      <p:sp>
        <p:nvSpPr>
          <p:cNvPr id="14" name="Round Same Side Corner Rectangle 13"/>
          <p:cNvSpPr/>
          <p:nvPr/>
        </p:nvSpPr>
        <p:spPr>
          <a:xfrm>
            <a:off x="10332720" y="1508760"/>
            <a:ext cx="921715" cy="411480"/>
          </a:xfrm>
          <a:prstGeom prst="round2SameRect">
            <a:avLst>
              <a:gd name="adj1" fmla="val 22222"/>
              <a:gd name="adj2" fmla="val 0"/>
            </a:avLst>
          </a:prstGeom>
          <a:solidFill>
            <a:srgbClr val="AEB7C6"/>
          </a:solidFill>
          <a:ln>
            <a:noFill/>
          </a:ln>
        </p:spPr>
        <p:txBody>
          <a:bodyPr rtlCol="0" anchor="ctr" wrap="square" lIns="0" rIns="0" tIns="0" bIns="0">
            <a:noAutofit/>
          </a:bodyPr>
          <a:lstStyle/>
          <a:p>
            <a:pPr algn="ctr"/>
            <a:r>
              <a:rPr sz="12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PV, y EV y AC del mes</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valor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PV, EV y AC</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editable</a:t>
            </a:r>
            <a:endParaRPr lang="es-ES" sz="1400"/>
          </a:p>
          <a:p>
            <a:pPr algn="l"/>
            <a:r>
              <a:rPr sz="1300" b="0" i="0" lang="es-ES">
                <a:solidFill>
                  <a:srgbClr val="5A6577"/>
                </a:solidFill>
                <a:latin typeface="Calibri"/>
              </a:rPr>
              <a:t>en la columna C de la hoja PV</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MS Project para Jefes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27</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82296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0" name="Rounded Rectangle 9"/>
          <p:cNvSpPr/>
          <p:nvPr/>
        </p:nvSpPr>
        <p:spPr>
          <a:xfrm>
            <a:off x="6958583"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pic>
        <p:nvPicPr>
          <p:cNvPr id="6" name="Picture 5" descr="Cuadro de Mando del libro de ejemplo con las zonas numeradas"/>
          <p:cNvPicPr>
            <a:picLocks noChangeAspect="1"/>
          </p:cNvPicPr>
          <p:nvPr/>
        </p:nvPicPr>
        <p:blipFill>
          <a:blip r:embed="rId2"/>
          <a:stretch>
            <a:fillRect/>
          </a:stretch>
        </p:blipFill>
        <p:spPr>
          <a:xfrm>
            <a:off x="548640" y="1371600"/>
            <a:ext cx="3477220" cy="4892040"/>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
        <p:nvSpPr>
          <p:cNvPr id="28" name="Rounded Rectangle 27"/>
          <p:cNvSpPr/>
          <p:nvPr/>
        </p:nvSpPr>
        <p:spPr>
          <a:xfrm>
            <a:off x="8092440" y="4206240"/>
            <a:ext cx="3520440" cy="1965960"/>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de los últimos meses, </a:t>
            </a:r>
            <a:r>
              <a:rPr sz="1400" b="0" i="0" lang="es-ES">
                <a:solidFill>
                  <a:srgbClr val="1B2B48"/>
                </a:solidFill>
                <a:latin typeface="Calibri"/>
              </a:rPr>
              <a:t>no solo el valor acumulado.</a:t>
            </a:r>
            <a:endParaRPr lang="es-ES" sz="14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pic>
        <p:nvPicPr>
          <p:cNvPr id="6" name="Picture 5" descr="Gráfico CPI vs SPI por elemento EDT y tabla del ejemplo"/>
          <p:cNvPicPr>
            <a:picLocks noChangeAspect="1"/>
          </p:cNvPicPr>
          <p:nvPr/>
        </p:nvPicPr>
        <p:blipFill>
          <a:blip r:embed="rId2"/>
          <a:stretch>
            <a:fillRect/>
          </a:stretch>
        </p:blipFill>
        <p:spPr>
          <a:xfrm>
            <a:off x="548640" y="1463040"/>
            <a:ext cx="6858000" cy="3498413"/>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0,50</a:t>
            </a:r>
            <a:endParaRPr lang="es-ES" sz="1400"/>
          </a:p>
          <a:p>
            <a:pPr algn="l"/>
            <a:r>
              <a:rPr sz="1400" b="0" i="0" lang="es-ES">
                <a:solidFill>
                  <a:srgbClr val="1B2B48"/>
                </a:solidFill>
                <a:latin typeface="Calibri"/>
              </a:rPr>
              <a:t>Explica la desviación: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SPI = 1,00</a:t>
            </a:r>
            <a:endParaRPr lang="es-ES" sz="1400"/>
          </a:p>
          <a:p>
            <a:pPr algn="l"/>
            <a:r>
              <a:rPr sz="1400" b="0" i="0" lang="es-ES">
                <a:solidFill>
                  <a:srgbClr val="1B2B48"/>
                </a:solidFill>
                <a:latin typeface="Calibri"/>
              </a:rPr>
              <a:t>LOE: nunca muestra atraso y diluye el SPI del proyecto.</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en el límite (0,5; 0,5)</a:t>
            </a:r>
            <a:endParaRPr lang="es-ES" sz="1400"/>
          </a:p>
          <a:p>
            <a:pPr algn="l"/>
            <a:r>
              <a:rPr sz="1400" b="0" i="0" lang="es-ES">
                <a:solidFill>
                  <a:srgbClr val="1B2B48"/>
                </a:solidFill>
                <a:latin typeface="Calibri"/>
              </a:rPr>
              <a:t>Hitos ponderados sin hitos cumplidos todavía: esperado del método.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y SPI &gt; 1</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¿Ahorro real, o métodos subjetivos y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métodos y costos no registrados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31</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Registro del avance y fecha de estado</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--simular, revisión y actualizar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MS Project para Jefes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32</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Costos solo en tareas de detalle, dentro de la EDT exportada</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Simular, revisar,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32</Slides>
  <Notes>32</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Valor Ganado</dc:title>
  <dc:subject>MS Project y el Exportador EVM: planificación, costos e informe mensual en Excel</dc:subject>
  <dc:creator>Marcelo Salazar</dc:creator>
  <cp:keywords>EVM; Valor Ganado; MS Project; Excel; Jefes de Proyecto</cp:keywords>
  <dc:description/>
  <cp:lastModifiedBy>Marcelo Salazar</cp:lastModifiedBy>
  <cp:revision>1</cp:revision>
  <dcterms:created xsi:type="dcterms:W3CDTF">2026-10-17T08:51:49Z</dcterms:created>
  <dcterms:modified xsi:type="dcterms:W3CDTF">2026-10-17T08:51:49Z</dcterms:modified>
  <cp:category>Formación</cp:category>
  <dc:language>es-ES</dc:language>
</cp:coreProperties>
</file>