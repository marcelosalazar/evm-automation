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notesMaster" Target="notesMasters/notesMaster1.xml"/><Relationship Id="rId43"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pt idx="25">
                  <c:v>2028.0833</c:v>
                </c:pt>
                <c:pt idx="26">
                  <c:v>2028.1667</c:v>
                </c:pt>
                <c:pt idx="27">
                  <c:v>2028.25</c:v>
                </c:pt>
                <c:pt idx="28">
                  <c:v>2028.3333</c:v>
                </c:pt>
                <c:pt idx="29">
                  <c:v>2028.4167</c:v>
                </c:pt>
                <c:pt idx="30">
                  <c:v>2028.5</c:v>
                </c:pt>
                <c:pt idx="31">
                  <c:v>2028.5833</c:v>
                </c:pt>
                <c:pt idx="32">
                  <c:v>2028.6667</c:v>
                </c:pt>
                <c:pt idx="33">
                  <c:v>2028.75</c:v>
                </c:pt>
                <c:pt idx="34">
                  <c:v>2028.8333</c:v>
                </c:pt>
                <c:pt idx="35">
                  <c:v>2028.9167</c:v>
                </c:pt>
                <c:pt idx="36">
                  <c:v>2029.0</c:v>
                </c:pt>
                <c:pt idx="37">
                  <c:v>2029.0833</c:v>
                </c:pt>
                <c:pt idx="38">
                  <c:v>2029.1667</c:v>
                </c:pt>
                <c:pt idx="39">
                  <c:v>2029.25</c:v>
                </c:pt>
                <c:pt idx="40">
                  <c:v>2029.3333</c:v>
                </c:pt>
                <c:pt idx="41">
                  <c:v>2029.4167</c:v>
                </c:pt>
                <c:pt idx="42">
                  <c:v>2029.5</c:v>
                </c:pt>
                <c:pt idx="43">
                  <c:v>2029.5833</c:v>
                </c:pt>
                <c:pt idx="44">
                  <c:v>2029.6667</c:v>
                </c:pt>
                <c:pt idx="45">
                  <c:v>2029.75</c:v>
                </c:pt>
                <c:pt idx="46">
                  <c:v>2029.8333</c:v>
                </c:pt>
                <c:pt idx="47">
                  <c:v>2029.9167</c:v>
                </c:pt>
                <c:pt idx="48">
                  <c:v>2030.0</c:v>
                </c:pt>
                <c:pt idx="49">
                  <c:v>2030.0833</c:v>
                </c:pt>
                <c:pt idx="50">
                  <c:v>2030.1667</c:v>
                </c:pt>
                <c:pt idx="51">
                  <c:v>2030.25</c:v>
                </c:pt>
                <c:pt idx="52">
                  <c:v>2030.3333</c:v>
                </c:pt>
                <c:pt idx="53">
                  <c:v>2030.4167</c:v>
                </c:pt>
                <c:pt idx="54">
                  <c:v>2030.5</c:v>
                </c:pt>
                <c:pt idx="55">
                  <c:v>2030.5833</c:v>
                </c:pt>
                <c:pt idx="56">
                  <c:v>2030.6667</c:v>
                </c:pt>
                <c:pt idx="57">
                  <c:v>2030.75</c:v>
                </c:pt>
                <c:pt idx="58">
                  <c:v>2030.8333</c:v>
                </c:pt>
                <c:pt idx="59">
                  <c:v>2030.9167</c:v>
                </c:pt>
                <c:pt idx="60">
                  <c:v>2031.0</c:v>
                </c:pt>
              </c:numCache>
            </c:numRef>
          </c:xVal>
          <c:yVal>
            <c:numRef>
              <c:f>Sheet1!$B$2:$B$62</c:f>
              <c:numCache>
                <c:formatCode>General</c:formatCode>
                <c:ptCount val="6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pt idx="31">
                  <c:v>25.517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c:v>
                </c:pt>
                <c:pt idx="1">
                  <c:v>2031</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78,5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78.52</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21.67</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21.67</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c:v>
                </c:pt>
                <c:pt idx="1">
                  <c:v>24</c:v>
                </c:pt>
              </c:numCache>
            </c:numRef>
          </c:xVal>
          <c:yVal>
            <c:numRef>
              <c:f>Sheet1!$B$45:$B$46</c:f>
              <c:numCache>
                <c:formatCode>General</c:formatCode>
                <c:ptCount val="2"/>
                <c:pt idx="0">
                  <c:v>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21.67</c:v>
                </c:pt>
                <c:pt idx="1">
                  <c:v>21.67</c:v>
                </c:pt>
              </c:numCache>
            </c:numRef>
          </c:xVal>
          <c:yVal>
            <c:numRef>
              <c:f>Sheet1!$B$49:$B$50</c:f>
              <c:numCache>
                <c:formatCode>General</c:formatCode>
                <c:ptCount val="2"/>
                <c:pt idx="0">
                  <c:v>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y produce un libro Excel con el PV mensual de cada elemento de la EDT, el EV y el AC de cada paquete,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Acumulación de costos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es el Costo previsto de la línea 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78,5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21,67 (ES). Vamos 2,33 meses tarde: SV(t) = ES − AT = −2,33 meses, y SPI(t) = ES / AT = 0,90.</a:t>
            </a:r>
          </a:p>
          <a:p/>
          <a:p>
            <a:r>
              <a:rPr lang="es-ES"/>
              <a:t>Con una duración planificada de 58 meses, la duración estimada es 58 / 0,90 ≈ 64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los costos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cargan EV y AC.</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peso de cada hito para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costo de una tarea en MS Project es la suma de sus asignaciones de recursos más su costo fijo. Hay cuatro formas de cargarlo y se pueden combinar:</a:t>
            </a:r>
          </a:p>
          <a:p>
            <a:r>
              <a:rPr lang="es-ES"/>
              <a:t>A. Recursos de trabajo: horas × tarifa. Ingeniería y personal propio. El PV sigue al trabajo planificado y el costo real sale de las horas reales. Para revisiones de tarifas, usar tablas de tasas de costo con fecha.</a:t>
            </a:r>
          </a:p>
          <a:p>
            <a:r>
              <a:rPr lang="es-ES"/>
              <a:t>B. Recursos materiales: cantidad × precio. Hormigón, acero, equipos. Facilita medir por unidades.</a:t>
            </a:r>
          </a:p>
          <a:p>
            <a:r>
              <a:rPr lang="es-ES"/>
              <a:t>C. Recursos de costo: un monto por partida. Subcontratos, suministros, licencias, viajes. Es la forma más directa de pasar un presupuesto existente (oferta, ERP) al cronograma; conviene un recurso de costo por cuenta del ERP.</a:t>
            </a:r>
          </a:p>
          <a:p>
            <a:r>
              <a:rPr lang="es-ES"/>
              <a:t>D. Costo fijo de la tarea: un monto único, sin desglose. Tasas, permisos.</a:t>
            </a:r>
          </a:p>
          <a:p/>
          <a:p>
            <a:r>
              <a:rPr lang="es-ES"/>
              <a:t>Recomendación típica: proyectos de ingeniería y servicios, opción A; construcción o EPC, opción C para subcontratos y suministros más A para el personal propio.</a:t>
            </a:r>
          </a:p>
          <a:p/>
          <a:p>
            <a:r>
              <a:rPr lang="es-ES"/>
              <a:t>Regla de oro: costos solo en tareas de detalle. Un costo en una tarea resumen genera una fila "-D Otros costos" y un aviso.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subcontrato de 300.000 € en una tarea de tres meses, cargado como recurso de costo o costo fijo.</a:t>
            </a:r>
          </a:p>
          <a:p>
            <a:r>
              <a:rPr lang="es-ES"/>
              <a:t>- Prorrateo: 100.000 € cada mes. Es la opción recomendada para tarifas.</a:t>
            </a:r>
          </a:p>
          <a:p>
            <a:r>
              <a:rPr lang="es-ES"/>
              <a:t>- Al comienzo: los 300.000 € el primer mes.</a:t>
            </a:r>
          </a:p>
          <a:p>
            <a:r>
              <a:rPr lang="es-ES"/>
              <a:t>- Al fin: los 300.000 € el último mes.</a:t>
            </a:r>
          </a:p>
          <a:p/>
          <a:p>
            <a:r>
              <a:rPr lang="es-ES"/>
              <a:t>Dónde se configura: en la Hoja de recursos, columna Acumular, para los recursos; en la tabla Costo, columna Acumulación de costos fijos, para el costo fijo.</a:t>
            </a:r>
          </a:p>
          <a:p/>
          <a:p>
            <a:r>
              <a:rPr lang="es-ES"/>
              <a:t>Si hay hitos de pago (anticipos, certificaciones), no hay que forzar la acumulación: se divide la partida en varias tareas o asignaciones, cada una con su fecha. Así el PV tiene la forma real del gasto previsto.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las fechas y el costo de cada tarea. MS Project la guarda en los campos "previstos": Comienzo previsto, Fin previsto y Costo previsto, con su reparto en el tiempo.</a:t>
            </a:r>
          </a:p>
          <a:p/>
          <a:p>
            <a:r>
              <a:rPr lang="es-ES"/>
              <a:t>Relación con el EVM (franja inferior):</a:t>
            </a:r>
          </a:p>
          <a:p>
            <a:r>
              <a:rPr lang="es-ES"/>
              <a:t>- Las fechas previstas dicen cuándo debía hacerse cada tarea.</a:t>
            </a:r>
          </a:p>
          <a:p>
            <a:r>
              <a:rPr lang="es-ES"/>
              <a:t>- El Costo previsto repartido por meses es el PV: lo que se debía haber ejecutado cada mes.</a:t>
            </a:r>
          </a:p>
          <a:p>
            <a:r>
              <a:rPr lang="es-ES"/>
              <a:t>- La suma del Costo previsto es el BAC.</a:t>
            </a:r>
          </a:p>
          <a:p>
            <a:r>
              <a:rPr lang="es-ES"/>
              <a:t>Sin línea base no hay PV ni BAC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costos en tareas de detalle;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el Costo previsto de la tarea resumen del proyecto (tabla Costo) es el BAC; la vista Uso de tareas con el detalle Costo previsto por meses es el PV. Después, ejecutar generar y revisar la hoja Validación.</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costos.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historial de EV y AC,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4,5 millones por debajo del PV; SPI 0,69.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así que no hay que buscarlos a mano: basta con leer los avisos después de "generar".</a:t>
            </a:r>
          </a:p>
          <a:p/>
          <a:p>
            <a:r>
              <a:rPr lang="es-ES"/>
              <a:t>Recorrer las filas rápidamente. Insistir en dos:</a:t>
            </a:r>
          </a:p>
          <a:p>
            <a:r>
              <a:rPr lang="es-ES"/>
              <a:t>- Costos en tareas resumen: muy habitual cuando se pone un costo fijo de gestión en la tarea resumen. Solución: crear una tarea de detalle "Gestión del paquete".</a:t>
            </a:r>
          </a:p>
          <a:p>
            <a:r>
              <a:rPr lang="es-ES"/>
              <a:t>- Tareas agregadas después de guardar la línea base: no tienen costo previsto, así que no aportan PV ni BAC. Si el cambio está aprobado, guardar la línea base solo de esas tareas.</a:t>
            </a:r>
          </a:p>
          <a:p/>
          <a:p>
            <a:r>
              <a:rPr lang="es-ES"/>
              <a:t>Otro caso: los "recursos presupuestarios" de MS Project no sirven para el BAC; sus montos no forman parte del costo de las tareas.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16:15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(300.000 €) terminada, los planos (400.000 €) a la mitad y las especificaciones (200.000 €)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se suma lo hecho de cada subtarea según su presupuesto: 300.000 al 100 % (300.000) + 400.000 al 50 % (200.000) + 200.000 al 0 % (0) = 500.000 €, el 55,6 % del BAC.</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17:05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 CPTR de MS Project: cuando la organización ya gestiona el valor acumulado en MS Project y quiere que el libro coincida con sus tablas.</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17:35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presupuesto se carga en las actividades, no en los hitos.</a:t>
            </a:r>
          </a:p>
          <a:p>
            <a:r>
              <a:rPr lang="es-ES"/>
              <a:t>- El peso va en el campo Peso hito; conviene que sumen 100 y que sean proporcionales al trabajo.</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por defecto MS Project lo calcula con el trabajo real y las tarifas. Si el costo real viene del ERP, hay dos opciones: escribirlo en MS Project (desmarcando "Los costos reales siempre se calculan por Project") o, más simple, cargarlo en la hoja AC del libro y ejecutar "actualizar --solo ev".</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PV mensual de cada elemento de la EDT (120 meses por defecto) y el BAC.</a:t>
            </a:r>
          </a:p>
          <a:p>
            <a:r>
              <a:t>- actualizar: se ejecuta cada mes. Lee el avance a la fecha de estado, calcula el EV y el AC acumulados de cada paquete según su método y escribe el valor del mes en el libro. Indicadores y gráficos se recalculan solos.</a:t>
            </a:r>
          </a:p>
          <a:p/>
          <a:p>
            <a:r>
              <a:t>Requisitos: Windows con Python.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modo multi-empresa, con el PV, EV y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BAC total,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comprobaciones (derecha):</a:t>
            </a:r>
          </a:p>
          <a:p>
            <a:r>
              <a:rPr lang="es-ES"/>
              <a:t>1. El BAC total del libro coincide con el Costo previsto de la tarea resumen en la tabla Costo de MS Project.</a:t>
            </a:r>
          </a:p>
          <a:p>
            <a:r>
              <a:rPr lang="es-ES"/>
              <a:t>2. El PV de algunos meses coincide con la vista Uso de tareas (detalle Costo previsto, escala en meses).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con costo sin fila, diferencias de AC con MS Project. Si algo no es razonable, se corrige en MS Project y se vuelve a simular.</a:t>
            </a:r>
          </a:p>
          <a:p>
            <a:r>
              <a:t>3. "actualizar" sin --simular: escribe el valor del mes en las hojas EV y AC. Si el AC viene del ERP, se usa "--solo ev" y el AC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PV lo crea generar; en EV y AC, las celdas amarillas contienen el valor de cada mes (no el acumulado) y las completa actualizar, o se cargan a mano, por ejemplo el AC del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puede cambiar en la columna C de la hoja PV.</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0,50) es el que arrastra al proyecto: hay que bajar a sus paquetes en la hoja Indicadores EDT.</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aparece en el límite del gráfico porque su suministro de equipos se mide con hitos ponderados y todavía no cumplió ningún hito: tiene costo real pero EV cero. Es el comportamiento esperado del método, no un error. El valor exacto está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y carga del AC si viene del ERP (seguida de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Costos solo en tareas de detalle, dentro de la EDT exportada.</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1,11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41"/>
                </a:lnTo>
                <a:lnTo>
                  <a:pt x="137160" y="3178824"/>
                </a:lnTo>
                <a:lnTo>
                  <a:pt x="205740" y="3165362"/>
                </a:lnTo>
                <a:lnTo>
                  <a:pt x="274320" y="3140782"/>
                </a:lnTo>
                <a:lnTo>
                  <a:pt x="342900" y="3118868"/>
                </a:lnTo>
                <a:lnTo>
                  <a:pt x="411479" y="3105046"/>
                </a:lnTo>
                <a:lnTo>
                  <a:pt x="480060" y="3075274"/>
                </a:lnTo>
                <a:lnTo>
                  <a:pt x="548640" y="3050226"/>
                </a:lnTo>
                <a:lnTo>
                  <a:pt x="617220" y="3025677"/>
                </a:lnTo>
                <a:lnTo>
                  <a:pt x="685800" y="3000610"/>
                </a:lnTo>
                <a:lnTo>
                  <a:pt x="754379" y="2976136"/>
                </a:lnTo>
                <a:lnTo>
                  <a:pt x="822960" y="2949232"/>
                </a:lnTo>
                <a:lnTo>
                  <a:pt x="891540" y="2923326"/>
                </a:lnTo>
                <a:lnTo>
                  <a:pt x="960120" y="2900957"/>
                </a:lnTo>
                <a:lnTo>
                  <a:pt x="1028700" y="2866558"/>
                </a:lnTo>
                <a:lnTo>
                  <a:pt x="1097279" y="2831787"/>
                </a:lnTo>
                <a:lnTo>
                  <a:pt x="1165860" y="2798596"/>
                </a:lnTo>
                <a:lnTo>
                  <a:pt x="1234440" y="2763825"/>
                </a:lnTo>
                <a:lnTo>
                  <a:pt x="1303020" y="2701641"/>
                </a:lnTo>
                <a:lnTo>
                  <a:pt x="1371600" y="2635130"/>
                </a:lnTo>
                <a:lnTo>
                  <a:pt x="1440180" y="2527501"/>
                </a:lnTo>
                <a:lnTo>
                  <a:pt x="1508760" y="2418568"/>
                </a:lnTo>
                <a:lnTo>
                  <a:pt x="1577340" y="2274241"/>
                </a:lnTo>
                <a:lnTo>
                  <a:pt x="1645920" y="2127721"/>
                </a:lnTo>
                <a:lnTo>
                  <a:pt x="1714500" y="1997412"/>
                </a:lnTo>
                <a:lnTo>
                  <a:pt x="1783080" y="1894809"/>
                </a:lnTo>
                <a:lnTo>
                  <a:pt x="1851660" y="1799948"/>
                </a:lnTo>
                <a:lnTo>
                  <a:pt x="1920240" y="1717460"/>
                </a:lnTo>
                <a:lnTo>
                  <a:pt x="1988820" y="1586963"/>
                </a:lnTo>
                <a:lnTo>
                  <a:pt x="2057400" y="1463080"/>
                </a:lnTo>
                <a:lnTo>
                  <a:pt x="2125980" y="1348442"/>
                </a:lnTo>
                <a:lnTo>
                  <a:pt x="2194560" y="1253725"/>
                </a:lnTo>
                <a:lnTo>
                  <a:pt x="2263140" y="1181116"/>
                </a:lnTo>
                <a:lnTo>
                  <a:pt x="2331720" y="1111309"/>
                </a:lnTo>
                <a:lnTo>
                  <a:pt x="2400300" y="1022747"/>
                </a:lnTo>
                <a:lnTo>
                  <a:pt x="2468880" y="936419"/>
                </a:lnTo>
                <a:lnTo>
                  <a:pt x="2537460" y="841870"/>
                </a:lnTo>
                <a:lnTo>
                  <a:pt x="2606040" y="759654"/>
                </a:lnTo>
                <a:lnTo>
                  <a:pt x="2674620" y="669216"/>
                </a:lnTo>
                <a:lnTo>
                  <a:pt x="2743200" y="582888"/>
                </a:lnTo>
                <a:lnTo>
                  <a:pt x="2811780" y="488339"/>
                </a:lnTo>
                <a:lnTo>
                  <a:pt x="2880360" y="403888"/>
                </a:lnTo>
                <a:lnTo>
                  <a:pt x="2948940" y="354711"/>
                </a:lnTo>
                <a:lnTo>
                  <a:pt x="3017520" y="303300"/>
                </a:lnTo>
                <a:lnTo>
                  <a:pt x="3086100" y="258594"/>
                </a:lnTo>
                <a:lnTo>
                  <a:pt x="3154680" y="217032"/>
                </a:lnTo>
                <a:lnTo>
                  <a:pt x="3223260" y="175035"/>
                </a:lnTo>
                <a:lnTo>
                  <a:pt x="3291840" y="139167"/>
                </a:lnTo>
                <a:lnTo>
                  <a:pt x="3360420" y="113343"/>
                </a:lnTo>
                <a:lnTo>
                  <a:pt x="3429000" y="89110"/>
                </a:lnTo>
                <a:lnTo>
                  <a:pt x="3497580" y="56572"/>
                </a:lnTo>
                <a:lnTo>
                  <a:pt x="3566160" y="41818"/>
                </a:lnTo>
                <a:lnTo>
                  <a:pt x="3634740" y="24711"/>
                </a:lnTo>
                <a:lnTo>
                  <a:pt x="3703320" y="17310"/>
                </a:lnTo>
                <a:lnTo>
                  <a:pt x="3771900" y="9339"/>
                </a:lnTo>
                <a:lnTo>
                  <a:pt x="3840480" y="5166"/>
                </a:lnTo>
                <a:lnTo>
                  <a:pt x="3909060" y="1979"/>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PV mensual leído de la línea base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y AC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costos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costos,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(Costo previsto en MS Project)</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14,7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33 %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−4,52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0,69</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0,69 €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21,67</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−2,33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0,90</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0,90 ≈ 64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Costos en tareas de detalle</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Nunca en tareas resumen</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 y su costo.</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Peso de cada hito del paquete</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Cuatro formas de cargar el presupuesto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trabajo</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Horas × tarifa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al trabajo planificado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Ingeniería, servicios, personal propio</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materiales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Cantidad × precio</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 cantidad planificada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Consumibles medidos en unidades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costo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asignación</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Subcontratos, suministros, gastos</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Costo fijo de la tarea</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tarea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Montos puntuales sin desglose</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costos solo en tareas de detalle, nunca en tareas resumen</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acumulación decide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subcontrato de 300.000 € en una tarea de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Prorrateo</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Recomendado para tarifas</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primer mes</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fin</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último mes</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Hitos de pago (anticipos, certificaciones): </a:t>
            </a:r>
            <a:r>
              <a:rPr sz="1500" b="0" i="0" lang="es-ES">
                <a:solidFill>
                  <a:srgbClr val="1B2B48"/>
                </a:solidFill>
                <a:latin typeface="Calibri"/>
              </a:rPr>
              <a:t>dividir la partida en tareas o asignaciones con su propia fecha.</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por mes</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total</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Una copia aprobada y congelada del plan: tareas de la EDT, fechas y costo de cada tarea.</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Fin y Costo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BAC,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costos en tareas de detalle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BAC en la tabla Costo y PV en Uso de tareas; después, generar</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costos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−4,5 M€ · SPI 0,69: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en costos y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Costos en tareas resumen</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Fila «-D Otros costos» y aviso</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Moverlos a una tarea de detalle</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PV ni BAC</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 previsto escrito a mano</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distribución mensual: reparto lineal</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Cargar el costo en la tarea y guardar la línea base</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Línea base sin resumir</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tarea resumen no suma sus subtareas</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Guardar con «Para todas las tareas de resumen»</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 con su costo)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300.000 €</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400.000 €</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200.000 €</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300.000 × 100 % + 400.000 × 50 % + 200.000 × 0 %</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Calculado por MS Project o del ERP (en MS Project, o en el libro con actualizar --solo ev)</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25</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26</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costos</a:t>
            </a:r>
            <a:endParaRPr lang="es-ES" sz="1400"/>
          </a:p>
          <a:p>
            <a:pPr algn="l" marL="201168" indent="-201168">
              <a:spcAft>
                <a:spcPts val="400"/>
              </a:spcAft>
              <a:buFont typeface="Arial"/>
              <a:buChar char="•"/>
            </a:pPr>
            <a:r>
              <a:rPr sz="1400" b="0" i="0" lang="es-ES">
                <a:solidFill>
                  <a:srgbClr val="1B2B48"/>
                </a:solidFill>
                <a:latin typeface="Calibri"/>
              </a:rPr>
              <a:t>Línea base</a:t>
            </a:r>
            <a:endParaRPr lang="es-ES" sz="1400"/>
          </a:p>
          <a:p>
            <a:pPr algn="l" marL="201168" indent="-201168">
              <a:spcAft>
                <a:spcPts val="400"/>
              </a:spcAft>
              <a:buFont typeface="Arial"/>
              <a:buChar char="•"/>
            </a:pPr>
            <a:r>
              <a:rPr sz="1400" b="0" i="0" lang="es-ES">
                <a:solidFill>
                  <a:srgbClr val="1B2B48"/>
                </a:solidFill>
                <a:latin typeface="Calibri"/>
              </a:rPr>
              <a:t>Avance y costo real</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PV mensual y BAC</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EV y AC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 Python</a:t>
            </a:r>
            <a:endParaRPr lang="es-ES" sz="1300"/>
          </a:p>
          <a:p>
            <a:pPr algn="l"/>
            <a:r>
              <a:rPr sz="1300" b="0" i="0" lang="es-ES">
                <a:solidFill>
                  <a:srgbClr val="5A6577"/>
                </a:solidFill>
                <a:latin typeface="Calibri"/>
              </a:rPr>
              <a:t>3.11 o posterior; instalación una vez</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PV y el BAC</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total: 44,210,000.00</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BAC total </a:t>
            </a:r>
            <a:r>
              <a:rPr sz="1400" b="0" i="0" lang="es-ES">
                <a:solidFill>
                  <a:srgbClr val="5A6577"/>
                </a:solidFill>
                <a:latin typeface="Calibri"/>
              </a:rPr>
              <a:t>= Costo previsto del proyecto (tabla Costo)</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PV de algunos meses </a:t>
            </a:r>
            <a:r>
              <a:rPr sz="1400" b="0" i="0" lang="es-ES">
                <a:solidFill>
                  <a:srgbClr val="5A6577"/>
                </a:solidFill>
                <a:latin typeface="Calibri"/>
              </a:rPr>
              <a:t>= vista Uso de tareas, detalle Costo previsto</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con costo pero sin línea base: no aportan PV</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 resumen con costo propio: fila «-D Otros costos»</a:t>
            </a:r>
            <a:endParaRPr lang="es-ES" sz="12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EV y AC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diferencias de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[--solo ev]</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EV y AC del mes y lista las desviaciones. Si el AC viene del ERP, se carga después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14,714,032   % planificado 33.3 %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-4,523,492   SPI = 0.69</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PV, y EV y AC del mes</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valor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PV, EV y AC</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editable</a:t>
            </a:r>
            <a:endParaRPr lang="es-ES" sz="1400"/>
          </a:p>
          <a:p>
            <a:pPr algn="l"/>
            <a:r>
              <a:rPr sz="1300" b="0" i="0" lang="es-ES">
                <a:solidFill>
                  <a:srgbClr val="5A6577"/>
                </a:solidFill>
                <a:latin typeface="Calibri"/>
              </a:rPr>
              <a:t>en la columna C de la hoja PV</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31</a:t>
            </a:fld>
            <a:endParaRPr lang="es-ES" sz="1000"/>
          </a:p>
        </p:txBody>
      </p:sp>
      <p:pic>
        <p:nvPicPr>
          <p:cNvPr id="6" name="Picture 5" descr="Cuadro de Mando del libro de ejemplo con las zonas numeradas"/>
          <p:cNvPicPr>
            <a:picLocks noChangeAspect="1"/>
          </p:cNvPicPr>
          <p:nvPr/>
        </p:nvPicPr>
        <p:blipFill>
          <a:blip r:embed="rId2"/>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Gráfico CPI vs SPI por elemento EDT y tabla del ejemplo"/>
          <p:cNvPicPr>
            <a:picLocks noChangeAspect="1"/>
          </p:cNvPicPr>
          <p:nvPr/>
        </p:nvPicPr>
        <p:blipFill>
          <a:blip r:embed="rId2"/>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0,50</a:t>
            </a:r>
            <a:endParaRPr lang="es-ES" sz="1400"/>
          </a:p>
          <a:p>
            <a:pPr algn="l"/>
            <a:r>
              <a:rPr sz="1400" b="0" i="0" lang="es-ES">
                <a:solidFill>
                  <a:srgbClr val="1B2B48"/>
                </a:solidFill>
                <a:latin typeface="Calibri"/>
              </a:rPr>
              <a:t>Explica la desviación: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en el límite (0,5; 0,5)</a:t>
            </a:r>
            <a:endParaRPr lang="es-ES" sz="1400"/>
          </a:p>
          <a:p>
            <a:pPr algn="l"/>
            <a:r>
              <a:rPr sz="1400" b="0" i="0" lang="es-ES">
                <a:solidFill>
                  <a:srgbClr val="1B2B48"/>
                </a:solidFill>
                <a:latin typeface="Calibri"/>
              </a:rPr>
              <a:t>Hitos ponderados sin hitos cumplidos todavía: esperado del método.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2"/>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--simular, revisión y actualizar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36</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Costos solo en tareas de detalle, dentro de la EDT exportada</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